
<file path=[Content_Types].xml><?xml version="1.0" encoding="utf-8"?>
<Types xmlns="http://schemas.openxmlformats.org/package/2006/content-types">
  <Default Extension="bin" ContentType="application/vnd.openxmlformats-officedocument.oleObject"/>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1.xml" ContentType="application/vnd.openxmlformats-officedocument.presentationml.tag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18" r:id="rId4"/>
    <p:sldMasterId id="2147483782" r:id="rId5"/>
    <p:sldMasterId id="2147483811" r:id="rId6"/>
  </p:sldMasterIdLst>
  <p:notesMasterIdLst>
    <p:notesMasterId r:id="rId14"/>
  </p:notesMasterIdLst>
  <p:sldIdLst>
    <p:sldId id="2147483633" r:id="rId7"/>
    <p:sldId id="2147483646" r:id="rId8"/>
    <p:sldId id="256" r:id="rId9"/>
    <p:sldId id="257" r:id="rId10"/>
    <p:sldId id="258" r:id="rId11"/>
    <p:sldId id="260" r:id="rId12"/>
    <p:sldId id="2147483647" r:id="rId13"/>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元ネタ" id="{CBD88B9B-7B1E-4B64-AF58-A6C778C0E855}">
          <p14:sldIdLst>
            <p14:sldId id="2147483633"/>
            <p14:sldId id="2147483646"/>
            <p14:sldId id="256"/>
            <p14:sldId id="257"/>
            <p14:sldId id="258"/>
            <p14:sldId id="260"/>
            <p14:sldId id="2147483647"/>
          </p14:sldIdLst>
        </p14:section>
      </p14:sectionLst>
    </p:ext>
    <p:ext uri="{EFAFB233-063F-42B5-8137-9DF3F51BA10A}">
      <p15:sldGuideLst xmlns:p15="http://schemas.microsoft.com/office/powerpoint/2012/main">
        <p15:guide id="1" orient="horz" pos="2160" userDrawn="1">
          <p15:clr>
            <a:srgbClr val="A4A3A4"/>
          </p15:clr>
        </p15:guide>
        <p15:guide id="2" pos="2850" userDrawn="1">
          <p15:clr>
            <a:srgbClr val="A4A3A4"/>
          </p15:clr>
        </p15:guide>
        <p15:guide id="3" pos="1548" userDrawn="1">
          <p15:clr>
            <a:srgbClr val="A4A3A4"/>
          </p15:clr>
        </p15:guide>
        <p15:guide id="4" pos="5819" userDrawn="1">
          <p15:clr>
            <a:srgbClr val="A4A3A4"/>
          </p15:clr>
        </p15:guide>
        <p15:guide id="5" pos="228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9" name="作成者"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AFFF"/>
    <a:srgbClr val="FFC000"/>
    <a:srgbClr val="FFFF00"/>
    <a:srgbClr val="FFFFFF"/>
    <a:srgbClr val="FFFF99"/>
    <a:srgbClr val="FFFFCC"/>
    <a:srgbClr val="7F7F7F"/>
    <a:srgbClr val="0070C0"/>
    <a:srgbClr val="65A9D9"/>
    <a:srgbClr val="D3EB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DD6F92-06FA-880F-9496-1B1103F0FA84}" v="1" dt="2026-10-08T06:21:29.097"/>
    <p1510:client id="{5F302D8A-9613-4765-8DF3-7F8693E42B99}" v="3253" dt="2026-10-08T03:49:19.192"/>
    <p1510:client id="{63FD97D6-FE95-4C89-8FD2-37D18B026BE5}" v="1575" dt="2026-10-08T10:40:21.667"/>
    <p1510:client id="{B65A879C-A43B-4D10-9EFF-8E810E880672}" v="421" dt="2026-10-08T06:23:30.879"/>
    <p1510:client id="{BEF18306-6EB2-4124-B868-E1C930F639ED}" v="2470" dt="2026-10-08T09:18:02.594"/>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8034E78-7F5D-4C2E-B375-FC64B27BC917}" styleName="スタイル (濃色)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925" autoAdjust="0"/>
  </p:normalViewPr>
  <p:slideViewPr>
    <p:cSldViewPr snapToGrid="0">
      <p:cViewPr>
        <p:scale>
          <a:sx n="100" d="100"/>
          <a:sy n="100" d="100"/>
        </p:scale>
        <p:origin x="1596" y="486"/>
      </p:cViewPr>
      <p:guideLst>
        <p:guide orient="horz" pos="2160"/>
        <p:guide pos="2850"/>
        <p:guide pos="1548"/>
        <p:guide pos="5819"/>
        <p:guide pos="228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commentAuthors" Target="commentAuthors.xml"/><Relationship Id="rId10" Type="http://schemas.openxmlformats.org/officeDocument/2006/relationships/slide" Target="slides/slide4.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44A5029F-57BE-43E3-9C03-B6FF93903E43}" type="datetimeFigureOut">
              <a:rPr kumimoji="1" lang="ja-JP" altLang="en-US" smtClean="0"/>
              <a:t>2026/10/8</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94B835EC-ACD9-4FA2-8966-5C69F0553117}" type="slidenum">
              <a:rPr kumimoji="1" lang="ja-JP" altLang="en-US" smtClean="0"/>
              <a:t>‹#›</a:t>
            </a:fld>
            <a:endParaRPr kumimoji="1" lang="ja-JP" altLang="en-US"/>
          </a:p>
        </p:txBody>
      </p:sp>
    </p:spTree>
    <p:extLst>
      <p:ext uri="{BB962C8B-B14F-4D97-AF65-F5344CB8AC3E}">
        <p14:creationId xmlns:p14="http://schemas.microsoft.com/office/powerpoint/2010/main" val="17529059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txBody>
          <a:bodyPr/>
          <a:lstStyle/>
          <a:p>
            <a:endParaRPr lang="ja-JP" altLang="en-US"/>
          </a:p>
        </p:txBody>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609900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DAE36-75C9-8A1E-EA02-C4A5E94712A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6D2879D-BC24-6BBE-9EF3-DBDD3BB19081}"/>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2FE57E02-B020-D978-807D-7A0503B9DC4F}"/>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32F17AC-71A8-7181-4A55-BE615F20C94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963836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CBF67-23DA-9FF1-139F-8CC25A4CD7F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2456BC4-573E-24EE-821C-065C076E027B}"/>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249D9E0D-0617-980E-22C8-4A72F8F671E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E3F4109-9D5F-4E47-3673-91923A6E76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587448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2A5F9-9C33-F8AF-F0BE-F443E5DAF0B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7E18BA8-02F4-3542-8B57-3837A16B54BC}"/>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57773920-7402-4918-C856-614C18C2248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A66248F-E959-ADE7-FEF5-F91DA205E27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36902158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FFF62-8CD6-BA4E-776B-84C83B1F474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8CD0E51-EBEA-619B-3F68-1BB1F6B78A9D}"/>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02DFFE0A-182E-99E1-76A6-29E5FD38A82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18BB523-79D0-4AC6-0CA0-5EB40249720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4236505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632EB-CCC2-D528-ACEA-A624DE29CD2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56250DA-0B1E-01B5-A1CD-F5B25039F275}"/>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B9853997-57F4-7944-D032-9389562180D6}"/>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BE5EFBD-C145-078E-8697-C8E7FD5CC4A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114927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40443-BDCE-B903-B25A-65CB02885A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D6E87-C23E-CDD1-BE78-517E593FFE50}"/>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15A8AFE5-508B-08CD-38B8-2C36879CB13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D6D2089-0E0C-B9F2-7C32-62DE7E6D0B6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5087515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アジェンダ">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5DC67AB3-4EF6-29EA-F9FE-CA7E125529D3}"/>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12" name="テキスト プレースホルダー 11">
            <a:extLst>
              <a:ext uri="{FF2B5EF4-FFF2-40B4-BE49-F238E27FC236}">
                <a16:creationId xmlns:a16="http://schemas.microsoft.com/office/drawing/2014/main" id="{91B12CBA-77B6-1522-2BEA-9FED5DFB4833}"/>
              </a:ext>
            </a:extLst>
          </p:cNvPr>
          <p:cNvSpPr>
            <a:spLocks noGrp="1"/>
          </p:cNvSpPr>
          <p:nvPr>
            <p:ph type="body" sz="quarter" idx="10"/>
          </p:nvPr>
        </p:nvSpPr>
        <p:spPr>
          <a:xfrm>
            <a:off x="507340" y="774374"/>
            <a:ext cx="8891323" cy="4598842"/>
          </a:xfrm>
          <a:prstGeom prst="rect">
            <a:avLst/>
          </a:prstGeom>
        </p:spPr>
        <p:txBody>
          <a:bodyPr lIns="36000" tIns="36000" rIns="36000" bIns="36000" anchor="t">
            <a:noAutofit/>
          </a:bodyPr>
          <a:lstStyle>
            <a:lvl1pPr marL="342900" indent="-342900" algn="l">
              <a:buFont typeface="+mj-lt"/>
              <a:buAutoNum type="arabicPeriod"/>
              <a:defRPr sz="1600">
                <a:latin typeface="+mj-ea"/>
                <a:ea typeface="+mj-ea"/>
              </a:defRPr>
            </a:lvl1pPr>
            <a:lvl2pPr marL="541338" indent="-187325" algn="l">
              <a:buFont typeface="+mj-lt"/>
              <a:buAutoNum type="alphaLcPeriod"/>
              <a:defRPr sz="1600">
                <a:latin typeface="+mj-ea"/>
                <a:ea typeface="+mj-ea"/>
              </a:defRPr>
            </a:lvl2pPr>
            <a:lvl3pPr marL="1282075" indent="-400050" algn="l">
              <a:buFont typeface="+mj-lt"/>
              <a:buAutoNum type="romanLcPeriod"/>
              <a:defRPr sz="1600">
                <a:latin typeface="+mj-ea"/>
                <a:ea typeface="+mj-ea"/>
              </a:defRPr>
            </a:lvl3pPr>
            <a:lvl4pPr algn="l">
              <a:defRPr sz="1600"/>
            </a:lvl4pPr>
            <a:lvl5pPr algn="l">
              <a:defRPr sz="16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Tree>
    <p:extLst>
      <p:ext uri="{BB962C8B-B14F-4D97-AF65-F5344CB8AC3E}">
        <p14:creationId xmlns:p14="http://schemas.microsoft.com/office/powerpoint/2010/main" val="20373721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44" userDrawn="1">
          <p15:clr>
            <a:srgbClr val="FBAE40"/>
          </p15:clr>
        </p15:guide>
        <p15:guide id="3" pos="651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41720054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44" userDrawn="1">
          <p15:clr>
            <a:srgbClr val="FBAE40"/>
          </p15:clr>
        </p15:guide>
        <p15:guide id="3" pos="651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EOL">
    <p:bg>
      <p:bgPr>
        <a:solidFill>
          <a:srgbClr val="CBDDF5"/>
        </a:solidFill>
        <a:effectLst/>
      </p:bgPr>
    </p:bg>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6961E19B-A07D-8306-F59B-FF89AF5CCDF8}"/>
              </a:ext>
            </a:extLst>
          </p:cNvPr>
          <p:cNvSpPr/>
          <p:nvPr/>
        </p:nvSpPr>
        <p:spPr>
          <a:xfrm>
            <a:off x="110151" y="692697"/>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8" name="テキスト プレースホルダー 11">
            <a:extLst>
              <a:ext uri="{FF2B5EF4-FFF2-40B4-BE49-F238E27FC236}">
                <a16:creationId xmlns:a16="http://schemas.microsoft.com/office/drawing/2014/main" id="{E8A546FC-8BA3-143C-C33F-CA251DE07AA6}"/>
              </a:ext>
            </a:extLst>
          </p:cNvPr>
          <p:cNvSpPr>
            <a:spLocks noGrp="1"/>
          </p:cNvSpPr>
          <p:nvPr>
            <p:ph type="body" sz="quarter" idx="10" hasCustomPrompt="1"/>
          </p:nvPr>
        </p:nvSpPr>
        <p:spPr>
          <a:xfrm>
            <a:off x="507340" y="2708276"/>
            <a:ext cx="8891323" cy="720725"/>
          </a:xfrm>
          <a:prstGeom prst="rect">
            <a:avLst/>
          </a:prstGeom>
        </p:spPr>
        <p:txBody>
          <a:bodyPr lIns="36000" tIns="36000" rIns="36000" bIns="36000" anchor="ctr">
            <a:noAutofit/>
          </a:bodyPr>
          <a:lstStyle>
            <a:lvl1pPr algn="ctr">
              <a:defRPr sz="4800" b="1">
                <a:latin typeface="+mj-ea"/>
                <a:ea typeface="+mj-ea"/>
              </a:defRPr>
            </a:lvl1pPr>
            <a:lvl2pPr>
              <a:defRPr sz="2400">
                <a:latin typeface="+mj-ea"/>
                <a:ea typeface="+mj-ea"/>
              </a:defRPr>
            </a:lvl2pPr>
            <a:lvl3pPr>
              <a:defRPr sz="2400">
                <a:latin typeface="+mj-ea"/>
                <a:ea typeface="+mj-ea"/>
              </a:defRPr>
            </a:lvl3pPr>
            <a:lvl4pPr>
              <a:defRPr sz="2400">
                <a:latin typeface="+mj-ea"/>
                <a:ea typeface="+mj-ea"/>
              </a:defRPr>
            </a:lvl4pPr>
            <a:lvl5pPr>
              <a:defRPr sz="2400">
                <a:latin typeface="+mj-ea"/>
                <a:ea typeface="+mj-ea"/>
              </a:defRPr>
            </a:lvl5pPr>
          </a:lstStyle>
          <a:p>
            <a:pPr lvl="0"/>
            <a:r>
              <a:rPr kumimoji="1" lang="en-US" altLang="ja-JP"/>
              <a:t>EOF</a:t>
            </a:r>
          </a:p>
        </p:txBody>
      </p:sp>
    </p:spTree>
    <p:extLst>
      <p:ext uri="{BB962C8B-B14F-4D97-AF65-F5344CB8AC3E}">
        <p14:creationId xmlns:p14="http://schemas.microsoft.com/office/powerpoint/2010/main" val="1544684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6516" userDrawn="1">
          <p15:clr>
            <a:srgbClr val="FBAE40"/>
          </p15:clr>
        </p15:guide>
        <p15:guide id="3" pos="244"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fld id="{48F63A3B-78C7-47BE-AE5E-E10140E04643}" type="slidenum">
              <a:rPr lang="en-US" smtClean="0"/>
              <a:pPr/>
              <a:t>‹#›</a:t>
            </a:fld>
            <a:endParaRPr lang="en-US"/>
          </a:p>
        </p:txBody>
      </p:sp>
    </p:spTree>
    <p:extLst>
      <p:ext uri="{BB962C8B-B14F-4D97-AF65-F5344CB8AC3E}">
        <p14:creationId xmlns:p14="http://schemas.microsoft.com/office/powerpoint/2010/main" val="64800238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49612270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1376294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p:nvSpPr>
        <p:spPr>
          <a:xfrm>
            <a:off x="0" y="0"/>
            <a:ext cx="1579278" cy="241476"/>
          </a:xfrm>
          <a:prstGeom prst="rect">
            <a:avLst/>
          </a:prstGeom>
        </p:spPr>
        <p:txBody>
          <a:bodyPr wrap="none">
            <a:spAutoFit/>
          </a:bodyPr>
          <a:lstStyle/>
          <a:p>
            <a:r>
              <a:rPr lang="en-US" altLang="ja-JP" sz="969" i="0">
                <a:latin typeface="+mj-ea"/>
                <a:ea typeface="+mj-ea"/>
              </a:rPr>
              <a:t>Ⅲ</a:t>
            </a:r>
            <a:r>
              <a:rPr lang="ja-JP" altLang="en-US" sz="969"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501186365"/>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50442556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44075847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375698"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a:t>
            </a:r>
            <a:r>
              <a:rPr lang="en-US" altLang="ja-JP" sz="969" i="0">
                <a:latin typeface="+mj-ea"/>
                <a:ea typeface="+mj-ea"/>
              </a:rPr>
              <a:t>(</a:t>
            </a:r>
            <a:r>
              <a:rPr lang="ja-JP" altLang="en-US" sz="969" i="0">
                <a:latin typeface="+mj-ea"/>
                <a:ea typeface="+mj-ea"/>
              </a:rPr>
              <a:t>案</a:t>
            </a:r>
            <a:r>
              <a:rPr lang="en-US" altLang="ja-JP" sz="969" i="0">
                <a:latin typeface="+mj-ea"/>
                <a:ea typeface="+mj-ea"/>
              </a:rPr>
              <a:t>)</a:t>
            </a:r>
            <a:endParaRPr lang="ja-JP" altLang="en-US" sz="969" i="0">
              <a:latin typeface="+mj-ea"/>
              <a:ea typeface="+mj-ea"/>
            </a:endParaRP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1386906685"/>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p:nvSpPr>
        <p:spPr>
          <a:xfrm>
            <a:off x="0" y="0"/>
            <a:ext cx="1375698" cy="241476"/>
          </a:xfrm>
          <a:prstGeom prst="rect">
            <a:avLst/>
          </a:prstGeom>
        </p:spPr>
        <p:txBody>
          <a:bodyPr wrap="none">
            <a:spAutoFit/>
          </a:bodyPr>
          <a:lstStyle/>
          <a:p>
            <a:r>
              <a:rPr lang="en-US" altLang="ja-JP" sz="969" i="0">
                <a:latin typeface="+mj-ea"/>
                <a:ea typeface="+mj-ea"/>
              </a:rPr>
              <a:t>Ⅶ</a:t>
            </a:r>
            <a:r>
              <a:rPr lang="ja-JP" altLang="en-US" sz="969" i="0">
                <a:latin typeface="+mj-ea"/>
                <a:ea typeface="+mj-ea"/>
              </a:rPr>
              <a:t>章　技術解説書</a:t>
            </a:r>
            <a:r>
              <a:rPr lang="en-US" altLang="ja-JP" sz="969" i="0">
                <a:latin typeface="+mj-ea"/>
                <a:ea typeface="+mj-ea"/>
              </a:rPr>
              <a:t>(</a:t>
            </a:r>
            <a:r>
              <a:rPr lang="ja-JP" altLang="en-US" sz="969" i="0">
                <a:latin typeface="+mj-ea"/>
                <a:ea typeface="+mj-ea"/>
              </a:rPr>
              <a:t>案</a:t>
            </a:r>
            <a:r>
              <a:rPr lang="en-US" altLang="ja-JP" sz="969" i="0">
                <a:latin typeface="+mj-ea"/>
                <a:ea typeface="+mj-ea"/>
              </a:rPr>
              <a:t>)</a:t>
            </a:r>
            <a:endParaRPr lang="ja-JP" altLang="en-US" sz="969" i="0">
              <a:latin typeface="+mj-ea"/>
              <a:ea typeface="+mj-ea"/>
            </a:endParaRP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04274843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1807887720"/>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表紙2">
    <p:spTree>
      <p:nvGrpSpPr>
        <p:cNvPr id="1" name=""/>
        <p:cNvGrpSpPr/>
        <p:nvPr/>
      </p:nvGrpSpPr>
      <p:grpSpPr>
        <a:xfrm>
          <a:off x="0" y="0"/>
          <a:ext cx="0" cy="0"/>
          <a:chOff x="0" y="0"/>
          <a:chExt cx="0" cy="0"/>
        </a:xfrm>
      </p:grpSpPr>
      <p:sp>
        <p:nvSpPr>
          <p:cNvPr id="8" name="テキスト プレースホルダー 14">
            <a:extLst>
              <a:ext uri="{FF2B5EF4-FFF2-40B4-BE49-F238E27FC236}">
                <a16:creationId xmlns:a16="http://schemas.microsoft.com/office/drawing/2014/main" id="{61738D56-6561-1C48-AB89-C7F65FB15878}"/>
              </a:ext>
            </a:extLst>
          </p:cNvPr>
          <p:cNvSpPr>
            <a:spLocks noGrp="1"/>
          </p:cNvSpPr>
          <p:nvPr>
            <p:ph type="body" sz="quarter" idx="12"/>
          </p:nvPr>
        </p:nvSpPr>
        <p:spPr>
          <a:xfrm>
            <a:off x="2362200" y="4042661"/>
            <a:ext cx="7534810" cy="370807"/>
          </a:xfrm>
        </p:spPr>
        <p:txBody>
          <a:bodyPr wrap="square" lIns="288000">
            <a:spAutoFit/>
          </a:bodyPr>
          <a:lstStyle>
            <a:lvl1pPr marL="0" indent="0">
              <a:spcAft>
                <a:spcPts val="369"/>
              </a:spcAft>
              <a:buNone/>
              <a:defRPr lang="ja-JP" altLang="en-US" sz="1477" spc="138" smtClean="0">
                <a:solidFill>
                  <a:schemeClr val="tx1"/>
                </a:solidFill>
              </a:defRPr>
            </a:lvl1pPr>
            <a:lvl2pPr marL="211021" indent="0">
              <a:spcAft>
                <a:spcPts val="369"/>
              </a:spcAft>
              <a:buNone/>
              <a:defRPr lang="ja-JP" altLang="en-US" sz="1477" smtClean="0">
                <a:solidFill>
                  <a:schemeClr val="tx1"/>
                </a:solidFill>
                <a:latin typeface="+mn-lt"/>
                <a:ea typeface="+mn-ea"/>
              </a:defRPr>
            </a:lvl2pPr>
            <a:lvl3pPr marL="633062" indent="0">
              <a:spcAft>
                <a:spcPts val="369"/>
              </a:spcAft>
              <a:buNone/>
              <a:defRPr lang="ja-JP" altLang="en-US" sz="1477" smtClean="0">
                <a:solidFill>
                  <a:schemeClr val="tx1"/>
                </a:solidFill>
                <a:latin typeface="+mn-lt"/>
                <a:ea typeface="+mn-ea"/>
              </a:defRPr>
            </a:lvl3pPr>
            <a:lvl4pPr marL="1055103" indent="0">
              <a:spcAft>
                <a:spcPts val="369"/>
              </a:spcAft>
              <a:buNone/>
              <a:defRPr lang="ja-JP" altLang="en-US" sz="1477" smtClean="0">
                <a:solidFill>
                  <a:schemeClr val="tx1"/>
                </a:solidFill>
                <a:latin typeface="+mn-lt"/>
                <a:ea typeface="+mn-ea"/>
              </a:defRPr>
            </a:lvl4pPr>
            <a:lvl5pPr marL="1477145" indent="0">
              <a:spcAft>
                <a:spcPts val="369"/>
              </a:spcAft>
              <a:buNone/>
              <a:defRPr lang="ja-JP" altLang="en-US" sz="1477">
                <a:solidFill>
                  <a:schemeClr val="tx1"/>
                </a:solidFill>
                <a:latin typeface="+mn-lt"/>
                <a:ea typeface="+mn-ea"/>
              </a:defRPr>
            </a:lvl5pPr>
          </a:lstStyle>
          <a:p>
            <a:pPr marL="0" lvl="0" defTabSz="422041"/>
            <a:r>
              <a:rPr kumimoji="1" lang="ja-JP" altLang="en-US"/>
              <a:t>マスター テキストの書式設定</a:t>
            </a:r>
          </a:p>
        </p:txBody>
      </p:sp>
      <p:sp>
        <p:nvSpPr>
          <p:cNvPr id="14" name="Footer Placeholder 2">
            <a:extLst>
              <a:ext uri="{FF2B5EF4-FFF2-40B4-BE49-F238E27FC236}">
                <a16:creationId xmlns:a16="http://schemas.microsoft.com/office/drawing/2014/main" id="{00B915E3-9721-E14D-9069-1E3398AC9B47}"/>
              </a:ext>
            </a:extLst>
          </p:cNvPr>
          <p:cNvSpPr>
            <a:spLocks noGrp="1"/>
          </p:cNvSpPr>
          <p:nvPr>
            <p:ph type="ftr" sz="quarter" idx="11"/>
          </p:nvPr>
        </p:nvSpPr>
        <p:spPr>
          <a:xfrm>
            <a:off x="4450710" y="6379367"/>
            <a:ext cx="3757975" cy="263263"/>
          </a:xfrm>
        </p:spPr>
        <p:txBody>
          <a:bodyPr/>
          <a:lstStyle/>
          <a:p>
            <a:pPr>
              <a:defRPr/>
            </a:pPr>
            <a:r>
              <a:rPr lang="en-AU"/>
              <a:t>Copyright©272</a:t>
            </a:r>
            <a:r>
              <a:rPr lang="en-US" altLang="ja-JP"/>
              <a:t>2</a:t>
            </a:r>
            <a:r>
              <a:rPr lang="en-AU" err="1"/>
              <a:t>AccentureAllRightsReserved</a:t>
            </a:r>
            <a:r>
              <a:rPr lang="en-AU"/>
              <a:t>.</a:t>
            </a:r>
          </a:p>
        </p:txBody>
      </p:sp>
      <p:sp>
        <p:nvSpPr>
          <p:cNvPr id="15" name="タイトル 17">
            <a:extLst>
              <a:ext uri="{FF2B5EF4-FFF2-40B4-BE49-F238E27FC236}">
                <a16:creationId xmlns:a16="http://schemas.microsoft.com/office/drawing/2014/main" id="{74E58C1A-9531-3C45-9E29-C7A0D7F2876F}"/>
              </a:ext>
            </a:extLst>
          </p:cNvPr>
          <p:cNvSpPr>
            <a:spLocks noGrp="1"/>
          </p:cNvSpPr>
          <p:nvPr>
            <p:ph type="title"/>
          </p:nvPr>
        </p:nvSpPr>
        <p:spPr>
          <a:xfrm>
            <a:off x="2362200" y="1447802"/>
            <a:ext cx="7534810" cy="2304191"/>
          </a:xfrm>
        </p:spPr>
        <p:txBody>
          <a:bodyPr lIns="288000" tIns="180000" rIns="360000" bIns="72000" anchor="b"/>
          <a:lstStyle>
            <a:lvl1pPr>
              <a:defRPr sz="2215">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3572271009"/>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26277399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31882541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909058675"/>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48523455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46"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256402346"/>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B5F514-B7F3-0B8E-B1D6-F8A16F8C61D7}"/>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F1B213-BAAA-CD06-A1C6-B95158E72468}"/>
              </a:ext>
            </a:extLst>
          </p:cNvPr>
          <p:cNvSpPr>
            <a:spLocks noGrp="1"/>
          </p:cNvSpPr>
          <p:nvPr>
            <p:ph idx="1"/>
          </p:nvPr>
        </p:nvSpPr>
        <p:spPr>
          <a:xfrm>
            <a:off x="681038" y="1825625"/>
            <a:ext cx="8543925"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233793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oleObject" Target="../embeddings/oleObject1.bin"/><Relationship Id="rId5" Type="http://schemas.openxmlformats.org/officeDocument/2006/relationships/tags" Target="../tags/tag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oleObject" Target="../embeddings/oleObject2.bin"/><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ags" Target="../tags/tag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theme" Target="../theme/theme2.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tags" Target="../tags/tag3.xml"/><Relationship Id="rId3" Type="http://schemas.openxmlformats.org/officeDocument/2006/relationships/slideLayout" Target="../slideLayouts/slideLayout16.xml"/><Relationship Id="rId7" Type="http://schemas.openxmlformats.org/officeDocument/2006/relationships/theme" Target="../theme/theme3.xml"/><Relationship Id="rId12" Type="http://schemas.openxmlformats.org/officeDocument/2006/relationships/image" Target="../media/image2.emf"/><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oleObject" Target="../embeddings/oleObject3.bin"/><Relationship Id="rId5" Type="http://schemas.openxmlformats.org/officeDocument/2006/relationships/slideLayout" Target="../slideLayouts/slideLayout18.xml"/><Relationship Id="rId10" Type="http://schemas.openxmlformats.org/officeDocument/2006/relationships/tags" Target="../tags/tag5.xml"/><Relationship Id="rId4" Type="http://schemas.openxmlformats.org/officeDocument/2006/relationships/slideLayout" Target="../slideLayouts/slideLayout17.xml"/><Relationship Id="rId9" Type="http://schemas.openxmlformats.org/officeDocument/2006/relationships/tags" Target="../tags/tag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A3C7E29-81B3-D0EB-3901-9FD8B70B0C1D}"/>
              </a:ext>
            </a:extLst>
          </p:cNvPr>
          <p:cNvGraphicFramePr>
            <a:graphicFrameLocks noChangeAspect="1"/>
          </p:cNvGraphicFramePr>
          <p:nvPr userDrawn="1">
            <p:custDataLst>
              <p:tags r:id="rId5"/>
            </p:custDataLst>
            <p:extLst>
              <p:ext uri="{D42A27DB-BD31-4B8C-83A1-F6EECF244321}">
                <p14:modId xmlns:p14="http://schemas.microsoft.com/office/powerpoint/2010/main" val="31275839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6" imgW="405" imgH="405" progId="TCLayout.ActiveDocument.1">
                  <p:embed/>
                </p:oleObj>
              </mc:Choice>
              <mc:Fallback>
                <p:oleObj name="think-cellスライド" r:id="rId6" imgW="405" imgH="405" progId="TCLayout.ActiveDocument.1">
                  <p:embed/>
                  <p:pic>
                    <p:nvPicPr>
                      <p:cNvPr id="3" name="think-cell data - do not delete" hidden="1">
                        <a:extLst>
                          <a:ext uri="{FF2B5EF4-FFF2-40B4-BE49-F238E27FC236}">
                            <a16:creationId xmlns:a16="http://schemas.microsoft.com/office/drawing/2014/main" id="{4A3C7E29-81B3-D0EB-3901-9FD8B70B0C1D}"/>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userDrawn="1"/>
        </p:nvSpPr>
        <p:spPr>
          <a:xfrm>
            <a:off x="9271620" y="6521052"/>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900"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447501"/>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7" y="-447501"/>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a:cxnSpLocks/>
          </p:cNvCxnSpPr>
          <p:nvPr userDrawn="1"/>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a:cxnSpLocks/>
          </p:cNvCxnSpPr>
          <p:nvPr userDrawn="1"/>
        </p:nvCxnSpPr>
        <p:spPr bwMode="auto">
          <a:xfrm>
            <a:off x="9412426"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userDrawn="1"/>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userDrawn="1"/>
        </p:nvSpPr>
        <p:spPr>
          <a:xfrm>
            <a:off x="9243477"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a:cxnSpLocks/>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0"/>
            <a:ext cx="8892000"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grpSp>
    </p:spTree>
    <p:extLst>
      <p:ext uri="{BB962C8B-B14F-4D97-AF65-F5344CB8AC3E}">
        <p14:creationId xmlns:p14="http://schemas.microsoft.com/office/powerpoint/2010/main" val="1712580275"/>
      </p:ext>
    </p:extLst>
  </p:cSld>
  <p:clrMap bg1="lt1" tx1="dk1" bg2="lt2" tx2="dk2" accent1="accent1" accent2="accent2" accent3="accent3" accent4="accent4" accent5="accent5" accent6="accent6" hlink="hlink" folHlink="folHlink"/>
  <p:sldLayoutIdLst>
    <p:sldLayoutId id="2147483719" r:id="rId1"/>
    <p:sldLayoutId id="2147483759" r:id="rId2"/>
    <p:sldLayoutId id="2147483727" r:id="rId3"/>
  </p:sldLayoutIdLst>
  <p:hf sldNum="0" hd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729DEFB-54AB-BCEB-2F35-CD9CB7E7F691}"/>
              </a:ext>
            </a:extLst>
          </p:cNvPr>
          <p:cNvGraphicFramePr>
            <a:graphicFrameLocks noChangeAspect="1"/>
          </p:cNvGraphicFramePr>
          <p:nvPr userDrawn="1">
            <p:custDataLst>
              <p:tags r:id="rId12"/>
            </p:custDataLst>
            <p:extLst>
              <p:ext uri="{D42A27DB-BD31-4B8C-83A1-F6EECF244321}">
                <p14:modId xmlns:p14="http://schemas.microsoft.com/office/powerpoint/2010/main" val="652577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3" imgW="405" imgH="405" progId="TCLayout.ActiveDocument.1">
                  <p:embed/>
                </p:oleObj>
              </mc:Choice>
              <mc:Fallback>
                <p:oleObj name="think-cellスライド" r:id="rId13" imgW="405" imgH="405" progId="TCLayout.ActiveDocument.1">
                  <p:embed/>
                  <p:pic>
                    <p:nvPicPr>
                      <p:cNvPr id="3" name="think-cell data - do not delete" hidden="1">
                        <a:extLst>
                          <a:ext uri="{FF2B5EF4-FFF2-40B4-BE49-F238E27FC236}">
                            <a16:creationId xmlns:a16="http://schemas.microsoft.com/office/drawing/2014/main" id="{A729DEFB-54AB-BCEB-2F35-CD9CB7E7F691}"/>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574907"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376518"/>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413558" y="-376518"/>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8"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p:nvSpPr>
        <p:spPr>
          <a:xfrm>
            <a:off x="-536528" y="1233656"/>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8" y="1628308"/>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8" y="2022960"/>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8" y="2417612"/>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6" tIns="42203" rIns="84406" bIns="42203" numCol="1" spcCol="0" rtlCol="0" fromWordArt="0" anchor="ctr" anchorCtr="0" forceAA="0" compatLnSpc="1">
            <a:prstTxWarp prst="textNoShape">
              <a:avLst/>
            </a:prstTxWarp>
            <a:noAutofit/>
          </a:bodyPr>
          <a:lstStyle/>
          <a:p>
            <a:pPr defTabSz="843987"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2"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Tree>
    <p:extLst>
      <p:ext uri="{BB962C8B-B14F-4D97-AF65-F5344CB8AC3E}">
        <p14:creationId xmlns:p14="http://schemas.microsoft.com/office/powerpoint/2010/main" val="1833124152"/>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Lst>
  <p:hf hd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D37800-827B-46F8-DF58-F3EAC1F7B0AA}"/>
              </a:ext>
            </a:extLst>
          </p:cNvPr>
          <p:cNvGraphicFramePr>
            <a:graphicFrameLocks noChangeAspect="1"/>
          </p:cNvGraphicFramePr>
          <p:nvPr userDrawn="1">
            <p:custDataLst>
              <p:tags r:id="rId8"/>
            </p:custDataLst>
            <p:extLst>
              <p:ext uri="{D42A27DB-BD31-4B8C-83A1-F6EECF244321}">
                <p14:modId xmlns:p14="http://schemas.microsoft.com/office/powerpoint/2010/main" val="1457617614"/>
              </p:ext>
            </p:ext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スライド" r:id="rId11" imgW="360" imgH="360" progId="TCLayout.ActiveDocument.1">
                  <p:embed/>
                </p:oleObj>
              </mc:Choice>
              <mc:Fallback>
                <p:oleObj name="think-cellスライド" r:id="rId11" imgW="360" imgH="360" progId="TCLayout.ActiveDocument.1">
                  <p:embed/>
                  <p:pic>
                    <p:nvPicPr>
                      <p:cNvPr id="3" name="think-cell data - do not delete" hidden="1">
                        <a:extLst>
                          <a:ext uri="{FF2B5EF4-FFF2-40B4-BE49-F238E27FC236}">
                            <a16:creationId xmlns:a16="http://schemas.microsoft.com/office/drawing/2014/main" id="{58D37800-827B-46F8-DF58-F3EAC1F7B0AA}"/>
                          </a:ext>
                        </a:extLst>
                      </p:cNvPr>
                      <p:cNvPicPr/>
                      <p:nvPr/>
                    </p:nvPicPr>
                    <p:blipFill>
                      <a:blip r:embed="rId12"/>
                      <a:stretch>
                        <a:fillRect/>
                      </a:stretch>
                    </p:blipFill>
                    <p:spPr>
                      <a:xfrm>
                        <a:off x="1588" y="1589"/>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009450" y="6453376"/>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796" rtl="0" eaLnBrk="1" fontAlgn="auto" latinLnBrk="0" hangingPunct="1">
              <a:lnSpc>
                <a:spcPct val="100000"/>
              </a:lnSpc>
              <a:spcBef>
                <a:spcPts val="0"/>
              </a:spcBef>
              <a:spcAft>
                <a:spcPts val="0"/>
              </a:spcAft>
              <a:buClrTx/>
              <a:buSzTx/>
              <a:buFontTx/>
              <a:buNone/>
              <a:tabLst/>
              <a:defRPr/>
            </a:pPr>
            <a:fld id="{EF2F7A32-C1EA-4F7E-B0A2-7FCB5BFE90DE}" type="slidenum">
              <a:rPr kumimoji="0" lang="en-GB" sz="7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685796" rtl="0" eaLnBrk="1" fontAlgn="auto" latinLnBrk="0" hangingPunct="1">
                <a:lnSpc>
                  <a:spcPct val="100000"/>
                </a:lnSpc>
                <a:spcBef>
                  <a:spcPts val="0"/>
                </a:spcBef>
                <a:spcAft>
                  <a:spcPts val="0"/>
                </a:spcAft>
                <a:buClrTx/>
                <a:buSzTx/>
                <a:buFontTx/>
                <a:buNone/>
                <a:tabLst/>
                <a:defRPr/>
              </a:pPr>
              <a:t>‹#›</a:t>
            </a:fld>
            <a:endParaRPr kumimoji="0" lang="en-GB" sz="675" b="0" i="0" u="none" strike="noStrike" kern="1200" cap="none" spc="0" normalizeH="0" baseline="0" noProof="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3" y="-447501"/>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8" y="-447501"/>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3" y="7012040"/>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9" y="7012040"/>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3" y="266705"/>
            <a:ext cx="8915399"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1"/>
            <a:ext cx="8892000"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grpSp>
      <p:sp>
        <p:nvSpPr>
          <p:cNvPr id="13" name="AcnSubjectTitle_ID_13" hidden="1">
            <a:extLst>
              <a:ext uri="{FF2B5EF4-FFF2-40B4-BE49-F238E27FC236}">
                <a16:creationId xmlns:a16="http://schemas.microsoft.com/office/drawing/2014/main" id="{80CE973F-CC52-F6DE-E743-68E029CAB8DA}"/>
              </a:ext>
            </a:extLst>
          </p:cNvPr>
          <p:cNvSpPr txBox="1"/>
          <p:nvPr userDrawn="1">
            <p:custDataLst>
              <p:tags r:id="rId9"/>
            </p:custDataLst>
          </p:nvPr>
        </p:nvSpPr>
        <p:spPr bwMode="gray">
          <a:xfrm>
            <a:off x="179388" y="1420813"/>
            <a:ext cx="6985000" cy="269680"/>
          </a:xfrm>
          <a:prstGeom prst="rect">
            <a:avLst/>
          </a:prstGeom>
          <a:noFill/>
        </p:spPr>
        <p:txBody>
          <a:bodyPr vert="horz" wrap="square" lIns="36000" tIns="36000" rIns="36000" bIns="36000" rtlCol="0" anchor="ctr">
            <a:spAutoFit/>
          </a:bodyPr>
          <a:lstStyle/>
          <a:p>
            <a:pPr algn="l" defTabSz="914400" fontAlgn="base">
              <a:lnSpc>
                <a:spcPct val="80000"/>
              </a:lnSpc>
              <a:spcBef>
                <a:spcPct val="0"/>
              </a:spcBef>
              <a:spcAft>
                <a:spcPct val="0"/>
              </a:spcAft>
              <a:buFontTx/>
              <a:buNone/>
            </a:pPr>
            <a:r>
              <a:rPr kumimoji="1" lang="en-US" altLang="ja-JP" sz="1600" b="1" i="0" err="1">
                <a:solidFill>
                  <a:schemeClr val="tx1"/>
                </a:solidFill>
                <a:latin typeface="Meiryo UI" panose="020B0604030504040204" pitchFamily="50" charset="-128"/>
                <a:ea typeface="Meiryo UI" panose="020B0604030504040204" pitchFamily="50" charset="-128"/>
              </a:rPr>
              <a:t>SubjectTitle</a:t>
            </a:r>
            <a:endParaRPr kumimoji="1" lang="ja-JP" altLang="en-US" sz="1600" b="1" i="0">
              <a:solidFill>
                <a:schemeClr val="tx1"/>
              </a:solidFill>
              <a:latin typeface="Meiryo UI" panose="020B0604030504040204" pitchFamily="50" charset="-128"/>
              <a:ea typeface="Meiryo UI" panose="020B0604030504040204" pitchFamily="50" charset="-128"/>
            </a:endParaRPr>
          </a:p>
        </p:txBody>
      </p:sp>
      <p:sp>
        <p:nvSpPr>
          <p:cNvPr id="17" name="AcnFootnote_ID_17" hidden="1">
            <a:extLst>
              <a:ext uri="{FF2B5EF4-FFF2-40B4-BE49-F238E27FC236}">
                <a16:creationId xmlns:a16="http://schemas.microsoft.com/office/drawing/2014/main" id="{8766CB3F-02BB-8D4F-CC0C-78CAF99C6587}"/>
              </a:ext>
            </a:extLst>
          </p:cNvPr>
          <p:cNvSpPr txBox="1"/>
          <p:nvPr userDrawn="1">
            <p:custDataLst>
              <p:tags r:id="rId10"/>
            </p:custDataLst>
          </p:nvPr>
        </p:nvSpPr>
        <p:spPr bwMode="gray">
          <a:xfrm>
            <a:off x="179388" y="6254750"/>
            <a:ext cx="8780463" cy="349702"/>
          </a:xfrm>
          <a:prstGeom prst="rect">
            <a:avLst/>
          </a:prstGeom>
          <a:noFill/>
        </p:spPr>
        <p:txBody>
          <a:bodyPr vert="horz" wrap="square" lIns="36000" tIns="36000" rIns="36000" bIns="36000" rtlCol="0" anchor="b">
            <a:spAutoFit/>
          </a:bodyPr>
          <a:lstStyle/>
          <a:p>
            <a:pPr marL="538163" indent="-538163" algn="l" defTabSz="914400" fontAlgn="base">
              <a:lnSpc>
                <a:spcPct val="80000"/>
              </a:lnSpc>
              <a:spcBef>
                <a:spcPct val="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	Footnote</a:t>
            </a:r>
          </a:p>
          <a:p>
            <a:pPr marL="538163" indent="-538163" algn="l" defTabSz="914400" fontAlgn="base">
              <a:lnSpc>
                <a:spcPct val="80000"/>
              </a:lnSpc>
              <a:spcBef>
                <a:spcPct val="2000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Source:	Source</a:t>
            </a:r>
            <a:endParaRPr kumimoji="1" lang="ja-JP" altLang="en-US" sz="1000" b="0" i="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814671536"/>
      </p:ext>
    </p:extLst>
  </p:cSld>
  <p:clrMap bg1="lt1" tx1="dk1" bg2="lt2" tx2="dk2" accent1="accent1" accent2="accent2" accent3="accent3" accent4="accent4" accent5="accent5" accent6="accent6" hlink="hlink" folHlink="folHlink"/>
  <p:sldLayoutIdLst>
    <p:sldLayoutId id="2147483812" r:id="rId1"/>
    <p:sldLayoutId id="2147483813" r:id="rId2"/>
    <p:sldLayoutId id="2147483814" r:id="rId3"/>
    <p:sldLayoutId id="2147483815" r:id="rId4"/>
    <p:sldLayoutId id="2147483816" r:id="rId5"/>
    <p:sldLayoutId id="2147483817" r:id="rId6"/>
  </p:sldLayoutIdLst>
  <p:hf sldNum="0" hdr="0" dt="0"/>
  <p:txStyles>
    <p:titleStyle>
      <a:lvl1pPr algn="ctr" defTabSz="571394" rtl="0" eaLnBrk="1" fontAlgn="base" hangingPunct="1">
        <a:spcBef>
          <a:spcPct val="0"/>
        </a:spcBef>
        <a:spcAft>
          <a:spcPct val="0"/>
        </a:spcAft>
        <a:defRPr kumimoji="1" sz="1200">
          <a:solidFill>
            <a:schemeClr val="bg1"/>
          </a:solidFill>
          <a:latin typeface="+mj-ea"/>
          <a:ea typeface="+mj-ea"/>
          <a:cs typeface="+mj-cs"/>
        </a:defRPr>
      </a:lvl1pPr>
      <a:lvl2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2pPr>
      <a:lvl3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3pPr>
      <a:lvl4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4pPr>
      <a:lvl5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5pPr>
      <a:lvl6pPr marL="342836"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685673"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028509"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371345"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050">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p:bodyStyle>
    <p:otherStyle>
      <a:defPPr>
        <a:defRPr lang="ja-JP"/>
      </a:defPPr>
      <a:lvl1pPr marL="0" algn="l" defTabSz="685673" rtl="0" eaLnBrk="1" latinLnBrk="0" hangingPunct="1">
        <a:defRPr kumimoji="1" sz="1351" kern="1200">
          <a:solidFill>
            <a:schemeClr val="tx1"/>
          </a:solidFill>
          <a:latin typeface="+mn-lt"/>
          <a:ea typeface="+mn-ea"/>
          <a:cs typeface="+mn-cs"/>
        </a:defRPr>
      </a:lvl1pPr>
      <a:lvl2pPr marL="342836" algn="l" defTabSz="685673" rtl="0" eaLnBrk="1" latinLnBrk="0" hangingPunct="1">
        <a:defRPr kumimoji="1" sz="1351" kern="1200">
          <a:solidFill>
            <a:schemeClr val="tx1"/>
          </a:solidFill>
          <a:latin typeface="+mn-lt"/>
          <a:ea typeface="+mn-ea"/>
          <a:cs typeface="+mn-cs"/>
        </a:defRPr>
      </a:lvl2pPr>
      <a:lvl3pPr marL="685673" algn="l" defTabSz="685673" rtl="0" eaLnBrk="1" latinLnBrk="0" hangingPunct="1">
        <a:defRPr kumimoji="1" sz="1351" kern="1200">
          <a:solidFill>
            <a:schemeClr val="tx1"/>
          </a:solidFill>
          <a:latin typeface="+mn-lt"/>
          <a:ea typeface="+mn-ea"/>
          <a:cs typeface="+mn-cs"/>
        </a:defRPr>
      </a:lvl3pPr>
      <a:lvl4pPr marL="1028509" algn="l" defTabSz="685673" rtl="0" eaLnBrk="1" latinLnBrk="0" hangingPunct="1">
        <a:defRPr kumimoji="1" sz="1351" kern="1200">
          <a:solidFill>
            <a:schemeClr val="tx1"/>
          </a:solidFill>
          <a:latin typeface="+mn-lt"/>
          <a:ea typeface="+mn-ea"/>
          <a:cs typeface="+mn-cs"/>
        </a:defRPr>
      </a:lvl4pPr>
      <a:lvl5pPr marL="1371345" algn="l" defTabSz="685673" rtl="0" eaLnBrk="1" latinLnBrk="0" hangingPunct="1">
        <a:defRPr kumimoji="1" sz="1351" kern="1200">
          <a:solidFill>
            <a:schemeClr val="tx1"/>
          </a:solidFill>
          <a:latin typeface="+mn-lt"/>
          <a:ea typeface="+mn-ea"/>
          <a:cs typeface="+mn-cs"/>
        </a:defRPr>
      </a:lvl5pPr>
      <a:lvl6pPr marL="1714181" algn="l" defTabSz="685673" rtl="0" eaLnBrk="1" latinLnBrk="0" hangingPunct="1">
        <a:defRPr kumimoji="1" sz="1351" kern="1200">
          <a:solidFill>
            <a:schemeClr val="tx1"/>
          </a:solidFill>
          <a:latin typeface="+mn-lt"/>
          <a:ea typeface="+mn-ea"/>
          <a:cs typeface="+mn-cs"/>
        </a:defRPr>
      </a:lvl6pPr>
      <a:lvl7pPr marL="2057017" algn="l" defTabSz="685673" rtl="0" eaLnBrk="1" latinLnBrk="0" hangingPunct="1">
        <a:defRPr kumimoji="1" sz="1351" kern="1200">
          <a:solidFill>
            <a:schemeClr val="tx1"/>
          </a:solidFill>
          <a:latin typeface="+mn-lt"/>
          <a:ea typeface="+mn-ea"/>
          <a:cs typeface="+mn-cs"/>
        </a:defRPr>
      </a:lvl7pPr>
      <a:lvl8pPr marL="2399854" algn="l" defTabSz="685673" rtl="0" eaLnBrk="1" latinLnBrk="0" hangingPunct="1">
        <a:defRPr kumimoji="1" sz="1351" kern="1200">
          <a:solidFill>
            <a:schemeClr val="tx1"/>
          </a:solidFill>
          <a:latin typeface="+mn-lt"/>
          <a:ea typeface="+mn-ea"/>
          <a:cs typeface="+mn-cs"/>
        </a:defRPr>
      </a:lvl8pPr>
      <a:lvl9pPr marL="2742689" algn="l" defTabSz="685673" rtl="0" eaLnBrk="1" latinLnBrk="0" hangingPunct="1">
        <a:defRPr kumimoji="1"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12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コンテンツ プレースホルダー 2">
            <a:extLst>
              <a:ext uri="{FF2B5EF4-FFF2-40B4-BE49-F238E27FC236}">
                <a16:creationId xmlns:a16="http://schemas.microsoft.com/office/drawing/2014/main" id="{C08FAB9E-26D0-3AC7-F538-D195A6F89516}"/>
              </a:ext>
            </a:extLst>
          </p:cNvPr>
          <p:cNvSpPr>
            <a:spLocks noGrp="1"/>
          </p:cNvSpPr>
          <p:nvPr>
            <p:ph idx="1"/>
          </p:nvPr>
        </p:nvSpPr>
        <p:spPr>
          <a:xfrm>
            <a:off x="1616840" y="3156055"/>
            <a:ext cx="6269126" cy="569252"/>
          </a:xfrm>
        </p:spPr>
        <p:txBody>
          <a:bodyPr anchor="ctr"/>
          <a:lstStyle/>
          <a:p>
            <a:pPr algn="ctr"/>
            <a:r>
              <a:rPr lang="ja-JP" altLang="en-US" sz="4000" b="1"/>
              <a:t>開発課題検討会</a:t>
            </a:r>
            <a:endParaRPr kumimoji="1" lang="ja-JP" altLang="en-US" sz="4000" b="1"/>
          </a:p>
        </p:txBody>
      </p:sp>
      <p:sp>
        <p:nvSpPr>
          <p:cNvPr id="7" name="コンテンツ プレースホルダー 1">
            <a:extLst>
              <a:ext uri="{FF2B5EF4-FFF2-40B4-BE49-F238E27FC236}">
                <a16:creationId xmlns:a16="http://schemas.microsoft.com/office/drawing/2014/main" id="{36BC66CB-47C6-E685-0669-F41E7D041B9F}"/>
              </a:ext>
            </a:extLst>
          </p:cNvPr>
          <p:cNvSpPr txBox="1">
            <a:spLocks/>
          </p:cNvSpPr>
          <p:nvPr/>
        </p:nvSpPr>
        <p:spPr bwMode="auto">
          <a:xfrm>
            <a:off x="2452555" y="4270206"/>
            <a:ext cx="4597696" cy="417786"/>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marL="0" indent="0" algn="l" rtl="0" eaLnBrk="1" fontAlgn="base" hangingPunct="1">
              <a:spcBef>
                <a:spcPts val="0"/>
              </a:spcBef>
              <a:spcAft>
                <a:spcPct val="0"/>
              </a:spcAft>
              <a:defRPr kumimoji="1" sz="1400">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a:lstStyle>
          <a:p>
            <a:pPr marL="0" marR="0" lvl="0" indent="0" algn="ctr" defTabSz="914400" rtl="0" eaLnBrk="1" fontAlgn="base" latinLnBrk="0" hangingPunct="1">
              <a:lnSpc>
                <a:spcPct val="100000"/>
              </a:lnSpc>
              <a:spcBef>
                <a:spcPts val="0"/>
              </a:spcBef>
              <a:spcAft>
                <a:spcPct val="0"/>
              </a:spcAft>
              <a:buClrTx/>
              <a:buSzTx/>
              <a:buFontTx/>
              <a:buNone/>
              <a:tabLst/>
              <a:defRPr/>
            </a:pPr>
            <a:r>
              <a:rPr lang="en-US" altLang="ja-JP" sz="1800" kern="0">
                <a:solidFill>
                  <a:prstClr val="black"/>
                </a:solidFill>
                <a:latin typeface="Meiryo UI"/>
                <a:ea typeface="Meiryo UI"/>
              </a:rPr>
              <a:t>2026/10/5</a:t>
            </a:r>
            <a:r>
              <a:rPr kumimoji="1" lang="ja-JP" altLang="en-US" sz="1800" b="0" i="0" u="none" strike="noStrike" kern="0" cap="none" spc="0" normalizeH="0" baseline="0" noProof="0">
                <a:ln>
                  <a:noFill/>
                </a:ln>
                <a:solidFill>
                  <a:prstClr val="black"/>
                </a:solidFill>
                <a:effectLst/>
                <a:uLnTx/>
                <a:uFillTx/>
                <a:latin typeface="Meiryo UI"/>
                <a:ea typeface="Meiryo UI"/>
                <a:cs typeface="+mn-cs"/>
              </a:rPr>
              <a:t>　</a:t>
            </a:r>
            <a:r>
              <a:rPr kumimoji="1" lang="en-US" altLang="ja-JP" sz="1800" b="0" i="0" u="none" strike="noStrike" kern="0" cap="none" spc="0" normalizeH="0" baseline="0" noProof="0">
                <a:ln>
                  <a:noFill/>
                </a:ln>
                <a:solidFill>
                  <a:prstClr val="black"/>
                </a:solidFill>
                <a:effectLst/>
                <a:uLnTx/>
                <a:uFillTx/>
                <a:latin typeface="Meiryo UI"/>
                <a:ea typeface="Meiryo UI"/>
                <a:cs typeface="+mn-cs"/>
              </a:rPr>
              <a:t>13:30</a:t>
            </a:r>
            <a:r>
              <a:rPr kumimoji="1" lang="ja-JP" altLang="en-US" sz="1800" b="0" i="0" u="none" strike="noStrike" kern="0" cap="none" spc="0" normalizeH="0" baseline="0" noProof="0">
                <a:ln>
                  <a:noFill/>
                </a:ln>
                <a:solidFill>
                  <a:prstClr val="black"/>
                </a:solidFill>
                <a:effectLst/>
                <a:uLnTx/>
                <a:uFillTx/>
                <a:latin typeface="Meiryo UI"/>
                <a:ea typeface="Meiryo UI"/>
                <a:cs typeface="+mn-cs"/>
              </a:rPr>
              <a:t>～</a:t>
            </a:r>
            <a:r>
              <a:rPr lang="en-US" altLang="ja-JP" sz="1800" kern="0">
                <a:solidFill>
                  <a:prstClr val="black"/>
                </a:solidFill>
                <a:latin typeface="Meiryo UI"/>
                <a:ea typeface="Meiryo UI"/>
              </a:rPr>
              <a:t>16:00</a:t>
            </a:r>
            <a:endParaRPr kumimoji="1" lang="en-US" altLang="ja-JP" sz="1800" b="0" i="0" u="none" strike="noStrike" kern="0" cap="none" spc="0" normalizeH="0" baseline="0" noProof="0">
              <a:ln>
                <a:noFill/>
              </a:ln>
              <a:solidFill>
                <a:prstClr val="black"/>
              </a:solidFill>
              <a:effectLst/>
              <a:uLnTx/>
              <a:uFillTx/>
              <a:latin typeface="Meiryo UI"/>
              <a:ea typeface="Meiryo UI"/>
              <a:cs typeface="+mn-cs"/>
            </a:endParaRPr>
          </a:p>
        </p:txBody>
      </p:sp>
      <p:sp>
        <p:nvSpPr>
          <p:cNvPr id="8" name="テキスト ボックス 7">
            <a:extLst>
              <a:ext uri="{FF2B5EF4-FFF2-40B4-BE49-F238E27FC236}">
                <a16:creationId xmlns:a16="http://schemas.microsoft.com/office/drawing/2014/main" id="{6EC9C8E1-A5BC-2816-80C0-CE0B35B2610E}"/>
              </a:ext>
            </a:extLst>
          </p:cNvPr>
          <p:cNvSpPr txBox="1"/>
          <p:nvPr/>
        </p:nvSpPr>
        <p:spPr>
          <a:xfrm>
            <a:off x="2103638" y="2662058"/>
            <a:ext cx="529553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0" normalizeH="0" baseline="0" noProof="0">
                <a:ln>
                  <a:noFill/>
                </a:ln>
                <a:solidFill>
                  <a:prstClr val="black"/>
                </a:solidFill>
                <a:effectLst/>
                <a:uLnTx/>
                <a:uFillTx/>
                <a:latin typeface="Arial"/>
                <a:ea typeface="Meiryo UI"/>
                <a:cs typeface="+mn-cs"/>
              </a:rPr>
              <a:t>電子カルテ情報共有サービス</a:t>
            </a:r>
          </a:p>
        </p:txBody>
      </p:sp>
      <p:sp>
        <p:nvSpPr>
          <p:cNvPr id="2" name="正方形/長方形 1">
            <a:extLst>
              <a:ext uri="{FF2B5EF4-FFF2-40B4-BE49-F238E27FC236}">
                <a16:creationId xmlns:a16="http://schemas.microsoft.com/office/drawing/2014/main" id="{D77F32AC-E8EA-D8CD-9EA1-984BF86B25C3}"/>
              </a:ext>
            </a:extLst>
          </p:cNvPr>
          <p:cNvSpPr/>
          <p:nvPr/>
        </p:nvSpPr>
        <p:spPr>
          <a:xfrm>
            <a:off x="7543800" y="110359"/>
            <a:ext cx="1915510" cy="748862"/>
          </a:xfrm>
          <a:prstGeom prst="rect">
            <a:avLst/>
          </a:prstGeom>
          <a:solidFill>
            <a:schemeClr val="accent6">
              <a:lumMod val="20000"/>
              <a:lumOff val="80000"/>
            </a:schemeClr>
          </a:solidFill>
          <a:ln>
            <a:solidFill>
              <a:schemeClr val="tx1"/>
            </a:solidFill>
          </a:ln>
        </p:spPr>
        <p:txBody>
          <a:bodyPr rtlCol="0" anchor="ctr"/>
          <a:lstStyle/>
          <a:p>
            <a:pPr algn="ctr" fontAlgn="base">
              <a:spcBef>
                <a:spcPct val="20000"/>
              </a:spcBef>
              <a:spcAft>
                <a:spcPct val="0"/>
              </a:spcAft>
            </a:pPr>
            <a:r>
              <a:rPr kumimoji="1" lang="ja-JP" altLang="en-US" sz="2000">
                <a:latin typeface="+mj-ea"/>
                <a:ea typeface="+mj-ea"/>
              </a:rPr>
              <a:t>議事要旨</a:t>
            </a:r>
          </a:p>
        </p:txBody>
      </p:sp>
    </p:spTree>
    <p:extLst>
      <p:ext uri="{BB962C8B-B14F-4D97-AF65-F5344CB8AC3E}">
        <p14:creationId xmlns:p14="http://schemas.microsoft.com/office/powerpoint/2010/main" val="964767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241FE-E4DF-4ACB-7283-2B8EF3EBC8ED}"/>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AFD4A716-E655-AEEF-238C-4B317B60C6FE}"/>
              </a:ext>
            </a:extLst>
          </p:cNvPr>
          <p:cNvGraphicFramePr>
            <a:graphicFrameLocks noGrp="1"/>
          </p:cNvGraphicFramePr>
          <p:nvPr>
            <p:extLst>
              <p:ext uri="{D42A27DB-BD31-4B8C-83A1-F6EECF244321}">
                <p14:modId xmlns:p14="http://schemas.microsoft.com/office/powerpoint/2010/main" val="1288479025"/>
              </p:ext>
            </p:extLst>
          </p:nvPr>
        </p:nvGraphicFramePr>
        <p:xfrm>
          <a:off x="453000" y="843756"/>
          <a:ext cx="9000001" cy="5074920"/>
        </p:xfrm>
        <a:graphic>
          <a:graphicData uri="http://schemas.openxmlformats.org/drawingml/2006/table">
            <a:tbl>
              <a:tblPr/>
              <a:tblGrid>
                <a:gridCol w="473868">
                  <a:extLst>
                    <a:ext uri="{9D8B030D-6E8A-4147-A177-3AD203B41FA5}">
                      <a16:colId xmlns:a16="http://schemas.microsoft.com/office/drawing/2014/main" val="3484704196"/>
                    </a:ext>
                  </a:extLst>
                </a:gridCol>
                <a:gridCol w="1121469">
                  <a:extLst>
                    <a:ext uri="{9D8B030D-6E8A-4147-A177-3AD203B41FA5}">
                      <a16:colId xmlns:a16="http://schemas.microsoft.com/office/drawing/2014/main" val="3863879091"/>
                    </a:ext>
                  </a:extLst>
                </a:gridCol>
                <a:gridCol w="5371638">
                  <a:extLst>
                    <a:ext uri="{9D8B030D-6E8A-4147-A177-3AD203B41FA5}">
                      <a16:colId xmlns:a16="http://schemas.microsoft.com/office/drawing/2014/main" val="99914978"/>
                    </a:ext>
                  </a:extLst>
                </a:gridCol>
                <a:gridCol w="2033026">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183680">
                <a:tc>
                  <a:txBody>
                    <a:bodyPr/>
                    <a:lstStyle/>
                    <a:p>
                      <a:pPr algn="ctr" fontAlgn="base">
                        <a:lnSpc>
                          <a:spcPts val="1200"/>
                        </a:lnSpc>
                      </a:pPr>
                      <a:r>
                        <a:rPr lang="en-US" sz="900" b="0" i="0">
                          <a:solidFill>
                            <a:srgbClr val="000000"/>
                          </a:solidFill>
                          <a:effectLst/>
                          <a:latin typeface="+mn-ea"/>
                          <a:ea typeface="+mn-ea"/>
                        </a:rPr>
                        <a:t>1</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マスタスケジュールの確認</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特になし。</a:t>
                      </a:r>
                      <a:endParaRPr kumimoji="1" lang="en-US" altLang="ja-JP" sz="900" b="0" i="0" u="none" strike="noStrike" kern="120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a:lnSpc>
                          <a:spcPct val="100000"/>
                        </a:lnSpc>
                        <a:spcBef>
                          <a:spcPts val="0"/>
                        </a:spcBef>
                        <a:spcAft>
                          <a:spcPts val="0"/>
                        </a:spcAft>
                        <a:buClrTx/>
                        <a:buSzTx/>
                        <a:buFont typeface="Wingdings" panose="05000000000000000000" pitchFamily="2" charset="2"/>
                        <a:buChar char="ü"/>
                      </a:pPr>
                      <a:r>
                        <a:rPr lang="ja-JP" altLang="en-US" sz="900" kern="1200">
                          <a:solidFill>
                            <a:schemeClr val="tx1"/>
                          </a:solidFill>
                          <a:latin typeface="+mn-ea"/>
                          <a:ea typeface="+mn-ea"/>
                          <a:cs typeface="+mn-cs"/>
                        </a:rPr>
                        <a:t>特になし。</a:t>
                      </a:r>
                      <a:endParaRPr lang="en-US"/>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1875067"/>
                  </a:ext>
                </a:extLst>
              </a:tr>
              <a:tr h="540000">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1</a:t>
                      </a:r>
                      <a:r>
                        <a:rPr kumimoji="1" lang="ja-JP" altLang="en-US" sz="900" b="1" i="0" u="sng" strike="noStrike" kern="1200">
                          <a:solidFill>
                            <a:srgbClr val="000000"/>
                          </a:solidFill>
                          <a:latin typeface="+mn-ea"/>
                          <a:ea typeface="+mn-ea"/>
                          <a:cs typeface="+mn-cs"/>
                        </a:rPr>
                        <a:t>．案件の新規起票​</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下記の新規案件を開発候補として、</a:t>
                      </a:r>
                      <a:r>
                        <a:rPr kumimoji="0" lang="en-US" altLang="ja-JP" sz="900" b="0" i="0" u="none" strike="noStrike" kern="0" cap="none" spc="0" normalizeH="0" baseline="0" noProof="0">
                          <a:ln>
                            <a:noFill/>
                          </a:ln>
                          <a:solidFill>
                            <a:prstClr val="black"/>
                          </a:solidFill>
                          <a:effectLst/>
                          <a:uLnTx/>
                          <a:uFillTx/>
                          <a:latin typeface="+mn-ea"/>
                          <a:ea typeface="+mn-ea"/>
                          <a:cs typeface="+mn-cs"/>
                        </a:rPr>
                        <a:t>10</a:t>
                      </a:r>
                      <a:r>
                        <a:rPr kumimoji="0" lang="ja-JP" altLang="en-US" sz="900" b="0" i="0" u="none" strike="noStrike" kern="0" cap="none" spc="0" normalizeH="0" baseline="0" noProof="0">
                          <a:ln>
                            <a:noFill/>
                          </a:ln>
                          <a:solidFill>
                            <a:prstClr val="black"/>
                          </a:solidFill>
                          <a:effectLst/>
                          <a:uLnTx/>
                          <a:uFillTx/>
                          <a:latin typeface="+mn-ea"/>
                          <a:ea typeface="+mn-ea"/>
                          <a:cs typeface="+mn-cs"/>
                        </a:rPr>
                        <a:t>月調達委員会に向けた後続の手続きを進める</a:t>
                      </a:r>
                      <a:r>
                        <a:rPr kumimoji="1" lang="ja-JP" altLang="en-US" sz="900" b="0" i="0" u="none" strike="noStrike" kern="1200">
                          <a:solidFill>
                            <a:srgbClr val="000000"/>
                          </a:solidFill>
                          <a:latin typeface="+mn-ea"/>
                          <a:ea typeface="+mn-ea"/>
                          <a:cs typeface="+mn-cs"/>
                        </a:rPr>
                        <a:t>。​</a:t>
                      </a:r>
                      <a:r>
                        <a:rPr kumimoji="1" lang="en-US" altLang="ja-JP" sz="900" b="0" i="0" u="none" strike="noStrike" kern="1200">
                          <a:solidFill>
                            <a:srgbClr val="000000"/>
                          </a:solidFill>
                          <a:latin typeface="+mn-ea"/>
                          <a:ea typeface="+mn-ea"/>
                          <a:cs typeface="+mn-cs"/>
                        </a:rPr>
                        <a:t>(12</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ID214(</a:t>
                      </a:r>
                      <a:r>
                        <a:rPr kumimoji="1" lang="ja-JP" altLang="en-US" sz="900" kern="1200">
                          <a:solidFill>
                            <a:schemeClr val="tx1"/>
                          </a:solidFill>
                          <a:latin typeface="+mn-ea"/>
                          <a:ea typeface="+mn-ea"/>
                          <a:cs typeface="+mn-cs"/>
                        </a:rPr>
                        <a:t>健診項目の拡充</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ID215(</a:t>
                      </a:r>
                      <a:r>
                        <a:rPr kumimoji="1" lang="ja-JP" altLang="en-US" sz="900" kern="1200">
                          <a:solidFill>
                            <a:schemeClr val="tx1"/>
                          </a:solidFill>
                          <a:latin typeface="+mn-ea"/>
                          <a:ea typeface="+mn-ea"/>
                          <a:cs typeface="+mn-cs"/>
                        </a:rPr>
                        <a:t>保険医療機関（歯科）の診療情報提供書</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ID216(</a:t>
                      </a:r>
                      <a:r>
                        <a:rPr kumimoji="1" lang="ja-JP" altLang="en-US" sz="900" kern="1200">
                          <a:solidFill>
                            <a:schemeClr val="tx1"/>
                          </a:solidFill>
                          <a:latin typeface="+mn-ea"/>
                          <a:ea typeface="+mn-ea"/>
                          <a:cs typeface="+mn-cs"/>
                        </a:rPr>
                        <a:t>サポートするプロファイルバージョンの終了</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令和</a:t>
                      </a:r>
                      <a:r>
                        <a:rPr kumimoji="1" lang="en-US" altLang="ja-JP" sz="900" kern="1200">
                          <a:solidFill>
                            <a:schemeClr val="tx1"/>
                          </a:solidFill>
                          <a:latin typeface="+mn-ea"/>
                          <a:ea typeface="+mn-ea"/>
                          <a:cs typeface="+mn-cs"/>
                        </a:rPr>
                        <a:t>9</a:t>
                      </a:r>
                      <a:r>
                        <a:rPr kumimoji="1" lang="ja-JP" altLang="en-US" sz="900" kern="1200">
                          <a:solidFill>
                            <a:schemeClr val="tx1"/>
                          </a:solidFill>
                          <a:latin typeface="+mn-ea"/>
                          <a:ea typeface="+mn-ea"/>
                          <a:cs typeface="+mn-cs"/>
                        </a:rPr>
                        <a:t>年度</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ID217(</a:t>
                      </a:r>
                      <a:r>
                        <a:rPr kumimoji="1" lang="ja-JP" altLang="en-US" sz="900" kern="1200">
                          <a:solidFill>
                            <a:schemeClr val="tx1"/>
                          </a:solidFill>
                          <a:latin typeface="+mn-ea"/>
                          <a:ea typeface="+mn-ea"/>
                          <a:cs typeface="+mn-cs"/>
                        </a:rPr>
                        <a:t>健診文書の登録について保険者へ連携する同意がなくても登録可能とする</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ID218(</a:t>
                      </a:r>
                      <a:r>
                        <a:rPr kumimoji="1" lang="ja-JP" altLang="en-US" sz="900" kern="1200">
                          <a:solidFill>
                            <a:schemeClr val="tx1"/>
                          </a:solidFill>
                          <a:latin typeface="+mn-ea"/>
                          <a:ea typeface="+mn-ea"/>
                          <a:cs typeface="+mn-cs"/>
                        </a:rPr>
                        <a:t>検査・感染症の検査結果に対する注意事項の追記</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ID219(</a:t>
                      </a:r>
                      <a:r>
                        <a:rPr kumimoji="1" lang="ja-JP" altLang="en-US" sz="900" kern="1200">
                          <a:solidFill>
                            <a:schemeClr val="tx1"/>
                          </a:solidFill>
                          <a:latin typeface="+mn-ea"/>
                          <a:ea typeface="+mn-ea"/>
                          <a:cs typeface="+mn-cs"/>
                        </a:rPr>
                        <a:t>医療機関の承継が発生した際における患者サマリーのマイナポでの処方情報・検査情報の表示対象範囲の正規化</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ID220(</a:t>
                      </a:r>
                      <a:r>
                        <a:rPr kumimoji="1" lang="ja-JP" altLang="en-US" sz="900" kern="1200">
                          <a:solidFill>
                            <a:schemeClr val="tx1"/>
                          </a:solidFill>
                          <a:latin typeface="+mn-ea"/>
                          <a:ea typeface="+mn-ea"/>
                          <a:cs typeface="+mn-cs"/>
                        </a:rPr>
                        <a:t>承継申請に基づく医療機関コードの変換処理における旧医療機関発行の患者サマリーの除外</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ID221(</a:t>
                      </a:r>
                      <a:r>
                        <a:rPr kumimoji="1" lang="ja-JP" altLang="en-US" sz="900" kern="1200">
                          <a:solidFill>
                            <a:schemeClr val="tx1"/>
                          </a:solidFill>
                          <a:latin typeface="+mn-ea"/>
                          <a:ea typeface="+mn-ea"/>
                          <a:cs typeface="+mn-cs"/>
                        </a:rPr>
                        <a:t>検査感染症 </a:t>
                      </a:r>
                      <a:r>
                        <a:rPr kumimoji="1" lang="en-US" altLang="ja-JP" sz="900" kern="1200">
                          <a:solidFill>
                            <a:schemeClr val="tx1"/>
                          </a:solidFill>
                          <a:latin typeface="+mn-ea"/>
                          <a:ea typeface="+mn-ea"/>
                          <a:cs typeface="+mn-cs"/>
                        </a:rPr>
                        <a:t>43+5</a:t>
                      </a:r>
                      <a:r>
                        <a:rPr kumimoji="1" lang="ja-JP" altLang="en-US" sz="900" kern="1200">
                          <a:solidFill>
                            <a:schemeClr val="tx1"/>
                          </a:solidFill>
                          <a:latin typeface="+mn-ea"/>
                          <a:ea typeface="+mn-ea"/>
                          <a:cs typeface="+mn-cs"/>
                        </a:rPr>
                        <a:t>項目のデータ登録時に</a:t>
                      </a:r>
                      <a:r>
                        <a:rPr kumimoji="1" lang="en-US" altLang="ja-JP" sz="900" kern="1200">
                          <a:solidFill>
                            <a:schemeClr val="tx1"/>
                          </a:solidFill>
                          <a:latin typeface="+mn-ea"/>
                          <a:ea typeface="+mn-ea"/>
                          <a:cs typeface="+mn-cs"/>
                        </a:rPr>
                        <a:t>JLAC11</a:t>
                      </a:r>
                      <a:r>
                        <a:rPr kumimoji="1" lang="ja-JP" altLang="en-US" sz="900" kern="1200">
                          <a:solidFill>
                            <a:schemeClr val="tx1"/>
                          </a:solidFill>
                          <a:latin typeface="+mn-ea"/>
                          <a:ea typeface="+mn-ea"/>
                          <a:cs typeface="+mn-cs"/>
                        </a:rPr>
                        <a:t>コード・</a:t>
                      </a:r>
                      <a:r>
                        <a:rPr kumimoji="1" lang="en-US" altLang="ja-JP" sz="900" kern="1200">
                          <a:solidFill>
                            <a:schemeClr val="tx1"/>
                          </a:solidFill>
                          <a:latin typeface="+mn-ea"/>
                          <a:ea typeface="+mn-ea"/>
                          <a:cs typeface="+mn-cs"/>
                        </a:rPr>
                        <a:t>JLAC10</a:t>
                      </a:r>
                      <a:r>
                        <a:rPr kumimoji="1" lang="ja-JP" altLang="en-US" sz="900" kern="1200">
                          <a:solidFill>
                            <a:schemeClr val="tx1"/>
                          </a:solidFill>
                          <a:latin typeface="+mn-ea"/>
                          <a:ea typeface="+mn-ea"/>
                          <a:cs typeface="+mn-cs"/>
                        </a:rPr>
                        <a:t>コードが併記されている場合に</a:t>
                      </a:r>
                      <a:r>
                        <a:rPr kumimoji="1" lang="en-US" altLang="ja-JP" sz="900" kern="1200">
                          <a:solidFill>
                            <a:schemeClr val="tx1"/>
                          </a:solidFill>
                          <a:latin typeface="+mn-ea"/>
                          <a:ea typeface="+mn-ea"/>
                          <a:cs typeface="+mn-cs"/>
                        </a:rPr>
                        <a:t>JLAC11</a:t>
                      </a:r>
                      <a:r>
                        <a:rPr kumimoji="1" lang="ja-JP" altLang="en-US" sz="900" kern="1200">
                          <a:solidFill>
                            <a:schemeClr val="tx1"/>
                          </a:solidFill>
                          <a:latin typeface="+mn-ea"/>
                          <a:ea typeface="+mn-ea"/>
                          <a:cs typeface="+mn-cs"/>
                        </a:rPr>
                        <a:t>コードを優先して出力する</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ID221</a:t>
                      </a:r>
                      <a:r>
                        <a:rPr kumimoji="1" lang="en-US" altLang="ja-JP" sz="900" kern="1200" baseline="30000">
                          <a:solidFill>
                            <a:schemeClr val="tx1"/>
                          </a:solidFill>
                          <a:latin typeface="+mn-ea"/>
                          <a:ea typeface="+mn-ea"/>
                          <a:cs typeface="+mn-cs"/>
                        </a:rPr>
                        <a:t>※</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患者サマリへの</a:t>
                      </a:r>
                      <a:r>
                        <a:rPr kumimoji="1" lang="en-US" altLang="ja-JP" sz="900" kern="1200">
                          <a:solidFill>
                            <a:schemeClr val="tx1"/>
                          </a:solidFill>
                          <a:latin typeface="+mn-ea"/>
                          <a:ea typeface="+mn-ea"/>
                          <a:cs typeface="+mn-cs"/>
                        </a:rPr>
                        <a:t>PDF</a:t>
                      </a:r>
                      <a:r>
                        <a:rPr kumimoji="1" lang="ja-JP" altLang="en-US" sz="900" kern="1200">
                          <a:solidFill>
                            <a:schemeClr val="tx1"/>
                          </a:solidFill>
                          <a:latin typeface="+mn-ea"/>
                          <a:ea typeface="+mn-ea"/>
                          <a:cs typeface="+mn-cs"/>
                        </a:rPr>
                        <a:t>の添付機能</a:t>
                      </a:r>
                      <a:r>
                        <a:rPr kumimoji="1" lang="en-US" altLang="ja-JP" sz="900" kern="1200">
                          <a:solidFill>
                            <a:schemeClr val="tx1"/>
                          </a:solidFill>
                          <a:latin typeface="+mn-ea"/>
                          <a:ea typeface="+mn-ea"/>
                          <a:cs typeface="+mn-cs"/>
                        </a:rPr>
                        <a:t>)</a:t>
                      </a:r>
                    </a:p>
                    <a:p>
                      <a:pPr marL="271463"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r>
                        <a:rPr kumimoji="1" lang="en-US" altLang="ja-JP" sz="900" kern="1200">
                          <a:solidFill>
                            <a:schemeClr val="tx1"/>
                          </a:solidFill>
                          <a:latin typeface="+mn-ea"/>
                          <a:ea typeface="+mn-ea"/>
                          <a:cs typeface="+mn-cs"/>
                        </a:rPr>
                        <a:t>※</a:t>
                      </a:r>
                      <a:r>
                        <a:rPr lang="ja-JP" altLang="en-US" sz="900">
                          <a:latin typeface="+mn-ea"/>
                        </a:rPr>
                        <a:t>会議後 採番が競合していたことが発覚したため </a:t>
                      </a:r>
                      <a:r>
                        <a:rPr lang="en-US" altLang="ja-JP" sz="900">
                          <a:latin typeface="+mn-ea"/>
                        </a:rPr>
                        <a:t>ID226</a:t>
                      </a:r>
                      <a:r>
                        <a:rPr lang="ja-JP" altLang="en-US" sz="900">
                          <a:latin typeface="+mn-ea"/>
                        </a:rPr>
                        <a:t>に修正</a:t>
                      </a:r>
                      <a:endParaRPr kumimoji="1" lang="en-US" altLang="ja-JP" sz="900" kern="1200">
                        <a:solidFill>
                          <a:schemeClr val="tx1"/>
                        </a:solidFill>
                        <a:latin typeface="+mn-ea"/>
                        <a:ea typeface="+mn-ea"/>
                        <a:cs typeface="+mn-cs"/>
                      </a:endParaRP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ID222(</a:t>
                      </a:r>
                      <a:r>
                        <a:rPr kumimoji="1" lang="ja-JP" altLang="en-US" sz="900" kern="1200">
                          <a:solidFill>
                            <a:schemeClr val="tx1"/>
                          </a:solidFill>
                          <a:latin typeface="+mn-ea"/>
                          <a:ea typeface="+mn-ea"/>
                          <a:cs typeface="+mn-cs"/>
                        </a:rPr>
                        <a:t>臨床情報等の</a:t>
                      </a:r>
                      <a:r>
                        <a:rPr kumimoji="1" lang="en-US" altLang="ja-JP" sz="900" kern="1200">
                          <a:solidFill>
                            <a:schemeClr val="tx1"/>
                          </a:solidFill>
                          <a:latin typeface="+mn-ea"/>
                          <a:ea typeface="+mn-ea"/>
                          <a:cs typeface="+mn-cs"/>
                        </a:rPr>
                        <a:t>XML</a:t>
                      </a:r>
                      <a:r>
                        <a:rPr kumimoji="1" lang="ja-JP" altLang="en-US" sz="900" kern="1200">
                          <a:solidFill>
                            <a:schemeClr val="tx1"/>
                          </a:solidFill>
                          <a:latin typeface="+mn-ea"/>
                          <a:ea typeface="+mn-ea"/>
                          <a:cs typeface="+mn-cs"/>
                        </a:rPr>
                        <a:t>から出力する文字の黒丸対応</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文字コードの固定</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拡張</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rgbClr val="000000"/>
                          </a:solidFill>
                          <a:latin typeface="+mn-ea"/>
                          <a:ea typeface="+mn-ea"/>
                          <a:cs typeface="+mn-cs"/>
                        </a:rPr>
                        <a:t>ID223(</a:t>
                      </a:r>
                      <a:r>
                        <a:rPr kumimoji="1" lang="ja-JP" altLang="en-US" sz="900" kern="1200">
                          <a:solidFill>
                            <a:srgbClr val="000000"/>
                          </a:solidFill>
                          <a:latin typeface="+mn-ea"/>
                          <a:ea typeface="+mn-ea"/>
                          <a:cs typeface="+mn-cs"/>
                        </a:rPr>
                        <a:t>電子署名の危殆化対応</a:t>
                      </a:r>
                      <a:r>
                        <a:rPr kumimoji="1" lang="en-US" altLang="ja-JP" sz="900" kern="1200">
                          <a:solidFill>
                            <a:srgbClr val="000000"/>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rgbClr val="000000"/>
                          </a:solidFill>
                          <a:latin typeface="+mn-ea"/>
                          <a:ea typeface="+mn-ea"/>
                          <a:cs typeface="+mn-cs"/>
                        </a:rPr>
                        <a:t>ID224(ICD11</a:t>
                      </a:r>
                      <a:r>
                        <a:rPr kumimoji="1" lang="ja-JP" altLang="en-US" sz="900" kern="1200">
                          <a:solidFill>
                            <a:srgbClr val="000000"/>
                          </a:solidFill>
                          <a:latin typeface="+mn-ea"/>
                          <a:ea typeface="+mn-ea"/>
                          <a:cs typeface="+mn-cs"/>
                        </a:rPr>
                        <a:t>への移行に伴う傷病名マスタの変更</a:t>
                      </a:r>
                      <a:r>
                        <a:rPr kumimoji="1" lang="en-US" altLang="ja-JP" sz="900" kern="1200">
                          <a:solidFill>
                            <a:srgbClr val="000000"/>
                          </a:solidFill>
                          <a:latin typeface="+mn-ea"/>
                          <a:ea typeface="+mn-ea"/>
                          <a:cs typeface="+mn-cs"/>
                        </a:rPr>
                        <a:t>)</a:t>
                      </a:r>
                    </a:p>
                    <a:p>
                      <a:pPr marL="92075"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kern="1200">
                        <a:solidFill>
                          <a:srgbClr val="000000"/>
                        </a:solidFill>
                        <a:latin typeface="+mn-ea"/>
                        <a:ea typeface="+mn-ea"/>
                        <a:cs typeface="+mn-cs"/>
                      </a:endParaRPr>
                    </a:p>
                    <a:p>
                      <a:pPr marL="177800"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下記の新規案件を案件台帳に起票する。​</a:t>
                      </a:r>
                      <a:r>
                        <a:rPr kumimoji="1" lang="en-US" altLang="ja-JP" sz="900" b="0" i="0" u="none" strike="noStrike" kern="1200">
                          <a:solidFill>
                            <a:srgbClr val="000000"/>
                          </a:solidFill>
                          <a:latin typeface="+mn-ea"/>
                          <a:ea typeface="+mn-ea"/>
                          <a:cs typeface="+mn-cs"/>
                        </a:rPr>
                        <a:t>(1</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p>
                    <a:p>
                      <a:pPr marL="271463"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rgbClr val="000000"/>
                          </a:solidFill>
                          <a:latin typeface="+mn-ea"/>
                          <a:ea typeface="+mn-ea"/>
                          <a:cs typeface="+mn-cs"/>
                        </a:rPr>
                        <a:t>ID225(BI</a:t>
                      </a:r>
                      <a:r>
                        <a:rPr kumimoji="1" lang="ja-JP" altLang="en-US" sz="900" kern="1200">
                          <a:solidFill>
                            <a:srgbClr val="000000"/>
                          </a:solidFill>
                          <a:latin typeface="+mn-ea"/>
                          <a:ea typeface="+mn-ea"/>
                          <a:cs typeface="+mn-cs"/>
                        </a:rPr>
                        <a:t>基盤活用による臨床情報の可視化</a:t>
                      </a:r>
                      <a:r>
                        <a:rPr kumimoji="1" lang="en-US" altLang="ja-JP" sz="900" kern="1200">
                          <a:solidFill>
                            <a:srgbClr val="000000"/>
                          </a:solidFill>
                          <a:latin typeface="+mn-ea"/>
                          <a:ea typeface="+mn-ea"/>
                          <a:cs typeface="+mn-cs"/>
                        </a:rPr>
                        <a:t>)</a:t>
                      </a:r>
                    </a:p>
                    <a:p>
                      <a:pPr marL="92075"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kern="1200">
                        <a:solidFill>
                          <a:srgbClr val="000000"/>
                        </a:solidFill>
                        <a:highlight>
                          <a:srgbClr val="FFFF00"/>
                        </a:highlight>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2</a:t>
                      </a:r>
                      <a:r>
                        <a:rPr kumimoji="1" lang="ja-JP" altLang="en-US" sz="900" b="1" i="0" u="sng" strike="noStrike" kern="1200">
                          <a:solidFill>
                            <a:srgbClr val="000000"/>
                          </a:solidFill>
                          <a:latin typeface="+mn-ea"/>
                          <a:ea typeface="+mn-ea"/>
                          <a:cs typeface="+mn-cs"/>
                        </a:rPr>
                        <a:t>．案件の記載変更​</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kern="1200">
                          <a:solidFill>
                            <a:schemeClr val="tx1"/>
                          </a:solidFill>
                          <a:latin typeface="+mn-ea"/>
                          <a:ea typeface="+mn-ea"/>
                          <a:cs typeface="+mn-cs"/>
                        </a:rPr>
                        <a:t>下記の案件の記載を変更する</a:t>
                      </a:r>
                      <a:r>
                        <a:rPr kumimoji="1" lang="en-US" altLang="ja-JP" sz="900" b="0" i="0" u="none" strike="noStrike" kern="1200">
                          <a:solidFill>
                            <a:srgbClr val="000000"/>
                          </a:solidFill>
                          <a:latin typeface="+mn-ea"/>
                          <a:ea typeface="+mn-ea"/>
                          <a:cs typeface="+mn-cs"/>
                        </a:rPr>
                        <a:t>(2</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endParaRPr kumimoji="1" lang="en-US" altLang="ja-JP" sz="900" kern="1200">
                        <a:solidFill>
                          <a:schemeClr val="tx1"/>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ID210(</a:t>
                      </a:r>
                      <a:r>
                        <a:rPr kumimoji="1" lang="ja-JP" altLang="en-US" sz="900" kern="1200">
                          <a:solidFill>
                            <a:schemeClr val="tx1"/>
                          </a:solidFill>
                          <a:latin typeface="+mn-ea"/>
                          <a:ea typeface="+mn-ea"/>
                          <a:cs typeface="+mn-cs"/>
                        </a:rPr>
                        <a:t>血液型に関する情報を共有対象外とする改修</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について、以下のように変更する。</a:t>
                      </a:r>
                      <a:br>
                        <a:rPr kumimoji="1" lang="en-US" altLang="ja-JP" sz="900" kern="1200">
                          <a:solidFill>
                            <a:srgbClr val="000000"/>
                          </a:solidFill>
                          <a:latin typeface="+mn-ea"/>
                          <a:ea typeface="+mn-ea"/>
                          <a:cs typeface="+mn-cs"/>
                        </a:rPr>
                      </a:br>
                      <a:r>
                        <a:rPr kumimoji="1" lang="ja-JP" altLang="en-US" sz="900" kern="1200">
                          <a:solidFill>
                            <a:schemeClr val="tx1"/>
                          </a:solidFill>
                          <a:latin typeface="+mn-ea"/>
                          <a:ea typeface="+mn-ea"/>
                          <a:cs typeface="+mn-cs"/>
                        </a:rPr>
                        <a:t>■変更点</a:t>
                      </a:r>
                      <a:endParaRPr kumimoji="1" lang="en-US" altLang="ja-JP" sz="900" kern="1200">
                        <a:solidFill>
                          <a:schemeClr val="tx1"/>
                        </a:solidFill>
                        <a:latin typeface="+mn-ea"/>
                        <a:ea typeface="+mn-ea"/>
                        <a:cs typeface="+mn-cs"/>
                      </a:endParaRPr>
                    </a:p>
                    <a:p>
                      <a:pPr marL="448945" marR="0" lvl="1" indent="-17780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r>
                        <a:rPr kumimoji="1" lang="ja-JP" altLang="en-US" sz="900" kern="1200">
                          <a:solidFill>
                            <a:schemeClr val="tx1"/>
                          </a:solidFill>
                          <a:latin typeface="+mn-ea"/>
                          <a:ea typeface="+mn-ea"/>
                          <a:cs typeface="+mn-cs"/>
                        </a:rPr>
                        <a:t>備考列：「</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本案件の実装対象外の関連検討</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」という文言を追加</a:t>
                      </a:r>
                      <a:endParaRPr kumimoji="1" lang="en-US" altLang="ja-JP" sz="900" kern="1200">
                        <a:solidFill>
                          <a:schemeClr val="tx1"/>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ID213(</a:t>
                      </a:r>
                      <a:r>
                        <a:rPr kumimoji="1" lang="ja-JP" altLang="en-US" sz="900" kern="1200">
                          <a:solidFill>
                            <a:schemeClr val="tx1"/>
                          </a:solidFill>
                          <a:latin typeface="+mn-ea"/>
                          <a:ea typeface="+mn-ea"/>
                          <a:cs typeface="+mn-cs"/>
                        </a:rPr>
                        <a:t>臨床情報詳細画面の傷病名を</a:t>
                      </a:r>
                      <a:r>
                        <a:rPr kumimoji="1" lang="en-US" altLang="ja-JP" sz="900" kern="1200">
                          <a:solidFill>
                            <a:schemeClr val="tx1"/>
                          </a:solidFill>
                          <a:latin typeface="+mn-ea"/>
                          <a:ea typeface="+mn-ea"/>
                          <a:cs typeface="+mn-cs"/>
                        </a:rPr>
                        <a:t>PDF</a:t>
                      </a:r>
                      <a:r>
                        <a:rPr kumimoji="1" lang="ja-JP" altLang="en-US" sz="900" kern="1200">
                          <a:solidFill>
                            <a:schemeClr val="tx1"/>
                          </a:solidFill>
                          <a:latin typeface="+mn-ea"/>
                          <a:ea typeface="+mn-ea"/>
                          <a:cs typeface="+mn-cs"/>
                        </a:rPr>
                        <a:t>と同様に出力する対応</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について、案件名を以下のように変更する。</a:t>
                      </a:r>
                      <a:br>
                        <a:rPr kumimoji="1" lang="en-US" altLang="ja-JP" sz="900" b="0" i="0" u="none" strike="noStrike" kern="1200">
                          <a:solidFill>
                            <a:srgbClr val="000000"/>
                          </a:solidFill>
                          <a:latin typeface="+mn-ea"/>
                          <a:ea typeface="+mn-ea"/>
                          <a:cs typeface="+mn-cs"/>
                        </a:rPr>
                      </a:br>
                      <a:r>
                        <a:rPr kumimoji="1" lang="ja-JP" altLang="en-US" sz="900" b="0" i="0" u="none" strike="noStrike" kern="1200">
                          <a:solidFill>
                            <a:srgbClr val="000000"/>
                          </a:solidFill>
                          <a:latin typeface="+mn-ea"/>
                          <a:ea typeface="+mn-ea"/>
                          <a:cs typeface="+mn-cs"/>
                        </a:rPr>
                        <a:t>なお、趣旨に変更はなく案件名のみの変更。</a:t>
                      </a:r>
                      <a:br>
                        <a:rPr kumimoji="1" lang="en-US" altLang="ja-JP" sz="900" kern="1200">
                          <a:solidFill>
                            <a:srgbClr val="000000"/>
                          </a:solidFill>
                          <a:latin typeface="+mn-ea"/>
                          <a:ea typeface="+mn-ea"/>
                          <a:cs typeface="+mn-cs"/>
                        </a:rPr>
                      </a:br>
                      <a:r>
                        <a:rPr kumimoji="1" lang="ja-JP" altLang="en-US" sz="900" kern="1200">
                          <a:solidFill>
                            <a:schemeClr val="tx1"/>
                          </a:solidFill>
                          <a:latin typeface="+mn-ea"/>
                          <a:ea typeface="+mn-ea"/>
                          <a:cs typeface="+mn-cs"/>
                        </a:rPr>
                        <a:t>■変更点</a:t>
                      </a:r>
                      <a:endParaRPr kumimoji="1" lang="en-US" altLang="ja-JP" sz="900" kern="1200">
                        <a:solidFill>
                          <a:schemeClr val="tx1"/>
                        </a:solidFill>
                        <a:latin typeface="+mn-ea"/>
                        <a:ea typeface="+mn-ea"/>
                        <a:cs typeface="+mn-cs"/>
                      </a:endParaRPr>
                    </a:p>
                    <a:p>
                      <a:pPr marL="448945" marR="0" lvl="1" indent="-17780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r>
                        <a:rPr kumimoji="1" lang="ja-JP" altLang="en-US" sz="900" kern="1200">
                          <a:solidFill>
                            <a:schemeClr val="tx1"/>
                          </a:solidFill>
                          <a:latin typeface="+mn-ea"/>
                          <a:ea typeface="+mn-ea"/>
                          <a:cs typeface="+mn-cs"/>
                        </a:rPr>
                        <a:t>案件名を「臨床情報：感染症・検査に関する改修​」から「臨床情報詳細画面の傷病名を</a:t>
                      </a:r>
                      <a:r>
                        <a:rPr kumimoji="1" lang="en-US" altLang="ja-JP" sz="900" kern="1200">
                          <a:solidFill>
                            <a:schemeClr val="tx1"/>
                          </a:solidFill>
                          <a:latin typeface="+mn-ea"/>
                          <a:ea typeface="+mn-ea"/>
                          <a:cs typeface="+mn-cs"/>
                        </a:rPr>
                        <a:t>PDF</a:t>
                      </a:r>
                      <a:r>
                        <a:rPr kumimoji="1" lang="ja-JP" altLang="en-US" sz="900" kern="1200">
                          <a:solidFill>
                            <a:schemeClr val="tx1"/>
                          </a:solidFill>
                          <a:latin typeface="+mn-ea"/>
                          <a:ea typeface="+mn-ea"/>
                          <a:cs typeface="+mn-cs"/>
                        </a:rPr>
                        <a:t>と同様に出力する対応」に変更。</a:t>
                      </a:r>
                      <a:endParaRPr kumimoji="1" lang="en-US" altLang="ja-JP" sz="900" b="1" i="0" u="sng" strike="noStrike" kern="1200">
                        <a:solidFill>
                          <a:srgbClr val="000000"/>
                        </a:solidFill>
                        <a:latin typeface="+mn-ea"/>
                        <a:ea typeface="+mn-ea"/>
                        <a:cs typeface="+mn-cs"/>
                      </a:endParaRPr>
                    </a:p>
                    <a:p>
                      <a:pPr marL="85725" marR="0" lvl="1" indent="0" algn="l" defTabSz="843930" rtl="0" eaLnBrk="1" fontAlgn="base" latinLnBrk="0" hangingPunct="1">
                        <a:lnSpc>
                          <a:spcPct val="100000"/>
                        </a:lnSpc>
                        <a:spcBef>
                          <a:spcPts val="0"/>
                        </a:spcBef>
                        <a:spcAft>
                          <a:spcPts val="0"/>
                        </a:spcAft>
                        <a:buClrTx/>
                        <a:buSzTx/>
                        <a:buFont typeface="Meiryo UI" panose="020B0604030504040204" pitchFamily="50" charset="-128"/>
                        <a:buNone/>
                        <a:tabLst/>
                        <a:defRPr/>
                      </a:pPr>
                      <a:r>
                        <a:rPr kumimoji="1" lang="ja-JP" altLang="en-US" sz="900" b="0" i="0" u="none" strike="noStrike" kern="1200">
                          <a:solidFill>
                            <a:srgbClr val="000000"/>
                          </a:solidFill>
                          <a:latin typeface="+mn-ea"/>
                          <a:ea typeface="+mn-ea"/>
                          <a:cs typeface="+mn-cs"/>
                        </a:rPr>
                        <a:t>(続)</a:t>
                      </a:r>
                      <a:endParaRPr kumimoji="1" lang="en-US" altLang="ja-JP" sz="900" b="0" i="0" u="none" strike="noStrike" kern="1200" noProof="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案件</a:t>
                      </a:r>
                      <a:r>
                        <a:rPr lang="en-US" altLang="ja-JP" sz="900" b="0" i="0" u="none" strike="noStrike" kern="1200" noProof="0" dirty="0">
                          <a:solidFill>
                            <a:srgbClr val="000000"/>
                          </a:solidFill>
                          <a:latin typeface="+mn-ea"/>
                          <a:ea typeface="+mn-ea"/>
                          <a:cs typeface="Arial"/>
                        </a:rPr>
                        <a:t>ID210(</a:t>
                      </a:r>
                      <a:r>
                        <a:rPr lang="ja-JP" altLang="en-US" sz="900" b="0" i="0" u="none" strike="noStrike" kern="1200" noProof="0" dirty="0">
                          <a:solidFill>
                            <a:srgbClr val="000000"/>
                          </a:solidFill>
                          <a:latin typeface="+mn-ea"/>
                          <a:ea typeface="+mn-ea"/>
                          <a:cs typeface="Arial"/>
                        </a:rPr>
                        <a:t>血液型に関する情報を共有対象外とする改修</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について、以下のように案件台帳を更新する。</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厚労省 </a:t>
                      </a:r>
                      <a:r>
                        <a:rPr lang="en-US" altLang="ja-JP" sz="900" b="0" i="0" u="none" strike="noStrike" kern="1200" noProof="0" dirty="0">
                          <a:solidFill>
                            <a:srgbClr val="000000"/>
                          </a:solidFill>
                          <a:latin typeface="+mn-ea"/>
                          <a:ea typeface="+mn-ea"/>
                          <a:cs typeface="Arial"/>
                        </a:rPr>
                        <a:t>10/13】</a:t>
                      </a:r>
                      <a:br>
                        <a:rPr lang="en-US" altLang="ja-JP" sz="900" b="0" i="0" u="none" strike="noStrike" kern="1200" noProof="0" dirty="0">
                          <a:solidFill>
                            <a:srgbClr val="000000"/>
                          </a:solidFill>
                          <a:latin typeface="+mn-ea"/>
                          <a:ea typeface="+mn-ea"/>
                          <a:cs typeface="Arial"/>
                        </a:rPr>
                      </a:br>
                      <a:r>
                        <a:rPr lang="en-US" altLang="ja-JP" sz="900" b="0" i="0" u="none" strike="noStrike" kern="1200" noProof="0" dirty="0">
                          <a:solidFill>
                            <a:srgbClr val="000000"/>
                          </a:solidFill>
                          <a:latin typeface="+mn-ea"/>
                          <a:ea typeface="+mn-ea"/>
                          <a:cs typeface="Arial"/>
                        </a:rPr>
                        <a:t>①</a:t>
                      </a:r>
                      <a:r>
                        <a:rPr lang="ja-JP" altLang="en-US" sz="900" b="0" i="0" u="none" strike="noStrike" kern="1200" noProof="0" dirty="0">
                          <a:solidFill>
                            <a:srgbClr val="000000"/>
                          </a:solidFill>
                          <a:latin typeface="+mn-ea"/>
                          <a:ea typeface="+mn-ea"/>
                          <a:cs typeface="Arial"/>
                        </a:rPr>
                        <a:t>以下の記載を削除する。</a:t>
                      </a:r>
                      <a:br>
                        <a:rPr lang="ja-JP" altLang="en-US" sz="900" b="0" i="0" u="none" strike="noStrike" kern="1200" noProof="0" dirty="0">
                          <a:solidFill>
                            <a:srgbClr val="000000"/>
                          </a:solidFill>
                          <a:latin typeface="+mn-ea"/>
                          <a:ea typeface="+mn-ea"/>
                          <a:cs typeface="Arial"/>
                        </a:rPr>
                      </a:br>
                      <a:r>
                        <a:rPr lang="ja-JP" altLang="en-US" sz="900" b="0" i="0" u="none" strike="noStrike" kern="1200" noProof="0" dirty="0">
                          <a:solidFill>
                            <a:srgbClr val="000000"/>
                          </a:solidFill>
                          <a:latin typeface="+mn-ea"/>
                          <a:ea typeface="+mn-ea"/>
                          <a:cs typeface="Arial"/>
                        </a:rPr>
                        <a:t>・要求事項列</a:t>
                      </a:r>
                      <a:r>
                        <a:rPr lang="en-US" altLang="ja-JP" sz="900" b="0" i="0" u="none" strike="noStrike" kern="1200" noProof="0" dirty="0">
                          <a:solidFill>
                            <a:srgbClr val="000000"/>
                          </a:solidFill>
                          <a:latin typeface="+mn-ea"/>
                          <a:ea typeface="+mn-ea"/>
                          <a:cs typeface="Arial"/>
                        </a:rPr>
                        <a:t>_</a:t>
                      </a:r>
                      <a:r>
                        <a:rPr lang="ja-JP" altLang="en-US" sz="900" b="0" i="0" u="none" strike="noStrike" kern="1200" noProof="0" dirty="0">
                          <a:solidFill>
                            <a:srgbClr val="000000"/>
                          </a:solidFill>
                          <a:latin typeface="+mn-ea"/>
                          <a:ea typeface="+mn-ea"/>
                          <a:cs typeface="Arial"/>
                        </a:rPr>
                        <a:t>対応案</a:t>
                      </a:r>
                      <a:r>
                        <a:rPr lang="en-US" altLang="ja-JP" sz="900" b="0" i="0" u="none" strike="noStrike" kern="1200" noProof="0" dirty="0">
                          <a:solidFill>
                            <a:srgbClr val="000000"/>
                          </a:solidFill>
                          <a:latin typeface="+mn-ea"/>
                          <a:ea typeface="+mn-ea"/>
                          <a:cs typeface="Arial"/>
                        </a:rPr>
                        <a:t>B</a:t>
                      </a:r>
                      <a:r>
                        <a:rPr lang="ja-JP" altLang="en-US" sz="900" b="0" i="0" u="none" strike="noStrike" kern="1200" noProof="0" dirty="0">
                          <a:solidFill>
                            <a:srgbClr val="000000"/>
                          </a:solidFill>
                          <a:latin typeface="+mn-ea"/>
                          <a:ea typeface="+mn-ea"/>
                          <a:cs typeface="Arial"/>
                        </a:rPr>
                        <a:t>に係る記載</a:t>
                      </a:r>
                    </a:p>
                    <a:p>
                      <a:pPr marL="180975" marR="0" lvl="0" indent="0" algn="l" rtl="0" eaLnBrk="1" fontAlgn="auto" latinLnBrk="0" hangingPunct="1">
                        <a:lnSpc>
                          <a:spcPct val="100000"/>
                        </a:lnSpc>
                        <a:spcBef>
                          <a:spcPts val="0"/>
                        </a:spcBef>
                        <a:spcAft>
                          <a:spcPts val="0"/>
                        </a:spcAft>
                        <a:buClrTx/>
                        <a:buSzTx/>
                        <a:buFont typeface="Wingdings" panose="05000000000000000000" pitchFamily="2" charset="2"/>
                        <a:buNone/>
                      </a:pPr>
                      <a:r>
                        <a:rPr lang="ja-JP" altLang="en-US" sz="900" b="0" i="0" u="none" strike="noStrike" kern="1200" noProof="0" dirty="0">
                          <a:solidFill>
                            <a:srgbClr val="000000"/>
                          </a:solidFill>
                          <a:latin typeface="+mn-ea"/>
                          <a:ea typeface="+mn-ea"/>
                          <a:cs typeface="Arial"/>
                        </a:rPr>
                        <a:t>②以下の記載について、機構側での論理削除の可否確認が完了しているため、厚労省側の検討状況を更新する。</a:t>
                      </a:r>
                      <a:br>
                        <a:rPr lang="ja-JP" altLang="en-US" sz="900" b="0" i="0" u="none" strike="noStrike" kern="1200" noProof="0" dirty="0">
                          <a:solidFill>
                            <a:srgbClr val="000000"/>
                          </a:solidFill>
                          <a:latin typeface="+mn-ea"/>
                          <a:ea typeface="+mn-ea"/>
                          <a:cs typeface="Arial"/>
                        </a:rPr>
                      </a:br>
                      <a:r>
                        <a:rPr lang="ja-JP" altLang="en-US" sz="900" b="0" i="0" u="none" strike="noStrike" kern="1200" noProof="0" dirty="0">
                          <a:solidFill>
                            <a:srgbClr val="000000"/>
                          </a:solidFill>
                          <a:latin typeface="+mn-ea"/>
                          <a:ea typeface="+mn-ea"/>
                          <a:cs typeface="Arial"/>
                        </a:rPr>
                        <a:t>・要求事項列</a:t>
                      </a:r>
                      <a:r>
                        <a:rPr lang="en-US" altLang="ja-JP" sz="900" b="0" i="0" u="none" strike="noStrike" kern="1200" noProof="0" dirty="0">
                          <a:solidFill>
                            <a:srgbClr val="000000"/>
                          </a:solidFill>
                          <a:latin typeface="+mn-ea"/>
                          <a:ea typeface="+mn-ea"/>
                          <a:cs typeface="Arial"/>
                        </a:rPr>
                        <a:t>_</a:t>
                      </a:r>
                      <a:r>
                        <a:rPr lang="ja-JP" altLang="en-US" sz="900" b="0" i="0" u="none" strike="noStrike" kern="1200" noProof="0" dirty="0">
                          <a:solidFill>
                            <a:srgbClr val="000000"/>
                          </a:solidFill>
                          <a:latin typeface="+mn-ea"/>
                          <a:ea typeface="+mn-ea"/>
                          <a:cs typeface="Arial"/>
                        </a:rPr>
                        <a:t>血液型データの論理削除に係る記載</a:t>
                      </a:r>
                      <a:endParaRPr lang="en-US" altLang="ja-JP" sz="900" b="0" i="0" u="none" strike="noStrike" kern="1200" noProof="0" dirty="0">
                        <a:solidFill>
                          <a:srgbClr val="000000"/>
                        </a:solidFill>
                        <a:latin typeface="+mn-ea"/>
                        <a:ea typeface="+mn-ea"/>
                        <a:cs typeface="Arial"/>
                      </a:endParaRPr>
                    </a:p>
                    <a:p>
                      <a:pPr marL="180975" marR="0" lvl="0" indent="0" algn="l" rtl="0" eaLnBrk="1" fontAlgn="auto" latinLnBrk="0" hangingPunct="1">
                        <a:lnSpc>
                          <a:spcPct val="100000"/>
                        </a:lnSpc>
                        <a:spcBef>
                          <a:spcPts val="0"/>
                        </a:spcBef>
                        <a:spcAft>
                          <a:spcPts val="0"/>
                        </a:spcAft>
                        <a:buClrTx/>
                        <a:buSzTx/>
                        <a:buFont typeface="Wingdings" panose="05000000000000000000" pitchFamily="2" charset="2"/>
                        <a:buNone/>
                      </a:pPr>
                      <a:r>
                        <a:rPr lang="ja-JP" altLang="en-US" sz="900" b="0" i="0" u="none" strike="noStrike" kern="1200" noProof="0" dirty="0">
                          <a:solidFill>
                            <a:srgbClr val="000000"/>
                          </a:solidFill>
                          <a:latin typeface="+mn-ea"/>
                          <a:ea typeface="+mn-ea"/>
                          <a:cs typeface="Arial"/>
                        </a:rPr>
                        <a:t>・備考列</a:t>
                      </a:r>
                      <a:r>
                        <a:rPr lang="en-US" altLang="ja-JP" sz="900" b="0" i="0" u="none" strike="noStrike" kern="1200" noProof="0" dirty="0">
                          <a:solidFill>
                            <a:srgbClr val="000000"/>
                          </a:solidFill>
                          <a:latin typeface="+mn-ea"/>
                          <a:ea typeface="+mn-ea"/>
                          <a:cs typeface="Arial"/>
                        </a:rPr>
                        <a:t>_</a:t>
                      </a:r>
                      <a:r>
                        <a:rPr lang="ja-JP" altLang="en-US" sz="900" b="0" i="0" u="none" strike="noStrike" kern="1200" noProof="0" dirty="0">
                          <a:solidFill>
                            <a:srgbClr val="000000"/>
                          </a:solidFill>
                          <a:latin typeface="+mn-ea"/>
                          <a:ea typeface="+mn-ea"/>
                          <a:cs typeface="Arial"/>
                        </a:rPr>
                        <a:t>血液型データの論理削除に係る記載</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CB73C7C7-5DE4-25B9-E37A-4419A1201A23}"/>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)(1/6)</a:t>
            </a:r>
            <a:endParaRPr lang="ja-JP" altLang="en-US" sz="2000">
              <a:solidFill>
                <a:schemeClr val="tx2">
                  <a:lumMod val="75000"/>
                </a:schemeClr>
              </a:solidFill>
            </a:endParaRPr>
          </a:p>
        </p:txBody>
      </p:sp>
    </p:spTree>
    <p:extLst>
      <p:ext uri="{BB962C8B-B14F-4D97-AF65-F5344CB8AC3E}">
        <p14:creationId xmlns:p14="http://schemas.microsoft.com/office/powerpoint/2010/main" val="2310079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40A0F-8ACF-A91F-45E3-157B26FE75BA}"/>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FD9C81D7-0F73-62D6-1286-8EC26C5406EF}"/>
              </a:ext>
            </a:extLst>
          </p:cNvPr>
          <p:cNvGraphicFramePr>
            <a:graphicFrameLocks noGrp="1"/>
          </p:cNvGraphicFramePr>
          <p:nvPr>
            <p:extLst>
              <p:ext uri="{D42A27DB-BD31-4B8C-83A1-F6EECF244321}">
                <p14:modId xmlns:p14="http://schemas.microsoft.com/office/powerpoint/2010/main" val="3191288894"/>
              </p:ext>
            </p:extLst>
          </p:nvPr>
        </p:nvGraphicFramePr>
        <p:xfrm>
          <a:off x="453000" y="843756"/>
          <a:ext cx="9000000" cy="5743668"/>
        </p:xfrm>
        <a:graphic>
          <a:graphicData uri="http://schemas.openxmlformats.org/drawingml/2006/table">
            <a:tbl>
              <a:tblPr/>
              <a:tblGrid>
                <a:gridCol w="473868">
                  <a:extLst>
                    <a:ext uri="{9D8B030D-6E8A-4147-A177-3AD203B41FA5}">
                      <a16:colId xmlns:a16="http://schemas.microsoft.com/office/drawing/2014/main" val="3484704196"/>
                    </a:ext>
                  </a:extLst>
                </a:gridCol>
                <a:gridCol w="1060329">
                  <a:extLst>
                    <a:ext uri="{9D8B030D-6E8A-4147-A177-3AD203B41FA5}">
                      <a16:colId xmlns:a16="http://schemas.microsoft.com/office/drawing/2014/main" val="3863879091"/>
                    </a:ext>
                  </a:extLst>
                </a:gridCol>
                <a:gridCol w="4777587">
                  <a:extLst>
                    <a:ext uri="{9D8B030D-6E8A-4147-A177-3AD203B41FA5}">
                      <a16:colId xmlns:a16="http://schemas.microsoft.com/office/drawing/2014/main" val="99914978"/>
                    </a:ext>
                  </a:extLst>
                </a:gridCol>
                <a:gridCol w="2688216">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540000">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続</a:t>
                      </a:r>
                      <a:r>
                        <a:rPr kumimoji="1" lang="en-US" altLang="ja-JP" sz="900" kern="1200">
                          <a:solidFill>
                            <a:schemeClr val="tx1"/>
                          </a:solidFill>
                          <a:latin typeface="+mn-ea"/>
                          <a:ea typeface="+mn-ea"/>
                          <a:cs typeface="+mn-cs"/>
                        </a:rPr>
                        <a:t>)</a:t>
                      </a: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endParaRPr kumimoji="1" lang="en-US" altLang="ja-JP" sz="900" kern="1200">
                        <a:solidFill>
                          <a:schemeClr val="tx1"/>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3</a:t>
                      </a:r>
                      <a:r>
                        <a:rPr kumimoji="1" lang="ja-JP" altLang="en-US" sz="900" b="1" i="0" u="sng" strike="noStrike" kern="1200">
                          <a:solidFill>
                            <a:srgbClr val="000000"/>
                          </a:solidFill>
                          <a:latin typeface="+mn-ea"/>
                          <a:ea typeface="+mn-ea"/>
                          <a:cs typeface="+mn-cs"/>
                        </a:rPr>
                        <a:t>．案件の取り下げ​</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下記の案件を取り下げる</a:t>
                      </a:r>
                      <a:r>
                        <a:rPr kumimoji="1" lang="ja-JP" altLang="en-US" sz="900" b="0" i="0" u="none" strike="noStrike" kern="1200">
                          <a:solidFill>
                            <a:schemeClr val="tx1"/>
                          </a:solidFill>
                          <a:latin typeface="+mn-ea"/>
                          <a:ea typeface="+mn-ea"/>
                          <a:cs typeface="+mn-cs"/>
                        </a:rPr>
                        <a:t>。</a:t>
                      </a:r>
                      <a:r>
                        <a:rPr kumimoji="1" lang="en-US" altLang="ja-JP" sz="900" b="0" i="0" u="none" strike="noStrike" kern="1200">
                          <a:solidFill>
                            <a:srgbClr val="000000"/>
                          </a:solidFill>
                          <a:latin typeface="+mn-ea"/>
                          <a:ea typeface="+mn-ea"/>
                          <a:cs typeface="+mn-cs"/>
                        </a:rPr>
                        <a:t>(1</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endParaRPr kumimoji="1" lang="en-US" altLang="ja-JP" sz="900" kern="1200">
                        <a:solidFill>
                          <a:schemeClr val="tx1"/>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ID204(</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検査感染症 </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43+5</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項目のデータ登録時に</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JLAC11</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コード・</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JLAC10</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コードが併記されている場合にエラーとするアドオンチェック</a:t>
                      </a:r>
                      <a:r>
                        <a:rPr kumimoji="1" lang="en-US" altLang="ja-JP" sz="900" kern="1200">
                          <a:solidFill>
                            <a:schemeClr val="tx1"/>
                          </a:solidFill>
                          <a:latin typeface="+mn-ea"/>
                          <a:ea typeface="+mn-ea"/>
                          <a:cs typeface="+mn-cs"/>
                        </a:rPr>
                        <a:t>)</a:t>
                      </a:r>
                      <a:br>
                        <a:rPr kumimoji="1" lang="en-US" altLang="ja-JP" sz="900" kern="1200">
                          <a:solidFill>
                            <a:srgbClr val="000000"/>
                          </a:solidFill>
                          <a:latin typeface="+mn-ea"/>
                          <a:ea typeface="+mn-ea"/>
                          <a:cs typeface="+mn-cs"/>
                        </a:rPr>
                      </a:br>
                      <a:r>
                        <a:rPr kumimoji="1" lang="ja-JP" altLang="en-US" sz="900" kern="1200">
                          <a:solidFill>
                            <a:schemeClr val="tx1"/>
                          </a:solidFill>
                          <a:latin typeface="+mn-ea"/>
                          <a:ea typeface="+mn-ea"/>
                          <a:cs typeface="+mn-cs"/>
                        </a:rPr>
                        <a:t>■取り下げの背景</a:t>
                      </a:r>
                      <a:endParaRPr kumimoji="1" lang="en-US" altLang="ja-JP" sz="900" kern="1200">
                        <a:solidFill>
                          <a:schemeClr val="tx1"/>
                        </a:solidFill>
                        <a:latin typeface="+mn-ea"/>
                        <a:ea typeface="+mn-ea"/>
                        <a:cs typeface="+mn-cs"/>
                      </a:endParaRPr>
                    </a:p>
                    <a:p>
                      <a:pPr marL="269875" marR="0" lvl="1" indent="127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r>
                        <a:rPr kumimoji="1" lang="ja-JP" altLang="en-US" sz="900" kern="1200">
                          <a:solidFill>
                            <a:schemeClr val="tx1"/>
                          </a:solidFill>
                          <a:latin typeface="+mn-ea"/>
                          <a:ea typeface="+mn-ea"/>
                          <a:cs typeface="+mn-cs"/>
                        </a:rPr>
                        <a:t>案件</a:t>
                      </a:r>
                      <a:r>
                        <a:rPr kumimoji="1" lang="en-US" altLang="ja-JP" sz="900" kern="1200">
                          <a:solidFill>
                            <a:schemeClr val="tx1"/>
                          </a:solidFill>
                          <a:latin typeface="+mn-ea"/>
                          <a:ea typeface="+mn-ea"/>
                          <a:cs typeface="+mn-cs"/>
                        </a:rPr>
                        <a:t>ID221(</a:t>
                      </a:r>
                      <a:r>
                        <a:rPr kumimoji="1" lang="ja-JP" altLang="en-US" sz="900" kern="1200">
                          <a:solidFill>
                            <a:schemeClr val="tx1"/>
                          </a:solidFill>
                          <a:latin typeface="+mn-ea"/>
                          <a:ea typeface="+mn-ea"/>
                          <a:cs typeface="+mn-cs"/>
                        </a:rPr>
                        <a:t>検査感染症 </a:t>
                      </a:r>
                      <a:r>
                        <a:rPr kumimoji="1" lang="en-US" altLang="ja-JP" sz="900" kern="1200">
                          <a:solidFill>
                            <a:schemeClr val="tx1"/>
                          </a:solidFill>
                          <a:latin typeface="+mn-ea"/>
                          <a:ea typeface="+mn-ea"/>
                          <a:cs typeface="+mn-cs"/>
                        </a:rPr>
                        <a:t>43+5</a:t>
                      </a:r>
                      <a:r>
                        <a:rPr kumimoji="1" lang="ja-JP" altLang="en-US" sz="900" kern="1200">
                          <a:solidFill>
                            <a:schemeClr val="tx1"/>
                          </a:solidFill>
                          <a:latin typeface="+mn-ea"/>
                          <a:ea typeface="+mn-ea"/>
                          <a:cs typeface="+mn-cs"/>
                        </a:rPr>
                        <a:t>項目のデータ登録時に</a:t>
                      </a:r>
                      <a:r>
                        <a:rPr kumimoji="1" lang="en-US" altLang="ja-JP" sz="900" kern="1200">
                          <a:solidFill>
                            <a:schemeClr val="tx1"/>
                          </a:solidFill>
                          <a:latin typeface="+mn-ea"/>
                          <a:ea typeface="+mn-ea"/>
                          <a:cs typeface="+mn-cs"/>
                        </a:rPr>
                        <a:t>JLAC11</a:t>
                      </a:r>
                      <a:r>
                        <a:rPr kumimoji="1" lang="ja-JP" altLang="en-US" sz="900" kern="1200">
                          <a:solidFill>
                            <a:schemeClr val="tx1"/>
                          </a:solidFill>
                          <a:latin typeface="+mn-ea"/>
                          <a:ea typeface="+mn-ea"/>
                          <a:cs typeface="+mn-cs"/>
                        </a:rPr>
                        <a:t>コード・</a:t>
                      </a:r>
                      <a:r>
                        <a:rPr kumimoji="1" lang="en-US" altLang="ja-JP" sz="900" kern="1200">
                          <a:solidFill>
                            <a:schemeClr val="tx1"/>
                          </a:solidFill>
                          <a:latin typeface="+mn-ea"/>
                          <a:ea typeface="+mn-ea"/>
                          <a:cs typeface="+mn-cs"/>
                        </a:rPr>
                        <a:t>JLAC10</a:t>
                      </a:r>
                      <a:r>
                        <a:rPr kumimoji="1" lang="ja-JP" altLang="en-US" sz="900" kern="1200">
                          <a:solidFill>
                            <a:schemeClr val="tx1"/>
                          </a:solidFill>
                          <a:latin typeface="+mn-ea"/>
                          <a:ea typeface="+mn-ea"/>
                          <a:cs typeface="+mn-cs"/>
                        </a:rPr>
                        <a:t>コードが併記されている場合に</a:t>
                      </a:r>
                      <a:r>
                        <a:rPr kumimoji="1" lang="en-US" altLang="ja-JP" sz="900" kern="1200">
                          <a:solidFill>
                            <a:schemeClr val="tx1"/>
                          </a:solidFill>
                          <a:latin typeface="+mn-ea"/>
                          <a:ea typeface="+mn-ea"/>
                          <a:cs typeface="+mn-cs"/>
                        </a:rPr>
                        <a:t>JLAC11</a:t>
                      </a:r>
                      <a:r>
                        <a:rPr kumimoji="1" lang="ja-JP" altLang="en-US" sz="900" kern="1200">
                          <a:solidFill>
                            <a:schemeClr val="tx1"/>
                          </a:solidFill>
                          <a:latin typeface="+mn-ea"/>
                          <a:ea typeface="+mn-ea"/>
                          <a:cs typeface="+mn-cs"/>
                        </a:rPr>
                        <a:t>コードを優先して出力する</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で対応するため</a:t>
                      </a:r>
                      <a:endParaRPr kumimoji="1" lang="en-US" altLang="ja-JP" sz="900" kern="1200">
                        <a:solidFill>
                          <a:schemeClr val="tx1"/>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endParaRPr kumimoji="1" lang="en-US" altLang="ja-JP" sz="900" kern="1200">
                        <a:solidFill>
                          <a:schemeClr val="tx1"/>
                        </a:solidFill>
                        <a:latin typeface="+mn-ea"/>
                        <a:ea typeface="+mn-ea"/>
                        <a:cs typeface="+mn-cs"/>
                      </a:endParaRPr>
                    </a:p>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r>
                        <a:rPr kumimoji="1" lang="en-US" altLang="ja-JP" sz="900" b="1" i="0" u="sng" strike="noStrike" kern="1200">
                          <a:solidFill>
                            <a:srgbClr val="000000"/>
                          </a:solidFill>
                          <a:latin typeface="+mn-ea"/>
                          <a:ea typeface="+mn-ea"/>
                          <a:cs typeface="+mn-cs"/>
                        </a:rPr>
                        <a:t>4</a:t>
                      </a:r>
                      <a:r>
                        <a:rPr kumimoji="1" lang="ja-JP" altLang="en-US" sz="900" b="1" i="0" u="sng" strike="noStrike" kern="1200">
                          <a:solidFill>
                            <a:srgbClr val="000000"/>
                          </a:solidFill>
                          <a:latin typeface="+mn-ea"/>
                          <a:ea typeface="+mn-ea"/>
                          <a:cs typeface="+mn-cs"/>
                        </a:rPr>
                        <a:t>．</a:t>
                      </a:r>
                      <a:r>
                        <a:rPr kumimoji="1" lang="en-US" altLang="ja-JP" sz="900" b="1" i="0" u="sng" strike="noStrike" kern="1200">
                          <a:solidFill>
                            <a:srgbClr val="000000"/>
                          </a:solidFill>
                          <a:latin typeface="+mn-ea"/>
                          <a:ea typeface="+mn-ea"/>
                          <a:cs typeface="+mn-cs"/>
                        </a:rPr>
                        <a:t>ToDo</a:t>
                      </a:r>
                      <a:r>
                        <a:rPr kumimoji="1" lang="ja-JP" altLang="en-US" sz="900" b="1" i="0" u="sng" strike="noStrike" kern="1200">
                          <a:solidFill>
                            <a:srgbClr val="000000"/>
                          </a:solidFill>
                          <a:latin typeface="+mn-ea"/>
                          <a:ea typeface="+mn-ea"/>
                          <a:cs typeface="+mn-cs"/>
                        </a:rPr>
                        <a:t>のクローズ</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下記</a:t>
                      </a:r>
                      <a:r>
                        <a:rPr kumimoji="1" lang="en-US" altLang="ja-JP" sz="900" b="0" i="0" u="none" strike="noStrike" kern="1200">
                          <a:solidFill>
                            <a:srgbClr val="000000"/>
                          </a:solidFill>
                          <a:latin typeface="+mn-ea"/>
                          <a:ea typeface="+mn-ea"/>
                          <a:cs typeface="+mn-cs"/>
                        </a:rPr>
                        <a:t>ToDo</a:t>
                      </a:r>
                      <a:r>
                        <a:rPr kumimoji="1" lang="ja-JP" altLang="en-US" sz="900" b="0" i="0" u="none" strike="noStrike" kern="1200">
                          <a:solidFill>
                            <a:srgbClr val="000000"/>
                          </a:solidFill>
                          <a:latin typeface="+mn-ea"/>
                          <a:ea typeface="+mn-ea"/>
                          <a:cs typeface="+mn-cs"/>
                        </a:rPr>
                        <a:t>をクローズとする</a:t>
                      </a:r>
                      <a:r>
                        <a:rPr kumimoji="1" lang="en-US" altLang="ja-JP" sz="900" b="0" i="0" u="none" strike="noStrike" kern="1200">
                          <a:solidFill>
                            <a:srgbClr val="000000"/>
                          </a:solidFill>
                          <a:latin typeface="+mn-ea"/>
                          <a:ea typeface="+mn-ea"/>
                          <a:cs typeface="+mn-cs"/>
                        </a:rPr>
                        <a:t>(12</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#873(</a:t>
                      </a:r>
                      <a:r>
                        <a:rPr lang="ja-JP" altLang="en-US" sz="900" b="0">
                          <a:latin typeface="+mn-ea"/>
                          <a:ea typeface="+mn-ea"/>
                        </a:rPr>
                        <a:t>案件</a:t>
                      </a:r>
                      <a:r>
                        <a:rPr lang="en-US" altLang="ja-JP" sz="900" b="0">
                          <a:latin typeface="+mn-ea"/>
                          <a:ea typeface="+mn-ea"/>
                        </a:rPr>
                        <a:t>ID036(</a:t>
                      </a:r>
                      <a:r>
                        <a:rPr lang="ja-JP" altLang="en-US" sz="900" b="0">
                          <a:latin typeface="+mn-ea"/>
                          <a:ea typeface="+mn-ea"/>
                        </a:rPr>
                        <a:t>診療情報提供書の介護事業所送付機能の拡張</a:t>
                      </a:r>
                      <a:r>
                        <a:rPr lang="en-US" altLang="ja-JP" sz="900" b="0">
                          <a:latin typeface="+mn-ea"/>
                          <a:ea typeface="+mn-ea"/>
                        </a:rPr>
                        <a:t>)</a:t>
                      </a:r>
                      <a:r>
                        <a:rPr lang="ja-JP" altLang="en-US" sz="900" b="0">
                          <a:latin typeface="+mn-ea"/>
                          <a:ea typeface="+mn-ea"/>
                        </a:rPr>
                        <a:t>について、医療機関・介護事業者からの問い合わせに対し、医政局、DX機構、デジ庁、老健局等の複数組織間で連携できるよう、横断的なコミュニケーション方法を検討する。</a:t>
                      </a:r>
                      <a:r>
                        <a:rPr lang="en-US" altLang="ja-JP" sz="900" b="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i="0" u="none" strike="noStrike" kern="1200" noProof="0">
                          <a:solidFill>
                            <a:schemeClr val="tx1"/>
                          </a:solidFill>
                          <a:effectLst/>
                          <a:latin typeface="+mn-ea"/>
                          <a:ea typeface="+mn-ea"/>
                          <a:cs typeface="+mn-cs"/>
                        </a:rPr>
                        <a:t>#1108(JP CLINS 1.12.0</a:t>
                      </a:r>
                      <a:r>
                        <a:rPr kumimoji="1" lang="ja-JP" altLang="en-US" sz="900" b="0" i="0" u="none" strike="noStrike" kern="1200" noProof="0">
                          <a:solidFill>
                            <a:schemeClr val="tx1"/>
                          </a:solidFill>
                          <a:effectLst/>
                          <a:latin typeface="+mn-ea"/>
                          <a:ea typeface="+mn-ea"/>
                          <a:cs typeface="+mn-cs"/>
                        </a:rPr>
                        <a:t>版サポート終了に伴うモデル外ベンダへの周知を行う。 </a:t>
                      </a:r>
                      <a:r>
                        <a:rPr kumimoji="1" lang="en-US" altLang="ja-JP" sz="900" b="0" i="0" u="none" strike="noStrike" kern="1200" noProof="0">
                          <a:solidFill>
                            <a:schemeClr val="tx1"/>
                          </a:solidFill>
                          <a:effectLst/>
                          <a:latin typeface="+mn-ea"/>
                          <a:ea typeface="+mn-ea"/>
                          <a:cs typeface="+mn-cs"/>
                        </a:rPr>
                        <a:t>)</a:t>
                      </a:r>
                      <a:endParaRPr kumimoji="1" lang="en-US" altLang="ja-JP" sz="900" b="0" i="0" u="none" strike="noStrike" kern="1200">
                        <a:solidFill>
                          <a:schemeClr val="tx1"/>
                        </a:solidFill>
                        <a:effectLst/>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#1158(</a:t>
                      </a:r>
                      <a:r>
                        <a:rPr lang="ja-JP" altLang="en-US" sz="900" b="0">
                          <a:latin typeface="+mn-ea"/>
                          <a:ea typeface="+mn-ea"/>
                        </a:rPr>
                        <a:t>自施設宛て文書一覧から該当患者の文書が取得できなかった場合の運用として、紹介元医療機関へ診療情報提供書の再送を依頼し、再送時にエラーが発生した場合は紙運用に切り替える旨を運用マニュアルへ記載する。</a:t>
                      </a:r>
                      <a:r>
                        <a:rPr lang="en-US" altLang="ja-JP" sz="900" b="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#1181(</a:t>
                      </a:r>
                      <a:r>
                        <a:rPr lang="ja-JP" altLang="en-US" sz="900" b="0">
                          <a:latin typeface="+mn-ea"/>
                          <a:ea typeface="+mn-ea"/>
                        </a:rPr>
                        <a:t>今後</a:t>
                      </a:r>
                      <a:r>
                        <a:rPr lang="en-US" altLang="ja-JP" sz="900" b="0">
                          <a:latin typeface="+mn-ea"/>
                          <a:ea typeface="+mn-ea"/>
                        </a:rPr>
                        <a:t>BI</a:t>
                      </a:r>
                      <a:r>
                        <a:rPr lang="ja-JP" altLang="en-US" sz="900" b="0">
                          <a:latin typeface="+mn-ea"/>
                          <a:ea typeface="+mn-ea"/>
                        </a:rPr>
                        <a:t>ツールを使用する際のアウトプットを検討した際に、再度インプット部分の改修に跳ねることにならないか確認し、確認結果を厚労省に連携する。</a:t>
                      </a:r>
                      <a:r>
                        <a:rPr lang="en-US" altLang="ja-JP" sz="900" b="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#1183(</a:t>
                      </a:r>
                      <a:r>
                        <a:rPr kumimoji="1" lang="ja-JP" altLang="en-US" sz="900" b="0" kern="1200">
                          <a:solidFill>
                            <a:srgbClr val="000000"/>
                          </a:solidFill>
                          <a:latin typeface="+mn-ea"/>
                          <a:ea typeface="+mn-ea"/>
                          <a:cs typeface="+mn-cs"/>
                        </a:rPr>
                        <a:t>「臨床情報詳細画面」と「</a:t>
                      </a:r>
                      <a:r>
                        <a:rPr kumimoji="1" lang="en-US" altLang="ja-JP" sz="900" b="0" kern="1200">
                          <a:solidFill>
                            <a:srgbClr val="000000"/>
                          </a:solidFill>
                          <a:latin typeface="+mn-ea"/>
                          <a:ea typeface="+mn-ea"/>
                          <a:cs typeface="+mn-cs"/>
                        </a:rPr>
                        <a:t>PDF</a:t>
                      </a:r>
                      <a:r>
                        <a:rPr kumimoji="1" lang="ja-JP" altLang="en-US" sz="900" b="0" kern="1200">
                          <a:solidFill>
                            <a:srgbClr val="000000"/>
                          </a:solidFill>
                          <a:latin typeface="+mn-ea"/>
                          <a:ea typeface="+mn-ea"/>
                          <a:cs typeface="+mn-cs"/>
                        </a:rPr>
                        <a:t>帳票」の間における項目名・各項目の</a:t>
                      </a:r>
                      <a:r>
                        <a:rPr kumimoji="1" lang="en-US" altLang="ja-JP" sz="900" b="0" kern="1200">
                          <a:solidFill>
                            <a:srgbClr val="000000"/>
                          </a:solidFill>
                          <a:latin typeface="+mn-ea"/>
                          <a:ea typeface="+mn-ea"/>
                          <a:cs typeface="+mn-cs"/>
                        </a:rPr>
                        <a:t>FHIRパス</a:t>
                      </a:r>
                      <a:r>
                        <a:rPr kumimoji="1" lang="ja-JP" altLang="en-US" sz="900" b="0" kern="1200">
                          <a:solidFill>
                            <a:srgbClr val="000000"/>
                          </a:solidFill>
                          <a:latin typeface="+mn-ea"/>
                          <a:ea typeface="+mn-ea"/>
                          <a:cs typeface="+mn-cs"/>
                        </a:rPr>
                        <a:t>の差分有無について、富士通へ確認のうえ結果を厚労省に連携する。</a:t>
                      </a:r>
                      <a:r>
                        <a:rPr kumimoji="1" lang="en-US" altLang="ja-JP" sz="900" b="0" kern="1200">
                          <a:solidFill>
                            <a:srgbClr val="000000"/>
                          </a:solidFill>
                          <a:latin typeface="+mn-ea"/>
                          <a:ea typeface="+mn-ea"/>
                          <a:cs typeface="+mn-cs"/>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i="0" u="none" strike="noStrike" kern="1200">
                          <a:solidFill>
                            <a:srgbClr val="000000"/>
                          </a:solidFill>
                          <a:latin typeface="+mn-ea"/>
                          <a:ea typeface="+mn-ea"/>
                          <a:cs typeface="+mn-cs"/>
                        </a:rPr>
                        <a:t>#1209(10/20</a:t>
                      </a:r>
                      <a:r>
                        <a:rPr kumimoji="1" lang="ja-JP" altLang="en-US" sz="900" b="0" i="0" u="none" strike="noStrike" kern="1200">
                          <a:solidFill>
                            <a:srgbClr val="000000"/>
                          </a:solidFill>
                          <a:latin typeface="+mn-ea"/>
                          <a:ea typeface="+mn-ea"/>
                          <a:cs typeface="+mn-cs"/>
                        </a:rPr>
                        <a:t>の調達委員会時点で、令和</a:t>
                      </a:r>
                      <a:r>
                        <a:rPr kumimoji="1" lang="en-US" altLang="ja-JP" sz="900" b="0" i="0" u="none" strike="noStrike" kern="1200">
                          <a:solidFill>
                            <a:srgbClr val="000000"/>
                          </a:solidFill>
                          <a:latin typeface="+mn-ea"/>
                          <a:ea typeface="+mn-ea"/>
                          <a:cs typeface="+mn-cs"/>
                        </a:rPr>
                        <a:t>9</a:t>
                      </a:r>
                      <a:r>
                        <a:rPr kumimoji="1" lang="ja-JP" altLang="en-US" sz="900" b="0" i="0" u="none" strike="noStrike" kern="1200">
                          <a:solidFill>
                            <a:srgbClr val="000000"/>
                          </a:solidFill>
                          <a:latin typeface="+mn-ea"/>
                          <a:ea typeface="+mn-ea"/>
                          <a:cs typeface="+mn-cs"/>
                        </a:rPr>
                        <a:t>年度開発を希望する案件においては、</a:t>
                      </a:r>
                      <a:r>
                        <a:rPr kumimoji="1" lang="en-US" altLang="ja-JP" sz="900" b="0" i="0" u="none" strike="noStrike" kern="1200">
                          <a:solidFill>
                            <a:srgbClr val="000000"/>
                          </a:solidFill>
                          <a:latin typeface="+mn-ea"/>
                          <a:ea typeface="+mn-ea"/>
                          <a:cs typeface="+mn-cs"/>
                        </a:rPr>
                        <a:t>10/5</a:t>
                      </a:r>
                      <a:r>
                        <a:rPr kumimoji="1" lang="ja-JP" altLang="en-US" sz="900" b="0" i="0" u="none" strike="noStrike" kern="1200">
                          <a:solidFill>
                            <a:srgbClr val="000000"/>
                          </a:solidFill>
                          <a:latin typeface="+mn-ea"/>
                          <a:ea typeface="+mn-ea"/>
                          <a:cs typeface="+mn-cs"/>
                        </a:rPr>
                        <a:t>までに①案件名②案件概要、さらに可能であれば③案件の背景・目的を厚労省からDX機構に連携する。</a:t>
                      </a:r>
                      <a:r>
                        <a:rPr kumimoji="1" lang="en-US" altLang="ja-JP" sz="900" b="0" i="0" u="none" strike="noStrike" kern="1200">
                          <a:solidFill>
                            <a:srgbClr val="000000"/>
                          </a:solidFill>
                          <a:latin typeface="+mn-ea"/>
                          <a:ea typeface="+mn-ea"/>
                          <a:cs typeface="+mn-cs"/>
                        </a:rPr>
                        <a:t>)</a:t>
                      </a:r>
                      <a:endParaRPr kumimoji="1" lang="en-US" altLang="ja-JP" sz="900" b="1" i="0" u="sng" strike="noStrike" kern="120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#1212(</a:t>
                      </a:r>
                      <a:r>
                        <a:rPr lang="ja-JP" altLang="en-US" sz="900" b="0">
                          <a:latin typeface="+mn-ea"/>
                          <a:ea typeface="+mn-ea"/>
                        </a:rPr>
                        <a:t>「②ステークホルダーへのデータ共有」について、厚労省職員の端末で</a:t>
                      </a:r>
                      <a:r>
                        <a:rPr lang="en-US" altLang="ja-JP" sz="900" b="0">
                          <a:latin typeface="+mn-ea"/>
                          <a:ea typeface="+mn-ea"/>
                        </a:rPr>
                        <a:t>BI</a:t>
                      </a:r>
                      <a:r>
                        <a:rPr lang="ja-JP" altLang="en-US" sz="900" b="0">
                          <a:latin typeface="+mn-ea"/>
                          <a:ea typeface="+mn-ea"/>
                        </a:rPr>
                        <a:t>ツールのデータ閲覧需要の有無を確認し、結果をDX機構に連携する。</a:t>
                      </a:r>
                      <a:r>
                        <a:rPr lang="en-US" altLang="ja-JP" sz="900" b="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#1214(</a:t>
                      </a:r>
                      <a:r>
                        <a:rPr lang="ja-JP" altLang="en-US" sz="900" b="0">
                          <a:latin typeface="+mn-ea"/>
                          <a:ea typeface="+mn-ea"/>
                        </a:rPr>
                        <a:t>マイナポータルにおける臨床情報検査結果の基準値表示について、技術解説書</a:t>
                      </a:r>
                      <a:r>
                        <a:rPr lang="en-US" altLang="ja-JP" sz="900" b="0">
                          <a:latin typeface="+mn-ea"/>
                          <a:ea typeface="+mn-ea"/>
                        </a:rPr>
                        <a:t>2.1.0</a:t>
                      </a:r>
                      <a:r>
                        <a:rPr lang="ja-JP" altLang="en-US" sz="900" b="0">
                          <a:latin typeface="+mn-ea"/>
                          <a:ea typeface="+mn-ea"/>
                        </a:rPr>
                        <a:t>版で「未満」「超過」の意図を含む基準値登録が可能となった一方、マイナポータルは</a:t>
                      </a:r>
                      <a:r>
                        <a:rPr lang="en-US" altLang="ja-JP" sz="900" b="0">
                          <a:latin typeface="+mn-ea"/>
                          <a:ea typeface="+mn-ea"/>
                        </a:rPr>
                        <a:t>2.0.0</a:t>
                      </a:r>
                      <a:r>
                        <a:rPr lang="ja-JP" altLang="en-US" sz="900" b="0">
                          <a:latin typeface="+mn-ea"/>
                          <a:ea typeface="+mn-ea"/>
                        </a:rPr>
                        <a:t>版相当の表示仕様のため当該意図を表現できていないことを踏まえ、改修要否を検討し、検討結果をDX機構へ共有する。</a:t>
                      </a:r>
                      <a:r>
                        <a:rPr lang="en-US" altLang="ja-JP" sz="900" b="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#1216(</a:t>
                      </a:r>
                      <a:r>
                        <a:rPr lang="ja-JP" altLang="en-US" sz="900" b="0">
                          <a:latin typeface="+mn-ea"/>
                          <a:ea typeface="+mn-ea"/>
                        </a:rPr>
                        <a:t>医療介護連携における介護事業所宛て診療情報提供書の送付に係るランニングコストの按分を検討するためのインプットとして、電子カルテ情報共有サービスで資格確認の</a:t>
                      </a:r>
                      <a:r>
                        <a:rPr lang="en-US" altLang="ja-JP" sz="900" b="0">
                          <a:latin typeface="+mn-ea"/>
                          <a:ea typeface="+mn-ea"/>
                        </a:rPr>
                        <a:t>API</a:t>
                      </a:r>
                      <a:r>
                        <a:rPr lang="ja-JP" altLang="en-US" sz="900" b="0">
                          <a:latin typeface="+mn-ea"/>
                          <a:ea typeface="+mn-ea"/>
                        </a:rPr>
                        <a:t>を用いる機能のうち、統計ログの出力が必要な機能を抽出するための判断軸を整理し、整理結果をDX機構へ共有する。</a:t>
                      </a:r>
                      <a:r>
                        <a:rPr lang="en-US" altLang="ja-JP" sz="900" b="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#1220(</a:t>
                      </a:r>
                      <a:r>
                        <a:rPr lang="ja-JP" altLang="en-US" sz="900" b="0">
                          <a:latin typeface="+mn-ea"/>
                          <a:ea typeface="+mn-ea"/>
                        </a:rPr>
                        <a:t>電子署名の危殆化対応について、確認事項に対する回答を厚労省に連携する。</a:t>
                      </a:r>
                      <a:r>
                        <a:rPr lang="en-US" altLang="ja-JP" sz="900" b="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900" b="0" i="0" u="sng" strike="noStrike" kern="1200">
                        <a:solidFill>
                          <a:srgbClr val="000000"/>
                        </a:solidFill>
                        <a:latin typeface="+mn-ea"/>
                        <a:ea typeface="+mn-ea"/>
                        <a:cs typeface="+mn-cs"/>
                      </a:endParaRPr>
                    </a:p>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r>
                        <a:rPr kumimoji="1" lang="ja-JP" altLang="en-US" sz="900" b="0" i="0" u="none" strike="noStrike" kern="1200" noProof="0">
                          <a:solidFill>
                            <a:srgbClr val="000000"/>
                          </a:solidFill>
                          <a:latin typeface="+mn-ea"/>
                          <a:ea typeface="+mn-ea"/>
                          <a:cs typeface="+mn-cs"/>
                        </a:rPr>
                        <a:t>（続）</a:t>
                      </a:r>
                      <a:endParaRPr kumimoji="1" lang="en-US" altLang="ja-JP" sz="900" b="0" i="0" u="none" strike="noStrike" kern="1200" noProof="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案件</a:t>
                      </a:r>
                      <a:r>
                        <a:rPr lang="en-US" altLang="ja-JP" sz="900" b="0" i="0" u="none" strike="noStrike" kern="1200" noProof="0" dirty="0">
                          <a:solidFill>
                            <a:srgbClr val="000000"/>
                          </a:solidFill>
                          <a:latin typeface="+mn-ea"/>
                          <a:ea typeface="+mn-ea"/>
                          <a:cs typeface="Arial"/>
                        </a:rPr>
                        <a:t>ID225(BI</a:t>
                      </a:r>
                      <a:r>
                        <a:rPr lang="ja-JP" altLang="en-US" sz="900" b="0" i="0" u="none" strike="noStrike" kern="1200" noProof="0" dirty="0">
                          <a:solidFill>
                            <a:srgbClr val="000000"/>
                          </a:solidFill>
                          <a:latin typeface="+mn-ea"/>
                          <a:ea typeface="+mn-ea"/>
                          <a:cs typeface="Arial"/>
                        </a:rPr>
                        <a:t>基盤活用による臨床情報の可視化</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の要求事項に記載されたダッシュボード作成のインプットデータについて、令和</a:t>
                      </a:r>
                      <a:r>
                        <a:rPr lang="en-US" altLang="ja-JP" sz="900" b="0" i="0" u="none" strike="noStrike" kern="1200" noProof="0" dirty="0">
                          <a:solidFill>
                            <a:srgbClr val="000000"/>
                          </a:solidFill>
                          <a:latin typeface="+mn-ea"/>
                          <a:ea typeface="+mn-ea"/>
                          <a:cs typeface="Arial"/>
                        </a:rPr>
                        <a:t>8</a:t>
                      </a:r>
                      <a:r>
                        <a:rPr lang="ja-JP" altLang="en-US" sz="900" b="0" i="0" u="none" strike="noStrike" kern="1200" noProof="0" dirty="0">
                          <a:solidFill>
                            <a:srgbClr val="000000"/>
                          </a:solidFill>
                          <a:latin typeface="+mn-ea"/>
                          <a:ea typeface="+mn-ea"/>
                          <a:cs typeface="Arial"/>
                        </a:rPr>
                        <a:t>年度</a:t>
                      </a:r>
                      <a:r>
                        <a:rPr lang="en-US" altLang="ja-JP" sz="900" b="0" i="0" u="none" strike="noStrike" kern="1200" noProof="0" dirty="0">
                          <a:solidFill>
                            <a:srgbClr val="000000"/>
                          </a:solidFill>
                          <a:latin typeface="+mn-ea"/>
                          <a:ea typeface="+mn-ea"/>
                          <a:cs typeface="Arial"/>
                        </a:rPr>
                        <a:t>3</a:t>
                      </a:r>
                      <a:r>
                        <a:rPr lang="ja-JP" altLang="en-US" sz="900" b="0" i="0" u="none" strike="noStrike" kern="1200" noProof="0" dirty="0">
                          <a:solidFill>
                            <a:srgbClr val="000000"/>
                          </a:solidFill>
                          <a:latin typeface="+mn-ea"/>
                          <a:ea typeface="+mn-ea"/>
                          <a:cs typeface="Arial"/>
                        </a:rPr>
                        <a:t>月末案件において既存データをどこまで拡充可能か、富士通・</a:t>
                      </a:r>
                      <a:r>
                        <a:rPr lang="en-US" altLang="ja-JP" sz="900" b="0" i="0" u="none" strike="noStrike" kern="1200" noProof="0" dirty="0">
                          <a:solidFill>
                            <a:srgbClr val="000000"/>
                          </a:solidFill>
                          <a:latin typeface="+mn-ea"/>
                          <a:ea typeface="+mn-ea"/>
                          <a:cs typeface="Arial"/>
                        </a:rPr>
                        <a:t>NTTD</a:t>
                      </a:r>
                      <a:r>
                        <a:rPr lang="ja-JP" altLang="en-US" sz="900" b="0" i="0" u="none" strike="noStrike" kern="1200" noProof="0" dirty="0">
                          <a:solidFill>
                            <a:srgbClr val="000000"/>
                          </a:solidFill>
                          <a:latin typeface="+mn-ea"/>
                          <a:ea typeface="+mn-ea"/>
                          <a:cs typeface="Arial"/>
                        </a:rPr>
                        <a:t>に確認する。</a:t>
                      </a:r>
                      <a:r>
                        <a:rPr lang="en-US" altLang="ja-JP" sz="900" b="0" i="0" u="none" strike="noStrike" kern="1200" noProof="0" dirty="0">
                          <a:solidFill>
                            <a:srgbClr val="000000"/>
                          </a:solidFill>
                          <a:latin typeface="+mn-ea"/>
                          <a:ea typeface="+mn-ea"/>
                          <a:cs typeface="Arial"/>
                        </a:rPr>
                        <a:t>【DX</a:t>
                      </a:r>
                      <a:r>
                        <a:rPr lang="ja-JP" altLang="en-US" sz="900" b="0" i="0" u="none" strike="noStrike" kern="1200" noProof="0" dirty="0">
                          <a:solidFill>
                            <a:srgbClr val="000000"/>
                          </a:solidFill>
                          <a:latin typeface="+mn-ea"/>
                          <a:ea typeface="+mn-ea"/>
                          <a:cs typeface="Arial"/>
                        </a:rPr>
                        <a:t>機構 </a:t>
                      </a:r>
                      <a:r>
                        <a:rPr lang="en-US" altLang="ja-JP" sz="900" b="0" i="0" u="none" strike="noStrike" kern="1200" noProof="0" dirty="0">
                          <a:solidFill>
                            <a:srgbClr val="000000"/>
                          </a:solidFill>
                          <a:latin typeface="+mn-ea"/>
                          <a:ea typeface="+mn-ea"/>
                          <a:cs typeface="Arial"/>
                        </a:rPr>
                        <a:t>10/13】</a:t>
                      </a:r>
                    </a:p>
                    <a:p>
                      <a:pPr marL="0" marR="0" lvl="0" indent="0" algn="l" rtl="0" eaLnBrk="1" fontAlgn="auto" latinLnBrk="0" hangingPunct="1">
                        <a:lnSpc>
                          <a:spcPct val="100000"/>
                        </a:lnSpc>
                        <a:spcBef>
                          <a:spcPts val="0"/>
                        </a:spcBef>
                        <a:spcAft>
                          <a:spcPts val="0"/>
                        </a:spcAft>
                        <a:buClrTx/>
                        <a:buSzTx/>
                        <a:buFont typeface="Wingdings" panose="05000000000000000000" pitchFamily="2" charset="2"/>
                        <a:buNone/>
                      </a:pPr>
                      <a:endParaRPr lang="en-US" altLang="ja-JP" sz="900" b="0" i="0" u="none" strike="noStrike" kern="1200" noProof="0" dirty="0">
                        <a:solidFill>
                          <a:srgbClr val="000000"/>
                        </a:solidFill>
                        <a:latin typeface="+mn-ea"/>
                        <a:ea typeface="+mn-ea"/>
                        <a:cs typeface="Arial"/>
                      </a:endParaRP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案件</a:t>
                      </a:r>
                      <a:r>
                        <a:rPr lang="en-US" altLang="ja-JP" sz="900" b="0" i="0" u="none" strike="noStrike" kern="1200" noProof="0" dirty="0">
                          <a:solidFill>
                            <a:srgbClr val="000000"/>
                          </a:solidFill>
                          <a:latin typeface="+mn-ea"/>
                          <a:ea typeface="+mn-ea"/>
                          <a:cs typeface="Arial"/>
                        </a:rPr>
                        <a:t>ID225</a:t>
                      </a:r>
                      <a:r>
                        <a:rPr lang="ja-JP" altLang="en-US" sz="900" b="0" i="0" u="none" strike="noStrike" kern="1200" noProof="0" dirty="0">
                          <a:solidFill>
                            <a:srgbClr val="000000"/>
                          </a:solidFill>
                          <a:latin typeface="+mn-ea"/>
                          <a:ea typeface="+mn-ea"/>
                          <a:cs typeface="Arial"/>
                        </a:rPr>
                        <a:t>(</a:t>
                      </a:r>
                      <a:r>
                        <a:rPr lang="en-US" altLang="ja-JP" sz="900" b="0" i="0" u="none" strike="noStrike" kern="1200" noProof="0" dirty="0">
                          <a:solidFill>
                            <a:srgbClr val="000000"/>
                          </a:solidFill>
                          <a:latin typeface="+mn-ea"/>
                          <a:ea typeface="+mn-ea"/>
                          <a:cs typeface="Arial"/>
                        </a:rPr>
                        <a:t>BI</a:t>
                      </a:r>
                      <a:r>
                        <a:rPr lang="ja-JP" altLang="en-US" sz="900" b="0" i="0" u="none" strike="noStrike" kern="1200" noProof="0" dirty="0">
                          <a:solidFill>
                            <a:srgbClr val="000000"/>
                          </a:solidFill>
                          <a:latin typeface="+mn-ea"/>
                          <a:ea typeface="+mn-ea"/>
                          <a:cs typeface="Arial"/>
                        </a:rPr>
                        <a:t>基盤活用による臨床情報の可視化)において、ダッシュボード作成のインプットデータのうち、令和</a:t>
                      </a:r>
                      <a:r>
                        <a:rPr lang="en-US" altLang="ja-JP" sz="900" b="0" i="0" u="none" strike="noStrike" kern="1200" noProof="0" dirty="0">
                          <a:solidFill>
                            <a:srgbClr val="000000"/>
                          </a:solidFill>
                          <a:latin typeface="+mn-ea"/>
                          <a:ea typeface="+mn-ea"/>
                          <a:cs typeface="Arial"/>
                        </a:rPr>
                        <a:t>8</a:t>
                      </a:r>
                      <a:r>
                        <a:rPr lang="ja-JP" altLang="en-US" sz="900" b="0" i="0" u="none" strike="noStrike" kern="1200" noProof="0" dirty="0">
                          <a:solidFill>
                            <a:srgbClr val="000000"/>
                          </a:solidFill>
                          <a:latin typeface="+mn-ea"/>
                          <a:ea typeface="+mn-ea"/>
                          <a:cs typeface="Arial"/>
                        </a:rPr>
                        <a:t>年度末(</a:t>
                      </a:r>
                      <a:r>
                        <a:rPr lang="en-US" altLang="ja-JP" sz="900" b="0" i="0" u="none" strike="noStrike" kern="1200" noProof="0" dirty="0">
                          <a:solidFill>
                            <a:srgbClr val="000000"/>
                          </a:solidFill>
                          <a:latin typeface="+mn-ea"/>
                          <a:ea typeface="+mn-ea"/>
                          <a:cs typeface="Arial"/>
                        </a:rPr>
                        <a:t>3</a:t>
                      </a:r>
                      <a:r>
                        <a:rPr lang="ja-JP" altLang="en-US" sz="900" b="0" i="0" u="none" strike="noStrike" kern="1200" noProof="0" dirty="0">
                          <a:solidFill>
                            <a:srgbClr val="000000"/>
                          </a:solidFill>
                          <a:latin typeface="+mn-ea"/>
                          <a:ea typeface="+mn-ea"/>
                          <a:cs typeface="Arial"/>
                        </a:rPr>
                        <a:t>月末)までに反映できない既存データについて、対応可能時期を富士通へ確認する。</a:t>
                      </a:r>
                      <a:r>
                        <a:rPr lang="en-US" altLang="ja-JP" sz="900" b="0" i="0" u="none" strike="noStrike" kern="1200" noProof="0" dirty="0">
                          <a:solidFill>
                            <a:srgbClr val="000000"/>
                          </a:solidFill>
                          <a:latin typeface="+mn-ea"/>
                          <a:ea typeface="+mn-ea"/>
                          <a:cs typeface="Arial"/>
                        </a:rPr>
                        <a:t>【DX</a:t>
                      </a:r>
                      <a:r>
                        <a:rPr lang="ja-JP" altLang="en-US" sz="900" b="0" i="0" u="none" strike="noStrike" kern="1200" noProof="0" dirty="0">
                          <a:solidFill>
                            <a:srgbClr val="000000"/>
                          </a:solidFill>
                          <a:latin typeface="+mn-ea"/>
                          <a:ea typeface="+mn-ea"/>
                          <a:cs typeface="Arial"/>
                        </a:rPr>
                        <a:t>機構 </a:t>
                      </a:r>
                      <a:r>
                        <a:rPr lang="en-US" altLang="ja-JP" sz="900" b="0" i="0" u="none" strike="noStrike" kern="1200" noProof="0" dirty="0">
                          <a:solidFill>
                            <a:srgbClr val="000000"/>
                          </a:solidFill>
                          <a:latin typeface="+mn-ea"/>
                          <a:ea typeface="+mn-ea"/>
                          <a:cs typeface="Arial"/>
                        </a:rPr>
                        <a:t>10/13】</a:t>
                      </a: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endParaRPr lang="en-US" altLang="ja-JP" sz="900" b="0" i="0" u="none" strike="noStrike" kern="1200" noProof="0" dirty="0">
                        <a:solidFill>
                          <a:srgbClr val="000000"/>
                        </a:solidFill>
                        <a:latin typeface="+mn-ea"/>
                        <a:ea typeface="+mn-ea"/>
                        <a:cs typeface="Arial"/>
                      </a:endParaRP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案件</a:t>
                      </a:r>
                      <a:r>
                        <a:rPr lang="en-US" altLang="ja-JP" sz="900" b="0" i="0" u="none" strike="noStrike" kern="1200" noProof="0" dirty="0">
                          <a:solidFill>
                            <a:srgbClr val="000000"/>
                          </a:solidFill>
                          <a:latin typeface="+mn-ea"/>
                          <a:ea typeface="+mn-ea"/>
                          <a:cs typeface="Arial"/>
                        </a:rPr>
                        <a:t>ID225(BI</a:t>
                      </a:r>
                      <a:r>
                        <a:rPr lang="ja-JP" altLang="en-US" sz="900" b="0" i="0" u="none" strike="noStrike" kern="1200" noProof="0" dirty="0">
                          <a:solidFill>
                            <a:srgbClr val="000000"/>
                          </a:solidFill>
                          <a:latin typeface="+mn-ea"/>
                          <a:ea typeface="+mn-ea"/>
                          <a:cs typeface="Arial"/>
                        </a:rPr>
                        <a:t>基盤活用による臨床情報の可視化</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の要求事項に記載された</a:t>
                      </a:r>
                      <a:r>
                        <a:rPr lang="en-US" altLang="ja-JP" sz="900" b="0" i="0" u="none" strike="noStrike" kern="1200" noProof="0" dirty="0">
                          <a:solidFill>
                            <a:srgbClr val="000000"/>
                          </a:solidFill>
                          <a:latin typeface="+mn-ea"/>
                          <a:ea typeface="+mn-ea"/>
                          <a:cs typeface="Arial"/>
                        </a:rPr>
                        <a:t>15</a:t>
                      </a:r>
                      <a:r>
                        <a:rPr lang="ja-JP" altLang="en-US" sz="900" b="0" i="0" u="none" strike="noStrike" kern="1200" noProof="0" dirty="0">
                          <a:solidFill>
                            <a:srgbClr val="000000"/>
                          </a:solidFill>
                          <a:latin typeface="+mn-ea"/>
                          <a:ea typeface="+mn-ea"/>
                          <a:cs typeface="Arial"/>
                        </a:rPr>
                        <a:t>種類のダッシュボード</a:t>
                      </a:r>
                      <a:r>
                        <a:rPr lang="en-US" altLang="ja-JP" sz="900" b="0" i="0" u="none" strike="noStrike" kern="1200" baseline="300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について、各ダッシュボードの確認観点・活用目的を整理し、厚労省に提示する。</a:t>
                      </a:r>
                      <a:r>
                        <a:rPr lang="en-US" altLang="ja-JP" sz="900" b="0" i="0" u="none" strike="noStrike" kern="1200" noProof="0" dirty="0">
                          <a:solidFill>
                            <a:srgbClr val="000000"/>
                          </a:solidFill>
                          <a:latin typeface="+mn-ea"/>
                          <a:ea typeface="+mn-ea"/>
                          <a:cs typeface="Arial"/>
                        </a:rPr>
                        <a:t>【DX</a:t>
                      </a:r>
                      <a:r>
                        <a:rPr lang="ja-JP" altLang="en-US" sz="900" b="0" i="0" u="none" strike="noStrike" kern="1200" noProof="0" dirty="0">
                          <a:solidFill>
                            <a:srgbClr val="000000"/>
                          </a:solidFill>
                          <a:latin typeface="+mn-ea"/>
                          <a:ea typeface="+mn-ea"/>
                          <a:cs typeface="Arial"/>
                        </a:rPr>
                        <a:t>機構 </a:t>
                      </a:r>
                      <a:r>
                        <a:rPr lang="en-US" altLang="ja-JP" sz="900" b="0" i="0" u="none" strike="noStrike" kern="1200" noProof="0" dirty="0">
                          <a:solidFill>
                            <a:srgbClr val="000000"/>
                          </a:solidFill>
                          <a:latin typeface="+mn-ea"/>
                          <a:ea typeface="+mn-ea"/>
                          <a:cs typeface="Arial"/>
                        </a:rPr>
                        <a:t>10/13】</a:t>
                      </a:r>
                    </a:p>
                    <a:p>
                      <a:pPr marL="182245" marR="0" lvl="0" indent="0" algn="l" rtl="0" eaLnBrk="1" fontAlgn="auto" latinLnBrk="0" hangingPunct="1">
                        <a:lnSpc>
                          <a:spcPct val="100000"/>
                        </a:lnSpc>
                        <a:spcBef>
                          <a:spcPts val="0"/>
                        </a:spcBef>
                        <a:spcAft>
                          <a:spcPts val="0"/>
                        </a:spcAft>
                        <a:buClrTx/>
                        <a:buSzTx/>
                        <a:buFont typeface="Wingdings" panose="05000000000000000000" pitchFamily="2" charset="2"/>
                        <a:buNone/>
                      </a:pP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原本</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電カル共有</a:t>
                      </a:r>
                      <a:r>
                        <a:rPr lang="en-US" altLang="ja-JP" sz="900" b="0" i="0" u="none" strike="noStrike" kern="1200" noProof="0" dirty="0">
                          <a:solidFill>
                            <a:srgbClr val="000000"/>
                          </a:solidFill>
                          <a:latin typeface="+mn-ea"/>
                          <a:ea typeface="+mn-ea"/>
                          <a:cs typeface="Arial"/>
                        </a:rPr>
                        <a:t>】</a:t>
                      </a:r>
                      <a:r>
                        <a:rPr lang="ja-JP" altLang="en-US" sz="900" b="0" i="0" u="none" strike="noStrike" kern="1200" noProof="0" dirty="0">
                          <a:solidFill>
                            <a:srgbClr val="000000"/>
                          </a:solidFill>
                          <a:latin typeface="+mn-ea"/>
                          <a:ea typeface="+mn-ea"/>
                          <a:cs typeface="Arial"/>
                        </a:rPr>
                        <a:t>案件台帳</a:t>
                      </a:r>
                      <a:r>
                        <a:rPr lang="en-US" altLang="ja-JP" sz="900" b="0" i="0" u="none" strike="noStrike" kern="1200" noProof="0" dirty="0">
                          <a:solidFill>
                            <a:srgbClr val="000000"/>
                          </a:solidFill>
                          <a:latin typeface="+mn-ea"/>
                          <a:ea typeface="+mn-ea"/>
                          <a:cs typeface="Arial"/>
                        </a:rPr>
                        <a:t>_</a:t>
                      </a:r>
                      <a:r>
                        <a:rPr lang="ja-JP" altLang="en-US" sz="900" b="0" i="0" u="none" strike="noStrike" kern="1200" noProof="0" dirty="0">
                          <a:solidFill>
                            <a:srgbClr val="000000"/>
                          </a:solidFill>
                          <a:latin typeface="+mn-ea"/>
                          <a:ea typeface="+mn-ea"/>
                          <a:cs typeface="Arial"/>
                        </a:rPr>
                        <a:t>令和</a:t>
                      </a:r>
                      <a:r>
                        <a:rPr lang="en-US" altLang="ja-JP" sz="900" b="0" i="0" u="none" strike="noStrike" kern="1200" noProof="0" dirty="0">
                          <a:solidFill>
                            <a:srgbClr val="000000"/>
                          </a:solidFill>
                          <a:latin typeface="+mn-ea"/>
                          <a:ea typeface="+mn-ea"/>
                          <a:cs typeface="Arial"/>
                        </a:rPr>
                        <a:t>8</a:t>
                      </a:r>
                      <a:r>
                        <a:rPr lang="ja-JP" altLang="en-US" sz="900" b="0" i="0" u="none" strike="noStrike" kern="1200" noProof="0" dirty="0">
                          <a:solidFill>
                            <a:srgbClr val="000000"/>
                          </a:solidFill>
                          <a:latin typeface="+mn-ea"/>
                          <a:ea typeface="+mn-ea"/>
                          <a:cs typeface="Arial"/>
                        </a:rPr>
                        <a:t>年度</a:t>
                      </a:r>
                      <a:r>
                        <a:rPr lang="en-US" altLang="ja-JP" sz="900" b="0" i="0" u="none" strike="noStrike" kern="1200" noProof="0" dirty="0">
                          <a:solidFill>
                            <a:srgbClr val="000000"/>
                          </a:solidFill>
                          <a:latin typeface="+mn-ea"/>
                          <a:ea typeface="+mn-ea"/>
                          <a:cs typeface="Arial"/>
                        </a:rPr>
                        <a:t>.xlsx</a:t>
                      </a:r>
                      <a:r>
                        <a:rPr lang="ja-JP" altLang="en-US" sz="900" b="0" i="0" u="none" strike="noStrike" kern="1200" noProof="0" dirty="0">
                          <a:solidFill>
                            <a:srgbClr val="000000"/>
                          </a:solidFill>
                          <a:latin typeface="+mn-ea"/>
                          <a:ea typeface="+mn-ea"/>
                          <a:cs typeface="Arial"/>
                        </a:rPr>
                        <a:t>」の案件</a:t>
                      </a:r>
                      <a:r>
                        <a:rPr lang="en-US" altLang="ja-JP" sz="900" b="0" i="0" u="none" strike="noStrike" kern="1200" noProof="0" dirty="0">
                          <a:solidFill>
                            <a:srgbClr val="000000"/>
                          </a:solidFill>
                          <a:latin typeface="+mn-ea"/>
                          <a:ea typeface="+mn-ea"/>
                          <a:cs typeface="Arial"/>
                        </a:rPr>
                        <a:t>ID225</a:t>
                      </a:r>
                      <a:r>
                        <a:rPr lang="ja-JP" altLang="en-US" sz="900" b="0" i="0" u="none" strike="noStrike" kern="1200" noProof="0" dirty="0">
                          <a:solidFill>
                            <a:srgbClr val="000000"/>
                          </a:solidFill>
                          <a:latin typeface="+mn-ea"/>
                          <a:ea typeface="+mn-ea"/>
                          <a:cs typeface="Arial"/>
                        </a:rPr>
                        <a:t>の要求事項に記載</a:t>
                      </a:r>
                      <a:endParaRPr lang="en-US" altLang="ja-JP" sz="900" b="0" i="0" u="none" strike="noStrike" kern="1200" noProof="0" dirty="0">
                        <a:solidFill>
                          <a:srgbClr val="000000"/>
                        </a:solidFill>
                        <a:latin typeface="+mn-ea"/>
                        <a:ea typeface="+mn-ea"/>
                        <a:cs typeface="Arial"/>
                      </a:endParaRPr>
                    </a:p>
                    <a:p>
                      <a:pPr marL="0" marR="0" lvl="0" indent="0" algn="l" rtl="0" eaLnBrk="1" fontAlgn="auto" latinLnBrk="0" hangingPunct="1">
                        <a:lnSpc>
                          <a:spcPct val="100000"/>
                        </a:lnSpc>
                        <a:spcBef>
                          <a:spcPts val="0"/>
                        </a:spcBef>
                        <a:spcAft>
                          <a:spcPts val="0"/>
                        </a:spcAft>
                        <a:buClrTx/>
                        <a:buSzTx/>
                        <a:buFont typeface="Wingdings" panose="05000000000000000000" pitchFamily="2" charset="2"/>
                        <a:buNone/>
                      </a:pPr>
                      <a:endParaRPr lang="en-US" altLang="ja-JP" sz="900" b="0" i="0" u="none" strike="noStrike" kern="1200" noProof="0" dirty="0">
                        <a:solidFill>
                          <a:srgbClr val="000000"/>
                        </a:solidFill>
                        <a:latin typeface="+mn-ea"/>
                        <a:ea typeface="+mn-ea"/>
                        <a:cs typeface="Arial"/>
                      </a:endParaRPr>
                    </a:p>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ja-JP" altLang="en-US" sz="900" b="0" i="0" u="none" strike="noStrike" kern="1200" noProof="0" dirty="0">
                          <a:solidFill>
                            <a:srgbClr val="000000"/>
                          </a:solidFill>
                          <a:latin typeface="+mn-ea"/>
                          <a:ea typeface="+mn-ea"/>
                          <a:cs typeface="Arial"/>
                        </a:rPr>
                        <a:t>臨床情報詳細画面と</a:t>
                      </a:r>
                      <a:r>
                        <a:rPr lang="en-US" altLang="ja-JP" sz="900" b="0" i="0" u="none" strike="noStrike" kern="1200" noProof="0" dirty="0">
                          <a:solidFill>
                            <a:srgbClr val="000000"/>
                          </a:solidFill>
                          <a:latin typeface="+mn-ea"/>
                          <a:ea typeface="+mn-ea"/>
                          <a:cs typeface="Arial"/>
                        </a:rPr>
                        <a:t>PDF</a:t>
                      </a:r>
                      <a:r>
                        <a:rPr lang="ja-JP" altLang="en-US" sz="900" b="0" i="0" u="none" strike="noStrike" kern="1200" noProof="0" dirty="0">
                          <a:solidFill>
                            <a:srgbClr val="000000"/>
                          </a:solidFill>
                          <a:latin typeface="+mn-ea"/>
                          <a:ea typeface="+mn-ea"/>
                          <a:cs typeface="Arial"/>
                        </a:rPr>
                        <a:t>帳票間における項目名および</a:t>
                      </a:r>
                      <a:r>
                        <a:rPr lang="en-US" altLang="ja-JP" sz="900" b="0" i="0" u="none" strike="noStrike" kern="1200" noProof="0" dirty="0">
                          <a:solidFill>
                            <a:srgbClr val="000000"/>
                          </a:solidFill>
                          <a:latin typeface="+mn-ea"/>
                          <a:ea typeface="+mn-ea"/>
                          <a:cs typeface="Arial"/>
                        </a:rPr>
                        <a:t>FHIR</a:t>
                      </a:r>
                      <a:r>
                        <a:rPr lang="ja-JP" altLang="en-US" sz="900" b="0" i="0" u="none" strike="noStrike" kern="1200" noProof="0" dirty="0">
                          <a:solidFill>
                            <a:srgbClr val="000000"/>
                          </a:solidFill>
                          <a:latin typeface="+mn-ea"/>
                          <a:ea typeface="+mn-ea"/>
                          <a:cs typeface="Arial"/>
                        </a:rPr>
                        <a:t>パスの差分について、富士通へ</a:t>
                      </a:r>
                      <a:r>
                        <a:rPr lang="en-US" altLang="ja-JP" sz="900" b="0" i="0" u="none" strike="noStrike" kern="1200" noProof="0" dirty="0">
                          <a:solidFill>
                            <a:srgbClr val="000000"/>
                          </a:solidFill>
                          <a:latin typeface="+mn-ea"/>
                          <a:ea typeface="+mn-ea"/>
                          <a:cs typeface="Arial"/>
                        </a:rPr>
                        <a:t>FHIR</a:t>
                      </a:r>
                      <a:r>
                        <a:rPr lang="ja-JP" altLang="en-US" sz="900" b="0" i="0" u="none" strike="noStrike" kern="1200" noProof="0" dirty="0">
                          <a:solidFill>
                            <a:srgbClr val="000000"/>
                          </a:solidFill>
                          <a:latin typeface="+mn-ea"/>
                          <a:ea typeface="+mn-ea"/>
                          <a:cs typeface="Arial"/>
                        </a:rPr>
                        <a:t>パスの追記を依頼し、</a:t>
                      </a:r>
                      <a:r>
                        <a:rPr lang="en-US" altLang="ja-JP" sz="900" b="0" i="0" u="none" strike="noStrike" kern="1200" noProof="0" dirty="0">
                          <a:solidFill>
                            <a:srgbClr val="000000"/>
                          </a:solidFill>
                          <a:latin typeface="+mn-ea"/>
                          <a:ea typeface="+mn-ea"/>
                          <a:cs typeface="Arial"/>
                        </a:rPr>
                        <a:t>FHIR</a:t>
                      </a:r>
                      <a:r>
                        <a:rPr lang="ja-JP" altLang="en-US" sz="900" b="0" i="0" u="none" strike="noStrike" kern="1200" noProof="0" dirty="0">
                          <a:solidFill>
                            <a:srgbClr val="000000"/>
                          </a:solidFill>
                          <a:latin typeface="+mn-ea"/>
                          <a:ea typeface="+mn-ea"/>
                          <a:cs typeface="Arial"/>
                        </a:rPr>
                        <a:t>パスを明記した</a:t>
                      </a:r>
                      <a:r>
                        <a:rPr lang="en-US" altLang="ja-JP" sz="900" b="0" i="0" u="none" strike="noStrike" kern="1200" noProof="0" dirty="0">
                          <a:solidFill>
                            <a:srgbClr val="000000"/>
                          </a:solidFill>
                          <a:latin typeface="+mn-ea"/>
                          <a:ea typeface="+mn-ea"/>
                          <a:cs typeface="Arial"/>
                        </a:rPr>
                        <a:t>Excel</a:t>
                      </a:r>
                      <a:r>
                        <a:rPr lang="ja-JP" altLang="en-US" sz="900" b="0" i="0" u="none" strike="noStrike" kern="1200" noProof="0" dirty="0">
                          <a:solidFill>
                            <a:srgbClr val="000000"/>
                          </a:solidFill>
                          <a:latin typeface="+mn-ea"/>
                          <a:ea typeface="+mn-ea"/>
                          <a:cs typeface="Arial"/>
                        </a:rPr>
                        <a:t>資料を厚労省へ共有する。</a:t>
                      </a:r>
                      <a:r>
                        <a:rPr lang="en-US" altLang="ja-JP" sz="900" b="0" i="0" u="none" strike="noStrike" kern="1200" noProof="0" dirty="0">
                          <a:solidFill>
                            <a:srgbClr val="000000"/>
                          </a:solidFill>
                          <a:latin typeface="+mn-ea"/>
                          <a:ea typeface="+mn-ea"/>
                          <a:cs typeface="Arial"/>
                        </a:rPr>
                        <a:t>【DX</a:t>
                      </a:r>
                      <a:r>
                        <a:rPr lang="ja-JP" altLang="en-US" sz="900" b="0" i="0" u="none" strike="noStrike" kern="1200" noProof="0" dirty="0">
                          <a:solidFill>
                            <a:srgbClr val="000000"/>
                          </a:solidFill>
                          <a:latin typeface="+mn-ea"/>
                          <a:ea typeface="+mn-ea"/>
                          <a:cs typeface="Arial"/>
                        </a:rPr>
                        <a:t>機構 </a:t>
                      </a:r>
                      <a:r>
                        <a:rPr lang="en-US" altLang="ja-JP" sz="900" b="0" i="0" u="none" strike="noStrike" kern="1200" noProof="0" dirty="0">
                          <a:solidFill>
                            <a:srgbClr val="000000"/>
                          </a:solidFill>
                          <a:latin typeface="+mn-ea"/>
                          <a:ea typeface="+mn-ea"/>
                          <a:cs typeface="Arial"/>
                        </a:rPr>
                        <a:t>10/13】</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F0362052-4A07-4322-45D5-4CF8A0306FCB}"/>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)(2/6)</a:t>
            </a:r>
            <a:endParaRPr lang="ja-JP" altLang="en-US" sz="2000">
              <a:solidFill>
                <a:schemeClr val="tx2">
                  <a:lumMod val="75000"/>
                </a:schemeClr>
              </a:solidFill>
            </a:endParaRPr>
          </a:p>
        </p:txBody>
      </p:sp>
    </p:spTree>
    <p:extLst>
      <p:ext uri="{BB962C8B-B14F-4D97-AF65-F5344CB8AC3E}">
        <p14:creationId xmlns:p14="http://schemas.microsoft.com/office/powerpoint/2010/main" val="4260918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27DA3-36AF-82D6-8266-E279604845D3}"/>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93DB6213-59FD-AB24-D346-BDE292898E9C}"/>
              </a:ext>
            </a:extLst>
          </p:cNvPr>
          <p:cNvGraphicFramePr>
            <a:graphicFrameLocks noGrp="1"/>
          </p:cNvGraphicFramePr>
          <p:nvPr>
            <p:extLst>
              <p:ext uri="{D42A27DB-BD31-4B8C-83A1-F6EECF244321}">
                <p14:modId xmlns:p14="http://schemas.microsoft.com/office/powerpoint/2010/main" val="1545622584"/>
              </p:ext>
            </p:extLst>
          </p:nvPr>
        </p:nvGraphicFramePr>
        <p:xfrm>
          <a:off x="452999" y="843756"/>
          <a:ext cx="9134882" cy="5935692"/>
        </p:xfrm>
        <a:graphic>
          <a:graphicData uri="http://schemas.openxmlformats.org/drawingml/2006/table">
            <a:tbl>
              <a:tblPr/>
              <a:tblGrid>
                <a:gridCol w="480970">
                  <a:extLst>
                    <a:ext uri="{9D8B030D-6E8A-4147-A177-3AD203B41FA5}">
                      <a16:colId xmlns:a16="http://schemas.microsoft.com/office/drawing/2014/main" val="3484704196"/>
                    </a:ext>
                  </a:extLst>
                </a:gridCol>
                <a:gridCol w="1138276">
                  <a:extLst>
                    <a:ext uri="{9D8B030D-6E8A-4147-A177-3AD203B41FA5}">
                      <a16:colId xmlns:a16="http://schemas.microsoft.com/office/drawing/2014/main" val="3863879091"/>
                    </a:ext>
                  </a:extLst>
                </a:gridCol>
                <a:gridCol w="6787512">
                  <a:extLst>
                    <a:ext uri="{9D8B030D-6E8A-4147-A177-3AD203B41FA5}">
                      <a16:colId xmlns:a16="http://schemas.microsoft.com/office/drawing/2014/main" val="99914978"/>
                    </a:ext>
                  </a:extLst>
                </a:gridCol>
                <a:gridCol w="728124">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err="1">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540000">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85725" marR="0" lvl="0" indent="3175"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r>
                        <a:rPr kumimoji="1" lang="en-US" altLang="ja-JP" sz="900" b="0" i="0" u="none" strike="noStrike" kern="1200">
                          <a:solidFill>
                            <a:srgbClr val="000000"/>
                          </a:solidFill>
                          <a:latin typeface="+mn-ea"/>
                          <a:ea typeface="+mn-ea"/>
                          <a:cs typeface="+mn-cs"/>
                        </a:rPr>
                        <a:t>(</a:t>
                      </a:r>
                      <a:r>
                        <a:rPr kumimoji="1" lang="ja-JP" altLang="en-US" sz="900" b="0" i="0" u="none" strike="noStrike" kern="1200">
                          <a:solidFill>
                            <a:srgbClr val="000000"/>
                          </a:solidFill>
                          <a:latin typeface="+mn-ea"/>
                          <a:ea typeface="+mn-ea"/>
                          <a:cs typeface="+mn-cs"/>
                        </a:rPr>
                        <a:t>続</a:t>
                      </a:r>
                      <a:r>
                        <a:rPr kumimoji="1" lang="en-US" altLang="ja-JP" sz="900" b="0" i="0" u="none" strike="noStrike" kern="1200">
                          <a:solidFill>
                            <a:srgbClr val="000000"/>
                          </a:solidFill>
                          <a:latin typeface="+mn-ea"/>
                          <a:ea typeface="+mn-ea"/>
                          <a:cs typeface="+mn-cs"/>
                        </a:rPr>
                        <a:t>)</a:t>
                      </a:r>
                    </a:p>
                    <a:p>
                      <a:pPr marL="0" marR="0" lvl="0" indent="3175"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b="1" i="0" u="sng" strike="noStrike" kern="1200">
                        <a:solidFill>
                          <a:srgbClr val="000000"/>
                        </a:solidFill>
                        <a:latin typeface="+mn-ea"/>
                        <a:ea typeface="+mn-ea"/>
                        <a:cs typeface="+mn-cs"/>
                      </a:endParaRPr>
                    </a:p>
                    <a:p>
                      <a:pPr marL="0" marR="0" lvl="0" indent="3175"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r>
                        <a:rPr kumimoji="1" lang="en-US" altLang="ja-JP" sz="900" b="1" i="0" u="sng" strike="noStrike" kern="1200">
                          <a:solidFill>
                            <a:srgbClr val="000000"/>
                          </a:solidFill>
                          <a:latin typeface="+mn-ea"/>
                          <a:ea typeface="+mn-ea"/>
                          <a:cs typeface="+mn-cs"/>
                        </a:rPr>
                        <a:t>4</a:t>
                      </a:r>
                      <a:r>
                        <a:rPr kumimoji="1" lang="ja-JP" altLang="en-US" sz="900" b="1" i="0" u="sng" strike="noStrike" kern="1200">
                          <a:solidFill>
                            <a:srgbClr val="000000"/>
                          </a:solidFill>
                          <a:latin typeface="+mn-ea"/>
                          <a:ea typeface="+mn-ea"/>
                          <a:cs typeface="+mn-cs"/>
                        </a:rPr>
                        <a:t>．</a:t>
                      </a:r>
                      <a:r>
                        <a:rPr kumimoji="1" lang="en-US" altLang="ja-JP" sz="900" b="1" i="0" u="sng" strike="noStrike" kern="1200">
                          <a:solidFill>
                            <a:srgbClr val="000000"/>
                          </a:solidFill>
                          <a:latin typeface="+mn-ea"/>
                          <a:ea typeface="+mn-ea"/>
                          <a:cs typeface="+mn-cs"/>
                        </a:rPr>
                        <a:t>ToDo</a:t>
                      </a:r>
                      <a:r>
                        <a:rPr kumimoji="1" lang="ja-JP" altLang="en-US" sz="900" b="1" i="0" u="sng" strike="noStrike" kern="1200">
                          <a:solidFill>
                            <a:srgbClr val="000000"/>
                          </a:solidFill>
                          <a:latin typeface="+mn-ea"/>
                          <a:ea typeface="+mn-ea"/>
                          <a:cs typeface="+mn-cs"/>
                        </a:rPr>
                        <a:t>のクローズ</a:t>
                      </a:r>
                      <a:endParaRPr kumimoji="1" lang="en-US" altLang="ja-JP" sz="900" b="1" i="0" u="sng" strike="noStrike" kern="120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#1221(</a:t>
                      </a:r>
                      <a:r>
                        <a:rPr lang="ja-JP" altLang="en-US" sz="900" b="0">
                          <a:latin typeface="+mn-ea"/>
                          <a:ea typeface="+mn-ea"/>
                        </a:rPr>
                        <a:t>令和</a:t>
                      </a:r>
                      <a:r>
                        <a:rPr lang="en-US" altLang="ja-JP" sz="900" b="0">
                          <a:latin typeface="+mn-ea"/>
                          <a:ea typeface="+mn-ea"/>
                        </a:rPr>
                        <a:t>9</a:t>
                      </a:r>
                      <a:r>
                        <a:rPr lang="ja-JP" altLang="en-US" sz="900" b="0">
                          <a:latin typeface="+mn-ea"/>
                          <a:ea typeface="+mn-ea"/>
                        </a:rPr>
                        <a:t>年度のプロファイル更新の取り込みについて、令和</a:t>
                      </a:r>
                      <a:r>
                        <a:rPr lang="en-US" altLang="ja-JP" sz="900" b="0">
                          <a:latin typeface="+mn-ea"/>
                          <a:ea typeface="+mn-ea"/>
                        </a:rPr>
                        <a:t>9</a:t>
                      </a:r>
                      <a:r>
                        <a:rPr lang="ja-JP" altLang="en-US" sz="900" b="0">
                          <a:latin typeface="+mn-ea"/>
                          <a:ea typeface="+mn-ea"/>
                        </a:rPr>
                        <a:t>年度案件として新規起票が必要か確認する。</a:t>
                      </a:r>
                      <a:r>
                        <a:rPr lang="en-US" altLang="ja-JP" sz="900" b="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#1223(</a:t>
                      </a:r>
                      <a:r>
                        <a:rPr lang="ja-JP" altLang="en-US" sz="900" b="0">
                          <a:latin typeface="+mn-ea"/>
                          <a:ea typeface="+mn-ea"/>
                        </a:rPr>
                        <a:t>令和</a:t>
                      </a:r>
                      <a:r>
                        <a:rPr lang="en-US" altLang="ja-JP" sz="900" b="0">
                          <a:latin typeface="+mn-ea"/>
                          <a:ea typeface="+mn-ea"/>
                        </a:rPr>
                        <a:t>9</a:t>
                      </a:r>
                      <a:r>
                        <a:rPr lang="ja-JP" altLang="en-US" sz="900" b="0">
                          <a:latin typeface="+mn-ea"/>
                          <a:ea typeface="+mn-ea"/>
                        </a:rPr>
                        <a:t>年度登録予定案件の要件および優先度を確認し、質問事項等があれば厚労省に連携する。</a:t>
                      </a:r>
                      <a:r>
                        <a:rPr lang="en-US" altLang="ja-JP" sz="900" b="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lang="en-US" altLang="ja-JP" sz="900" b="0">
                        <a:latin typeface="+mn-ea"/>
                        <a:ea typeface="+mn-ea"/>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5</a:t>
                      </a:r>
                      <a:r>
                        <a:rPr kumimoji="1" lang="ja-JP" altLang="en-US" sz="900" b="1" i="0" u="sng" strike="noStrike" kern="1200">
                          <a:solidFill>
                            <a:srgbClr val="000000"/>
                          </a:solidFill>
                          <a:latin typeface="+mn-ea"/>
                          <a:ea typeface="+mn-ea"/>
                          <a:cs typeface="+mn-cs"/>
                        </a:rPr>
                        <a:t>．</a:t>
                      </a:r>
                      <a:r>
                        <a:rPr kumimoji="1" lang="en-US" altLang="ja-JP" sz="900" b="1" i="0" u="sng" strike="noStrike" kern="1200">
                          <a:solidFill>
                            <a:srgbClr val="000000"/>
                          </a:solidFill>
                          <a:latin typeface="+mn-ea"/>
                          <a:ea typeface="+mn-ea"/>
                          <a:cs typeface="+mn-cs"/>
                        </a:rPr>
                        <a:t>ToDo</a:t>
                      </a:r>
                      <a:r>
                        <a:rPr kumimoji="1" lang="ja-JP" altLang="en-US" sz="900" b="1" i="0" u="sng" strike="noStrike" kern="1200">
                          <a:solidFill>
                            <a:srgbClr val="000000"/>
                          </a:solidFill>
                          <a:latin typeface="+mn-ea"/>
                          <a:ea typeface="+mn-ea"/>
                          <a:cs typeface="+mn-cs"/>
                        </a:rPr>
                        <a:t>の期限延伸</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下記</a:t>
                      </a:r>
                      <a:r>
                        <a:rPr kumimoji="1" lang="en-US" altLang="ja-JP" sz="900" b="0" i="0" u="none" strike="noStrike" kern="1200">
                          <a:solidFill>
                            <a:srgbClr val="000000"/>
                          </a:solidFill>
                          <a:latin typeface="+mn-ea"/>
                          <a:ea typeface="+mn-ea"/>
                          <a:cs typeface="+mn-cs"/>
                        </a:rPr>
                        <a:t>ToDo</a:t>
                      </a:r>
                      <a:r>
                        <a:rPr kumimoji="1" lang="ja-JP" altLang="en-US" sz="900" b="0" i="0" u="none" strike="noStrike" kern="1200">
                          <a:solidFill>
                            <a:srgbClr val="000000"/>
                          </a:solidFill>
                          <a:latin typeface="+mn-ea"/>
                          <a:ea typeface="+mn-ea"/>
                          <a:cs typeface="+mn-cs"/>
                        </a:rPr>
                        <a:t>の対応期限を延伸する。</a:t>
                      </a:r>
                      <a:r>
                        <a:rPr kumimoji="1" lang="en-US" altLang="ja-JP" sz="900" b="0" i="0" u="none" strike="noStrike" kern="1200">
                          <a:solidFill>
                            <a:srgbClr val="000000"/>
                          </a:solidFill>
                          <a:latin typeface="+mn-ea"/>
                          <a:ea typeface="+mn-ea"/>
                          <a:cs typeface="+mn-cs"/>
                        </a:rPr>
                        <a:t>(12</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endParaRPr kumimoji="1" lang="en-US" altLang="ja-JP" sz="900" kern="1200">
                        <a:solidFill>
                          <a:schemeClr val="tx1"/>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#1056(</a:t>
                      </a:r>
                      <a:r>
                        <a:rPr kumimoji="1" lang="ja-JP" altLang="en-US" sz="900" b="0" kern="1200">
                          <a:solidFill>
                            <a:srgbClr val="000000"/>
                          </a:solidFill>
                          <a:latin typeface="+mn-ea"/>
                          <a:ea typeface="+mn-ea"/>
                          <a:cs typeface="+mn-cs"/>
                        </a:rPr>
                        <a:t>電子カルテ情報共有サービスの利用を健診実施機関</a:t>
                      </a:r>
                      <a:r>
                        <a:rPr kumimoji="1" lang="en-US" altLang="ja-JP" sz="900" b="0" kern="1200">
                          <a:solidFill>
                            <a:srgbClr val="000000"/>
                          </a:solidFill>
                          <a:latin typeface="+mn-ea"/>
                          <a:ea typeface="+mn-ea"/>
                          <a:cs typeface="+mn-cs"/>
                        </a:rPr>
                        <a:t>(</a:t>
                      </a:r>
                      <a:r>
                        <a:rPr kumimoji="1" lang="ja-JP" altLang="en-US" sz="900" b="0" kern="1200">
                          <a:solidFill>
                            <a:srgbClr val="000000"/>
                          </a:solidFill>
                          <a:latin typeface="+mn-ea"/>
                          <a:ea typeface="+mn-ea"/>
                          <a:cs typeface="+mn-cs"/>
                        </a:rPr>
                        <a:t>単独</a:t>
                      </a:r>
                      <a:r>
                        <a:rPr kumimoji="1" lang="en-US" altLang="ja-JP" sz="900" b="0" kern="1200">
                          <a:solidFill>
                            <a:srgbClr val="000000"/>
                          </a:solidFill>
                          <a:latin typeface="+mn-ea"/>
                          <a:ea typeface="+mn-ea"/>
                          <a:cs typeface="+mn-cs"/>
                        </a:rPr>
                        <a:t>)</a:t>
                      </a:r>
                      <a:r>
                        <a:rPr kumimoji="1" lang="ja-JP" altLang="en-US" sz="900" b="0" kern="1200">
                          <a:solidFill>
                            <a:srgbClr val="000000"/>
                          </a:solidFill>
                          <a:latin typeface="+mn-ea"/>
                          <a:ea typeface="+mn-ea"/>
                          <a:cs typeface="+mn-cs"/>
                        </a:rPr>
                        <a:t>に拡大する検討において、「健診文書の登録」を行う上での業務要件を、業務フロー図、機能要件として機能一覧、外部</a:t>
                      </a:r>
                      <a:r>
                        <a:rPr kumimoji="1" lang="en-US" altLang="ja-JP" sz="900" b="0" kern="1200">
                          <a:solidFill>
                            <a:srgbClr val="000000"/>
                          </a:solidFill>
                          <a:latin typeface="+mn-ea"/>
                          <a:ea typeface="+mn-ea"/>
                          <a:cs typeface="+mn-cs"/>
                        </a:rPr>
                        <a:t>IF</a:t>
                      </a:r>
                      <a:r>
                        <a:rPr kumimoji="1" lang="ja-JP" altLang="en-US" sz="900" b="0" kern="1200">
                          <a:solidFill>
                            <a:srgbClr val="000000"/>
                          </a:solidFill>
                          <a:latin typeface="+mn-ea"/>
                          <a:ea typeface="+mn-ea"/>
                          <a:cs typeface="+mn-cs"/>
                        </a:rPr>
                        <a:t>一覧、システムフロー図を用いて整理し、整理結果をDX機構に連携する。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2026/9/30→2026/10/13</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10/13令和9</a:t>
                      </a:r>
                      <a:r>
                        <a:rPr kumimoji="1" lang="ja-JP" altLang="en-US" sz="900" b="0" kern="1200">
                          <a:solidFill>
                            <a:srgbClr val="000000"/>
                          </a:solidFill>
                          <a:latin typeface="+mn-ea"/>
                          <a:ea typeface="+mn-ea"/>
                          <a:cs typeface="+mn-cs"/>
                        </a:rPr>
                        <a:t>年度開発状況確認会にて、厚労省より連携予定のため。</a:t>
                      </a:r>
                      <a:endParaRPr kumimoji="1" lang="en-US" altLang="ja-JP" sz="900" b="1" i="0" u="sng" strike="noStrike" kern="1200">
                        <a:solidFill>
                          <a:srgbClr val="000000"/>
                        </a:solidFill>
                        <a:latin typeface="+mn-ea"/>
                        <a:ea typeface="+mn-ea"/>
                        <a:cs typeface="+mn-cs"/>
                      </a:endParaRPr>
                    </a:p>
                    <a:p>
                      <a:pPr marL="274320" marR="0" lvl="0" indent="-185420" algn="l" defTabSz="843930">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#1166(</a:t>
                      </a:r>
                      <a:r>
                        <a:rPr kumimoji="1" lang="ja-JP" altLang="en-US" sz="900" b="0" kern="1200">
                          <a:solidFill>
                            <a:srgbClr val="000000"/>
                          </a:solidFill>
                          <a:latin typeface="+mn-ea"/>
                          <a:ea typeface="+mn-ea"/>
                          <a:cs typeface="+mn-cs"/>
                        </a:rPr>
                        <a:t>電子カルテ情報共有サービスを利用して診療情報提供書を紹介先医療機関に送付する場合の口頭同意の取得方法について、運用マニュアルに反映する。 </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2026/9/30→2026/12/21</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DX</a:t>
                      </a:r>
                      <a:r>
                        <a:rPr kumimoji="1" lang="ja-JP" altLang="en-US" sz="900" b="0" kern="1200">
                          <a:solidFill>
                            <a:srgbClr val="000000"/>
                          </a:solidFill>
                          <a:latin typeface="+mn-ea"/>
                          <a:ea typeface="+mn-ea"/>
                          <a:cs typeface="+mn-cs"/>
                        </a:rPr>
                        <a:t>機構と厚労省で運用マニュアルや指針に関する会議を別途実施予定であり、当該会議の中で改めて対応を検討するため。</a:t>
                      </a:r>
                      <a:endParaRPr kumimoji="1" lang="ja-JP"/>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#1167(</a:t>
                      </a:r>
                      <a:r>
                        <a:rPr kumimoji="1" lang="ja-JP" altLang="en-US" sz="900" b="0" kern="1200">
                          <a:solidFill>
                            <a:srgbClr val="000000"/>
                          </a:solidFill>
                          <a:latin typeface="+mn-ea"/>
                          <a:ea typeface="+mn-ea"/>
                          <a:cs typeface="+mn-cs"/>
                        </a:rPr>
                        <a:t>医療従事者向け指針に、電子カルテ情報共有サービスを利用して診療情報提供書を送付する際、紙媒体ではなく電子的に紹介先医療機関へ送付されることを患者に説明する旨を記載する。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2026/9/30→2026/10/31</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当該修正については指針に盛り込む方針であるものの、診療情報提供書の送付時の同意について厚労省内で整理中であり、当該修正の記載内容が</a:t>
                      </a:r>
                      <a:r>
                        <a:rPr kumimoji="1" lang="en-US" altLang="ja-JP" sz="900" b="0" kern="1200">
                          <a:solidFill>
                            <a:srgbClr val="000000"/>
                          </a:solidFill>
                          <a:latin typeface="+mn-ea"/>
                          <a:ea typeface="+mn-ea"/>
                          <a:cs typeface="+mn-cs"/>
                        </a:rPr>
                        <a:t>FIX</a:t>
                      </a:r>
                      <a:r>
                        <a:rPr kumimoji="1" lang="ja-JP" altLang="en-US" sz="900" b="0" kern="1200">
                          <a:solidFill>
                            <a:srgbClr val="000000"/>
                          </a:solidFill>
                          <a:latin typeface="+mn-ea"/>
                          <a:ea typeface="+mn-ea"/>
                          <a:cs typeface="+mn-cs"/>
                        </a:rPr>
                        <a:t>していないため。</a:t>
                      </a:r>
                      <a:endParaRPr kumimoji="1" lang="en-US" altLang="ja-JP" sz="900" b="0" kern="120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#1194(</a:t>
                      </a:r>
                      <a:r>
                        <a:rPr kumimoji="1" lang="ja-JP" altLang="en-US" sz="900" b="0" kern="1200">
                          <a:solidFill>
                            <a:srgbClr val="000000"/>
                          </a:solidFill>
                          <a:latin typeface="+mn-ea"/>
                          <a:ea typeface="+mn-ea"/>
                          <a:cs typeface="+mn-cs"/>
                        </a:rPr>
                        <a:t>令和</a:t>
                      </a:r>
                      <a:r>
                        <a:rPr kumimoji="1" lang="en-US" altLang="ja-JP" sz="900" b="0" kern="1200">
                          <a:solidFill>
                            <a:srgbClr val="000000"/>
                          </a:solidFill>
                          <a:latin typeface="+mn-ea"/>
                          <a:ea typeface="+mn-ea"/>
                          <a:cs typeface="+mn-cs"/>
                        </a:rPr>
                        <a:t>9</a:t>
                      </a:r>
                      <a:r>
                        <a:rPr kumimoji="1" lang="ja-JP" altLang="en-US" sz="900" b="0" kern="1200">
                          <a:solidFill>
                            <a:srgbClr val="000000"/>
                          </a:solidFill>
                          <a:latin typeface="+mn-ea"/>
                          <a:ea typeface="+mn-ea"/>
                          <a:cs typeface="+mn-cs"/>
                        </a:rPr>
                        <a:t>年度の</a:t>
                      </a:r>
                      <a:r>
                        <a:rPr kumimoji="1" lang="en-US" altLang="ja-JP" sz="900" b="0" kern="1200">
                          <a:solidFill>
                            <a:srgbClr val="000000"/>
                          </a:solidFill>
                          <a:latin typeface="+mn-ea"/>
                          <a:ea typeface="+mn-ea"/>
                          <a:cs typeface="+mn-cs"/>
                        </a:rPr>
                        <a:t>JLAC</a:t>
                      </a:r>
                      <a:r>
                        <a:rPr kumimoji="1" lang="ja-JP" altLang="en-US" sz="900" b="0" kern="1200">
                          <a:solidFill>
                            <a:srgbClr val="000000"/>
                          </a:solidFill>
                          <a:latin typeface="+mn-ea"/>
                          <a:ea typeface="+mn-ea"/>
                          <a:cs typeface="+mn-cs"/>
                        </a:rPr>
                        <a:t>マスタ・薬剤関連マスタの新規契約について、電子カルテ情報共有サービスの開発費用から契約費用を充当し、DX機構で委託契約する方針で問題ないか、標準マスタの契約に関する過去の経緯も含めて厚労省からDX機構の榊原特任に説明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2026/9/30→2026/10/19</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厚労省にて、榊原特任への説明準備に時間を要しているため。</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#1196(</a:t>
                      </a:r>
                      <a:r>
                        <a:rPr kumimoji="1" lang="ja-JP" altLang="en-US" sz="900" b="0" kern="1200">
                          <a:solidFill>
                            <a:srgbClr val="000000"/>
                          </a:solidFill>
                          <a:latin typeface="+mn-ea"/>
                          <a:ea typeface="+mn-ea"/>
                          <a:cs typeface="+mn-cs"/>
                        </a:rPr>
                        <a:t>ポータルサイト一括申請に係る前提条件について、厚労省からの確認結果</a:t>
                      </a:r>
                      <a:r>
                        <a:rPr kumimoji="1" lang="en-US" altLang="ja-JP" sz="900" b="0" kern="1200">
                          <a:solidFill>
                            <a:srgbClr val="000000"/>
                          </a:solidFill>
                          <a:latin typeface="+mn-ea"/>
                          <a:ea typeface="+mn-ea"/>
                          <a:cs typeface="+mn-cs"/>
                        </a:rPr>
                        <a:t>(ToDo#1175)</a:t>
                      </a:r>
                      <a:r>
                        <a:rPr kumimoji="1" lang="ja-JP" altLang="en-US" sz="900" b="0" kern="1200">
                          <a:solidFill>
                            <a:srgbClr val="000000"/>
                          </a:solidFill>
                          <a:latin typeface="+mn-ea"/>
                          <a:ea typeface="+mn-ea"/>
                          <a:cs typeface="+mn-cs"/>
                        </a:rPr>
                        <a:t>を確認し、厚労省からの追加照会事項に回答する。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2026/10/5→2026/10/13</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厚労省からの更問で求められている電子処方箋の利用規約のポップアップ画面のイメージを</a:t>
                      </a:r>
                      <a:r>
                        <a:rPr kumimoji="1" lang="en-US" altLang="ja-JP" sz="900" b="0" kern="1200">
                          <a:solidFill>
                            <a:srgbClr val="000000"/>
                          </a:solidFill>
                          <a:latin typeface="+mn-ea"/>
                          <a:ea typeface="+mn-ea"/>
                          <a:cs typeface="+mn-cs"/>
                        </a:rPr>
                        <a:t>NTTD</a:t>
                      </a:r>
                      <a:r>
                        <a:rPr kumimoji="1" lang="ja-JP" altLang="en-US" sz="900" b="0" kern="1200">
                          <a:solidFill>
                            <a:srgbClr val="000000"/>
                          </a:solidFill>
                          <a:latin typeface="+mn-ea"/>
                          <a:ea typeface="+mn-ea"/>
                          <a:cs typeface="+mn-cs"/>
                        </a:rPr>
                        <a:t>で作成中のため。</a:t>
                      </a:r>
                      <a:endParaRPr kumimoji="1" lang="en-US" altLang="ja-JP" sz="900" b="0" kern="1200">
                        <a:solidFill>
                          <a:srgbClr val="000000"/>
                        </a:solidFill>
                        <a:latin typeface="+mn-ea"/>
                        <a:ea typeface="+mn-ea"/>
                        <a:cs typeface="+mn-cs"/>
                      </a:endParaRPr>
                    </a:p>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br>
                        <a:rPr kumimoji="1" lang="en-US" altLang="ja-JP" sz="900" b="1" i="0" u="sng" strike="noStrike" kern="1200">
                          <a:solidFill>
                            <a:srgbClr val="000000"/>
                          </a:solidFill>
                          <a:latin typeface="+mn-ea"/>
                          <a:ea typeface="+mn-ea"/>
                          <a:cs typeface="+mn-cs"/>
                        </a:rPr>
                      </a:br>
                      <a:r>
                        <a:rPr kumimoji="1" lang="en-US" altLang="ja-JP" sz="900" b="0" i="0" u="none" strike="noStrike" kern="1200">
                          <a:solidFill>
                            <a:srgbClr val="000000"/>
                          </a:solidFill>
                          <a:latin typeface="+mn-ea"/>
                          <a:ea typeface="+mn-ea"/>
                          <a:cs typeface="+mn-cs"/>
                        </a:rPr>
                        <a:t>(</a:t>
                      </a:r>
                      <a:r>
                        <a:rPr kumimoji="1" lang="ja-JP" altLang="en-US" sz="900" b="0" i="0" u="none" strike="noStrike" kern="1200">
                          <a:solidFill>
                            <a:srgbClr val="000000"/>
                          </a:solidFill>
                          <a:latin typeface="+mn-ea"/>
                          <a:ea typeface="+mn-ea"/>
                          <a:cs typeface="+mn-cs"/>
                        </a:rPr>
                        <a:t>続</a:t>
                      </a:r>
                      <a:r>
                        <a:rPr kumimoji="1" lang="en-US" altLang="ja-JP" sz="900" b="0" i="0" u="none" strike="noStrike" kern="1200">
                          <a:solidFill>
                            <a:srgbClr val="000000"/>
                          </a:solidFill>
                          <a:latin typeface="+mn-ea"/>
                          <a:ea typeface="+mn-ea"/>
                          <a:cs typeface="+mn-cs"/>
                        </a:rPr>
                        <a:t>)</a:t>
                      </a:r>
                      <a:endParaRPr kumimoji="1" lang="en-US" altLang="ja-JP" sz="900" b="0" i="0" u="none" strike="noStrike" kern="1200" noProof="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特になし。</a:t>
                      </a:r>
                      <a:endParaRPr lang="en-US" altLang="ja-JP" sz="900" b="0" i="0" u="none" strike="noStrike" kern="1200" noProof="0" dirty="0">
                        <a:solidFill>
                          <a:srgbClr val="000000"/>
                        </a:solidFill>
                        <a:latin typeface="+mn-ea"/>
                        <a:ea typeface="+mn-ea"/>
                        <a:cs typeface="Arial"/>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0C3137E1-437D-9D83-02E7-F3A849DE45CA}"/>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)(3/6)</a:t>
            </a:r>
            <a:endParaRPr lang="ja-JP" altLang="en-US" sz="2000">
              <a:solidFill>
                <a:schemeClr val="tx2">
                  <a:lumMod val="75000"/>
                </a:schemeClr>
              </a:solidFill>
            </a:endParaRPr>
          </a:p>
        </p:txBody>
      </p:sp>
    </p:spTree>
    <p:extLst>
      <p:ext uri="{BB962C8B-B14F-4D97-AF65-F5344CB8AC3E}">
        <p14:creationId xmlns:p14="http://schemas.microsoft.com/office/powerpoint/2010/main" val="4032457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77F59-6656-3178-6396-8092B08D3BCA}"/>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E89AFD92-EE63-1BCD-9866-A8CF707ED9FC}"/>
              </a:ext>
            </a:extLst>
          </p:cNvPr>
          <p:cNvGraphicFramePr>
            <a:graphicFrameLocks noGrp="1"/>
          </p:cNvGraphicFramePr>
          <p:nvPr>
            <p:extLst>
              <p:ext uri="{D42A27DB-BD31-4B8C-83A1-F6EECF244321}">
                <p14:modId xmlns:p14="http://schemas.microsoft.com/office/powerpoint/2010/main" val="555289514"/>
              </p:ext>
            </p:extLst>
          </p:nvPr>
        </p:nvGraphicFramePr>
        <p:xfrm>
          <a:off x="301083" y="843756"/>
          <a:ext cx="9333570" cy="5551644"/>
        </p:xfrm>
        <a:graphic>
          <a:graphicData uri="http://schemas.openxmlformats.org/drawingml/2006/table">
            <a:tbl>
              <a:tblPr/>
              <a:tblGrid>
                <a:gridCol w="491430">
                  <a:extLst>
                    <a:ext uri="{9D8B030D-6E8A-4147-A177-3AD203B41FA5}">
                      <a16:colId xmlns:a16="http://schemas.microsoft.com/office/drawing/2014/main" val="3484704196"/>
                    </a:ext>
                  </a:extLst>
                </a:gridCol>
                <a:gridCol w="1163034">
                  <a:extLst>
                    <a:ext uri="{9D8B030D-6E8A-4147-A177-3AD203B41FA5}">
                      <a16:colId xmlns:a16="http://schemas.microsoft.com/office/drawing/2014/main" val="3863879091"/>
                    </a:ext>
                  </a:extLst>
                </a:gridCol>
                <a:gridCol w="6815591">
                  <a:extLst>
                    <a:ext uri="{9D8B030D-6E8A-4147-A177-3AD203B41FA5}">
                      <a16:colId xmlns:a16="http://schemas.microsoft.com/office/drawing/2014/main" val="99914978"/>
                    </a:ext>
                  </a:extLst>
                </a:gridCol>
                <a:gridCol w="863515">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err="1">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690479">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続</a:t>
                      </a:r>
                      <a:r>
                        <a:rPr kumimoji="1" lang="en-US" altLang="ja-JP" sz="900" kern="1200">
                          <a:solidFill>
                            <a:schemeClr val="tx1"/>
                          </a:solidFill>
                          <a:latin typeface="+mn-ea"/>
                          <a:ea typeface="+mn-ea"/>
                          <a:cs typeface="+mn-cs"/>
                        </a:rPr>
                        <a:t>)</a:t>
                      </a: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endParaRPr kumimoji="1" lang="en-US" altLang="ja-JP" sz="900" kern="1200">
                        <a:solidFill>
                          <a:schemeClr val="tx1"/>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5</a:t>
                      </a:r>
                      <a:r>
                        <a:rPr kumimoji="1" lang="ja-JP" altLang="en-US" sz="900" b="1" i="0" u="sng" strike="noStrike" kern="1200">
                          <a:solidFill>
                            <a:srgbClr val="000000"/>
                          </a:solidFill>
                          <a:latin typeface="+mn-ea"/>
                          <a:ea typeface="+mn-ea"/>
                          <a:cs typeface="+mn-cs"/>
                        </a:rPr>
                        <a:t>．</a:t>
                      </a:r>
                      <a:r>
                        <a:rPr kumimoji="1" lang="en-US" altLang="ja-JP" sz="900" b="1" i="0" u="sng" strike="noStrike" kern="1200">
                          <a:solidFill>
                            <a:srgbClr val="000000"/>
                          </a:solidFill>
                          <a:latin typeface="+mn-ea"/>
                          <a:ea typeface="+mn-ea"/>
                          <a:cs typeface="+mn-cs"/>
                        </a:rPr>
                        <a:t>ToDo</a:t>
                      </a:r>
                      <a:r>
                        <a:rPr kumimoji="1" lang="ja-JP" altLang="en-US" sz="900" b="1" i="0" u="sng" strike="noStrike" kern="1200">
                          <a:solidFill>
                            <a:srgbClr val="000000"/>
                          </a:solidFill>
                          <a:latin typeface="+mn-ea"/>
                          <a:ea typeface="+mn-ea"/>
                          <a:cs typeface="+mn-cs"/>
                        </a:rPr>
                        <a:t>の期限延伸</a:t>
                      </a:r>
                      <a:endParaRPr kumimoji="1" lang="en-US" altLang="ja-JP" sz="900" b="1" i="0" u="sng" strike="noStrike" kern="120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#1210(BI</a:t>
                      </a:r>
                      <a:r>
                        <a:rPr lang="ja-JP" altLang="en-US" sz="900" b="0">
                          <a:latin typeface="+mn-ea"/>
                          <a:ea typeface="+mn-ea"/>
                        </a:rPr>
                        <a:t>ツール活用に係る案件を起票し、厚労省へ説明する。</a:t>
                      </a:r>
                      <a:r>
                        <a:rPr lang="en-US" altLang="ja-JP" sz="900" b="0">
                          <a:latin typeface="+mn-ea"/>
                          <a:ea typeface="+mn-ea"/>
                        </a:rPr>
                        <a:t>)</a:t>
                      </a:r>
                      <a:br>
                        <a:rPr lang="en-US" altLang="ja-JP" sz="900" b="0">
                          <a:latin typeface="+mn-ea"/>
                          <a:ea typeface="+mn-ea"/>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2026/10/5→2026/10/13</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開発事業者にインプットのデータとなる既存データをどこまで反映できるかを確認するため。</a:t>
                      </a:r>
                      <a:endParaRPr lang="en-US" altLang="ja-JP" sz="900" b="0">
                        <a:latin typeface="+mn-ea"/>
                        <a:ea typeface="+mn-ea"/>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#1211(BI</a:t>
                      </a:r>
                      <a:r>
                        <a:rPr lang="ja-JP" altLang="en-US" sz="900" b="0">
                          <a:latin typeface="+mn-ea"/>
                          <a:ea typeface="+mn-ea"/>
                        </a:rPr>
                        <a:t>ツール活用に係る案件を起票するにあたり、開発事業者とDX機構にて調整したデータ連携スコープについて厚労省へ説明する。</a:t>
                      </a:r>
                      <a:r>
                        <a:rPr lang="en-US" altLang="ja-JP" sz="900" b="0">
                          <a:latin typeface="+mn-ea"/>
                          <a:ea typeface="+mn-ea"/>
                        </a:rPr>
                        <a:t>)</a:t>
                      </a:r>
                      <a:br>
                        <a:rPr lang="en-US" altLang="ja-JP" sz="900" b="0">
                          <a:latin typeface="+mn-ea"/>
                          <a:ea typeface="+mn-ea"/>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2026/10/5→2026/10/13</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開発事業者にインプットのデータとなる既存データをどこまで反映できるかを確認するため。</a:t>
                      </a:r>
                      <a:endParaRPr kumimoji="1" lang="en-US" altLang="ja-JP" sz="900" b="0" kern="120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#1213(</a:t>
                      </a:r>
                      <a:r>
                        <a:rPr kumimoji="1" lang="ja-JP" altLang="en-US" sz="900" b="0" kern="1200">
                          <a:solidFill>
                            <a:srgbClr val="000000"/>
                          </a:solidFill>
                          <a:latin typeface="+mn-ea"/>
                          <a:ea typeface="+mn-ea"/>
                          <a:cs typeface="+mn-cs"/>
                        </a:rPr>
                        <a:t>「②ステークホルダーへのデータ共有」について、厚労省職員の端末で</a:t>
                      </a:r>
                      <a:r>
                        <a:rPr kumimoji="1" lang="en-US" altLang="ja-JP" sz="900" b="0" kern="1200">
                          <a:solidFill>
                            <a:srgbClr val="000000"/>
                          </a:solidFill>
                          <a:latin typeface="+mn-ea"/>
                          <a:ea typeface="+mn-ea"/>
                          <a:cs typeface="+mn-cs"/>
                        </a:rPr>
                        <a:t>BI</a:t>
                      </a:r>
                      <a:r>
                        <a:rPr kumimoji="1" lang="ja-JP" altLang="en-US" sz="900" b="0" kern="1200">
                          <a:solidFill>
                            <a:srgbClr val="000000"/>
                          </a:solidFill>
                          <a:latin typeface="+mn-ea"/>
                          <a:ea typeface="+mn-ea"/>
                          <a:cs typeface="+mn-cs"/>
                        </a:rPr>
                        <a:t>ツールへアクセスする際のネットワーク形式を確認し、結果をDX機構に連携する。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2026/10/5→2026/10/13</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厚労省内での確認作業(</a:t>
                      </a:r>
                      <a:r>
                        <a:rPr kumimoji="1" lang="en-US" altLang="ja-JP" sz="900" b="0" kern="1200">
                          <a:solidFill>
                            <a:srgbClr val="000000"/>
                          </a:solidFill>
                          <a:latin typeface="+mn-ea"/>
                          <a:ea typeface="+mn-ea"/>
                          <a:cs typeface="+mn-cs"/>
                        </a:rPr>
                        <a:t>DX</a:t>
                      </a:r>
                      <a:r>
                        <a:rPr kumimoji="1" lang="ja-JP" altLang="en-US" sz="900" b="0" kern="1200">
                          <a:solidFill>
                            <a:srgbClr val="000000"/>
                          </a:solidFill>
                          <a:latin typeface="+mn-ea"/>
                          <a:ea typeface="+mn-ea"/>
                          <a:cs typeface="+mn-cs"/>
                        </a:rPr>
                        <a:t>機構への更問含む)に時間を要しているため。</a:t>
                      </a:r>
                      <a:endParaRPr lang="en-US" altLang="ja-JP" sz="900" b="0">
                        <a:latin typeface="+mn-ea"/>
                        <a:ea typeface="+mn-ea"/>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#1215(</a:t>
                      </a:r>
                      <a:r>
                        <a:rPr lang="ja-JP" altLang="en-US" sz="900" b="0">
                          <a:latin typeface="+mn-ea"/>
                          <a:ea typeface="+mn-ea"/>
                        </a:rPr>
                        <a:t>受入テストシナリオの厚労省レビュー時に、DX機構より厚労省に対して当該シナリオに関する説明の可否を確認し、結果を厚労省へ連携する。</a:t>
                      </a:r>
                      <a:r>
                        <a:rPr lang="en-US" altLang="ja-JP" sz="900" b="0">
                          <a:latin typeface="+mn-ea"/>
                          <a:ea typeface="+mn-ea"/>
                        </a:rPr>
                        <a:t>)</a:t>
                      </a:r>
                      <a:br>
                        <a:rPr lang="en-US" altLang="ja-JP" sz="900" b="0">
                          <a:latin typeface="+mn-ea"/>
                          <a:ea typeface="+mn-ea"/>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2026/10/5→2026/10/13</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各シナリオ担当者が背景説明を行うためのスケジュールを調整できるか、</a:t>
                      </a:r>
                      <a:r>
                        <a:rPr kumimoji="1" lang="en-US" altLang="ja-JP" sz="900" b="0" kern="1200">
                          <a:solidFill>
                            <a:srgbClr val="000000"/>
                          </a:solidFill>
                          <a:latin typeface="+mn-ea"/>
                          <a:ea typeface="+mn-ea"/>
                          <a:cs typeface="+mn-cs"/>
                        </a:rPr>
                        <a:t>DX</a:t>
                      </a:r>
                      <a:r>
                        <a:rPr kumimoji="1" lang="ja-JP" altLang="en-US" sz="900" b="0" kern="1200">
                          <a:solidFill>
                            <a:srgbClr val="000000"/>
                          </a:solidFill>
                          <a:latin typeface="+mn-ea"/>
                          <a:ea typeface="+mn-ea"/>
                          <a:cs typeface="+mn-cs"/>
                        </a:rPr>
                        <a:t>機構内で確認・調整するため。</a:t>
                      </a:r>
                      <a:endParaRPr kumimoji="1" lang="en-US" altLang="ja-JP" sz="900" b="0" kern="120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#1217(</a:t>
                      </a:r>
                      <a:r>
                        <a:rPr kumimoji="1" lang="ja-JP" altLang="en-US" sz="900" b="0" kern="1200">
                          <a:solidFill>
                            <a:srgbClr val="000000"/>
                          </a:solidFill>
                          <a:latin typeface="+mn-ea"/>
                          <a:ea typeface="+mn-ea"/>
                          <a:cs typeface="+mn-cs"/>
                        </a:rPr>
                        <a:t>患者サマリーの運用整理に関する問い合わせ結果について書面にて確認し、確認結果を厚労省へ共有する。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2026/10/5→2026/10/13</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DX</a:t>
                      </a:r>
                      <a:r>
                        <a:rPr kumimoji="1" lang="ja-JP" altLang="en-US" sz="900" b="0" kern="1200">
                          <a:solidFill>
                            <a:srgbClr val="000000"/>
                          </a:solidFill>
                          <a:latin typeface="+mn-ea"/>
                          <a:ea typeface="+mn-ea"/>
                          <a:cs typeface="+mn-cs"/>
                        </a:rPr>
                        <a:t>機構内で確認中のため。</a:t>
                      </a:r>
                      <a:endParaRPr kumimoji="1" lang="en-US" altLang="ja-JP" sz="900" b="0" kern="120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#1218(</a:t>
                      </a:r>
                      <a:r>
                        <a:rPr kumimoji="1" lang="ja-JP" altLang="en-US" sz="900" b="0" kern="1200">
                          <a:solidFill>
                            <a:srgbClr val="000000"/>
                          </a:solidFill>
                          <a:latin typeface="+mn-ea"/>
                          <a:ea typeface="+mn-ea"/>
                          <a:cs typeface="+mn-cs"/>
                        </a:rPr>
                        <a:t>標準マスタにおいて </a:t>
                      </a:r>
                      <a:r>
                        <a:rPr kumimoji="1" lang="en-US" altLang="ja-JP" sz="900" b="0" kern="1200">
                          <a:solidFill>
                            <a:srgbClr val="000000"/>
                          </a:solidFill>
                          <a:latin typeface="+mn-ea"/>
                          <a:ea typeface="+mn-ea"/>
                          <a:cs typeface="+mn-cs"/>
                        </a:rPr>
                        <a:t>1</a:t>
                      </a:r>
                      <a:r>
                        <a:rPr kumimoji="1" lang="ja-JP" altLang="en-US" sz="900" b="0" kern="1200">
                          <a:solidFill>
                            <a:srgbClr val="000000"/>
                          </a:solidFill>
                          <a:latin typeface="+mn-ea"/>
                          <a:ea typeface="+mn-ea"/>
                          <a:cs typeface="+mn-cs"/>
                        </a:rPr>
                        <a:t>つの</a:t>
                      </a:r>
                      <a:r>
                        <a:rPr kumimoji="1" lang="en-US" altLang="ja-JP" sz="900" b="0" kern="1200">
                          <a:solidFill>
                            <a:srgbClr val="000000"/>
                          </a:solidFill>
                          <a:latin typeface="+mn-ea"/>
                          <a:ea typeface="+mn-ea"/>
                          <a:cs typeface="+mn-cs"/>
                        </a:rPr>
                        <a:t>code</a:t>
                      </a:r>
                      <a:r>
                        <a:rPr kumimoji="1" lang="ja-JP" altLang="en-US" sz="900" b="0" kern="1200">
                          <a:solidFill>
                            <a:srgbClr val="000000"/>
                          </a:solidFill>
                          <a:latin typeface="+mn-ea"/>
                          <a:ea typeface="+mn-ea"/>
                          <a:cs typeface="+mn-cs"/>
                        </a:rPr>
                        <a:t>に対する</a:t>
                      </a:r>
                      <a:r>
                        <a:rPr kumimoji="1" lang="en-US" altLang="ja-JP" sz="900" b="0" kern="1200">
                          <a:solidFill>
                            <a:srgbClr val="000000"/>
                          </a:solidFill>
                          <a:latin typeface="+mn-ea"/>
                          <a:ea typeface="+mn-ea"/>
                          <a:cs typeface="+mn-cs"/>
                        </a:rPr>
                        <a:t>display</a:t>
                      </a:r>
                      <a:r>
                        <a:rPr kumimoji="1" lang="ja-JP" altLang="en-US" sz="900" b="0" kern="1200">
                          <a:solidFill>
                            <a:srgbClr val="000000"/>
                          </a:solidFill>
                          <a:latin typeface="+mn-ea"/>
                          <a:ea typeface="+mn-ea"/>
                          <a:cs typeface="+mn-cs"/>
                        </a:rPr>
                        <a:t>値の変更によるエラーの恒久対応の運用フローの運用フロー案について、DX機構として担当できる運用範囲や、厚労省から管理団体への調整が必要な事項を確認し、確認結果を厚労省へ連携する。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2026/10/5→2026/10/31</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DX</a:t>
                      </a:r>
                      <a:r>
                        <a:rPr kumimoji="1" lang="ja-JP" altLang="en-US" sz="900" b="0" kern="1200">
                          <a:solidFill>
                            <a:srgbClr val="000000"/>
                          </a:solidFill>
                          <a:latin typeface="+mn-ea"/>
                          <a:ea typeface="+mn-ea"/>
                          <a:cs typeface="+mn-cs"/>
                        </a:rPr>
                        <a:t>機構内で確認中のため。</a:t>
                      </a:r>
                      <a:endParaRPr kumimoji="1" lang="en-US" altLang="ja-JP" sz="900" b="0" kern="1200">
                        <a:solidFill>
                          <a:srgbClr val="000000"/>
                        </a:solidFill>
                        <a:latin typeface="+mn-ea"/>
                        <a:ea typeface="+mn-ea"/>
                        <a:cs typeface="+mn-cs"/>
                      </a:endParaRPr>
                    </a:p>
                    <a:p>
                      <a:pPr marL="8890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b="0" kern="1200">
                        <a:solidFill>
                          <a:srgbClr val="000000"/>
                        </a:solidFill>
                        <a:latin typeface="+mn-ea"/>
                        <a:ea typeface="+mn-ea"/>
                        <a:cs typeface="+mn-cs"/>
                      </a:endParaRPr>
                    </a:p>
                    <a:p>
                      <a:pPr marL="8890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r>
                        <a:rPr kumimoji="1" lang="en-US" altLang="ja-JP" sz="900" b="0" kern="1200">
                          <a:solidFill>
                            <a:srgbClr val="000000"/>
                          </a:solidFill>
                          <a:latin typeface="+mn-ea"/>
                          <a:ea typeface="+mn-ea"/>
                          <a:cs typeface="+mn-cs"/>
                        </a:rPr>
                        <a:t>(</a:t>
                      </a:r>
                      <a:r>
                        <a:rPr kumimoji="1" lang="ja-JP" altLang="en-US" sz="900" b="0" kern="1200">
                          <a:solidFill>
                            <a:srgbClr val="000000"/>
                          </a:solidFill>
                          <a:latin typeface="+mn-ea"/>
                          <a:ea typeface="+mn-ea"/>
                          <a:cs typeface="+mn-cs"/>
                        </a:rPr>
                        <a:t>続</a:t>
                      </a:r>
                      <a:r>
                        <a:rPr kumimoji="1" lang="en-US" altLang="ja-JP" sz="900" b="0" kern="1200">
                          <a:solidFill>
                            <a:srgbClr val="000000"/>
                          </a:solidFill>
                          <a:latin typeface="+mn-ea"/>
                          <a:ea typeface="+mn-ea"/>
                          <a:cs typeface="+mn-cs"/>
                        </a:rPr>
                        <a:t>)</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dirty="0">
                          <a:solidFill>
                            <a:srgbClr val="000000"/>
                          </a:solidFill>
                          <a:latin typeface="+mn-ea"/>
                          <a:ea typeface="+mn-ea"/>
                          <a:cs typeface="Arial"/>
                        </a:rPr>
                        <a:t>特になし。</a:t>
                      </a:r>
                      <a:endParaRPr lang="en-US" altLang="ja-JP" sz="900" b="0" i="0" u="none" strike="noStrike" kern="1200" noProof="0" dirty="0">
                        <a:solidFill>
                          <a:srgbClr val="000000"/>
                        </a:solidFill>
                        <a:latin typeface="+mn-ea"/>
                        <a:ea typeface="+mn-ea"/>
                        <a:cs typeface="Arial"/>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FCFD0412-D475-BC0E-A9A2-74EAB62209DE}"/>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)(4/6)</a:t>
            </a:r>
            <a:endParaRPr lang="ja-JP" altLang="en-US" sz="2000">
              <a:solidFill>
                <a:schemeClr val="tx2">
                  <a:lumMod val="75000"/>
                </a:schemeClr>
              </a:solidFill>
            </a:endParaRPr>
          </a:p>
        </p:txBody>
      </p:sp>
    </p:spTree>
    <p:extLst>
      <p:ext uri="{BB962C8B-B14F-4D97-AF65-F5344CB8AC3E}">
        <p14:creationId xmlns:p14="http://schemas.microsoft.com/office/powerpoint/2010/main" val="1416627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1C690-BD71-7344-35A4-4FE45A580ACA}"/>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FE6FC4AD-C612-6F05-DD9C-43AF588090F1}"/>
              </a:ext>
            </a:extLst>
          </p:cNvPr>
          <p:cNvGraphicFramePr>
            <a:graphicFrameLocks noGrp="1"/>
          </p:cNvGraphicFramePr>
          <p:nvPr>
            <p:extLst>
              <p:ext uri="{D42A27DB-BD31-4B8C-83A1-F6EECF244321}">
                <p14:modId xmlns:p14="http://schemas.microsoft.com/office/powerpoint/2010/main" val="2835805753"/>
              </p:ext>
            </p:extLst>
          </p:nvPr>
        </p:nvGraphicFramePr>
        <p:xfrm>
          <a:off x="301083" y="843756"/>
          <a:ext cx="9333572" cy="5916756"/>
        </p:xfrm>
        <a:graphic>
          <a:graphicData uri="http://schemas.openxmlformats.org/drawingml/2006/table">
            <a:tbl>
              <a:tblPr/>
              <a:tblGrid>
                <a:gridCol w="491431">
                  <a:extLst>
                    <a:ext uri="{9D8B030D-6E8A-4147-A177-3AD203B41FA5}">
                      <a16:colId xmlns:a16="http://schemas.microsoft.com/office/drawing/2014/main" val="3484704196"/>
                    </a:ext>
                  </a:extLst>
                </a:gridCol>
                <a:gridCol w="1163034">
                  <a:extLst>
                    <a:ext uri="{9D8B030D-6E8A-4147-A177-3AD203B41FA5}">
                      <a16:colId xmlns:a16="http://schemas.microsoft.com/office/drawing/2014/main" val="3863879091"/>
                    </a:ext>
                  </a:extLst>
                </a:gridCol>
                <a:gridCol w="4986790">
                  <a:extLst>
                    <a:ext uri="{9D8B030D-6E8A-4147-A177-3AD203B41FA5}">
                      <a16:colId xmlns:a16="http://schemas.microsoft.com/office/drawing/2014/main" val="99914978"/>
                    </a:ext>
                  </a:extLst>
                </a:gridCol>
                <a:gridCol w="2692317">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690479">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続</a:t>
                      </a:r>
                      <a:r>
                        <a:rPr kumimoji="1" lang="en-US" altLang="ja-JP" sz="900" kern="1200">
                          <a:solidFill>
                            <a:schemeClr val="tx1"/>
                          </a:solidFill>
                          <a:latin typeface="+mn-ea"/>
                          <a:ea typeface="+mn-ea"/>
                          <a:cs typeface="+mn-cs"/>
                        </a:rPr>
                        <a:t>)</a:t>
                      </a: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endParaRPr kumimoji="1" lang="en-US" altLang="ja-JP" sz="900" kern="1200">
                        <a:solidFill>
                          <a:schemeClr val="tx1"/>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5</a:t>
                      </a:r>
                      <a:r>
                        <a:rPr kumimoji="1" lang="ja-JP" altLang="en-US" sz="900" b="1" i="0" u="sng" strike="noStrike" kern="1200">
                          <a:solidFill>
                            <a:srgbClr val="000000"/>
                          </a:solidFill>
                          <a:latin typeface="+mn-ea"/>
                          <a:ea typeface="+mn-ea"/>
                          <a:cs typeface="+mn-cs"/>
                        </a:rPr>
                        <a:t>．</a:t>
                      </a:r>
                      <a:r>
                        <a:rPr kumimoji="1" lang="en-US" altLang="ja-JP" sz="900" b="1" i="0" u="sng" strike="noStrike" kern="1200">
                          <a:solidFill>
                            <a:srgbClr val="000000"/>
                          </a:solidFill>
                          <a:latin typeface="+mn-ea"/>
                          <a:ea typeface="+mn-ea"/>
                          <a:cs typeface="+mn-cs"/>
                        </a:rPr>
                        <a:t>ToDo</a:t>
                      </a:r>
                      <a:r>
                        <a:rPr kumimoji="1" lang="ja-JP" altLang="en-US" sz="900" b="1" i="0" u="sng" strike="noStrike" kern="1200">
                          <a:solidFill>
                            <a:srgbClr val="000000"/>
                          </a:solidFill>
                          <a:latin typeface="+mn-ea"/>
                          <a:ea typeface="+mn-ea"/>
                          <a:cs typeface="+mn-cs"/>
                        </a:rPr>
                        <a:t>の期限延伸</a:t>
                      </a:r>
                      <a:endParaRPr kumimoji="1" lang="en-US" altLang="ja-JP" sz="900" kern="1200">
                        <a:solidFill>
                          <a:schemeClr val="tx1"/>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i="0" u="none" strike="noStrike" kern="1200" cap="none" spc="0" normalizeH="0" baseline="0" noProof="0">
                          <a:ln>
                            <a:noFill/>
                          </a:ln>
                          <a:solidFill>
                            <a:srgbClr val="000000"/>
                          </a:solidFill>
                          <a:effectLst/>
                          <a:uLnTx/>
                          <a:uFillTx/>
                          <a:latin typeface="Meiryo UI"/>
                          <a:ea typeface="+mn-ea"/>
                          <a:cs typeface="+mn-cs"/>
                        </a:rPr>
                        <a:t>#1222(</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厚労省より提示いただいた令和</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9</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年度のプロファイル更新の取り込みスケジュールのドラフト版について、開発事業者と認識合わせを行い、確認結果を厚労省に連携する。</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a:t>
                      </a:r>
                      <a:br>
                        <a:rPr kumimoji="1" lang="en-US" altLang="ja-JP" sz="900" b="0" i="0" u="none" strike="noStrike" kern="1200" cap="none" spc="0" normalizeH="0" baseline="0" noProof="0">
                          <a:ln>
                            <a:noFill/>
                          </a:ln>
                          <a:solidFill>
                            <a:srgbClr val="000000"/>
                          </a:solidFill>
                          <a:effectLst/>
                          <a:uLnTx/>
                          <a:uFillTx/>
                          <a:latin typeface="Meiryo UI"/>
                          <a:ea typeface="+mn-ea"/>
                          <a:cs typeface="+mn-cs"/>
                        </a:rPr>
                      </a:br>
                      <a:r>
                        <a:rPr kumimoji="1" lang="ja-JP" altLang="en-US" sz="900" b="0" i="0" u="none" strike="noStrike" kern="1200" cap="none" spc="0" normalizeH="0" baseline="0" noProof="0">
                          <a:ln>
                            <a:noFill/>
                          </a:ln>
                          <a:solidFill>
                            <a:srgbClr val="000000"/>
                          </a:solidFill>
                          <a:effectLst/>
                          <a:uLnTx/>
                          <a:uFillTx/>
                          <a:latin typeface="Meiryo UI"/>
                          <a:ea typeface="+mn-ea"/>
                          <a:cs typeface="+mn-cs"/>
                        </a:rPr>
                        <a:t>■延伸期限</a:t>
                      </a:r>
                      <a:br>
                        <a:rPr kumimoji="1" lang="en-US" altLang="ja-JP" sz="900" b="0" i="0" u="none" strike="noStrike" kern="1200" cap="none" spc="0" normalizeH="0" baseline="0" noProof="0">
                          <a:ln>
                            <a:noFill/>
                          </a:ln>
                          <a:solidFill>
                            <a:srgbClr val="000000"/>
                          </a:solidFill>
                          <a:effectLst/>
                          <a:uLnTx/>
                          <a:uFillTx/>
                          <a:latin typeface="Meiryo UI"/>
                          <a:ea typeface="+mn-ea"/>
                          <a:cs typeface="+mn-cs"/>
                        </a:rPr>
                      </a:br>
                      <a:r>
                        <a:rPr kumimoji="1" lang="en-US" altLang="ja-JP" sz="900" b="0" i="0" u="none" strike="noStrike" kern="1200" cap="none" spc="0" normalizeH="0" baseline="0" noProof="0">
                          <a:ln>
                            <a:noFill/>
                          </a:ln>
                          <a:solidFill>
                            <a:prstClr val="black"/>
                          </a:solidFill>
                          <a:effectLst/>
                          <a:uLnTx/>
                          <a:uFillTx/>
                          <a:latin typeface="Meiryo UI"/>
                          <a:ea typeface="+mn-ea"/>
                          <a:cs typeface="+mn-cs"/>
                        </a:rPr>
                        <a:t>2026/10/5→2026/10/13</a:t>
                      </a:r>
                      <a:br>
                        <a:rPr kumimoji="1" lang="en-US" altLang="ja-JP" sz="900" b="0" i="0" u="none" strike="noStrike" kern="1200" cap="none" spc="0" normalizeH="0" baseline="0" noProof="0">
                          <a:ln>
                            <a:noFill/>
                          </a:ln>
                          <a:solidFill>
                            <a:srgbClr val="000000"/>
                          </a:solidFill>
                          <a:effectLst/>
                          <a:uLnTx/>
                          <a:uFillTx/>
                          <a:latin typeface="Meiryo UI"/>
                          <a:ea typeface="+mn-ea"/>
                          <a:cs typeface="+mn-cs"/>
                        </a:rPr>
                      </a:br>
                      <a:r>
                        <a:rPr kumimoji="1" lang="en-US" altLang="ja-JP" sz="900" b="0" i="0" u="none" strike="noStrike" kern="1200" cap="none" spc="0" normalizeH="0" baseline="0" noProof="0">
                          <a:ln>
                            <a:noFill/>
                          </a:ln>
                          <a:solidFill>
                            <a:prstClr val="black"/>
                          </a:solidFill>
                          <a:effectLst/>
                          <a:uLnTx/>
                          <a:uFillTx/>
                          <a:latin typeface="Meiryo UI"/>
                          <a:ea typeface="+mn-ea"/>
                          <a:cs typeface="+mn-cs"/>
                        </a:rPr>
                        <a:t>■</a:t>
                      </a:r>
                      <a:r>
                        <a:rPr kumimoji="1" lang="ja-JP" altLang="en-US" sz="900" b="0" i="0" u="none" strike="noStrike" kern="1200" cap="none" spc="0" normalizeH="0" baseline="0" noProof="0">
                          <a:ln>
                            <a:noFill/>
                          </a:ln>
                          <a:solidFill>
                            <a:prstClr val="black"/>
                          </a:solidFill>
                          <a:effectLst/>
                          <a:uLnTx/>
                          <a:uFillTx/>
                          <a:latin typeface="Meiryo UI"/>
                          <a:ea typeface="+mn-ea"/>
                          <a:cs typeface="+mn-cs"/>
                        </a:rPr>
                        <a:t>期限延伸の背景</a:t>
                      </a:r>
                      <a:br>
                        <a:rPr kumimoji="1" lang="en-US" altLang="ja-JP" sz="900" b="0" i="0" u="none" strike="noStrike" kern="1200" cap="none" spc="0" normalizeH="0" baseline="0" noProof="0">
                          <a:ln>
                            <a:noFill/>
                          </a:ln>
                          <a:solidFill>
                            <a:srgbClr val="000000"/>
                          </a:solidFill>
                          <a:effectLst/>
                          <a:uLnTx/>
                          <a:uFillTx/>
                          <a:latin typeface="Meiryo UI"/>
                          <a:ea typeface="+mn-ea"/>
                          <a:cs typeface="+mn-cs"/>
                        </a:rPr>
                      </a:br>
                      <a:r>
                        <a:rPr kumimoji="1" lang="ja-JP" altLang="en-US" sz="900" b="0" i="0" u="none" strike="noStrike" kern="1200" cap="none" spc="0" normalizeH="0" baseline="0" noProof="0">
                          <a:ln>
                            <a:noFill/>
                          </a:ln>
                          <a:solidFill>
                            <a:srgbClr val="000000"/>
                          </a:solidFill>
                          <a:effectLst/>
                          <a:uLnTx/>
                          <a:uFillTx/>
                          <a:latin typeface="Meiryo UI"/>
                          <a:ea typeface="+mn-ea"/>
                          <a:cs typeface="+mn-cs"/>
                        </a:rPr>
                        <a:t>令和</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9</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年度のプロファイル更新の取り込みスケジュールについて、</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NTTD</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に確認中のため。</a:t>
                      </a:r>
                      <a:endParaRPr kumimoji="1" lang="en-US" altLang="ja-JP" sz="900" b="0" i="0" u="none" strike="noStrike" kern="1200" cap="none" spc="0" normalizeH="0" baseline="0" noProof="0">
                        <a:ln>
                          <a:noFill/>
                        </a:ln>
                        <a:solidFill>
                          <a:srgbClr val="000000"/>
                        </a:solidFill>
                        <a:effectLst/>
                        <a:uLnTx/>
                        <a:uFillTx/>
                        <a:latin typeface="Meiryo UI"/>
                        <a:ea typeface="+mn-ea"/>
                        <a:cs typeface="+mn-cs"/>
                      </a:endParaRPr>
                    </a:p>
                    <a:p>
                      <a:pPr marL="8890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kern="1200">
                        <a:solidFill>
                          <a:schemeClr val="tx1"/>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ja-JP" altLang="en-US" sz="900" b="1" i="0" u="sng" strike="noStrike" kern="1200">
                          <a:solidFill>
                            <a:srgbClr val="000000"/>
                          </a:solidFill>
                          <a:latin typeface="+mn-ea"/>
                          <a:ea typeface="+mn-ea"/>
                          <a:cs typeface="+mn-cs"/>
                        </a:rPr>
                        <a:t>6．</a:t>
                      </a:r>
                      <a:r>
                        <a:rPr kumimoji="1" lang="en-US" altLang="ja-JP" sz="900" b="1" i="0" u="sng" strike="noStrike" kern="1200">
                          <a:solidFill>
                            <a:srgbClr val="000000"/>
                          </a:solidFill>
                          <a:latin typeface="+mn-ea"/>
                          <a:ea typeface="+mn-ea"/>
                          <a:cs typeface="+mn-cs"/>
                        </a:rPr>
                        <a:t>ToDo</a:t>
                      </a:r>
                      <a:r>
                        <a:rPr kumimoji="1" lang="ja-JP" altLang="en-US" sz="900" b="1" i="0" u="sng" strike="noStrike" kern="1200">
                          <a:solidFill>
                            <a:srgbClr val="000000"/>
                          </a:solidFill>
                          <a:latin typeface="+mn-ea"/>
                          <a:ea typeface="+mn-ea"/>
                          <a:cs typeface="+mn-cs"/>
                        </a:rPr>
                        <a:t>の取り下げ</a:t>
                      </a:r>
                      <a:endParaRPr kumimoji="1" lang="en-US" altLang="ja-JP" sz="900" b="1" i="0" u="sng" strike="noStrike" kern="1200">
                        <a:solidFill>
                          <a:srgbClr val="000000"/>
                        </a:solidFill>
                        <a:latin typeface="+mn-ea"/>
                        <a:ea typeface="+mn-ea"/>
                        <a:cs typeface="+mn-cs"/>
                      </a:endParaRPr>
                    </a:p>
                    <a:p>
                      <a:pPr marL="260350"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kern="1200">
                          <a:solidFill>
                            <a:srgbClr val="000000"/>
                          </a:solidFill>
                          <a:latin typeface="+mn-ea"/>
                          <a:ea typeface="+mn-ea"/>
                          <a:cs typeface="+mn-cs"/>
                        </a:rPr>
                        <a:t>下記</a:t>
                      </a:r>
                      <a:r>
                        <a:rPr kumimoji="1" lang="en-US" altLang="ja-JP" sz="900" b="0" kern="1200">
                          <a:solidFill>
                            <a:srgbClr val="000000"/>
                          </a:solidFill>
                          <a:latin typeface="+mn-ea"/>
                          <a:ea typeface="+mn-ea"/>
                          <a:cs typeface="+mn-cs"/>
                        </a:rPr>
                        <a:t>ToDo</a:t>
                      </a:r>
                      <a:r>
                        <a:rPr kumimoji="1" lang="ja-JP" altLang="en-US" sz="900" b="0" kern="1200">
                          <a:solidFill>
                            <a:srgbClr val="000000"/>
                          </a:solidFill>
                          <a:latin typeface="+mn-ea"/>
                          <a:ea typeface="+mn-ea"/>
                          <a:cs typeface="+mn-cs"/>
                        </a:rPr>
                        <a:t>を取り下げる。(</a:t>
                      </a:r>
                      <a:r>
                        <a:rPr kumimoji="1" lang="en-US" altLang="ja-JP" sz="900" b="0" kern="1200">
                          <a:solidFill>
                            <a:srgbClr val="000000"/>
                          </a:solidFill>
                          <a:latin typeface="+mn-ea"/>
                          <a:ea typeface="+mn-ea"/>
                          <a:cs typeface="+mn-cs"/>
                        </a:rPr>
                        <a:t>2</a:t>
                      </a:r>
                      <a:r>
                        <a:rPr kumimoji="1" lang="ja-JP" altLang="en-US" sz="900" b="0" kern="1200">
                          <a:solidFill>
                            <a:srgbClr val="000000"/>
                          </a:solidFill>
                          <a:latin typeface="+mn-ea"/>
                          <a:ea typeface="+mn-ea"/>
                          <a:cs typeface="+mn-cs"/>
                        </a:rPr>
                        <a:t>件)</a:t>
                      </a:r>
                      <a:endParaRPr kumimoji="1" lang="en-US" altLang="ja-JP" sz="900" b="0" kern="1200">
                        <a:solidFill>
                          <a:srgbClr val="000000"/>
                        </a:solidFill>
                        <a:latin typeface="+mn-ea"/>
                        <a:ea typeface="+mn-ea"/>
                        <a:cs typeface="+mn-cs"/>
                      </a:endParaRPr>
                    </a:p>
                    <a:p>
                      <a:pPr marL="260350"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#1180(</a:t>
                      </a:r>
                      <a:r>
                        <a:rPr kumimoji="1" lang="ja-JP" altLang="en-US" sz="900" b="0" kern="1200">
                          <a:solidFill>
                            <a:srgbClr val="000000"/>
                          </a:solidFill>
                          <a:latin typeface="+mn-ea"/>
                          <a:ea typeface="+mn-ea"/>
                          <a:cs typeface="+mn-cs"/>
                        </a:rPr>
                        <a:t>厚労省において</a:t>
                      </a:r>
                      <a:r>
                        <a:rPr kumimoji="1" lang="en-US" altLang="ja-JP" sz="900" b="0" kern="1200">
                          <a:solidFill>
                            <a:srgbClr val="000000"/>
                          </a:solidFill>
                          <a:latin typeface="+mn-ea"/>
                          <a:ea typeface="+mn-ea"/>
                          <a:cs typeface="+mn-cs"/>
                        </a:rPr>
                        <a:t>BI</a:t>
                      </a:r>
                      <a:r>
                        <a:rPr kumimoji="1" lang="ja-JP" altLang="en-US" sz="900" b="0" kern="1200">
                          <a:solidFill>
                            <a:srgbClr val="000000"/>
                          </a:solidFill>
                          <a:latin typeface="+mn-ea"/>
                          <a:ea typeface="+mn-ea"/>
                          <a:cs typeface="+mn-cs"/>
                        </a:rPr>
                        <a:t>ツールを用いた統計ログ出力に関する案件を新規起票するにあたり、現行の</a:t>
                      </a:r>
                      <a:r>
                        <a:rPr kumimoji="1" lang="en-US" altLang="ja-JP" sz="900" b="0" kern="1200">
                          <a:solidFill>
                            <a:srgbClr val="000000"/>
                          </a:solidFill>
                          <a:latin typeface="+mn-ea"/>
                          <a:ea typeface="+mn-ea"/>
                          <a:cs typeface="+mn-cs"/>
                        </a:rPr>
                        <a:t>BI</a:t>
                      </a:r>
                      <a:r>
                        <a:rPr kumimoji="1" lang="ja-JP" altLang="en-US" sz="900" b="0" kern="1200">
                          <a:solidFill>
                            <a:srgbClr val="000000"/>
                          </a:solidFill>
                          <a:latin typeface="+mn-ea"/>
                          <a:ea typeface="+mn-ea"/>
                          <a:cs typeface="+mn-cs"/>
                        </a:rPr>
                        <a:t>ツールで実施可能な事項と実現不可能な事項をそれぞれ整理するとともに、今後実施想定の内容を整理し、厚労省へ説明する。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取り下げの背景</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ToDo#1210</a:t>
                      </a:r>
                      <a:r>
                        <a:rPr kumimoji="1" lang="ja-JP" altLang="en-US" sz="900" b="0" kern="1200">
                          <a:solidFill>
                            <a:srgbClr val="000000"/>
                          </a:solidFill>
                          <a:latin typeface="+mn-ea"/>
                          <a:ea typeface="+mn-ea"/>
                          <a:cs typeface="+mn-cs"/>
                        </a:rPr>
                        <a:t>、</a:t>
                      </a:r>
                      <a:r>
                        <a:rPr kumimoji="1" lang="en-US" altLang="ja-JP" sz="900" b="0" kern="1200">
                          <a:solidFill>
                            <a:srgbClr val="000000"/>
                          </a:solidFill>
                          <a:latin typeface="+mn-ea"/>
                          <a:ea typeface="+mn-ea"/>
                          <a:cs typeface="+mn-cs"/>
                        </a:rPr>
                        <a:t>#1211</a:t>
                      </a:r>
                      <a:r>
                        <a:rPr kumimoji="1" lang="ja-JP" altLang="en-US" sz="900" b="0" kern="1200">
                          <a:solidFill>
                            <a:srgbClr val="000000"/>
                          </a:solidFill>
                          <a:latin typeface="+mn-ea"/>
                          <a:ea typeface="+mn-ea"/>
                          <a:cs typeface="+mn-cs"/>
                        </a:rPr>
                        <a:t>で後続対応を行うため。</a:t>
                      </a:r>
                      <a:endParaRPr kumimoji="1" lang="en-US" altLang="ja-JP" sz="900" b="0" kern="1200">
                        <a:solidFill>
                          <a:srgbClr val="000000"/>
                        </a:solidFill>
                        <a:latin typeface="+mn-ea"/>
                        <a:ea typeface="+mn-ea"/>
                        <a:cs typeface="+mn-cs"/>
                      </a:endParaRPr>
                    </a:p>
                    <a:p>
                      <a:pPr marL="260350"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#1198(</a:t>
                      </a:r>
                      <a:r>
                        <a:rPr kumimoji="1" lang="ja-JP" altLang="en-US" sz="900" b="0" kern="1200">
                          <a:solidFill>
                            <a:srgbClr val="000000"/>
                          </a:solidFill>
                          <a:latin typeface="+mn-ea"/>
                          <a:ea typeface="+mn-ea"/>
                          <a:cs typeface="+mn-cs"/>
                        </a:rPr>
                        <a:t>標準マスタにおいて</a:t>
                      </a:r>
                      <a:r>
                        <a:rPr kumimoji="1" lang="en-US" altLang="ja-JP" sz="900" b="0" kern="1200">
                          <a:solidFill>
                            <a:srgbClr val="000000"/>
                          </a:solidFill>
                          <a:latin typeface="+mn-ea"/>
                          <a:ea typeface="+mn-ea"/>
                          <a:cs typeface="+mn-cs"/>
                        </a:rPr>
                        <a:t>1</a:t>
                      </a:r>
                      <a:r>
                        <a:rPr kumimoji="1" lang="ja-JP" altLang="en-US" sz="900" b="0" kern="1200">
                          <a:solidFill>
                            <a:srgbClr val="000000"/>
                          </a:solidFill>
                          <a:latin typeface="+mn-ea"/>
                          <a:ea typeface="+mn-ea"/>
                          <a:cs typeface="+mn-cs"/>
                        </a:rPr>
                        <a:t>つの</a:t>
                      </a:r>
                      <a:r>
                        <a:rPr kumimoji="1" lang="en-US" altLang="ja-JP" sz="900" b="0" kern="1200">
                          <a:solidFill>
                            <a:srgbClr val="000000"/>
                          </a:solidFill>
                          <a:latin typeface="+mn-ea"/>
                          <a:ea typeface="+mn-ea"/>
                          <a:cs typeface="+mn-cs"/>
                        </a:rPr>
                        <a:t>code</a:t>
                      </a:r>
                      <a:r>
                        <a:rPr kumimoji="1" lang="ja-JP" altLang="en-US" sz="900" b="0" kern="1200">
                          <a:solidFill>
                            <a:srgbClr val="000000"/>
                          </a:solidFill>
                          <a:latin typeface="+mn-ea"/>
                          <a:ea typeface="+mn-ea"/>
                          <a:cs typeface="+mn-cs"/>
                        </a:rPr>
                        <a:t>に対する</a:t>
                      </a:r>
                      <a:r>
                        <a:rPr kumimoji="1" lang="en-US" altLang="ja-JP" sz="900" b="0" kern="1200">
                          <a:solidFill>
                            <a:srgbClr val="000000"/>
                          </a:solidFill>
                          <a:latin typeface="+mn-ea"/>
                          <a:ea typeface="+mn-ea"/>
                          <a:cs typeface="+mn-cs"/>
                        </a:rPr>
                        <a:t>display</a:t>
                      </a:r>
                      <a:r>
                        <a:rPr kumimoji="1" lang="ja-JP" altLang="en-US" sz="900" b="0" kern="1200">
                          <a:solidFill>
                            <a:srgbClr val="000000"/>
                          </a:solidFill>
                          <a:latin typeface="+mn-ea"/>
                          <a:ea typeface="+mn-ea"/>
                          <a:cs typeface="+mn-cs"/>
                        </a:rPr>
                        <a:t>値が変更された場合に発生するエラーの恒久対応について、厚労省から提示予定の経過措置期間の設定・登録に係る運用方針に基づいて、改修費用およびランニングコストの見積もりを取得する。また、見積もり結果を厚労省に連携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取り下げの背景</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ToDo#1219</a:t>
                      </a:r>
                      <a:r>
                        <a:rPr kumimoji="1" lang="ja-JP" altLang="en-US" sz="900" b="0" kern="1200">
                          <a:solidFill>
                            <a:srgbClr val="000000"/>
                          </a:solidFill>
                          <a:latin typeface="+mn-ea"/>
                          <a:ea typeface="+mn-ea"/>
                          <a:cs typeface="+mn-cs"/>
                        </a:rPr>
                        <a:t>で後続対応を行うため。</a:t>
                      </a:r>
                      <a:endParaRPr kumimoji="1" lang="en-US" altLang="ja-JP" sz="900" b="0" i="0" u="none" strike="noStrike" kern="1200" noProof="0">
                        <a:solidFill>
                          <a:srgbClr val="000000"/>
                        </a:solidFill>
                        <a:latin typeface="+mn-ea"/>
                        <a:ea typeface="+mn-ea"/>
                        <a:cs typeface="+mn-cs"/>
                      </a:endParaRPr>
                    </a:p>
                    <a:p>
                      <a:pPr marL="260350"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900" b="0" i="0" u="none" strike="noStrike" kern="1200" noProof="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a:solidFill>
                            <a:srgbClr val="000000"/>
                          </a:solidFill>
                          <a:latin typeface="+mn-ea"/>
                          <a:ea typeface="+mn-ea"/>
                          <a:cs typeface="Arial"/>
                        </a:rPr>
                        <a:t>特になし。</a:t>
                      </a:r>
                      <a:endParaRPr lang="en-US" altLang="ja-JP" sz="900" b="0" i="0" u="none" strike="noStrike" kern="1200" noProof="0">
                        <a:solidFill>
                          <a:srgbClr val="000000"/>
                        </a:solidFill>
                        <a:latin typeface="+mn-ea"/>
                        <a:ea typeface="+mn-ea"/>
                        <a:cs typeface="Arial"/>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r h="540000">
                <a:tc>
                  <a:txBody>
                    <a:bodyPr/>
                    <a:lstStyle/>
                    <a:p>
                      <a:pPr algn="ctr" fontAlgn="base">
                        <a:lnSpc>
                          <a:spcPts val="1200"/>
                        </a:lnSpc>
                      </a:pPr>
                      <a:r>
                        <a:rPr lang="en-US" altLang="ja-JP" sz="900" b="0" i="0">
                          <a:solidFill>
                            <a:srgbClr val="000000"/>
                          </a:solidFill>
                          <a:effectLst/>
                          <a:latin typeface="+mn-ea"/>
                          <a:ea typeface="+mn-ea"/>
                        </a:rPr>
                        <a:t>3</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令和</a:t>
                      </a:r>
                      <a:r>
                        <a:rPr kumimoji="1" lang="en-US" altLang="ja-JP" sz="900" b="0" i="0" kern="1200">
                          <a:solidFill>
                            <a:srgbClr val="000000"/>
                          </a:solidFill>
                          <a:effectLst/>
                          <a:latin typeface="+mn-ea"/>
                          <a:ea typeface="+mn-ea"/>
                          <a:cs typeface="+mn-cs"/>
                        </a:rPr>
                        <a:t>8</a:t>
                      </a:r>
                      <a:r>
                        <a:rPr kumimoji="1" lang="ja-JP" altLang="en-US" sz="900" b="0" i="0" kern="1200">
                          <a:solidFill>
                            <a:srgbClr val="000000"/>
                          </a:solidFill>
                          <a:effectLst/>
                          <a:latin typeface="+mn-ea"/>
                          <a:ea typeface="+mn-ea"/>
                          <a:cs typeface="+mn-cs"/>
                        </a:rPr>
                        <a:t>年度案件の概況</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特になし。</a:t>
                      </a:r>
                      <a:endParaRPr kumimoji="1" lang="en-US" altLang="ja-JP" sz="900" b="0" u="none" kern="1200">
                        <a:solidFill>
                          <a:schemeClr val="tx1"/>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案件</a:t>
                      </a:r>
                      <a:r>
                        <a:rPr kumimoji="1" lang="en-US" altLang="ja-JP" sz="900" b="0" u="none" kern="1200">
                          <a:solidFill>
                            <a:schemeClr val="tx1"/>
                          </a:solidFill>
                          <a:latin typeface="+mn-ea"/>
                          <a:ea typeface="+mn-ea"/>
                          <a:cs typeface="+mn-cs"/>
                        </a:rPr>
                        <a:t>ID192(</a:t>
                      </a:r>
                      <a:r>
                        <a:rPr kumimoji="1" lang="ja-JP" altLang="en-US" sz="900" b="0" u="none" kern="1200">
                          <a:solidFill>
                            <a:schemeClr val="tx1"/>
                          </a:solidFill>
                          <a:latin typeface="+mn-ea"/>
                          <a:ea typeface="+mn-ea"/>
                          <a:cs typeface="+mn-cs"/>
                        </a:rPr>
                        <a:t>サポートするプロファイルバージョンの終了</a:t>
                      </a:r>
                      <a:r>
                        <a:rPr kumimoji="1" lang="en-US" altLang="ja-JP" sz="900" b="0" u="none" kern="1200">
                          <a:solidFill>
                            <a:schemeClr val="tx1"/>
                          </a:solidFill>
                          <a:latin typeface="+mn-ea"/>
                          <a:ea typeface="+mn-ea"/>
                          <a:cs typeface="+mn-cs"/>
                        </a:rPr>
                        <a:t>(</a:t>
                      </a:r>
                      <a:r>
                        <a:rPr kumimoji="1" lang="ja-JP" altLang="en-US" sz="900" b="0" u="none" kern="1200">
                          <a:solidFill>
                            <a:schemeClr val="tx1"/>
                          </a:solidFill>
                          <a:latin typeface="+mn-ea"/>
                          <a:ea typeface="+mn-ea"/>
                          <a:cs typeface="+mn-cs"/>
                        </a:rPr>
                        <a:t>令和</a:t>
                      </a:r>
                      <a:r>
                        <a:rPr kumimoji="1" lang="en-US" altLang="ja-JP" sz="900" b="0" u="none" kern="1200">
                          <a:solidFill>
                            <a:schemeClr val="tx1"/>
                          </a:solidFill>
                          <a:latin typeface="+mn-ea"/>
                          <a:ea typeface="+mn-ea"/>
                          <a:cs typeface="+mn-cs"/>
                        </a:rPr>
                        <a:t>8</a:t>
                      </a:r>
                      <a:r>
                        <a:rPr kumimoji="1" lang="ja-JP" altLang="en-US" sz="900" b="0" u="none" kern="1200">
                          <a:solidFill>
                            <a:schemeClr val="tx1"/>
                          </a:solidFill>
                          <a:latin typeface="+mn-ea"/>
                          <a:ea typeface="+mn-ea"/>
                          <a:cs typeface="+mn-cs"/>
                        </a:rPr>
                        <a:t>年</a:t>
                      </a:r>
                      <a:r>
                        <a:rPr kumimoji="1" lang="en-US" altLang="ja-JP" sz="900" b="0" u="none" kern="1200">
                          <a:solidFill>
                            <a:schemeClr val="tx1"/>
                          </a:solidFill>
                          <a:latin typeface="+mn-ea"/>
                          <a:ea typeface="+mn-ea"/>
                          <a:cs typeface="+mn-cs"/>
                        </a:rPr>
                        <a:t>9</a:t>
                      </a:r>
                      <a:r>
                        <a:rPr kumimoji="1" lang="ja-JP" altLang="en-US" sz="900" b="0" u="none" kern="1200">
                          <a:solidFill>
                            <a:schemeClr val="tx1"/>
                          </a:solidFill>
                          <a:latin typeface="+mn-ea"/>
                          <a:ea typeface="+mn-ea"/>
                          <a:cs typeface="+mn-cs"/>
                        </a:rPr>
                        <a:t>末</a:t>
                      </a:r>
                      <a:r>
                        <a:rPr kumimoji="1" lang="en-US" altLang="ja-JP" sz="900" b="0" u="none" kern="1200">
                          <a:solidFill>
                            <a:schemeClr val="tx1"/>
                          </a:solidFill>
                          <a:latin typeface="+mn-ea"/>
                          <a:ea typeface="+mn-ea"/>
                          <a:cs typeface="+mn-cs"/>
                        </a:rPr>
                        <a:t>))</a:t>
                      </a:r>
                      <a:r>
                        <a:rPr kumimoji="1" lang="ja-JP" altLang="en-US" sz="900" b="0" u="none" kern="1200">
                          <a:solidFill>
                            <a:schemeClr val="tx1"/>
                          </a:solidFill>
                          <a:latin typeface="+mn-ea"/>
                          <a:ea typeface="+mn-ea"/>
                          <a:cs typeface="+mn-cs"/>
                        </a:rPr>
                        <a:t>について、案件台帳上の案件名から「令和</a:t>
                      </a:r>
                      <a:r>
                        <a:rPr kumimoji="1" lang="en-US" altLang="ja-JP" sz="900" b="0" u="none" kern="1200">
                          <a:solidFill>
                            <a:schemeClr val="tx1"/>
                          </a:solidFill>
                          <a:latin typeface="+mn-ea"/>
                          <a:ea typeface="+mn-ea"/>
                          <a:cs typeface="+mn-cs"/>
                        </a:rPr>
                        <a:t>8</a:t>
                      </a:r>
                      <a:r>
                        <a:rPr kumimoji="1" lang="ja-JP" altLang="en-US" sz="900" b="0" u="none" kern="1200">
                          <a:solidFill>
                            <a:schemeClr val="tx1"/>
                          </a:solidFill>
                          <a:latin typeface="+mn-ea"/>
                          <a:ea typeface="+mn-ea"/>
                          <a:cs typeface="+mn-cs"/>
                        </a:rPr>
                        <a:t>年</a:t>
                      </a:r>
                      <a:r>
                        <a:rPr kumimoji="1" lang="en-US" altLang="ja-JP" sz="900" b="0" u="none" kern="1200">
                          <a:solidFill>
                            <a:schemeClr val="tx1"/>
                          </a:solidFill>
                          <a:latin typeface="+mn-ea"/>
                          <a:ea typeface="+mn-ea"/>
                          <a:cs typeface="+mn-cs"/>
                        </a:rPr>
                        <a:t>9</a:t>
                      </a:r>
                      <a:r>
                        <a:rPr kumimoji="1" lang="ja-JP" altLang="en-US" sz="900" b="0" u="none" kern="1200">
                          <a:solidFill>
                            <a:schemeClr val="tx1"/>
                          </a:solidFill>
                          <a:latin typeface="+mn-ea"/>
                          <a:ea typeface="+mn-ea"/>
                          <a:cs typeface="+mn-cs"/>
                        </a:rPr>
                        <a:t>末」の文言を削除する。</a:t>
                      </a:r>
                      <a:r>
                        <a:rPr kumimoji="1" lang="en-US" altLang="ja-JP" sz="900" b="0" u="none" kern="1200">
                          <a:solidFill>
                            <a:schemeClr val="tx1"/>
                          </a:solidFill>
                          <a:latin typeface="+mn-ea"/>
                          <a:ea typeface="+mn-ea"/>
                          <a:cs typeface="+mn-cs"/>
                        </a:rPr>
                        <a:t>【</a:t>
                      </a:r>
                      <a:r>
                        <a:rPr kumimoji="1" lang="ja-JP" altLang="en-US" sz="900" b="0" u="none" kern="1200">
                          <a:solidFill>
                            <a:schemeClr val="tx1"/>
                          </a:solidFill>
                          <a:latin typeface="+mn-ea"/>
                          <a:ea typeface="+mn-ea"/>
                          <a:cs typeface="+mn-cs"/>
                        </a:rPr>
                        <a:t>厚労省 </a:t>
                      </a:r>
                      <a:r>
                        <a:rPr kumimoji="1" lang="en-US" altLang="ja-JP" sz="900" b="0" u="none" kern="1200">
                          <a:solidFill>
                            <a:schemeClr val="tx1"/>
                          </a:solidFill>
                          <a:latin typeface="+mn-ea"/>
                          <a:ea typeface="+mn-ea"/>
                          <a:cs typeface="+mn-cs"/>
                        </a:rPr>
                        <a:t>10/9】</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60509963"/>
                  </a:ext>
                </a:extLst>
              </a:tr>
              <a:tr h="540000">
                <a:tc>
                  <a:txBody>
                    <a:bodyPr/>
                    <a:lstStyle/>
                    <a:p>
                      <a:pPr lvl="0" algn="ctr">
                        <a:lnSpc>
                          <a:spcPts val="1200"/>
                        </a:lnSpc>
                        <a:buNone/>
                      </a:pPr>
                      <a:r>
                        <a:rPr lang="en-US" altLang="ja-JP" sz="900" b="0" i="0">
                          <a:solidFill>
                            <a:srgbClr val="000000"/>
                          </a:solidFill>
                          <a:effectLst/>
                          <a:latin typeface="+mn-ea"/>
                          <a:ea typeface="+mn-ea"/>
                        </a:rPr>
                        <a:t>4</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令和</a:t>
                      </a:r>
                      <a:r>
                        <a:rPr kumimoji="1" lang="en-US" altLang="ja-JP" sz="900" b="0">
                          <a:latin typeface="+mn-ea"/>
                          <a:ea typeface="+mn-ea"/>
                        </a:rPr>
                        <a:t>9</a:t>
                      </a:r>
                      <a:r>
                        <a:rPr kumimoji="1" lang="ja-JP" altLang="en-US" sz="900" b="0">
                          <a:latin typeface="+mn-ea"/>
                          <a:ea typeface="+mn-ea"/>
                        </a:rPr>
                        <a:t>年度開発向け要件整理案件の実施内容・進め方</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特になし。</a:t>
                      </a:r>
                      <a:endParaRPr kumimoji="1" lang="en-US" altLang="ja-JP" sz="900" b="0" u="none" kern="1200">
                        <a:solidFill>
                          <a:schemeClr val="tx1"/>
                        </a:solidFill>
                        <a:latin typeface="+mn-ea"/>
                        <a:ea typeface="+mn-ea"/>
                        <a:cs typeface="+mn-cs"/>
                      </a:endParaRPr>
                    </a:p>
                    <a:p>
                      <a:pPr marL="0" marR="0" lvl="1" indent="0" algn="l" defTabSz="843930" rtl="0" eaLnBrk="1" fontAlgn="base" latinLnBrk="0" hangingPunct="1">
                        <a:lnSpc>
                          <a:spcPct val="100000"/>
                        </a:lnSpc>
                        <a:spcBef>
                          <a:spcPts val="0"/>
                        </a:spcBef>
                        <a:spcAft>
                          <a:spcPts val="0"/>
                        </a:spcAft>
                        <a:buClrTx/>
                        <a:buSzTx/>
                        <a:buFont typeface="Meiryo UI" panose="020B0604030504040204" pitchFamily="50" charset="-128"/>
                        <a:buNone/>
                        <a:tabLst/>
                        <a:defRPr/>
                      </a:pPr>
                      <a:br>
                        <a:rPr kumimoji="1" lang="en-US" altLang="ja-JP" sz="900" b="0" u="none" kern="1200">
                          <a:solidFill>
                            <a:srgbClr val="000000"/>
                          </a:solidFill>
                          <a:latin typeface="+mn-ea"/>
                          <a:ea typeface="+mn-ea"/>
                          <a:cs typeface="+mn-cs"/>
                        </a:rPr>
                      </a:b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n-ea"/>
                          <a:ea typeface="+mn-ea"/>
                          <a:cs typeface="+mn-cs"/>
                        </a:rPr>
                        <a:t>令和</a:t>
                      </a:r>
                      <a:r>
                        <a:rPr kumimoji="0" lang="en-US" altLang="ja-JP" sz="900" b="0" i="0" u="none" strike="noStrike" kern="0" cap="none" spc="0" normalizeH="0" baseline="0" noProof="0">
                          <a:ln>
                            <a:noFill/>
                          </a:ln>
                          <a:solidFill>
                            <a:srgbClr val="000000"/>
                          </a:solidFill>
                          <a:effectLst/>
                          <a:uLnTx/>
                          <a:uFillTx/>
                          <a:latin typeface="+mn-ea"/>
                          <a:ea typeface="+mn-ea"/>
                          <a:cs typeface="+mn-cs"/>
                        </a:rPr>
                        <a:t>9</a:t>
                      </a:r>
                      <a:r>
                        <a:rPr kumimoji="0" lang="ja-JP" altLang="en-US" sz="900" b="0" i="0" u="none" strike="noStrike" kern="0" cap="none" spc="0" normalizeH="0" baseline="0" noProof="0">
                          <a:ln>
                            <a:noFill/>
                          </a:ln>
                          <a:solidFill>
                            <a:srgbClr val="000000"/>
                          </a:solidFill>
                          <a:effectLst/>
                          <a:uLnTx/>
                          <a:uFillTx/>
                          <a:latin typeface="+mn-ea"/>
                          <a:ea typeface="+mn-ea"/>
                          <a:cs typeface="+mn-cs"/>
                        </a:rPr>
                        <a:t>年度開発向け要件整理案件の実施内容および進め方について書面</a:t>
                      </a:r>
                      <a:r>
                        <a:rPr kumimoji="0" lang="en-US" altLang="ja-JP" sz="900" b="0" i="0" u="none" strike="noStrike" kern="0" cap="none" spc="0" normalizeH="0" baseline="30000" noProof="0">
                          <a:ln>
                            <a:noFill/>
                          </a:ln>
                          <a:solidFill>
                            <a:srgbClr val="000000"/>
                          </a:solidFill>
                          <a:effectLst/>
                          <a:uLnTx/>
                          <a:uFillTx/>
                          <a:latin typeface="+mn-ea"/>
                          <a:ea typeface="+mn-ea"/>
                          <a:cs typeface="+mn-cs"/>
                        </a:rPr>
                        <a:t>※</a:t>
                      </a:r>
                      <a:r>
                        <a:rPr kumimoji="0" lang="ja-JP" altLang="en-US" sz="900" b="0" i="0" u="none" strike="noStrike" kern="0" cap="none" spc="0" normalizeH="0" baseline="0" noProof="0">
                          <a:ln>
                            <a:noFill/>
                          </a:ln>
                          <a:solidFill>
                            <a:srgbClr val="000000"/>
                          </a:solidFill>
                          <a:effectLst/>
                          <a:uLnTx/>
                          <a:uFillTx/>
                          <a:latin typeface="+mn-ea"/>
                          <a:ea typeface="+mn-ea"/>
                          <a:cs typeface="+mn-cs"/>
                        </a:rPr>
                        <a:t>にて確認し、確認結果を</a:t>
                      </a:r>
                      <a:r>
                        <a:rPr kumimoji="0" lang="en-US" altLang="ja-JP" sz="900" b="0" i="0" u="none" strike="noStrike" kern="0" cap="none" spc="0" normalizeH="0" baseline="0" noProof="0">
                          <a:ln>
                            <a:noFill/>
                          </a:ln>
                          <a:solidFill>
                            <a:srgbClr val="000000"/>
                          </a:solidFill>
                          <a:effectLst/>
                          <a:uLnTx/>
                          <a:uFillTx/>
                          <a:latin typeface="+mn-ea"/>
                          <a:ea typeface="+mn-ea"/>
                          <a:cs typeface="+mn-cs"/>
                        </a:rPr>
                        <a:t>DX</a:t>
                      </a:r>
                      <a:r>
                        <a:rPr kumimoji="0" lang="ja-JP" altLang="en-US" sz="900" b="0" i="0" u="none" strike="noStrike" kern="0" cap="none" spc="0" normalizeH="0" baseline="0" noProof="0">
                          <a:ln>
                            <a:noFill/>
                          </a:ln>
                          <a:solidFill>
                            <a:srgbClr val="000000"/>
                          </a:solidFill>
                          <a:effectLst/>
                          <a:uLnTx/>
                          <a:uFillTx/>
                          <a:latin typeface="+mn-ea"/>
                          <a:ea typeface="+mn-ea"/>
                          <a:cs typeface="+mn-cs"/>
                        </a:rPr>
                        <a:t>機構へ連携する。</a:t>
                      </a:r>
                      <a:r>
                        <a:rPr kumimoji="0" lang="en-US" altLang="ja-JP" sz="900" b="0" i="0" u="none" strike="noStrike" kern="0" cap="none" spc="0" normalizeH="0" baseline="0" noProof="0">
                          <a:ln>
                            <a:noFill/>
                          </a:ln>
                          <a:solidFill>
                            <a:srgbClr val="000000"/>
                          </a:solidFill>
                          <a:effectLst/>
                          <a:uLnTx/>
                          <a:uFillTx/>
                          <a:latin typeface="+mn-ea"/>
                          <a:ea typeface="+mn-ea"/>
                          <a:cs typeface="+mn-cs"/>
                        </a:rPr>
                        <a:t>【</a:t>
                      </a:r>
                      <a:r>
                        <a:rPr kumimoji="0" lang="ja-JP" altLang="en-US" sz="900" b="0" i="0" u="none" strike="noStrike" kern="0" cap="none" spc="0" normalizeH="0" baseline="0" noProof="0">
                          <a:ln>
                            <a:noFill/>
                          </a:ln>
                          <a:solidFill>
                            <a:srgbClr val="000000"/>
                          </a:solidFill>
                          <a:effectLst/>
                          <a:uLnTx/>
                          <a:uFillTx/>
                          <a:latin typeface="+mn-ea"/>
                          <a:ea typeface="+mn-ea"/>
                          <a:cs typeface="+mn-cs"/>
                        </a:rPr>
                        <a:t>厚労省 </a:t>
                      </a:r>
                      <a:r>
                        <a:rPr kumimoji="0" lang="en-US" altLang="ja-JP" sz="900" b="0" i="0" u="none" strike="noStrike" kern="0" cap="none" spc="0" normalizeH="0" baseline="0" noProof="0">
                          <a:ln>
                            <a:noFill/>
                          </a:ln>
                          <a:solidFill>
                            <a:srgbClr val="000000"/>
                          </a:solidFill>
                          <a:effectLst/>
                          <a:uLnTx/>
                          <a:uFillTx/>
                          <a:latin typeface="+mn-ea"/>
                          <a:ea typeface="+mn-ea"/>
                          <a:cs typeface="+mn-cs"/>
                        </a:rPr>
                        <a:t>10/13】​</a:t>
                      </a:r>
                      <a:br>
                        <a:rPr kumimoji="0" lang="en-US" altLang="ja-JP" sz="900" b="0" i="0" u="none" strike="noStrike" kern="0" cap="none" spc="0" normalizeH="0" baseline="0" noProof="0">
                          <a:ln>
                            <a:noFill/>
                          </a:ln>
                          <a:solidFill>
                            <a:srgbClr val="000000"/>
                          </a:solidFill>
                          <a:effectLst/>
                          <a:uLnTx/>
                          <a:uFillTx/>
                          <a:latin typeface="+mn-ea"/>
                          <a:ea typeface="+mn-ea"/>
                          <a:cs typeface="+mn-cs"/>
                        </a:rPr>
                      </a:br>
                      <a:r>
                        <a:rPr kumimoji="0" lang="en-US" altLang="ja-JP" sz="900" b="0" i="0" u="none" strike="noStrike" kern="0" cap="none" spc="0" normalizeH="0" baseline="0" noProof="0">
                          <a:ln>
                            <a:noFill/>
                          </a:ln>
                          <a:solidFill>
                            <a:srgbClr val="000000"/>
                          </a:solidFill>
                          <a:effectLst/>
                          <a:uLnTx/>
                          <a:uFillTx/>
                          <a:latin typeface="+mn-ea"/>
                          <a:ea typeface="+mn-ea"/>
                          <a:cs typeface="+mn-cs"/>
                        </a:rPr>
                        <a:t>※</a:t>
                      </a:r>
                      <a:r>
                        <a:rPr kumimoji="0" lang="ja-JP" altLang="en-US" sz="900" b="0" i="0" u="none" strike="noStrike" kern="0" cap="none" spc="0" normalizeH="0" baseline="0" noProof="0">
                          <a:ln>
                            <a:noFill/>
                          </a:ln>
                          <a:solidFill>
                            <a:srgbClr val="000000"/>
                          </a:solidFill>
                          <a:effectLst/>
                          <a:uLnTx/>
                          <a:uFillTx/>
                          <a:latin typeface="+mn-ea"/>
                          <a:ea typeface="+mn-ea"/>
                          <a:cs typeface="+mn-cs"/>
                        </a:rPr>
                        <a:t>「</a:t>
                      </a:r>
                      <a:r>
                        <a:rPr kumimoji="1" lang="ja-JP" altLang="en-US" sz="900" b="0" i="0" u="none" strike="noStrike" kern="1200">
                          <a:solidFill>
                            <a:schemeClr val="tx1"/>
                          </a:solidFill>
                          <a:latin typeface="+mn-ea"/>
                          <a:ea typeface="+mn-ea"/>
                          <a:cs typeface="+mn-cs"/>
                        </a:rPr>
                        <a:t>開発課題検討会</a:t>
                      </a:r>
                      <a:r>
                        <a:rPr kumimoji="1" lang="en-US" altLang="ja-JP" sz="900" b="0" i="0" u="none" strike="noStrike" kern="1200">
                          <a:solidFill>
                            <a:schemeClr val="tx1"/>
                          </a:solidFill>
                          <a:latin typeface="+mn-ea"/>
                          <a:ea typeface="+mn-ea"/>
                          <a:cs typeface="+mn-cs"/>
                        </a:rPr>
                        <a:t>_20261005.pptx</a:t>
                      </a:r>
                      <a:r>
                        <a:rPr kumimoji="0" lang="ja-JP" altLang="en-US" sz="900" b="0" i="0" u="none" strike="noStrike" kern="0" cap="none" spc="0" normalizeH="0" baseline="0" noProof="0">
                          <a:ln>
                            <a:noFill/>
                          </a:ln>
                          <a:solidFill>
                            <a:srgbClr val="000000"/>
                          </a:solidFill>
                          <a:effectLst/>
                          <a:uLnTx/>
                          <a:uFillTx/>
                          <a:latin typeface="+mn-ea"/>
                          <a:ea typeface="+mn-ea"/>
                          <a:cs typeface="+mn-cs"/>
                        </a:rPr>
                        <a:t>」​の</a:t>
                      </a:r>
                      <a:r>
                        <a:rPr kumimoji="0" lang="en-US" altLang="ja-JP" sz="900" b="0" i="0" u="none" strike="noStrike" kern="0" cap="none" spc="0" normalizeH="0" baseline="0" noProof="0">
                          <a:ln>
                            <a:noFill/>
                          </a:ln>
                          <a:solidFill>
                            <a:srgbClr val="000000"/>
                          </a:solidFill>
                          <a:effectLst/>
                          <a:uLnTx/>
                          <a:uFillTx/>
                          <a:latin typeface="+mn-ea"/>
                          <a:ea typeface="+mn-ea"/>
                          <a:cs typeface="+mn-cs"/>
                        </a:rPr>
                        <a:t>P12～17</a:t>
                      </a:r>
                      <a:endParaRPr kumimoji="0" lang="ja-JP" altLang="en-US" sz="900" b="0" i="0" u="none" strike="noStrike" kern="0" cap="none" spc="0" normalizeH="0" baseline="0" noProof="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64281801"/>
                  </a:ext>
                </a:extLst>
              </a:tr>
              <a:tr h="540000">
                <a:tc>
                  <a:txBody>
                    <a:bodyPr/>
                    <a:lstStyle/>
                    <a:p>
                      <a:pPr lvl="0" algn="ctr">
                        <a:lnSpc>
                          <a:spcPts val="1200"/>
                        </a:lnSpc>
                        <a:buNone/>
                      </a:pPr>
                      <a:r>
                        <a:rPr lang="en-US" altLang="ja-JP" sz="900" b="0" i="0">
                          <a:solidFill>
                            <a:srgbClr val="000000"/>
                          </a:solidFill>
                          <a:effectLst/>
                          <a:latin typeface="+mn-ea"/>
                          <a:ea typeface="+mn-ea"/>
                        </a:rPr>
                        <a:t>5</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介護連携における介護事業所宛て診療情報提供書のログ・統計機能の目的と対象ファイル</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marR="0" lvl="1" indent="0" algn="l" defTabSz="843930" rtl="0" eaLnBrk="1" fontAlgn="base" latinLnBrk="0" hangingPunct="1">
                        <a:lnSpc>
                          <a:spcPct val="100000"/>
                        </a:lnSpc>
                        <a:spcBef>
                          <a:spcPts val="0"/>
                        </a:spcBef>
                        <a:spcAft>
                          <a:spcPts val="0"/>
                        </a:spcAft>
                        <a:buClrTx/>
                        <a:buSzTx/>
                        <a:buFont typeface="Meiryo UI" panose="020B0604030504040204" pitchFamily="50" charset="-128"/>
                        <a:buNone/>
                        <a:tabLst/>
                        <a:defRPr/>
                      </a:pPr>
                      <a:r>
                        <a:rPr kumimoji="1" lang="en-US" altLang="ja-JP" sz="900" b="1" u="sng" kern="1200">
                          <a:solidFill>
                            <a:schemeClr val="tx1"/>
                          </a:solidFill>
                          <a:latin typeface="+mn-ea"/>
                          <a:ea typeface="+mn-ea"/>
                          <a:cs typeface="+mn-cs"/>
                        </a:rPr>
                        <a:t>1</a:t>
                      </a:r>
                      <a:r>
                        <a:rPr kumimoji="1" lang="ja-JP" altLang="en-US" sz="900" b="1" i="0" u="sng" strike="noStrike" kern="1200">
                          <a:solidFill>
                            <a:srgbClr val="000000"/>
                          </a:solidFill>
                          <a:latin typeface="+mn-ea"/>
                          <a:ea typeface="+mn-ea"/>
                          <a:cs typeface="+mn-cs"/>
                        </a:rPr>
                        <a:t>．介護事業所宛て診療情報提供書におけるログ・統計機能の目的および対象ファイル</a:t>
                      </a:r>
                      <a:endParaRPr kumimoji="1" lang="en-US" altLang="ja-JP" sz="900" b="1" u="sng"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介護事業所宛て診療情報提供書におけるログ・統計機能は、運用テストおよび本番運用において情報収集を行うことを目的として実施する。</a:t>
                      </a:r>
                      <a:endParaRPr kumimoji="1" lang="en-US" altLang="ja-JP" sz="900" b="0" u="none"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抽出対象ファイルについては、既存の医療機関間の文書連携におけるログ・統計に係るファイルを医療介護連携においても横展開する方針とし、本連携において新たなログ・統計ファイルの追加等は行わない。</a:t>
                      </a:r>
                      <a:endParaRPr kumimoji="1" lang="en-US" altLang="ja-JP" sz="900" b="0" u="none"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なお、介護事業所</a:t>
                      </a:r>
                      <a:r>
                        <a:rPr lang="ja-JP" altLang="en-US" sz="900" b="0" u="none" kern="1200">
                          <a:solidFill>
                            <a:schemeClr val="tx1"/>
                          </a:solidFill>
                          <a:latin typeface="+mn-ea"/>
                          <a:ea typeface="+mn-ea"/>
                          <a:cs typeface="+mn-cs"/>
                        </a:rPr>
                        <a:t>コードに紐づく項目として、介護事業所</a:t>
                      </a:r>
                      <a:r>
                        <a:rPr kumimoji="1" lang="ja-JP" altLang="en-US" sz="900" b="0" u="none" kern="1200">
                          <a:solidFill>
                            <a:schemeClr val="tx1"/>
                          </a:solidFill>
                          <a:latin typeface="+mn-ea"/>
                          <a:ea typeface="+mn-ea"/>
                          <a:cs typeface="+mn-cs"/>
                        </a:rPr>
                        <a:t>のサービス種類コードおよびサービス種類名称を集計項目に追加し、列記する形で出力する。</a:t>
                      </a:r>
                      <a:br>
                        <a:rPr kumimoji="1" lang="en-US" altLang="ja-JP" sz="900" b="0" u="none" kern="1200">
                          <a:solidFill>
                            <a:srgbClr val="000000"/>
                          </a:solidFill>
                          <a:latin typeface="+mn-ea"/>
                          <a:ea typeface="+mn-ea"/>
                          <a:cs typeface="+mn-cs"/>
                        </a:rPr>
                      </a:b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dirty="0">
                          <a:solidFill>
                            <a:schemeClr val="tx1"/>
                          </a:solidFill>
                          <a:latin typeface="+mn-ea"/>
                          <a:ea typeface="+mn-ea"/>
                          <a:cs typeface="+mn-cs"/>
                        </a:rPr>
                        <a:t>特になし。</a:t>
                      </a:r>
                      <a:endParaRPr kumimoji="1" lang="en-US" altLang="ja-JP" sz="900" b="0" u="none" kern="1200" dirty="0">
                        <a:solidFill>
                          <a:schemeClr val="tx1"/>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126630737"/>
                  </a:ext>
                </a:extLst>
              </a:tr>
            </a:tbl>
          </a:graphicData>
        </a:graphic>
      </p:graphicFrame>
      <p:sp>
        <p:nvSpPr>
          <p:cNvPr id="6" name="タイトル 1">
            <a:extLst>
              <a:ext uri="{FF2B5EF4-FFF2-40B4-BE49-F238E27FC236}">
                <a16:creationId xmlns:a16="http://schemas.microsoft.com/office/drawing/2014/main" id="{C5640EA2-B531-3077-4F04-B6E1103F0273}"/>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)(5/6)</a:t>
            </a:r>
            <a:endParaRPr lang="ja-JP" altLang="en-US" sz="2000">
              <a:solidFill>
                <a:schemeClr val="tx2">
                  <a:lumMod val="75000"/>
                </a:schemeClr>
              </a:solidFill>
            </a:endParaRPr>
          </a:p>
        </p:txBody>
      </p:sp>
    </p:spTree>
    <p:extLst>
      <p:ext uri="{BB962C8B-B14F-4D97-AF65-F5344CB8AC3E}">
        <p14:creationId xmlns:p14="http://schemas.microsoft.com/office/powerpoint/2010/main" val="3744309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8C5A0-68C9-1532-5AC3-B2CF14A3804E}"/>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8167E8D1-794B-1054-6A8A-AAC111B2148A}"/>
              </a:ext>
            </a:extLst>
          </p:cNvPr>
          <p:cNvGraphicFramePr>
            <a:graphicFrameLocks noGrp="1"/>
          </p:cNvGraphicFramePr>
          <p:nvPr>
            <p:extLst>
              <p:ext uri="{D42A27DB-BD31-4B8C-83A1-F6EECF244321}">
                <p14:modId xmlns:p14="http://schemas.microsoft.com/office/powerpoint/2010/main" val="3394534342"/>
              </p:ext>
            </p:extLst>
          </p:nvPr>
        </p:nvGraphicFramePr>
        <p:xfrm>
          <a:off x="461626" y="820692"/>
          <a:ext cx="9000000" cy="4206520"/>
        </p:xfrm>
        <a:graphic>
          <a:graphicData uri="http://schemas.openxmlformats.org/drawingml/2006/table">
            <a:tbl>
              <a:tblPr/>
              <a:tblGrid>
                <a:gridCol w="412213">
                  <a:extLst>
                    <a:ext uri="{9D8B030D-6E8A-4147-A177-3AD203B41FA5}">
                      <a16:colId xmlns:a16="http://schemas.microsoft.com/office/drawing/2014/main" val="3484704196"/>
                    </a:ext>
                  </a:extLst>
                </a:gridCol>
                <a:gridCol w="878528">
                  <a:extLst>
                    <a:ext uri="{9D8B030D-6E8A-4147-A177-3AD203B41FA5}">
                      <a16:colId xmlns:a16="http://schemas.microsoft.com/office/drawing/2014/main" val="3863879091"/>
                    </a:ext>
                  </a:extLst>
                </a:gridCol>
                <a:gridCol w="4816712">
                  <a:extLst>
                    <a:ext uri="{9D8B030D-6E8A-4147-A177-3AD203B41FA5}">
                      <a16:colId xmlns:a16="http://schemas.microsoft.com/office/drawing/2014/main" val="99914978"/>
                    </a:ext>
                  </a:extLst>
                </a:gridCol>
                <a:gridCol w="2892547">
                  <a:extLst>
                    <a:ext uri="{9D8B030D-6E8A-4147-A177-3AD203B41FA5}">
                      <a16:colId xmlns:a16="http://schemas.microsoft.com/office/drawing/2014/main" val="2028788276"/>
                    </a:ext>
                  </a:extLst>
                </a:gridCol>
              </a:tblGrid>
              <a:tr h="196023">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574428">
                <a:tc>
                  <a:txBody>
                    <a:bodyPr/>
                    <a:lstStyle/>
                    <a:p>
                      <a:pPr lvl="0" algn="ctr">
                        <a:lnSpc>
                          <a:spcPts val="1200"/>
                        </a:lnSpc>
                        <a:buNone/>
                      </a:pPr>
                      <a:r>
                        <a:rPr lang="en-US" altLang="ja-JP" sz="900" b="0" i="0">
                          <a:solidFill>
                            <a:srgbClr val="000000"/>
                          </a:solidFill>
                          <a:effectLst/>
                          <a:latin typeface="+mn-ea"/>
                          <a:ea typeface="+mn-ea"/>
                        </a:rPr>
                        <a:t>6</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ct val="100000"/>
                        </a:lnSpc>
                        <a:spcBef>
                          <a:spcPts val="0"/>
                        </a:spcBef>
                        <a:spcAft>
                          <a:spcPts val="0"/>
                        </a:spcAft>
                        <a:buClrTx/>
                        <a:buSzTx/>
                        <a:buFontTx/>
                        <a:buNone/>
                        <a:tabLst/>
                        <a:defRPr/>
                      </a:pPr>
                      <a:r>
                        <a:rPr kumimoji="1" lang="ja-JP" altLang="en-US" sz="900" b="0">
                          <a:latin typeface="+mn-ea"/>
                          <a:ea typeface="+mn-ea"/>
                        </a:rPr>
                        <a:t>厚労省アジェンダ</a:t>
                      </a:r>
                      <a:r>
                        <a:rPr kumimoji="1" lang="en-US" altLang="ja-JP" sz="900" b="0">
                          <a:latin typeface="+mn-ea"/>
                          <a:ea typeface="+mn-ea"/>
                        </a:rPr>
                        <a:t>_</a:t>
                      </a:r>
                      <a:r>
                        <a:rPr kumimoji="1" lang="ja-JP" altLang="en-US" sz="900" b="0">
                          <a:latin typeface="+mn-ea"/>
                          <a:ea typeface="+mn-ea"/>
                        </a:rPr>
                        <a:t>「</a:t>
                      </a:r>
                      <a:r>
                        <a:rPr kumimoji="1" lang="en-US" altLang="ja-JP" sz="900" b="0">
                          <a:latin typeface="+mn-ea"/>
                          <a:ea typeface="+mn-ea"/>
                        </a:rPr>
                        <a:t>ToDo#1216_</a:t>
                      </a:r>
                      <a:r>
                        <a:rPr kumimoji="1" lang="ja-JP" altLang="en-US" sz="900" b="0">
                          <a:latin typeface="+mn-ea"/>
                          <a:ea typeface="+mn-ea"/>
                        </a:rPr>
                        <a:t>医療介護連携におけるランニングコスト按分のための統計ログ出力機能の検討」の結果共有</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9525" marR="0" lvl="0" indent="0" algn="l" defTabSz="843930" rtl="0" eaLnBrk="1" fontAlgn="base" latinLnBrk="0" hangingPunct="1">
                        <a:lnSpc>
                          <a:spcPct val="100000"/>
                        </a:lnSpc>
                        <a:spcBef>
                          <a:spcPts val="0"/>
                        </a:spcBef>
                        <a:spcAft>
                          <a:spcPts val="0"/>
                        </a:spcAft>
                        <a:buClrTx/>
                        <a:buSzTx/>
                        <a:buFont typeface="Wingdings" panose="05000000000000000000" pitchFamily="2" charset="2"/>
                        <a:buNone/>
                        <a:tabLst/>
                        <a:defRPr/>
                      </a:pPr>
                      <a:r>
                        <a:rPr kumimoji="1" lang="en-US" altLang="ja-JP" sz="900" b="1" u="sng" kern="1200">
                          <a:solidFill>
                            <a:schemeClr val="tx1"/>
                          </a:solidFill>
                          <a:latin typeface="+mn-ea"/>
                          <a:ea typeface="+mn-ea"/>
                          <a:cs typeface="+mn-cs"/>
                        </a:rPr>
                        <a:t>1</a:t>
                      </a:r>
                      <a:r>
                        <a:rPr kumimoji="1" lang="ja-JP" altLang="en-US" sz="900" b="1" i="0" u="sng" strike="noStrike" kern="1200">
                          <a:solidFill>
                            <a:srgbClr val="000000"/>
                          </a:solidFill>
                          <a:latin typeface="+mn-ea"/>
                          <a:ea typeface="+mn-ea"/>
                          <a:cs typeface="+mn-cs"/>
                        </a:rPr>
                        <a:t>．医療介護連携におけるランニングコスト按分のための統計ログ出力機能の出力範囲について</a:t>
                      </a:r>
                      <a:endParaRPr kumimoji="1" lang="en-US" altLang="ja-JP" sz="900" b="0" i="0" strike="noStrike" kern="1200" cap="none" spc="0" normalizeH="0" baseline="0" noProof="1">
                        <a:ln>
                          <a:noFill/>
                        </a:ln>
                        <a:solidFill>
                          <a:prstClr val="black"/>
                        </a:solidFill>
                        <a:effectLst/>
                        <a:uLnTx/>
                        <a:uFillTx/>
                        <a:latin typeface="Meiryo UI"/>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n-ea"/>
                          <a:ea typeface="+mn-ea"/>
                          <a:cs typeface="+mn-cs"/>
                        </a:rPr>
                        <a:t>医療介護連携におけるランニングコスト按分のための統計ログ出力機能の出力範囲について</a:t>
                      </a:r>
                      <a:br>
                        <a:rPr kumimoji="0" lang="ja-JP" altLang="en-US" sz="900" b="0" i="0" u="none" strike="noStrike" kern="0" cap="none" spc="0" normalizeH="0" baseline="0" noProof="0">
                          <a:ln>
                            <a:noFill/>
                          </a:ln>
                          <a:solidFill>
                            <a:srgbClr val="000000"/>
                          </a:solidFill>
                          <a:effectLst/>
                          <a:uLnTx/>
                          <a:uFillTx/>
                          <a:latin typeface="+mn-ea"/>
                          <a:ea typeface="+mn-ea"/>
                          <a:cs typeface="+mn-cs"/>
                        </a:rPr>
                      </a:br>
                      <a:r>
                        <a:rPr kumimoji="0" lang="ja-JP" altLang="en-US" sz="900" b="0" i="0" u="none" strike="noStrike" kern="0" cap="none" spc="0" normalizeH="0" baseline="0" noProof="0">
                          <a:ln>
                            <a:noFill/>
                          </a:ln>
                          <a:solidFill>
                            <a:srgbClr val="000000"/>
                          </a:solidFill>
                          <a:effectLst/>
                          <a:uLnTx/>
                          <a:uFillTx/>
                          <a:latin typeface="+mn-ea"/>
                          <a:ea typeface="+mn-ea"/>
                          <a:cs typeface="+mn-cs"/>
                        </a:rPr>
                        <a:t>診療情報提供書の医療介護連携における医療側と介護側のランニングコストの按分概算は、当初想定の診療情報提供書の</a:t>
                      </a:r>
                      <a:r>
                        <a:rPr kumimoji="0" lang="en-US" altLang="ja-JP" sz="900" b="0" i="0" u="none" strike="noStrike" kern="0" cap="none" spc="0" normalizeH="0" baseline="0" noProof="0">
                          <a:ln>
                            <a:noFill/>
                          </a:ln>
                          <a:solidFill>
                            <a:srgbClr val="000000"/>
                          </a:solidFill>
                          <a:effectLst/>
                          <a:uLnTx/>
                          <a:uFillTx/>
                          <a:latin typeface="+mn-ea"/>
                          <a:ea typeface="+mn-ea"/>
                          <a:cs typeface="+mn-cs"/>
                        </a:rPr>
                        <a:t>IF</a:t>
                      </a:r>
                      <a:r>
                        <a:rPr kumimoji="0" lang="ja-JP" altLang="en-US" sz="900" b="0" i="0" u="none" strike="noStrike" kern="0" cap="none" spc="0" normalizeH="0" baseline="0" noProof="0">
                          <a:ln>
                            <a:noFill/>
                          </a:ln>
                          <a:solidFill>
                            <a:srgbClr val="000000"/>
                          </a:solidFill>
                          <a:effectLst/>
                          <a:uLnTx/>
                          <a:uFillTx/>
                          <a:latin typeface="+mn-ea"/>
                          <a:ea typeface="+mn-ea"/>
                          <a:cs typeface="+mn-cs"/>
                        </a:rPr>
                        <a:t>受付と連動した資格確認処理数を含まずとも、電子カルテ情報共有サービスの中央基盤の処理量全体の内の文書情報</a:t>
                      </a:r>
                      <a:r>
                        <a:rPr kumimoji="0" lang="en-US" altLang="ja-JP" sz="900" b="0" i="0" u="none" strike="noStrike" kern="0" cap="none" spc="0" normalizeH="0" baseline="0" noProof="0">
                          <a:ln>
                            <a:noFill/>
                          </a:ln>
                          <a:solidFill>
                            <a:srgbClr val="000000"/>
                          </a:solidFill>
                          <a:effectLst/>
                          <a:uLnTx/>
                          <a:uFillTx/>
                          <a:latin typeface="+mn-ea"/>
                          <a:ea typeface="+mn-ea"/>
                          <a:cs typeface="+mn-cs"/>
                        </a:rPr>
                        <a:t>(</a:t>
                      </a:r>
                      <a:r>
                        <a:rPr kumimoji="0" lang="ja-JP" altLang="en-US" sz="900" b="0" i="0" u="none" strike="noStrike" kern="0" cap="none" spc="0" normalizeH="0" baseline="0" noProof="0">
                          <a:ln>
                            <a:noFill/>
                          </a:ln>
                          <a:solidFill>
                            <a:srgbClr val="000000"/>
                          </a:solidFill>
                          <a:effectLst/>
                          <a:uLnTx/>
                          <a:uFillTx/>
                          <a:latin typeface="+mn-ea"/>
                          <a:ea typeface="+mn-ea"/>
                          <a:cs typeface="+mn-cs"/>
                        </a:rPr>
                        <a:t>診療情報提供書および退院時サマリー</a:t>
                      </a:r>
                      <a:r>
                        <a:rPr kumimoji="0" lang="en-US" altLang="ja-JP" sz="900" b="0" i="0" u="none" strike="noStrike" kern="0" cap="none" spc="0" normalizeH="0" baseline="0" noProof="0">
                          <a:ln>
                            <a:noFill/>
                          </a:ln>
                          <a:solidFill>
                            <a:srgbClr val="000000"/>
                          </a:solidFill>
                          <a:effectLst/>
                          <a:uLnTx/>
                          <a:uFillTx/>
                          <a:latin typeface="+mn-ea"/>
                          <a:ea typeface="+mn-ea"/>
                          <a:cs typeface="+mn-cs"/>
                        </a:rPr>
                        <a:t>)</a:t>
                      </a:r>
                      <a:r>
                        <a:rPr kumimoji="0" lang="ja-JP" altLang="en-US" sz="900" b="0" i="0" u="none" strike="noStrike" kern="0" cap="none" spc="0" normalizeH="0" baseline="0" noProof="0">
                          <a:ln>
                            <a:noFill/>
                          </a:ln>
                          <a:solidFill>
                            <a:srgbClr val="000000"/>
                          </a:solidFill>
                          <a:effectLst/>
                          <a:uLnTx/>
                          <a:uFillTx/>
                          <a:latin typeface="+mn-ea"/>
                          <a:ea typeface="+mn-ea"/>
                          <a:cs typeface="+mn-cs"/>
                        </a:rPr>
                        <a:t>の処理量を対象に、医療向け文書情報と介護向け文書情報の</a:t>
                      </a:r>
                      <a:r>
                        <a:rPr kumimoji="0" lang="en-US" altLang="ja-JP" sz="900" b="0" i="0" u="none" strike="noStrike" kern="0" cap="none" spc="0" normalizeH="0" baseline="0" noProof="0">
                          <a:ln>
                            <a:noFill/>
                          </a:ln>
                          <a:solidFill>
                            <a:srgbClr val="000000"/>
                          </a:solidFill>
                          <a:effectLst/>
                          <a:uLnTx/>
                          <a:uFillTx/>
                          <a:latin typeface="+mn-ea"/>
                          <a:ea typeface="+mn-ea"/>
                          <a:cs typeface="+mn-cs"/>
                        </a:rPr>
                        <a:t>IF</a:t>
                      </a:r>
                      <a:r>
                        <a:rPr kumimoji="0" lang="ja-JP" altLang="en-US" sz="900" b="0" i="0" u="none" strike="noStrike" kern="0" cap="none" spc="0" normalizeH="0" baseline="0" noProof="0">
                          <a:ln>
                            <a:noFill/>
                          </a:ln>
                          <a:solidFill>
                            <a:srgbClr val="000000"/>
                          </a:solidFill>
                          <a:effectLst/>
                          <a:uLnTx/>
                          <a:uFillTx/>
                          <a:latin typeface="+mn-ea"/>
                          <a:ea typeface="+mn-ea"/>
                          <a:cs typeface="+mn-cs"/>
                        </a:rPr>
                        <a:t>の受付・処理のみの割合を適用すれば算出可能であるため、以下の算出方針とする。</a:t>
                      </a:r>
                      <a:br>
                        <a:rPr kumimoji="1" lang="en-US" altLang="ja-JP" sz="900" b="0" i="0" strike="noStrike" kern="1200" cap="none" spc="0" normalizeH="0" baseline="0" noProof="1">
                          <a:ln>
                            <a:noFill/>
                          </a:ln>
                          <a:solidFill>
                            <a:srgbClr val="000000"/>
                          </a:solidFill>
                          <a:effectLst/>
                          <a:uLnTx/>
                          <a:uFillTx/>
                          <a:latin typeface="Meiryo UI"/>
                          <a:ea typeface="+mn-ea"/>
                          <a:cs typeface="+mn-cs"/>
                        </a:rPr>
                      </a:br>
                      <a:r>
                        <a:rPr kumimoji="1" lang="ja-JP" altLang="en-US" sz="900" b="0" i="0" strike="noStrike" kern="1200" cap="none" spc="0" normalizeH="0" baseline="0" noProof="1">
                          <a:ln>
                            <a:noFill/>
                          </a:ln>
                          <a:solidFill>
                            <a:srgbClr val="000000"/>
                          </a:solidFill>
                          <a:effectLst/>
                          <a:uLnTx/>
                          <a:uFillTx/>
                          <a:latin typeface="Meiryo UI"/>
                          <a:ea typeface="+mn-ea"/>
                          <a:cs typeface="+mn-cs"/>
                        </a:rPr>
                        <a:t>■算出方針</a:t>
                      </a:r>
                      <a:br>
                        <a:rPr kumimoji="1" lang="en-US" altLang="ja-JP" sz="900" b="0" i="0" strike="noStrike" kern="1200" cap="none" spc="0" normalizeH="0" baseline="0" noProof="1">
                          <a:ln>
                            <a:noFill/>
                          </a:ln>
                          <a:solidFill>
                            <a:prstClr val="black"/>
                          </a:solidFill>
                          <a:effectLst/>
                          <a:uLnTx/>
                          <a:uFillTx/>
                          <a:latin typeface="Meiryo UI"/>
                          <a:ea typeface="+mn-ea"/>
                          <a:cs typeface="+mn-cs"/>
                        </a:rPr>
                      </a:br>
                      <a:r>
                        <a:rPr kumimoji="1" lang="ja-JP" altLang="en-US" sz="900" b="0" i="0" strike="noStrike" kern="1200" cap="none" spc="0" normalizeH="0" baseline="0" noProof="1">
                          <a:ln>
                            <a:noFill/>
                          </a:ln>
                          <a:solidFill>
                            <a:prstClr val="black"/>
                          </a:solidFill>
                          <a:effectLst/>
                          <a:uLnTx/>
                          <a:uFillTx/>
                          <a:latin typeface="Meiryo UI"/>
                          <a:ea typeface="+mn-ea"/>
                          <a:cs typeface="+mn-cs"/>
                        </a:rPr>
                        <a:t>電子カルテ情報共有サービス中央基盤の全処理量のうち、文書情報の処理量を対象に、医療向けの文書情報関連</a:t>
                      </a:r>
                      <a:r>
                        <a:rPr kumimoji="1" lang="en-US" altLang="ja-JP" sz="900" b="0" i="0" strike="noStrike" kern="1200" cap="none" spc="0" normalizeH="0" baseline="0" noProof="1">
                          <a:ln>
                            <a:noFill/>
                          </a:ln>
                          <a:solidFill>
                            <a:prstClr val="black"/>
                          </a:solidFill>
                          <a:effectLst/>
                          <a:uLnTx/>
                          <a:uFillTx/>
                          <a:latin typeface="Meiryo UI"/>
                          <a:ea typeface="+mn-ea"/>
                          <a:cs typeface="+mn-cs"/>
                        </a:rPr>
                        <a:t>IF</a:t>
                      </a:r>
                      <a:r>
                        <a:rPr kumimoji="1" lang="ja-JP" altLang="en-US" sz="900" b="0" i="0" strike="noStrike" kern="1200" cap="none" spc="0" normalizeH="0" baseline="0" noProof="1">
                          <a:ln>
                            <a:noFill/>
                          </a:ln>
                          <a:solidFill>
                            <a:prstClr val="black"/>
                          </a:solidFill>
                          <a:effectLst/>
                          <a:uLnTx/>
                          <a:uFillTx/>
                          <a:latin typeface="Meiryo UI"/>
                          <a:ea typeface="+mn-ea"/>
                          <a:cs typeface="+mn-cs"/>
                        </a:rPr>
                        <a:t>と介護向けの文書情報関連</a:t>
                      </a:r>
                      <a:r>
                        <a:rPr kumimoji="1" lang="en-US" altLang="ja-JP" sz="900" b="0" i="0" strike="noStrike" kern="1200" cap="none" spc="0" normalizeH="0" baseline="0" noProof="1">
                          <a:ln>
                            <a:noFill/>
                          </a:ln>
                          <a:solidFill>
                            <a:prstClr val="black"/>
                          </a:solidFill>
                          <a:effectLst/>
                          <a:uLnTx/>
                          <a:uFillTx/>
                          <a:latin typeface="Meiryo UI"/>
                          <a:ea typeface="+mn-ea"/>
                          <a:cs typeface="+mn-cs"/>
                        </a:rPr>
                        <a:t>IF</a:t>
                      </a:r>
                      <a:r>
                        <a:rPr kumimoji="1" lang="ja-JP" altLang="en-US" sz="900" b="0" i="0" strike="noStrike" kern="1200" cap="none" spc="0" normalizeH="0" baseline="0" noProof="1">
                          <a:ln>
                            <a:noFill/>
                          </a:ln>
                          <a:solidFill>
                            <a:prstClr val="black"/>
                          </a:solidFill>
                          <a:effectLst/>
                          <a:uLnTx/>
                          <a:uFillTx/>
                          <a:latin typeface="Meiryo UI"/>
                          <a:ea typeface="+mn-ea"/>
                          <a:cs typeface="+mn-cs"/>
                        </a:rPr>
                        <a:t>の割合で区分して、医療・介護のそれぞれの文書情報の処理量の割合を算出する。</a:t>
                      </a: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dirty="0">
                          <a:ln>
                            <a:noFill/>
                          </a:ln>
                          <a:solidFill>
                            <a:srgbClr val="000000"/>
                          </a:solidFill>
                          <a:effectLst/>
                          <a:uLnTx/>
                          <a:uFillTx/>
                          <a:latin typeface="+mn-ea"/>
                          <a:ea typeface="+mn-ea"/>
                          <a:cs typeface="+mn-cs"/>
                        </a:rPr>
                        <a:t>診療情報提供書の医療介護連携のランニングコストを按分して算出するため、電子カルテ情報共有サービス中央基盤の全処理量のうち、文書情報</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診療情報提供書および退院時サマリー</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の処理量を抽出できるか確認する。</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【DX</a:t>
                      </a:r>
                      <a:r>
                        <a:rPr kumimoji="0" lang="ja-JP" altLang="en-US" sz="900" b="0" i="0" u="none" strike="noStrike" kern="0" cap="none" spc="0" normalizeH="0" baseline="0" noProof="0" dirty="0">
                          <a:ln>
                            <a:noFill/>
                          </a:ln>
                          <a:solidFill>
                            <a:srgbClr val="000000"/>
                          </a:solidFill>
                          <a:effectLst/>
                          <a:uLnTx/>
                          <a:uFillTx/>
                          <a:latin typeface="+mn-ea"/>
                          <a:ea typeface="+mn-ea"/>
                          <a:cs typeface="+mn-cs"/>
                        </a:rPr>
                        <a:t>機構 </a:t>
                      </a:r>
                      <a:r>
                        <a:rPr kumimoji="0" lang="en-US" altLang="ja-JP" sz="900" b="0" i="0" u="none" strike="noStrike" kern="0" cap="none" spc="0" normalizeH="0" baseline="0" noProof="0" dirty="0">
                          <a:ln>
                            <a:noFill/>
                          </a:ln>
                          <a:solidFill>
                            <a:srgbClr val="000000"/>
                          </a:solidFill>
                          <a:effectLst/>
                          <a:uLnTx/>
                          <a:uFillTx/>
                          <a:latin typeface="+mn-ea"/>
                          <a:ea typeface="+mn-ea"/>
                          <a:cs typeface="+mn-cs"/>
                        </a:rPr>
                        <a:t>10/13】</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5496591"/>
                  </a:ext>
                </a:extLst>
              </a:tr>
              <a:tr h="574428">
                <a:tc>
                  <a:txBody>
                    <a:bodyPr/>
                    <a:lstStyle/>
                    <a:p>
                      <a:pPr lvl="0" algn="ctr">
                        <a:lnSpc>
                          <a:spcPts val="1200"/>
                        </a:lnSpc>
                        <a:buNone/>
                      </a:pPr>
                      <a:r>
                        <a:rPr lang="en-US" altLang="ja-JP" sz="900" b="0" i="0">
                          <a:solidFill>
                            <a:srgbClr val="000000"/>
                          </a:solidFill>
                          <a:effectLst/>
                          <a:latin typeface="+mn-ea"/>
                          <a:ea typeface="+mn-ea"/>
                        </a:rPr>
                        <a:t>7</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ct val="100000"/>
                        </a:lnSpc>
                        <a:spcBef>
                          <a:spcPts val="0"/>
                        </a:spcBef>
                        <a:spcAft>
                          <a:spcPts val="0"/>
                        </a:spcAft>
                        <a:buClrTx/>
                        <a:buSzTx/>
                        <a:buFontTx/>
                        <a:buNone/>
                        <a:tabLst/>
                        <a:defRPr/>
                      </a:pPr>
                      <a:r>
                        <a:rPr kumimoji="1" lang="ja-JP" altLang="en-US" sz="900" b="0">
                          <a:latin typeface="+mn-ea"/>
                          <a:ea typeface="+mn-ea"/>
                        </a:rPr>
                        <a:t>厚労省アジェンダ</a:t>
                      </a:r>
                      <a:r>
                        <a:rPr kumimoji="1" lang="en-US" altLang="ja-JP" sz="900" b="0">
                          <a:latin typeface="+mn-ea"/>
                          <a:ea typeface="+mn-ea"/>
                        </a:rPr>
                        <a:t>_</a:t>
                      </a:r>
                      <a:r>
                        <a:rPr kumimoji="1" lang="ja-JP" altLang="en-US" sz="900" b="0">
                          <a:latin typeface="+mn-ea"/>
                          <a:ea typeface="+mn-ea"/>
                        </a:rPr>
                        <a:t>令和</a:t>
                      </a:r>
                      <a:r>
                        <a:rPr kumimoji="1" lang="en-US" altLang="ja-JP" sz="900" b="0">
                          <a:latin typeface="+mn-ea"/>
                          <a:ea typeface="+mn-ea"/>
                        </a:rPr>
                        <a:t>9</a:t>
                      </a:r>
                      <a:r>
                        <a:rPr kumimoji="1" lang="ja-JP" altLang="en-US" sz="900" b="0">
                          <a:latin typeface="+mn-ea"/>
                          <a:ea typeface="+mn-ea"/>
                        </a:rPr>
                        <a:t>年度案件について</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u="sng" kern="1200">
                          <a:solidFill>
                            <a:schemeClr val="tx1"/>
                          </a:solidFill>
                          <a:latin typeface="+mn-ea"/>
                          <a:ea typeface="+mn-ea"/>
                          <a:cs typeface="+mn-cs"/>
                        </a:rPr>
                        <a:t>1</a:t>
                      </a:r>
                      <a:r>
                        <a:rPr kumimoji="1" lang="ja-JP" altLang="en-US" sz="900" b="1" i="0" u="sng" strike="noStrike" kern="1200">
                          <a:solidFill>
                            <a:srgbClr val="000000"/>
                          </a:solidFill>
                          <a:latin typeface="+mn-ea"/>
                          <a:ea typeface="+mn-ea"/>
                          <a:cs typeface="+mn-cs"/>
                        </a:rPr>
                        <a:t>．</a:t>
                      </a:r>
                      <a:r>
                        <a:rPr kumimoji="1" lang="en-US" altLang="ja-JP" sz="900" b="1" i="0" u="sng" strike="noStrike" kern="1200">
                          <a:solidFill>
                            <a:schemeClr val="tx1"/>
                          </a:solidFill>
                          <a:latin typeface="+mn-ea"/>
                          <a:ea typeface="+mn-ea"/>
                          <a:cs typeface="+mn-cs"/>
                        </a:rPr>
                        <a:t>10/20</a:t>
                      </a:r>
                      <a:r>
                        <a:rPr kumimoji="1" lang="ja-JP" altLang="en-US" sz="900" b="1" i="0" u="sng" strike="noStrike" kern="1200">
                          <a:solidFill>
                            <a:schemeClr val="tx1"/>
                          </a:solidFill>
                          <a:latin typeface="+mn-ea"/>
                          <a:ea typeface="+mn-ea"/>
                          <a:cs typeface="+mn-cs"/>
                        </a:rPr>
                        <a:t>調達委員会に向けた令和</a:t>
                      </a:r>
                      <a:r>
                        <a:rPr kumimoji="1" lang="en-US" altLang="ja-JP" sz="900" b="1" i="0" u="sng" strike="noStrike" kern="1200">
                          <a:solidFill>
                            <a:schemeClr val="tx1"/>
                          </a:solidFill>
                          <a:latin typeface="+mn-ea"/>
                          <a:ea typeface="+mn-ea"/>
                          <a:cs typeface="+mn-cs"/>
                        </a:rPr>
                        <a:t>9</a:t>
                      </a:r>
                      <a:r>
                        <a:rPr kumimoji="1" lang="ja-JP" altLang="en-US" sz="900" b="1" i="0" u="sng" strike="noStrike" kern="1200">
                          <a:solidFill>
                            <a:schemeClr val="tx1"/>
                          </a:solidFill>
                          <a:latin typeface="+mn-ea"/>
                          <a:ea typeface="+mn-ea"/>
                          <a:cs typeface="+mn-cs"/>
                        </a:rPr>
                        <a:t>年度案件の対応について</a:t>
                      </a:r>
                      <a:endParaRPr kumimoji="1" lang="en-US" altLang="ja-JP" sz="900" b="1" i="0" u="sng" strike="noStrike" kern="1200">
                        <a:solidFill>
                          <a:schemeClr val="tx1"/>
                        </a:solidFill>
                        <a:latin typeface="+mn-ea"/>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en-US" altLang="ja-JP" sz="900" b="0" i="0" u="none" strike="noStrike" kern="1200">
                          <a:solidFill>
                            <a:schemeClr val="tx1"/>
                          </a:solidFill>
                          <a:latin typeface="+mn-ea"/>
                          <a:ea typeface="+mn-ea"/>
                          <a:cs typeface="+mn-cs"/>
                        </a:rPr>
                        <a:t>10/5</a:t>
                      </a:r>
                      <a:r>
                        <a:rPr kumimoji="1" lang="ja-JP" altLang="en-US" sz="900" b="0" i="0" u="none" strike="noStrike" kern="1200">
                          <a:solidFill>
                            <a:schemeClr val="tx1"/>
                          </a:solidFill>
                          <a:latin typeface="+mn-ea"/>
                          <a:ea typeface="+mn-ea"/>
                          <a:cs typeface="+mn-cs"/>
                        </a:rPr>
                        <a:t>開発課題検討会資料「開発課題検討会</a:t>
                      </a:r>
                      <a:r>
                        <a:rPr kumimoji="1" lang="en-US" altLang="ja-JP" sz="900" b="0" i="0" u="none" strike="noStrike" kern="1200">
                          <a:solidFill>
                            <a:schemeClr val="tx1"/>
                          </a:solidFill>
                          <a:latin typeface="+mn-ea"/>
                          <a:ea typeface="+mn-ea"/>
                          <a:cs typeface="+mn-cs"/>
                        </a:rPr>
                        <a:t>_20261005_</a:t>
                      </a:r>
                      <a:r>
                        <a:rPr kumimoji="1" lang="ja-JP" altLang="en-US" sz="900" b="0" i="0" u="none" strike="noStrike" kern="1200">
                          <a:solidFill>
                            <a:schemeClr val="tx1"/>
                          </a:solidFill>
                          <a:latin typeface="+mn-ea"/>
                          <a:ea typeface="+mn-ea"/>
                          <a:cs typeface="+mn-cs"/>
                        </a:rPr>
                        <a:t>厚労省側</a:t>
                      </a:r>
                      <a:r>
                        <a:rPr kumimoji="1" lang="en-US" altLang="ja-JP" sz="900" b="0" i="0" u="none" strike="noStrike" kern="1200">
                          <a:solidFill>
                            <a:schemeClr val="tx1"/>
                          </a:solidFill>
                          <a:latin typeface="+mn-ea"/>
                          <a:ea typeface="+mn-ea"/>
                          <a:cs typeface="+mn-cs"/>
                        </a:rPr>
                        <a:t>.pptx</a:t>
                      </a:r>
                      <a:r>
                        <a:rPr kumimoji="1" lang="ja-JP" altLang="en-US" sz="900" b="0" i="0" u="none" strike="noStrike" kern="1200">
                          <a:solidFill>
                            <a:schemeClr val="tx1"/>
                          </a:solidFill>
                          <a:latin typeface="+mn-ea"/>
                          <a:ea typeface="+mn-ea"/>
                          <a:cs typeface="+mn-cs"/>
                        </a:rPr>
                        <a:t>」の</a:t>
                      </a:r>
                      <a:r>
                        <a:rPr kumimoji="1" lang="en-US" altLang="ja-JP" sz="900" b="0" i="0" u="none" strike="noStrike" kern="1200">
                          <a:solidFill>
                            <a:schemeClr val="tx1"/>
                          </a:solidFill>
                          <a:latin typeface="+mn-ea"/>
                          <a:ea typeface="+mn-ea"/>
                          <a:cs typeface="+mn-cs"/>
                        </a:rPr>
                        <a:t>P4～5</a:t>
                      </a:r>
                      <a:r>
                        <a:rPr kumimoji="1" lang="ja-JP" altLang="en-US" sz="900" b="0" i="0" u="none" strike="noStrike" kern="1200">
                          <a:solidFill>
                            <a:schemeClr val="tx1"/>
                          </a:solidFill>
                          <a:latin typeface="+mn-ea"/>
                          <a:ea typeface="+mn-ea"/>
                          <a:cs typeface="+mn-cs"/>
                        </a:rPr>
                        <a:t>に記載の</a:t>
                      </a:r>
                      <a:r>
                        <a:rPr kumimoji="1" lang="en-US" altLang="ja-JP" sz="900" b="0" i="0" u="none" strike="noStrike" kern="1200">
                          <a:solidFill>
                            <a:schemeClr val="tx1"/>
                          </a:solidFill>
                          <a:latin typeface="+mn-ea"/>
                          <a:ea typeface="+mn-ea"/>
                          <a:cs typeface="+mn-cs"/>
                        </a:rPr>
                        <a:t>19</a:t>
                      </a:r>
                      <a:r>
                        <a:rPr kumimoji="1" lang="ja-JP" altLang="en-US" sz="900" b="0" i="0" u="none" strike="noStrike" kern="1200">
                          <a:solidFill>
                            <a:schemeClr val="tx1"/>
                          </a:solidFill>
                          <a:latin typeface="+mn-ea"/>
                          <a:ea typeface="+mn-ea"/>
                          <a:cs typeface="+mn-cs"/>
                        </a:rPr>
                        <a:t>件の令和</a:t>
                      </a:r>
                      <a:r>
                        <a:rPr kumimoji="1" lang="en-US" altLang="ja-JP" sz="900" b="0" i="0" u="none" strike="noStrike" kern="1200">
                          <a:solidFill>
                            <a:schemeClr val="tx1"/>
                          </a:solidFill>
                          <a:latin typeface="+mn-ea"/>
                          <a:ea typeface="+mn-ea"/>
                          <a:cs typeface="+mn-cs"/>
                        </a:rPr>
                        <a:t>9</a:t>
                      </a:r>
                      <a:r>
                        <a:rPr kumimoji="1" lang="ja-JP" altLang="en-US" sz="900" b="0" i="0" u="none" strike="noStrike" kern="1200">
                          <a:solidFill>
                            <a:schemeClr val="tx1"/>
                          </a:solidFill>
                          <a:latin typeface="+mn-ea"/>
                          <a:ea typeface="+mn-ea"/>
                          <a:cs typeface="+mn-cs"/>
                        </a:rPr>
                        <a:t>年度案件について、</a:t>
                      </a:r>
                      <a:r>
                        <a:rPr kumimoji="0" lang="en-US" altLang="ja-JP" sz="900" b="0" i="0" u="none" strike="noStrike" kern="0" cap="none" spc="0" normalizeH="0" baseline="0" noProof="0">
                          <a:ln>
                            <a:noFill/>
                          </a:ln>
                          <a:solidFill>
                            <a:srgbClr val="000000"/>
                          </a:solidFill>
                          <a:effectLst/>
                          <a:uLnTx/>
                          <a:uFillTx/>
                          <a:latin typeface="+mn-ea"/>
                          <a:ea typeface="+mn-ea"/>
                          <a:cs typeface="+mn-cs"/>
                        </a:rPr>
                        <a:t>10/20</a:t>
                      </a:r>
                      <a:r>
                        <a:rPr kumimoji="0" lang="ja-JP" altLang="en-US" sz="900" b="0" i="0" u="none" strike="noStrike" kern="0" cap="none" spc="0" normalizeH="0" baseline="0" noProof="0">
                          <a:ln>
                            <a:noFill/>
                          </a:ln>
                          <a:solidFill>
                            <a:srgbClr val="000000"/>
                          </a:solidFill>
                          <a:effectLst/>
                          <a:uLnTx/>
                          <a:uFillTx/>
                          <a:latin typeface="+mn-ea"/>
                          <a:ea typeface="+mn-ea"/>
                          <a:cs typeface="+mn-cs"/>
                        </a:rPr>
                        <a:t>の調達委員会に向け、</a:t>
                      </a:r>
                      <a:r>
                        <a:rPr kumimoji="0" lang="en-US" altLang="ja-JP" sz="900" b="0" i="0" u="none" strike="noStrike" kern="0" cap="none" spc="0" normalizeH="0" baseline="0" noProof="0">
                          <a:ln>
                            <a:noFill/>
                          </a:ln>
                          <a:solidFill>
                            <a:srgbClr val="000000"/>
                          </a:solidFill>
                          <a:effectLst/>
                          <a:uLnTx/>
                          <a:uFillTx/>
                          <a:latin typeface="+mn-ea"/>
                          <a:ea typeface="+mn-ea"/>
                          <a:cs typeface="+mn-cs"/>
                        </a:rPr>
                        <a:t>DX</a:t>
                      </a:r>
                      <a:r>
                        <a:rPr kumimoji="0" lang="ja-JP" altLang="en-US" sz="900" b="0" i="0" u="none" strike="noStrike" kern="0" cap="none" spc="0" normalizeH="0" baseline="0" noProof="0">
                          <a:ln>
                            <a:noFill/>
                          </a:ln>
                          <a:solidFill>
                            <a:srgbClr val="000000"/>
                          </a:solidFill>
                          <a:effectLst/>
                          <a:uLnTx/>
                          <a:uFillTx/>
                          <a:latin typeface="+mn-ea"/>
                          <a:ea typeface="+mn-ea"/>
                          <a:cs typeface="+mn-cs"/>
                        </a:rPr>
                        <a:t>機構にて要件定義フェーズの調達手続きを進める。</a:t>
                      </a: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en-US" altLang="ja-JP" sz="900" b="0" u="none" kern="1200">
                          <a:solidFill>
                            <a:schemeClr val="tx1"/>
                          </a:solidFill>
                          <a:latin typeface="+mn-ea"/>
                          <a:ea typeface="+mn-ea"/>
                          <a:cs typeface="+mn-cs"/>
                        </a:rPr>
                        <a:t>10/5</a:t>
                      </a:r>
                      <a:r>
                        <a:rPr kumimoji="1" lang="ja-JP" altLang="en-US" sz="900" b="0" u="none" kern="1200">
                          <a:solidFill>
                            <a:schemeClr val="tx1"/>
                          </a:solidFill>
                          <a:latin typeface="+mn-ea"/>
                          <a:ea typeface="+mn-ea"/>
                          <a:cs typeface="+mn-cs"/>
                        </a:rPr>
                        <a:t>開発課題検討会資料「開発課題検討会</a:t>
                      </a:r>
                      <a:r>
                        <a:rPr kumimoji="1" lang="en-US" altLang="ja-JP" sz="900" b="0" u="none" kern="1200">
                          <a:solidFill>
                            <a:schemeClr val="tx1"/>
                          </a:solidFill>
                          <a:latin typeface="+mn-ea"/>
                          <a:ea typeface="+mn-ea"/>
                          <a:cs typeface="+mn-cs"/>
                        </a:rPr>
                        <a:t>_20261005_</a:t>
                      </a:r>
                      <a:r>
                        <a:rPr kumimoji="1" lang="ja-JP" altLang="en-US" sz="900" b="0" u="none" kern="1200">
                          <a:solidFill>
                            <a:schemeClr val="tx1"/>
                          </a:solidFill>
                          <a:latin typeface="+mn-ea"/>
                          <a:ea typeface="+mn-ea"/>
                          <a:cs typeface="+mn-cs"/>
                        </a:rPr>
                        <a:t>厚労省側</a:t>
                      </a:r>
                      <a:r>
                        <a:rPr kumimoji="1" lang="en-US" altLang="ja-JP" sz="900" b="0" u="none" kern="1200">
                          <a:solidFill>
                            <a:schemeClr val="tx1"/>
                          </a:solidFill>
                          <a:latin typeface="+mn-ea"/>
                          <a:ea typeface="+mn-ea"/>
                          <a:cs typeface="+mn-cs"/>
                        </a:rPr>
                        <a:t>.pptx</a:t>
                      </a:r>
                      <a:r>
                        <a:rPr kumimoji="1" lang="ja-JP" altLang="en-US" sz="900" b="0" u="none" kern="1200">
                          <a:solidFill>
                            <a:schemeClr val="tx1"/>
                          </a:solidFill>
                          <a:latin typeface="+mn-ea"/>
                          <a:ea typeface="+mn-ea"/>
                          <a:cs typeface="+mn-cs"/>
                        </a:rPr>
                        <a:t>」</a:t>
                      </a:r>
                      <a:r>
                        <a:rPr kumimoji="1" lang="en-US" altLang="ja-JP" sz="900" b="0" u="none" kern="1200">
                          <a:solidFill>
                            <a:schemeClr val="tx1"/>
                          </a:solidFill>
                          <a:latin typeface="+mn-ea"/>
                          <a:ea typeface="+mn-ea"/>
                          <a:cs typeface="+mn-cs"/>
                        </a:rPr>
                        <a:t>P4</a:t>
                      </a:r>
                      <a:r>
                        <a:rPr kumimoji="1" lang="ja-JP" altLang="en-US" sz="900" b="0" u="none" kern="1200">
                          <a:solidFill>
                            <a:schemeClr val="tx1"/>
                          </a:solidFill>
                          <a:latin typeface="+mn-ea"/>
                          <a:ea typeface="+mn-ea"/>
                          <a:cs typeface="+mn-cs"/>
                        </a:rPr>
                        <a:t>～</a:t>
                      </a:r>
                      <a:r>
                        <a:rPr kumimoji="1" lang="en-US" altLang="ja-JP" sz="900" b="0" u="none" kern="1200">
                          <a:solidFill>
                            <a:schemeClr val="tx1"/>
                          </a:solidFill>
                          <a:latin typeface="+mn-ea"/>
                          <a:ea typeface="+mn-ea"/>
                          <a:cs typeface="+mn-cs"/>
                        </a:rPr>
                        <a:t>5</a:t>
                      </a:r>
                      <a:r>
                        <a:rPr kumimoji="1" lang="ja-JP" altLang="en-US" sz="900" b="0" u="none" kern="1200">
                          <a:solidFill>
                            <a:schemeClr val="tx1"/>
                          </a:solidFill>
                          <a:latin typeface="+mn-ea"/>
                          <a:ea typeface="+mn-ea"/>
                          <a:cs typeface="+mn-cs"/>
                        </a:rPr>
                        <a:t>に記載の令和</a:t>
                      </a:r>
                      <a:r>
                        <a:rPr kumimoji="1" lang="en-US" altLang="ja-JP" sz="900" b="0" u="none" kern="1200">
                          <a:solidFill>
                            <a:schemeClr val="tx1"/>
                          </a:solidFill>
                          <a:latin typeface="+mn-ea"/>
                          <a:ea typeface="+mn-ea"/>
                          <a:cs typeface="+mn-cs"/>
                        </a:rPr>
                        <a:t>9</a:t>
                      </a:r>
                      <a:r>
                        <a:rPr kumimoji="1" lang="ja-JP" altLang="en-US" sz="900" b="0" u="none" kern="1200">
                          <a:solidFill>
                            <a:schemeClr val="tx1"/>
                          </a:solidFill>
                          <a:latin typeface="+mn-ea"/>
                          <a:ea typeface="+mn-ea"/>
                          <a:cs typeface="+mn-cs"/>
                        </a:rPr>
                        <a:t>年度案件の</a:t>
                      </a:r>
                      <a:r>
                        <a:rPr kumimoji="1" lang="en-US" altLang="ja-JP" sz="900" b="0" u="none" kern="1200">
                          <a:solidFill>
                            <a:schemeClr val="tx1"/>
                          </a:solidFill>
                          <a:latin typeface="+mn-ea"/>
                          <a:ea typeface="+mn-ea"/>
                          <a:cs typeface="+mn-cs"/>
                        </a:rPr>
                        <a:t>19</a:t>
                      </a:r>
                      <a:r>
                        <a:rPr kumimoji="1" lang="ja-JP" altLang="en-US" sz="900" b="0" u="none" kern="1200">
                          <a:solidFill>
                            <a:schemeClr val="tx1"/>
                          </a:solidFill>
                          <a:latin typeface="+mn-ea"/>
                          <a:ea typeface="+mn-ea"/>
                          <a:cs typeface="+mn-cs"/>
                        </a:rPr>
                        <a:t>件について、</a:t>
                      </a:r>
                      <a:r>
                        <a:rPr kumimoji="1" lang="en-US" altLang="ja-JP" sz="900" b="0" u="none" kern="1200">
                          <a:solidFill>
                            <a:schemeClr val="tx1"/>
                          </a:solidFill>
                          <a:latin typeface="+mn-ea"/>
                          <a:ea typeface="+mn-ea"/>
                          <a:cs typeface="+mn-cs"/>
                        </a:rPr>
                        <a:t>10/20</a:t>
                      </a:r>
                      <a:r>
                        <a:rPr kumimoji="1" lang="ja-JP" altLang="en-US" sz="900" b="0" u="none" kern="1200">
                          <a:solidFill>
                            <a:schemeClr val="tx1"/>
                          </a:solidFill>
                          <a:latin typeface="+mn-ea"/>
                          <a:ea typeface="+mn-ea"/>
                          <a:cs typeface="+mn-cs"/>
                        </a:rPr>
                        <a:t>の調達委員会に向け、</a:t>
                      </a:r>
                      <a:r>
                        <a:rPr kumimoji="1" lang="en-US" altLang="ja-JP" sz="900" b="0" u="none" kern="1200">
                          <a:solidFill>
                            <a:schemeClr val="tx1"/>
                          </a:solidFill>
                          <a:latin typeface="+mn-ea"/>
                          <a:ea typeface="+mn-ea"/>
                          <a:cs typeface="+mn-cs"/>
                        </a:rPr>
                        <a:t>DX</a:t>
                      </a:r>
                      <a:r>
                        <a:rPr kumimoji="1" lang="ja-JP" altLang="en-US" sz="900" b="0" u="none" kern="1200">
                          <a:solidFill>
                            <a:schemeClr val="tx1"/>
                          </a:solidFill>
                          <a:latin typeface="+mn-ea"/>
                          <a:ea typeface="+mn-ea"/>
                          <a:cs typeface="+mn-cs"/>
                        </a:rPr>
                        <a:t>機構にて要件定義フェーズの調達手続きを進める。</a:t>
                      </a:r>
                      <a:r>
                        <a:rPr kumimoji="1" lang="en-US" altLang="ja-JP" sz="900" b="0" u="none" kern="1200">
                          <a:solidFill>
                            <a:schemeClr val="tx1"/>
                          </a:solidFill>
                          <a:latin typeface="+mn-ea"/>
                          <a:ea typeface="+mn-ea"/>
                          <a:cs typeface="+mn-cs"/>
                        </a:rPr>
                        <a:t>【DX</a:t>
                      </a:r>
                      <a:r>
                        <a:rPr kumimoji="1" lang="ja-JP" altLang="en-US" sz="900" b="0" u="none" kern="1200">
                          <a:solidFill>
                            <a:schemeClr val="tx1"/>
                          </a:solidFill>
                          <a:latin typeface="+mn-ea"/>
                          <a:ea typeface="+mn-ea"/>
                          <a:cs typeface="+mn-cs"/>
                        </a:rPr>
                        <a:t>機構 </a:t>
                      </a:r>
                      <a:r>
                        <a:rPr kumimoji="1" lang="en-US" altLang="ja-JP" sz="900" b="0" u="none" kern="1200">
                          <a:solidFill>
                            <a:schemeClr val="tx1"/>
                          </a:solidFill>
                          <a:latin typeface="+mn-ea"/>
                          <a:ea typeface="+mn-ea"/>
                          <a:cs typeface="+mn-cs"/>
                        </a:rPr>
                        <a:t>10/20】</a:t>
                      </a:r>
                      <a:endParaRPr kumimoji="1" lang="ja-JP" altLang="en-US" sz="900" b="0" u="none" kern="1200">
                        <a:solidFill>
                          <a:schemeClr val="tx1"/>
                        </a:solidFill>
                        <a:latin typeface="+mn-ea"/>
                        <a:ea typeface="+mn-ea"/>
                        <a:cs typeface="+mn-cs"/>
                      </a:endParaRPr>
                    </a:p>
                    <a:p>
                      <a:pPr marL="0" marR="0" lvl="0" indent="0" algn="l" defTabSz="84393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1" lang="en-US" altLang="ja-JP" sz="900" b="0" u="none" kern="1200">
                        <a:solidFill>
                          <a:schemeClr val="tx1"/>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5503867"/>
                  </a:ext>
                </a:extLst>
              </a:tr>
              <a:tr h="574428">
                <a:tc>
                  <a:txBody>
                    <a:bodyPr/>
                    <a:lstStyle/>
                    <a:p>
                      <a:pPr lvl="0" algn="ctr">
                        <a:lnSpc>
                          <a:spcPts val="1200"/>
                        </a:lnSpc>
                        <a:buNone/>
                      </a:pPr>
                      <a:r>
                        <a:rPr lang="en-US" altLang="ja-JP" sz="900" b="0" i="0">
                          <a:solidFill>
                            <a:srgbClr val="000000"/>
                          </a:solidFill>
                          <a:effectLst/>
                          <a:latin typeface="+mn-ea"/>
                          <a:ea typeface="+mn-ea"/>
                        </a:rPr>
                        <a:t>8</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厚労省アジェンダ</a:t>
                      </a:r>
                      <a:r>
                        <a:rPr kumimoji="1" lang="en-US" altLang="ja-JP" sz="900" b="0">
                          <a:latin typeface="+mn-ea"/>
                          <a:ea typeface="+mn-ea"/>
                        </a:rPr>
                        <a:t>_</a:t>
                      </a:r>
                      <a:r>
                        <a:rPr kumimoji="1" lang="ja-JP" altLang="en-US" sz="900" b="0">
                          <a:latin typeface="+mn-ea"/>
                          <a:ea typeface="+mn-ea"/>
                        </a:rPr>
                        <a:t>案件台帳の更新箇所の報告(</a:t>
                      </a:r>
                      <a:r>
                        <a:rPr kumimoji="1" lang="en-US" altLang="ja-JP" sz="900" b="0">
                          <a:latin typeface="+mn-ea"/>
                          <a:ea typeface="+mn-ea"/>
                        </a:rPr>
                        <a:t>1005</a:t>
                      </a:r>
                      <a:r>
                        <a:rPr kumimoji="1" lang="ja-JP" altLang="en-US" sz="900" b="0">
                          <a:latin typeface="+mn-ea"/>
                          <a:ea typeface="+mn-ea"/>
                        </a:rPr>
                        <a:t>断面)</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80975" marR="0" lvl="0" indent="-171450" algn="l">
                        <a:lnSpc>
                          <a:spcPct val="120000"/>
                        </a:lnSpc>
                        <a:spcBef>
                          <a:spcPts val="0"/>
                        </a:spcBef>
                        <a:spcAft>
                          <a:spcPts val="0"/>
                        </a:spcAft>
                        <a:buClr>
                          <a:srgbClr val="000000"/>
                        </a:buClr>
                        <a:buFont typeface="Wingdings,sans-serif"/>
                        <a:buChar char="ü"/>
                      </a:pPr>
                      <a:r>
                        <a:rPr kumimoji="0" lang="ja-JP" sz="900" b="0" i="0" u="none" strike="noStrike" kern="0" cap="none" spc="0" normalizeH="0" baseline="0" noProof="0">
                          <a:ln>
                            <a:noFill/>
                          </a:ln>
                          <a:solidFill>
                            <a:srgbClr val="000000"/>
                          </a:solidFill>
                          <a:effectLst/>
                          <a:uLnTx/>
                          <a:uFillTx/>
                          <a:latin typeface="Arial"/>
                          <a:ea typeface="+mn-ea"/>
                          <a:cs typeface="Arial"/>
                        </a:rPr>
                        <a:t>特になし</a:t>
                      </a:r>
                      <a:r>
                        <a:rPr lang="ja-JP" sz="900" b="0" i="0" u="none" strike="noStrike" kern="0" cap="none" spc="0" normalizeH="0" baseline="0" noProof="0">
                          <a:ln>
                            <a:noFill/>
                          </a:ln>
                          <a:solidFill>
                            <a:srgbClr val="000000"/>
                          </a:solidFill>
                          <a:effectLst/>
                          <a:uLnTx/>
                          <a:uFillTx/>
                          <a:latin typeface="Arial"/>
                          <a:ea typeface="+mn-ea"/>
                          <a:cs typeface="Arial"/>
                        </a:rPr>
                        <a:t>。</a:t>
                      </a:r>
                      <a:endParaRPr lang="en-US" altLang="ja-JP" sz="900" b="0" i="0" u="none" strike="noStrike" kern="0" cap="none" spc="0" normalizeH="0" baseline="0" noProof="0">
                        <a:ln>
                          <a:noFill/>
                        </a:ln>
                        <a:solidFill>
                          <a:srgbClr val="000000"/>
                        </a:solidFill>
                        <a:effectLst/>
                        <a:uLnTx/>
                        <a:uFillTx/>
                        <a:latin typeface="Arial"/>
                        <a:ea typeface="+mn-ea"/>
                        <a:cs typeface="Arial"/>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dirty="0">
                          <a:ln>
                            <a:noFill/>
                          </a:ln>
                          <a:solidFill>
                            <a:srgbClr val="000000"/>
                          </a:solidFill>
                          <a:effectLst/>
                          <a:uLnTx/>
                          <a:uFillTx/>
                          <a:latin typeface="+mn-ea"/>
                          <a:ea typeface="+mn-ea"/>
                          <a:cs typeface="+mn-cs"/>
                        </a:rPr>
                        <a:t>特になし。</a:t>
                      </a: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6229936"/>
                  </a:ext>
                </a:extLst>
              </a:tr>
              <a:tr h="574428">
                <a:tc>
                  <a:txBody>
                    <a:bodyPr/>
                    <a:lstStyle/>
                    <a:p>
                      <a:pPr lvl="0" algn="ctr">
                        <a:lnSpc>
                          <a:spcPts val="1200"/>
                        </a:lnSpc>
                        <a:buNone/>
                      </a:pPr>
                      <a:r>
                        <a:rPr lang="en-US" altLang="ja-JP" sz="900" b="0" i="0">
                          <a:solidFill>
                            <a:srgbClr val="000000"/>
                          </a:solidFill>
                          <a:effectLst/>
                          <a:latin typeface="+mn-ea"/>
                          <a:ea typeface="+mn-ea"/>
                        </a:rPr>
                        <a:t>-</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ラップアップ</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案件</a:t>
                      </a:r>
                      <a:r>
                        <a:rPr kumimoji="1" lang="en-US" altLang="ja-JP" sz="900" b="0" u="none" kern="1200">
                          <a:solidFill>
                            <a:schemeClr val="tx1"/>
                          </a:solidFill>
                          <a:latin typeface="+mn-ea"/>
                          <a:ea typeface="+mn-ea"/>
                          <a:cs typeface="+mn-cs"/>
                        </a:rPr>
                        <a:t>ID225</a:t>
                      </a:r>
                      <a:r>
                        <a:rPr kumimoji="1" lang="ja-JP" altLang="en-US" sz="900" b="0" u="none" kern="1200">
                          <a:solidFill>
                            <a:schemeClr val="tx1"/>
                          </a:solidFill>
                          <a:latin typeface="+mn-ea"/>
                          <a:ea typeface="+mn-ea"/>
                          <a:cs typeface="+mn-cs"/>
                        </a:rPr>
                        <a:t>（</a:t>
                      </a:r>
                      <a:r>
                        <a:rPr kumimoji="1" lang="en-US" altLang="ja-JP" sz="900" b="0" u="none" kern="1200">
                          <a:solidFill>
                            <a:schemeClr val="tx1"/>
                          </a:solidFill>
                          <a:latin typeface="+mn-ea"/>
                          <a:ea typeface="+mn-ea"/>
                          <a:cs typeface="+mn-cs"/>
                        </a:rPr>
                        <a:t>BI</a:t>
                      </a:r>
                      <a:r>
                        <a:rPr kumimoji="1" lang="ja-JP" altLang="en-US" sz="900" b="0" u="none" kern="1200">
                          <a:solidFill>
                            <a:schemeClr val="tx1"/>
                          </a:solidFill>
                          <a:latin typeface="+mn-ea"/>
                          <a:ea typeface="+mn-ea"/>
                          <a:cs typeface="+mn-cs"/>
                        </a:rPr>
                        <a:t>基盤活用による臨床情報の可視化）の新規起票に併せて、要求事項に記載された</a:t>
                      </a:r>
                      <a:r>
                        <a:rPr kumimoji="1" lang="en-US" altLang="ja-JP" sz="900" b="0" u="none" kern="1200">
                          <a:solidFill>
                            <a:schemeClr val="tx1"/>
                          </a:solidFill>
                          <a:latin typeface="+mn-ea"/>
                          <a:ea typeface="+mn-ea"/>
                          <a:cs typeface="+mn-cs"/>
                        </a:rPr>
                        <a:t>15</a:t>
                      </a:r>
                      <a:r>
                        <a:rPr kumimoji="1" lang="ja-JP" altLang="en-US" sz="900" b="0" u="none" kern="1200">
                          <a:solidFill>
                            <a:schemeClr val="tx1"/>
                          </a:solidFill>
                          <a:latin typeface="+mn-ea"/>
                          <a:ea typeface="+mn-ea"/>
                          <a:cs typeface="+mn-cs"/>
                        </a:rPr>
                        <a:t>のダッシュボードは、初回構築であることを踏まえ富士通が作成する。なお、同要求事項に記載されたインプットデータを用いて追加作成する新規ダッシュボードについては、</a:t>
                      </a:r>
                      <a:r>
                        <a:rPr kumimoji="1" lang="en-US" altLang="ja-JP" sz="900" b="0" u="none" kern="1200">
                          <a:solidFill>
                            <a:schemeClr val="tx1"/>
                          </a:solidFill>
                          <a:latin typeface="+mn-ea"/>
                          <a:ea typeface="+mn-ea"/>
                          <a:cs typeface="+mn-cs"/>
                        </a:rPr>
                        <a:t>DX</a:t>
                      </a:r>
                      <a:r>
                        <a:rPr kumimoji="1" lang="ja-JP" altLang="en-US" sz="900" b="0" u="none" kern="1200">
                          <a:solidFill>
                            <a:schemeClr val="tx1"/>
                          </a:solidFill>
                          <a:latin typeface="+mn-ea"/>
                          <a:ea typeface="+mn-ea"/>
                          <a:cs typeface="+mn-cs"/>
                        </a:rPr>
                        <a:t>機構が作成する想定であることから、今後の開発事業者に依頼する開発案件の対象外とすることを合意した。</a:t>
                      </a:r>
                    </a:p>
                  </a:txBody>
                  <a:tcP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dirty="0">
                          <a:ln>
                            <a:noFill/>
                          </a:ln>
                          <a:solidFill>
                            <a:srgbClr val="000000"/>
                          </a:solidFill>
                          <a:effectLst/>
                          <a:uLnTx/>
                          <a:uFillTx/>
                          <a:latin typeface="+mn-ea"/>
                          <a:ea typeface="+mn-ea"/>
                          <a:cs typeface="+mn-cs"/>
                        </a:rPr>
                        <a:t>特になし。</a:t>
                      </a:r>
                      <a:endParaRPr kumimoji="0" lang="en-US" altLang="ja-JP" sz="900" b="0" i="0" u="none" strike="noStrike" kern="0" cap="none" spc="0" normalizeH="0" baseline="0" noProof="0" dirty="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6568879"/>
                  </a:ext>
                </a:extLst>
              </a:tr>
            </a:tbl>
          </a:graphicData>
        </a:graphic>
      </p:graphicFrame>
      <p:sp>
        <p:nvSpPr>
          <p:cNvPr id="4" name="タイトル 1">
            <a:extLst>
              <a:ext uri="{FF2B5EF4-FFF2-40B4-BE49-F238E27FC236}">
                <a16:creationId xmlns:a16="http://schemas.microsoft.com/office/drawing/2014/main" id="{0F9D5437-F140-15AC-1609-48303C937A97}"/>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a:t>
            </a:r>
            <a:r>
              <a:rPr lang="ja-JP" altLang="en-US" sz="1800">
                <a:solidFill>
                  <a:schemeClr val="tx2">
                    <a:lumMod val="75000"/>
                  </a:schemeClr>
                </a:solidFill>
              </a:rPr>
              <a:t>案</a:t>
            </a:r>
            <a:r>
              <a:rPr lang="en-US" altLang="ja-JP" sz="1800">
                <a:solidFill>
                  <a:schemeClr val="tx2">
                    <a:lumMod val="75000"/>
                  </a:schemeClr>
                </a:solidFill>
              </a:rPr>
              <a:t>)(6/6)</a:t>
            </a:r>
            <a:endParaRPr lang="ja-JP" altLang="en-US" sz="2000">
              <a:solidFill>
                <a:schemeClr val="tx2">
                  <a:lumMod val="75000"/>
                </a:schemeClr>
              </a:solidFill>
            </a:endParaRPr>
          </a:p>
        </p:txBody>
      </p:sp>
      <p:sp>
        <p:nvSpPr>
          <p:cNvPr id="2" name="吹き出し: 四角形 1">
            <a:extLst>
              <a:ext uri="{FF2B5EF4-FFF2-40B4-BE49-F238E27FC236}">
                <a16:creationId xmlns:a16="http://schemas.microsoft.com/office/drawing/2014/main" id="{484C4779-704B-278A-F5B1-228BBFB9975C}"/>
              </a:ext>
            </a:extLst>
          </p:cNvPr>
          <p:cNvSpPr/>
          <p:nvPr/>
        </p:nvSpPr>
        <p:spPr>
          <a:xfrm>
            <a:off x="10347091" y="-872577"/>
            <a:ext cx="3158067" cy="872577"/>
          </a:xfrm>
          <a:prstGeom prst="wedgeRectCallout">
            <a:avLst/>
          </a:prstGeom>
          <a:solidFill>
            <a:schemeClr val="accent6">
              <a:alpha val="34118"/>
            </a:schemeClr>
          </a:solidFill>
          <a:ln w="9525" cap="flat" cmpd="sng" algn="ctr">
            <a:no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eaLnBrk="0" hangingPunct="0">
              <a:lnSpc>
                <a:spcPct val="100000"/>
              </a:lnSpc>
            </a:pPr>
            <a:r>
              <a:rPr kumimoji="0" lang="ja-JP" altLang="en-US"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・診療情報提供書</a:t>
            </a:r>
            <a:r>
              <a:rPr kumimoji="0" lang="en-US" altLang="ja-JP"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文書情報</a:t>
            </a:r>
            <a:br>
              <a:rPr kumimoji="0" lang="en-US" altLang="ja-JP"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br>
            <a:r>
              <a:rPr kumimoji="0" lang="ja-JP" altLang="en-US"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診療情報提供書＋退院時サマリー＝文書情報</a:t>
            </a:r>
            <a:endParaRPr kumimoji="0" lang="en-US" altLang="ja-JP"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lgn="l" eaLnBrk="0" hangingPunct="0">
              <a:lnSpc>
                <a:spcPct val="100000"/>
              </a:lnSpc>
            </a:pPr>
            <a:r>
              <a:rPr kumimoji="0" lang="ja-JP" altLang="en-US"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a:t>
            </a:r>
            <a:r>
              <a:rPr kumimoji="0" lang="en-US" altLang="ja-JP"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要求</a:t>
            </a:r>
            <a:r>
              <a:rPr kumimoji="0" lang="en-US" altLang="ja-JP"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1】</a:t>
            </a:r>
            <a:r>
              <a:rPr kumimoji="0" lang="ja-JP" altLang="en-US"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の書き方を、「文書の登録・更新・削除に係る</a:t>
            </a:r>
            <a:r>
              <a:rPr kumimoji="0" lang="en-US" altLang="ja-JP"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IF</a:t>
            </a:r>
            <a:r>
              <a:rPr kumimoji="0" lang="ja-JP" altLang="en-US"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」→文書</a:t>
            </a:r>
            <a:r>
              <a:rPr kumimoji="0" lang="en-US" altLang="ja-JP"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IF</a:t>
            </a:r>
            <a:r>
              <a:rPr kumimoji="0" lang="ja-JP" altLang="en-US"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自体の受付・処理</a:t>
            </a:r>
          </a:p>
        </p:txBody>
      </p:sp>
    </p:spTree>
    <p:extLst>
      <p:ext uri="{BB962C8B-B14F-4D97-AF65-F5344CB8AC3E}">
        <p14:creationId xmlns:p14="http://schemas.microsoft.com/office/powerpoint/2010/main" val="35252375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DATE" val="2025/09/10 16:00:42"/>
  <p:tag name="STYLE" val="AcnSubjectTitle"/>
</p:tagLst>
</file>

<file path=ppt/tags/tag5.xml><?xml version="1.0" encoding="utf-8"?>
<p:tagLst xmlns:a="http://schemas.openxmlformats.org/drawingml/2006/main" xmlns:r="http://schemas.openxmlformats.org/officeDocument/2006/relationships" xmlns:p="http://schemas.openxmlformats.org/presentationml/2006/main">
  <p:tag name="DATE" val="2025/09/10 16:00:42"/>
  <p:tag name="STYLE" val="AcnFootnote"/>
</p:tagLst>
</file>

<file path=ppt/theme/theme1.xml><?xml version="1.0" encoding="utf-8"?>
<a:theme xmlns:a="http://schemas.openxmlformats.org/drawingml/2006/main" name="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9933FF">
            <a:alpha val="34118"/>
          </a:srgbClr>
        </a:solidFill>
        <a:ln w="9525" cap="flat" cmpd="sng" algn="ctr">
          <a:solidFill>
            <a:srgbClr val="9933FF"/>
          </a:solidFill>
          <a:prstDash val="solid"/>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l" eaLnBrk="0" hangingPunct="0">
          <a:lnSpc>
            <a:spcPct val="100000"/>
          </a:lnSpc>
          <a:defRPr kumimoji="0" sz="1200" kern="0" dirty="0" smtClea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2.xml><?xml version="1.0" encoding="utf-8"?>
<a:theme xmlns:a="http://schemas.openxmlformats.org/drawingml/2006/main" name="1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rgbClr val="FF0000"/>
          </a:solidFill>
          <a:prstDash val="solid"/>
        </a:ln>
        <a:effectLst/>
      </a:spPr>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defPPr algn="ctr" eaLnBrk="0" hangingPunct="0">
          <a:lnSpc>
            <a:spcPct val="100000"/>
          </a:lnSpc>
          <a:defRPr kumimoji="0" sz="800" i="0" ker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3.xml><?xml version="1.0" encoding="utf-8"?>
<a:theme xmlns:a="http://schemas.openxmlformats.org/drawingml/2006/main" name="3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a:noFill/>
        </a:ln>
      </a:spPr>
      <a:bodyPr rtlCol="0" anchor="ctr"/>
      <a:lstStyle>
        <a:defPPr algn="l" fontAlgn="base">
          <a:spcBef>
            <a:spcPct val="20000"/>
          </a:spcBef>
          <a:spcAft>
            <a:spcPct val="0"/>
          </a:spcAft>
          <a:defRPr kumimoji="1" sz="1400" dirty="0" err="1">
            <a:latin typeface="+mj-ea"/>
            <a:ea typeface="+mj-ea"/>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356ba7c-6f75-4160-892e-139003efe231">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AD26169CDAAF6B41B8B557D8EAD22A36" ma:contentTypeVersion="11" ma:contentTypeDescription="新しいドキュメントを作成します。" ma:contentTypeScope="" ma:versionID="a52047099d1dd8de6e74bf87a4a73917">
  <xsd:schema xmlns:xsd="http://www.w3.org/2001/XMLSchema" xmlns:xs="http://www.w3.org/2001/XMLSchema" xmlns:p="http://schemas.microsoft.com/office/2006/metadata/properties" xmlns:ns2="e356ba7c-6f75-4160-892e-139003efe231" targetNamespace="http://schemas.microsoft.com/office/2006/metadata/properties" ma:root="true" ma:fieldsID="429bb204e7b0455599c34819c2da32be" ns2:_="">
    <xsd:import namespace="e356ba7c-6f75-4160-892e-139003efe23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56ba7c-6f75-4160-892e-139003efe23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BillingMetadata" ma:index="15" nillable="true" ma:displayName="MediaServiceBillingMetadata" ma:hidden="true" ma:internalName="MediaServiceBillingMetadata" ma:readOnly="true">
      <xsd:simpleType>
        <xsd:restriction base="dms:Note"/>
      </xsd:simpleType>
    </xsd:element>
    <xsd:element name="lcf76f155ced4ddcb4097134ff3c332f" ma:index="17" nillable="true" ma:taxonomy="true" ma:internalName="lcf76f155ced4ddcb4097134ff3c332f" ma:taxonomyFieldName="MediaServiceImageTags" ma:displayName="画像タグ" ma:readOnly="false" ma:fieldId="{5cf76f15-5ced-4ddc-b409-7134ff3c332f}" ma:taxonomyMulti="true" ma:sspId="0347f584-7be2-4218-8e94-402d99aedf0b"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1EA3C11-427A-4A79-9D8A-EB6C4AB4C984}">
  <ds:schemaRefs>
    <ds:schemaRef ds:uri="http://purl.org/dc/terms/"/>
    <ds:schemaRef ds:uri="http://www.w3.org/XML/1998/namespace"/>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e356ba7c-6f75-4160-892e-139003efe231"/>
    <ds:schemaRef ds:uri="http://purl.org/dc/dcmitype/"/>
    <ds:schemaRef ds:uri="http://purl.org/dc/elements/1.1/"/>
  </ds:schemaRefs>
</ds:datastoreItem>
</file>

<file path=customXml/itemProps2.xml><?xml version="1.0" encoding="utf-8"?>
<ds:datastoreItem xmlns:ds="http://schemas.openxmlformats.org/officeDocument/2006/customXml" ds:itemID="{93DD5D2B-73A2-4CC4-83C1-25E9AD8773AB}">
  <ds:schemaRefs>
    <ds:schemaRef ds:uri="e356ba7c-6f75-4160-892e-139003efe23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E0A28AC-CCEA-4057-BB6B-2EF5C4DCA335}">
  <ds:schemaRefs>
    <ds:schemaRef ds:uri="http://schemas.microsoft.com/sharepoint/v3/contenttype/forms"/>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
  <TotalTime>0</TotalTime>
  <Words>3670</Words>
  <Application>Microsoft Office PowerPoint</Application>
  <PresentationFormat>A4 210 x 297 mm</PresentationFormat>
  <Paragraphs>186</Paragraphs>
  <Slides>7</Slides>
  <Notes>7</Notes>
  <HiddenSlides>0</HiddenSlides>
  <MMClips>0</MMClips>
  <ScaleCrop>false</ScaleCrop>
  <HeadingPairs>
    <vt:vector size="8" baseType="variant">
      <vt:variant>
        <vt:lpstr>使用されているフォント</vt:lpstr>
      </vt:variant>
      <vt:variant>
        <vt:i4>8</vt:i4>
      </vt:variant>
      <vt:variant>
        <vt:lpstr>テーマ</vt:lpstr>
      </vt:variant>
      <vt:variant>
        <vt:i4>3</vt:i4>
      </vt:variant>
      <vt:variant>
        <vt:lpstr>埋め込まれた OLE サーバー</vt:lpstr>
      </vt:variant>
      <vt:variant>
        <vt:i4>1</vt:i4>
      </vt:variant>
      <vt:variant>
        <vt:lpstr>スライド タイトル</vt:lpstr>
      </vt:variant>
      <vt:variant>
        <vt:i4>7</vt:i4>
      </vt:variant>
    </vt:vector>
  </HeadingPairs>
  <TitlesOfParts>
    <vt:vector size="19" baseType="lpstr">
      <vt:lpstr>Meiryo UI</vt:lpstr>
      <vt:lpstr>ＭＳ Ｐゴシック</vt:lpstr>
      <vt:lpstr>Wingdings,sans-serif</vt:lpstr>
      <vt:lpstr>游ゴシック</vt:lpstr>
      <vt:lpstr>Arial</vt:lpstr>
      <vt:lpstr>Calibri</vt:lpstr>
      <vt:lpstr>Times New Roman</vt:lpstr>
      <vt:lpstr>Wingdings</vt:lpstr>
      <vt:lpstr>テーマ２（ACN用）</vt:lpstr>
      <vt:lpstr>1_テーマ２（ACN用）</vt:lpstr>
      <vt:lpstr>3_テーマ２（ACN用）</vt:lpstr>
      <vt:lpstr>think-cellスライド</vt:lpstr>
      <vt:lpstr>PowerPoint プレゼンテーション</vt:lpstr>
      <vt:lpstr>開発課題検討会の共有 議事要旨(案)(1/6)</vt:lpstr>
      <vt:lpstr>開発課題検討会の共有 議事要旨(案)(2/6)</vt:lpstr>
      <vt:lpstr>開発課題検討会の共有 議事要旨(案)(3/6)</vt:lpstr>
      <vt:lpstr>開発課題検討会の共有 議事要旨(案)(4/6)</vt:lpstr>
      <vt:lpstr>開発課題検討会の共有 議事要旨(案)(5/6)</vt:lpstr>
      <vt:lpstr>開発課題検討会の共有 議事要旨(案)(6/6)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2026-10-07T02:50:44Z</dcterms:created>
  <dcterms:modified xsi:type="dcterms:W3CDTF">2026-10-08T10:40:21Z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0x010100AD26169CDAAF6B41B8B557D8EAD22A36</vt:lpwstr>
  </property>
</Properties>
</file>