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comments/modernComment_12C_2776E0F4.xml" ContentType="application/vnd.ms-powerpoint.comments+xml"/>
  <Override PartName="/ppt/comments/modernComment_12F_46651541.xml" ContentType="application/vnd.ms-powerpoint.comments+xml"/>
  <Override PartName="/ppt/comments/modernComment_130_ED1945FD.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9" r:id="rId4"/>
    <p:sldMasterId id="2147483737" r:id="rId5"/>
    <p:sldMasterId id="2147483747" r:id="rId6"/>
    <p:sldMasterId id="2147483761" r:id="rId7"/>
    <p:sldMasterId id="2147483773" r:id="rId8"/>
  </p:sldMasterIdLst>
  <p:notesMasterIdLst>
    <p:notesMasterId r:id="rId16"/>
  </p:notesMasterIdLst>
  <p:handoutMasterIdLst>
    <p:handoutMasterId r:id="rId17"/>
  </p:handoutMasterIdLst>
  <p:sldIdLst>
    <p:sldId id="302" r:id="rId9"/>
    <p:sldId id="300" r:id="rId10"/>
    <p:sldId id="305" r:id="rId11"/>
    <p:sldId id="273" r:id="rId12"/>
    <p:sldId id="303" r:id="rId13"/>
    <p:sldId id="301" r:id="rId14"/>
    <p:sldId id="304" r:id="rId15"/>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目次" id="{CFEF274E-72F5-4E11-B587-514BE1A233BB}">
          <p14:sldIdLst>
            <p14:sldId id="302"/>
          </p14:sldIdLst>
        </p14:section>
        <p14:section name="202610送付(JFAGY)" id="{C75EFA3D-A6E9-441E-8261-615440F15AE4}">
          <p14:sldIdLst>
            <p14:sldId id="300"/>
            <p14:sldId id="305"/>
            <p14:sldId id="273"/>
            <p14:sldId id="303"/>
          </p14:sldIdLst>
        </p14:section>
        <p14:section name="20260911送付(一般名処方とのマッピング)" id="{856F88F6-A777-4F38-8528-7B4DCE67EA0A}">
          <p14:sldIdLst>
            <p14:sldId id="301"/>
          </p14:sldIdLst>
        </p14:section>
        <p14:section name="20260911送付(JLACマスタ)" id="{D7D7233E-BE2B-4532-881B-9555A82B6493}">
          <p14:sldIdLst>
            <p14:sldId id="304"/>
          </p14:sldIdLst>
        </p14:section>
      </p14:sectionLst>
    </p:ext>
    <p:ext uri="{EFAFB233-063F-42B5-8137-9DF3F51BA10A}">
      <p15:sldGuideLst xmlns:p15="http://schemas.microsoft.com/office/powerpoint/2012/main">
        <p15:guide id="1" orient="horz" pos="1228" userDrawn="1">
          <p15:clr>
            <a:srgbClr val="A4A3A4"/>
          </p15:clr>
        </p15:guide>
        <p15:guide id="2" pos="192" userDrawn="1">
          <p15:clr>
            <a:srgbClr val="A4A3A4"/>
          </p15:clr>
        </p15:guide>
        <p15:guide id="3" pos="3216" userDrawn="1">
          <p15:clr>
            <a:srgbClr val="A4A3A4"/>
          </p15:clr>
        </p15:guide>
        <p15:guide id="4" pos="6068" userDrawn="1">
          <p15:clr>
            <a:srgbClr val="A4A3A4"/>
          </p15:clr>
        </p15:guide>
        <p15:guide id="5" pos="3024" userDrawn="1">
          <p15:clr>
            <a:srgbClr val="A4A3A4"/>
          </p15:clr>
        </p15:guide>
        <p15:guide id="6" pos="4560" userDrawn="1">
          <p15:clr>
            <a:srgbClr val="A4A3A4"/>
          </p15:clr>
        </p15:guide>
        <p15:guide id="7" pos="4735" userDrawn="1">
          <p15:clr>
            <a:srgbClr val="A4A3A4"/>
          </p15:clr>
        </p15:guide>
        <p15:guide id="8" pos="1513" userDrawn="1">
          <p15:clr>
            <a:srgbClr val="A4A3A4"/>
          </p15:clr>
        </p15:guide>
        <p15:guide id="9" pos="1696" userDrawn="1">
          <p15:clr>
            <a:srgbClr val="A4A3A4"/>
          </p15:clr>
        </p15:guide>
        <p15:guide id="10" orient="horz" pos="4127" userDrawn="1">
          <p15:clr>
            <a:srgbClr val="A4A3A4"/>
          </p15:clr>
        </p15:guide>
        <p15:guide id="11" pos="2016" userDrawn="1">
          <p15:clr>
            <a:srgbClr val="A4A3A4"/>
          </p15:clr>
        </p15:guide>
        <p15:guide id="12" pos="2208" userDrawn="1">
          <p15:clr>
            <a:srgbClr val="A4A3A4"/>
          </p15:clr>
        </p15:guide>
        <p15:guide id="13" pos="4051" userDrawn="1">
          <p15:clr>
            <a:srgbClr val="A4A3A4"/>
          </p15:clr>
        </p15:guide>
        <p15:guide id="14" pos="422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作成者" initials="A" userId="Author" providerId="AD"/>
  <p188:author id="{6ECA532E-61E6-26D5-2715-F415BEA539F7}" name="Honda, Keiko" initials="KH" userId="S::keiko.honda@accenture.com::375496db-4b17-4194-84b5-e6f9bb884af8" providerId="AD"/>
  <p188:author id="{8272DF57-0B53-32E1-54F0-8A71B081A01F}" name="Kurokawa, Hanae" initials="HK" userId="S::hanae.kurokawa@accenture.com::396a447f-a51c-4cf9-8f28-aa835a4fdd63" providerId="AD"/>
  <p188:author id="{CF79BF5C-DD7D-70F1-BE74-C4007AFBFD61}" name="Nakazawa, Masato" initials="MN" userId="S::masato.nakazawa@accenture.com::1233bff8-608b-4080-8826-e11782bff050" providerId="AD"/>
  <p188:author id="{10EB5CEE-279F-C1A6-6148-0C38680EEDD2}" name="Yamakawa, Rion" initials="RY" userId="S::rion.yamakawa@accenture.com::5623036d-59d7-4fb8-b6b7-e50aa9ebf0c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3516FF"/>
    <a:srgbClr val="C2E0F4"/>
    <a:srgbClr val="4F81BD"/>
    <a:srgbClr val="EBE9F3"/>
    <a:srgbClr val="DF637E"/>
    <a:srgbClr val="7EC4C1"/>
    <a:srgbClr val="E4E2ED"/>
    <a:srgbClr val="E57F95"/>
    <a:srgbClr val="FDF3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083E6E3-FA7D-4D7B-A595-EF9225AFEA82}" styleName="淡色スタイル 1 - アクセント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50" d="100"/>
          <a:sy n="150" d="100"/>
        </p:scale>
        <p:origin x="-1854" y="-2568"/>
      </p:cViewPr>
      <p:guideLst>
        <p:guide orient="horz" pos="1228"/>
        <p:guide pos="192"/>
        <p:guide pos="3216"/>
        <p:guide pos="6068"/>
        <p:guide pos="3024"/>
        <p:guide pos="4560"/>
        <p:guide pos="4735"/>
        <p:guide pos="1513"/>
        <p:guide pos="1696"/>
        <p:guide orient="horz" pos="4127"/>
        <p:guide pos="2016"/>
        <p:guide pos="2208"/>
        <p:guide pos="4051"/>
        <p:guide pos="42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5" Type="http://schemas.openxmlformats.org/officeDocument/2006/relationships/slideMaster" Target="slideMasters/slideMaster2.xml"/><Relationship Id="rId15" Type="http://schemas.openxmlformats.org/officeDocument/2006/relationships/slide" Target="slides/slide7.xml"/><Relationship Id="rId10" Type="http://schemas.openxmlformats.org/officeDocument/2006/relationships/slide" Target="slides/slide2.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microsoft.com/office/2018/10/relationships/authors" Target="authors.xml"/></Relationships>
</file>

<file path=ppt/comments/modernComment_12C_2776E0F4.xml><?xml version="1.0" encoding="utf-8"?>
<p188:cmLst xmlns:a="http://schemas.openxmlformats.org/drawingml/2006/main" xmlns:r="http://schemas.openxmlformats.org/officeDocument/2006/relationships" xmlns:p188="http://schemas.microsoft.com/office/powerpoint/2018/8/main">
  <p188:cm id="{BBE5AA59-EC84-4844-B6DD-942FCC026925}" authorId="{CF79BF5C-DD7D-70F1-BE74-C4007AFBFD61}" created="2026-10-02T09:15:12.699">
    <ac:txMkLst xmlns:ac="http://schemas.microsoft.com/office/drawing/2013/main/command">
      <pc:docMk xmlns:pc="http://schemas.microsoft.com/office/powerpoint/2013/main/command"/>
      <pc:sldMk xmlns:pc="http://schemas.microsoft.com/office/powerpoint/2013/main/command" cId="662102260" sldId="300"/>
      <ac:graphicFrameMk id="32" creationId="{F3BBB89E-33F2-FCCC-F87A-7050881086E4}"/>
      <ac:tblMk/>
      <ac:tcMk rowId="967970454" colId="420957508"/>
      <ac:txMk cp="0" len="10">
        <ac:context len="11" hash="4228211846"/>
      </ac:txMk>
    </ac:txMkLst>
    <p188:pos x="3426073" y="459041"/>
    <p188:txBody>
      <a:bodyPr/>
      <a:lstStyle/>
      <a:p>
        <a:r>
          <a:rPr lang="ja-JP" altLang="en-US"/>
          <a:t>Rvいただきたい点
・各環境への反映日については、他マスタの更新周知同様に基金にて記載いただく想定で「XX」としておりますが、こちらの対応で問題ないかご確認いただけないでしょうか。</a:t>
        </a:r>
      </a:p>
    </p188:txBody>
  </p188:cm>
  <p188:cm id="{8E42D984-7930-4BBD-B05A-8C7F7D92AC8D}" authorId="{CF79BF5C-DD7D-70F1-BE74-C4007AFBFD61}" created="2026-10-02T09:15:25.649">
    <ac:txMkLst xmlns:ac="http://schemas.microsoft.com/office/drawing/2013/main/command">
      <pc:docMk xmlns:pc="http://schemas.microsoft.com/office/powerpoint/2013/main/command"/>
      <pc:sldMk xmlns:pc="http://schemas.microsoft.com/office/powerpoint/2013/main/command" cId="662102260" sldId="300"/>
      <ac:spMk id="30" creationId="{4E57B160-1206-565B-8CFC-6FFDE167A41E}"/>
      <ac:txMk cp="8" len="11">
        <ac:context len="265" hash="3376963194"/>
      </ac:txMk>
    </ac:txMkLst>
    <p188:pos x="652903" y="361275"/>
    <p188:txBody>
      <a:bodyPr/>
      <a:lstStyle/>
      <a:p>
        <a:r>
          <a:rPr lang="ja-JP" altLang="en-US"/>
          <a:t>Rvいただきたい点（同上）
・各環境への反映日については、他マスタの更新周知同様に基金にて記載いただく想定で「XX」としておりますが、こちらの対応で問題ないかご確認いただけないでしょうか。</a:t>
        </a:r>
      </a:p>
    </p188:txBody>
  </p188:cm>
  <p188:cm id="{FE1A79DB-C222-4032-9675-356140AD46F7}" authorId="{CF79BF5C-DD7D-70F1-BE74-C4007AFBFD61}" created="2026-10-02T09:17:27.174">
    <ac:txMkLst xmlns:ac="http://schemas.microsoft.com/office/drawing/2013/main/command">
      <pc:docMk xmlns:pc="http://schemas.microsoft.com/office/powerpoint/2013/main/command"/>
      <pc:sldMk xmlns:pc="http://schemas.microsoft.com/office/powerpoint/2013/main/command" cId="662102260" sldId="300"/>
      <ac:spMk id="30" creationId="{4E57B160-1206-565B-8CFC-6FFDE167A41E}"/>
      <ac:txMk cp="59" len="9">
        <ac:context len="265" hash="3376963194"/>
      </ac:txMk>
    </ac:txMkLst>
    <p188:pos x="3430079" y="284617"/>
    <p188:txBody>
      <a:bodyPr/>
      <a:lstStyle/>
      <a:p>
        <a:r>
          <a:rPr lang="ja-JP" altLang="en-US"/>
          <a:t>Rvいただきたい点
・今回は版上げであることから、トーンを「見直さないと登録できなくなります」から「変更になりました」に落としています。トーンについて問題ないかご確認いただけないでしょうか。</a:t>
        </a:r>
      </a:p>
    </p188:txBody>
  </p188:cm>
  <p188:cm id="{D6040BB4-7A76-4EF5-935D-5401A85648FB}" authorId="{CF79BF5C-DD7D-70F1-BE74-C4007AFBFD61}" created="2026-10-02T09:18:24.748">
    <ac:deMkLst xmlns:ac="http://schemas.microsoft.com/office/drawing/2013/main/command">
      <pc:docMk xmlns:pc="http://schemas.microsoft.com/office/powerpoint/2013/main/command"/>
      <pc:sldMk xmlns:pc="http://schemas.microsoft.com/office/powerpoint/2013/main/command" cId="662102260" sldId="300"/>
      <ac:spMk id="17" creationId="{47EF6A54-1A87-F04E-5522-65F3A29F10D9}"/>
    </ac:deMkLst>
    <p188:txBody>
      <a:bodyPr/>
      <a:lstStyle/>
      <a:p>
        <a:r>
          <a:rPr lang="ja-JP" altLang="en-US"/>
          <a:t>記載対象については、次スライドに参考として9/25WBS資料を差し込んでいますので、ご参照ください。</a:t>
        </a:r>
      </a:p>
    </p188:txBody>
  </p188:cm>
</p188:cmLst>
</file>

<file path=ppt/comments/modernComment_12F_46651541.xml><?xml version="1.0" encoding="utf-8"?>
<p188:cmLst xmlns:a="http://schemas.openxmlformats.org/drawingml/2006/main" xmlns:r="http://schemas.openxmlformats.org/officeDocument/2006/relationships" xmlns:p188="http://schemas.microsoft.com/office/powerpoint/2018/8/main">
  <p188:cm id="{5E1D2C92-CB61-4E42-873B-A13024E53F92}" authorId="{CF79BF5C-DD7D-70F1-BE74-C4007AFBFD61}" created="2026-09-09T04:46:02.844">
    <ac:txMkLst xmlns:ac="http://schemas.microsoft.com/office/drawing/2013/main/command">
      <pc:docMk xmlns:pc="http://schemas.microsoft.com/office/powerpoint/2013/main/command"/>
      <pc:sldMk xmlns:pc="http://schemas.microsoft.com/office/powerpoint/2013/main/command" cId="1181029697" sldId="303"/>
      <ac:spMk id="17" creationId="{FA06BA32-19E2-5F8F-225C-FC0F7A0D9B99}"/>
      <ac:txMk cp="69" len="63">
        <ac:context len="202" hash="2439750846"/>
      </ac:txMk>
    </ac:txMkLst>
    <p188:pos x="3830129" y="248105"/>
    <p188:txBody>
      <a:bodyPr/>
      <a:lstStyle/>
      <a:p>
        <a:r>
          <a:rPr lang="ja-JP" altLang="en-US"/>
          <a:t>日本語の修正のみ</a:t>
        </a:r>
      </a:p>
    </p188:txBody>
  </p188:cm>
</p188:cmLst>
</file>

<file path=ppt/comments/modernComment_130_ED1945FD.xml><?xml version="1.0" encoding="utf-8"?>
<p188:cmLst xmlns:a="http://schemas.openxmlformats.org/drawingml/2006/main" xmlns:r="http://schemas.openxmlformats.org/officeDocument/2006/relationships" xmlns:p188="http://schemas.microsoft.com/office/powerpoint/2018/8/main">
  <p188:cm id="{27FC26AA-5187-4652-B9CB-4C6B6F4DC9C7}" authorId="{00000000-0000-0000-0000-000000000000}" created="2026-09-09T03:09:47.254">
    <ac:txMkLst xmlns:ac="http://schemas.microsoft.com/office/drawing/2013/main/command">
      <pc:docMk xmlns:pc="http://schemas.microsoft.com/office/powerpoint/2013/main/command"/>
      <pc:sldMk xmlns:pc="http://schemas.microsoft.com/office/powerpoint/2013/main/command" cId="524680870" sldId="299"/>
      <ac:spMk id="96" creationId="{8ED0F044-0F9D-4CD2-B166-CC3D782785F7}"/>
      <ac:txMk cp="68">
        <ac:context len="221" hash="4291247471"/>
      </ac:txMk>
    </ac:txMkLst>
    <p188:replyLst>
      <p188:reply id="{8F5B68FF-CC19-4052-99EF-C2D8F2162B7A}" authorId="{8272DF57-0B53-32E1-54F0-8A71B081A01F}" created="2026-09-09T04:23:30.815">
        <p188:txBody>
          <a:bodyPr/>
          <a:lstStyle/>
          <a:p>
            <a:r>
              <a:rPr lang="ja-JP" altLang="en-US"/>
              <a:t>この日付は公開日ではなく環境反映日＝リリース日で決まっているため、リリース日を入れていただけますと幸いです</a:t>
            </a:r>
          </a:p>
        </p188:txBody>
        <p188:extLst>
          <p:ext xmlns:p="http://schemas.openxmlformats.org/presentationml/2006/main" uri="{57CB4572-C831-44C2-8A1C-0ADB6CCDFE69}">
            <p223:reactions xmlns:p223="http://schemas.microsoft.com/office/powerpoint/2022/03/main">
              <p223:rxn type="👍">
                <p223:instance time="2026-09-09T04:49:00.490" authorId="{CF79BF5C-DD7D-70F1-BE74-C4007AFBFD61}"/>
              </p223:rxn>
            </p223:reactions>
          </p:ext>
        </p188:extLst>
      </p188:reply>
      <p188:reply id="{76FCD13B-F75B-4B91-93C5-C3BCABF6B887}" authorId="{8272DF57-0B53-32E1-54F0-8A71B081A01F}" created="2026-09-09T04:24:50.435">
        <p188:txBody>
          <a:bodyPr/>
          <a:lstStyle/>
          <a:p>
            <a:r>
              <a:rPr lang="ja-JP" altLang="en-US"/>
              <a:t>※公開日：ポータルサイト上にマスタのファイルを公開する日。基金の作業により数日前後する。
※反映日：環境への取り込み日。9月はマスケで決まっている。（普段のルーチンの時は前後あり）</a:t>
            </a:r>
          </a:p>
        </p188:txBody>
        <p188:extLst>
          <p:ext xmlns:p="http://schemas.openxmlformats.org/presentationml/2006/main" uri="{57CB4572-C831-44C2-8A1C-0ADB6CCDFE69}">
            <p223:reactions xmlns:p223="http://schemas.microsoft.com/office/powerpoint/2022/03/main">
              <p223:rxn type="👍">
                <p223:instance time="2026-09-09T04:49:01.685" authorId="{CF79BF5C-DD7D-70F1-BE74-C4007AFBFD61}"/>
              </p223:rxn>
            </p223:reactions>
          </p:ext>
        </p188:extLst>
      </p188:reply>
    </p188:replyLst>
    <p188:txBody>
      <a:bodyPr/>
      <a:lstStyle/>
      <a:p>
        <a:r>
          <a:rPr lang="ja-JP" altLang="en-US"/>
          <a:t>【確認事項】
こちらは基金側の中央基盤の取り込み次第の日付になるため空欄でよい（基金側で埋める）認識ですが相違ないですか</a:t>
        </a:r>
      </a:p>
    </p188:txBody>
  </p188:cm>
  <p188:cm id="{4023A3B8-C98F-4DDA-A1C0-43D2D653AF40}" authorId="{CF79BF5C-DD7D-70F1-BE74-C4007AFBFD61}" status="resolved" created="2026-09-09T04:34:24.408">
    <ac:txMkLst xmlns:ac="http://schemas.microsoft.com/office/drawing/2013/main/command">
      <pc:docMk xmlns:pc="http://schemas.microsoft.com/office/powerpoint/2013/main/command"/>
      <pc:sldMk xmlns:pc="http://schemas.microsoft.com/office/powerpoint/2013/main/command" cId="3977856509" sldId="304"/>
      <ac:spMk id="123" creationId="{F93B5BFF-A91A-8A97-2BA3-A5A47B6E46CF}"/>
      <ac:txMk cp="85" len="68">
        <ac:context len="550" hash="283476527"/>
      </ac:txMk>
    </ac:txMkLst>
    <p188:pos x="2827887" y="266539"/>
    <p188:replyLst>
      <p188:reply id="{238FFFCB-3CD7-40AD-B74D-A0E125C06097}" authorId="{8272DF57-0B53-32E1-54F0-8A71B081A01F}" created="2026-09-09T04:38:14.492">
        <p188:txBody>
          <a:bodyPr/>
          <a:lstStyle/>
          <a:p>
            <a:r>
              <a:rPr lang="ja-JP" altLang="en-US"/>
              <a:t>「おかれましてが」になっているようなのでご確認ください！</a:t>
            </a:r>
          </a:p>
        </p188:txBody>
        <p188:extLst>
          <p:ext xmlns:p="http://schemas.openxmlformats.org/presentationml/2006/main" uri="{57CB4572-C831-44C2-8A1C-0ADB6CCDFE69}">
            <p223:reactions xmlns:p223="http://schemas.microsoft.com/office/powerpoint/2022/03/main">
              <p223:rxn type="👍">
                <p223:instance time="2026-09-09T04:48:57.954" authorId="{CF79BF5C-DD7D-70F1-BE74-C4007AFBFD61}"/>
              </p223:rxn>
            </p223:reactions>
          </p:ext>
        </p188:extLst>
      </p188:reply>
    </p188:replyLst>
    <p188:txBody>
      <a:bodyPr/>
      <a:lstStyle/>
      <a:p>
        <a:r>
          <a:rPr lang="ja-JP" altLang="en-US"/>
          <a:t>日本語の修正のみ</a:t>
        </a:r>
      </a:p>
    </p188:txBody>
  </p188:cm>
  <p188:cm id="{ABE3CCEC-8F57-4E60-BDC6-DAC6B4122F8F}" authorId="{CF79BF5C-DD7D-70F1-BE74-C4007AFBFD61}" status="resolved" created="2026-09-09T05:15:13.791">
    <pc:sldMkLst xmlns:pc="http://schemas.microsoft.com/office/powerpoint/2013/main/command">
      <pc:docMk/>
      <pc:sldMk cId="524680870" sldId="299"/>
    </pc:sldMkLst>
    <p188:txBody>
      <a:bodyPr/>
      <a:lstStyle/>
      <a:p>
        <a:r>
          <a:rPr lang="ja-JP" altLang="en-US"/>
          <a:t>【内部相談事項】
新旧対応表のバージョン情報について、記載が必要か。（これまで記載なし）</a:t>
        </a:r>
      </a:p>
    </p188:txBody>
  </p188:cm>
  <p188:cm id="{41A15827-773D-4E05-8FC2-D45F705C7191}" authorId="{10EB5CEE-279F-C1A6-6148-0C38680EEDD2}" created="2026-09-09T09:26:54.783">
    <ac:deMkLst xmlns:ac="http://schemas.microsoft.com/office/drawing/2013/main/command">
      <pc:docMk xmlns:pc="http://schemas.microsoft.com/office/powerpoint/2013/main/command"/>
      <pc:sldMk xmlns:pc="http://schemas.microsoft.com/office/powerpoint/2013/main/command" cId="524680870" sldId="299"/>
      <ac:spMk id="96" creationId="{8ED0F044-0F9D-4CD2-B166-CC3D782785F7}"/>
    </ac:deMkLst>
    <p188:txBody>
      <a:bodyPr/>
      <a:lstStyle/>
      <a:p>
        <a:r>
          <a:rPr lang="ja-JP" altLang="en-US"/>
          <a:t>本田さんと会話の上、「9/28以降202603版は利用できません」という書きぶりは誤解を招きかねないため、「9/28以降は202606版をご利用ください」という書きぶりに戻しました。</a:t>
        </a:r>
      </a:p>
    </p188:txBody>
    <p188:extLst>
      <p:ext xmlns:p="http://schemas.openxmlformats.org/presentationml/2006/main" uri="{57CB4572-C831-44C2-8A1C-0ADB6CCDFE69}">
        <p223:reactions xmlns:p223="http://schemas.microsoft.com/office/powerpoint/2022/03/main">
          <p223:rxn type="👍">
            <p223:instance time="2026-09-10T02:18:00.416" authorId="{6ECA532E-61E6-26D5-2715-F415BEA539F7}"/>
          </p223:rxn>
        </p223:reactions>
      </p:ext>
    </p188:extLst>
  </p188:cm>
  <p188:cm id="{63CC2848-7C77-4025-A565-ADB27806EF3C}" authorId="{10EB5CEE-279F-C1A6-6148-0C38680EEDD2}" created="2026-09-09T09:29:57.760">
    <ac:txMkLst xmlns:ac="http://schemas.microsoft.com/office/drawing/2013/main/command">
      <pc:docMk xmlns:pc="http://schemas.microsoft.com/office/powerpoint/2013/main/command"/>
      <pc:sldMk xmlns:pc="http://schemas.microsoft.com/office/powerpoint/2013/main/command" cId="3977856509" sldId="304"/>
      <ac:spMk id="108" creationId="{217C8C9F-F113-D54D-2B90-B3AB72DBC6AB}"/>
      <ac:txMk cp="102" len="194">
        <ac:context len="332" hash="2408389025"/>
      </ac:txMk>
    </ac:txMkLst>
    <p188:pos x="2852594" y="261000"/>
    <p188:txBody>
      <a:bodyPr/>
      <a:lstStyle/>
      <a:p>
        <a:r>
          <a:rPr lang="ja-JP" altLang="en-US"/>
          <a:t>JLACセンターからの修正依頼分（適用終了日の扱いについて誤解を招かないよう記載する）です</a:t>
        </a:r>
      </a:p>
    </p188:txBody>
    <p188:extLst>
      <p:ext xmlns:p="http://schemas.openxmlformats.org/presentationml/2006/main" uri="{57CB4572-C831-44C2-8A1C-0ADB6CCDFE69}">
        <p223:reactions xmlns:p223="http://schemas.microsoft.com/office/powerpoint/2022/03/main">
          <p223:rxn type="👍">
            <p223:instance time="2026-09-10T02:20:58.967" authorId="{6ECA532E-61E6-26D5-2715-F415BEA539F7}"/>
          </p223:rxn>
        </p223:reactions>
      </p:ext>
    </p188:extLst>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38462B45-3B19-644E-AD02-C8057219CE6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083D6E86-57B2-8C4B-A4A6-B815EB7BC08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C100692-EAF4-2D4D-8CB7-4A95778DD0E4}" type="datetimeFigureOut">
              <a:rPr kumimoji="1" lang="ja-JP" altLang="en-US" smtClean="0"/>
              <a:t>2026/10/6</a:t>
            </a:fld>
            <a:endParaRPr kumimoji="1" lang="ja-JP" altLang="en-US"/>
          </a:p>
        </p:txBody>
      </p:sp>
      <p:sp>
        <p:nvSpPr>
          <p:cNvPr id="4" name="フッター プレースホルダー 3">
            <a:extLst>
              <a:ext uri="{FF2B5EF4-FFF2-40B4-BE49-F238E27FC236}">
                <a16:creationId xmlns:a16="http://schemas.microsoft.com/office/drawing/2014/main" id="{C8B21570-7BD7-0C4B-8425-70205C7AD7A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3C85AC23-07E1-0E46-9EE9-96123763DA4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3031F9-2228-CB40-9934-33F673688A70}" type="slidenum">
              <a:rPr kumimoji="1" lang="ja-JP" altLang="en-US" smtClean="0"/>
              <a:t>‹#›</a:t>
            </a:fld>
            <a:endParaRPr kumimoji="1" lang="ja-JP" altLang="en-US"/>
          </a:p>
        </p:txBody>
      </p:sp>
    </p:spTree>
    <p:extLst>
      <p:ext uri="{BB962C8B-B14F-4D97-AF65-F5344CB8AC3E}">
        <p14:creationId xmlns:p14="http://schemas.microsoft.com/office/powerpoint/2010/main" val="25345365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7A305E-D807-3946-A1A4-56C9B77AFB38}" type="datetimeFigureOut">
              <a:rPr kumimoji="1" lang="ja-JP" altLang="en-US" smtClean="0"/>
              <a:t>2026/10/6</a:t>
            </a:fld>
            <a:endParaRPr kumimoji="1" lang="ja-JP" altLang="en-US"/>
          </a:p>
        </p:txBody>
      </p:sp>
      <p:sp>
        <p:nvSpPr>
          <p:cNvPr id="4" name="スライド イメージ プレースホルダー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4F3F95-1DE9-F948-9ABE-A8F6E5B8157B}" type="slidenum">
              <a:rPr kumimoji="1" lang="ja-JP" altLang="en-US" smtClean="0"/>
              <a:t>‹#›</a:t>
            </a:fld>
            <a:endParaRPr kumimoji="1" lang="ja-JP" altLang="en-US"/>
          </a:p>
        </p:txBody>
      </p:sp>
    </p:spTree>
    <p:extLst>
      <p:ext uri="{BB962C8B-B14F-4D97-AF65-F5344CB8AC3E}">
        <p14:creationId xmlns:p14="http://schemas.microsoft.com/office/powerpoint/2010/main" val="2294022621"/>
      </p:ext>
    </p:extLst>
  </p:cSld>
  <p:clrMap bg1="lt1" tx1="dk1" bg2="lt2" tx2="dk2" accent1="accent1" accent2="accent2" accent3="accent3" accent4="accent4" accent5="accent5" accent6="accent6" hlink="hlink" folHlink="folHlink"/>
  <p:notesStyle>
    <a:lvl1pPr marL="0" algn="l" defTabSz="914373" rtl="0" eaLnBrk="1" latinLnBrk="0" hangingPunct="1">
      <a:defRPr kumimoji="1" sz="1200" kern="1200">
        <a:solidFill>
          <a:schemeClr val="tx1"/>
        </a:solidFill>
        <a:latin typeface="+mn-lt"/>
        <a:ea typeface="+mn-ea"/>
        <a:cs typeface="+mn-cs"/>
      </a:defRPr>
    </a:lvl1pPr>
    <a:lvl2pPr marL="457187" algn="l" defTabSz="914373" rtl="0" eaLnBrk="1" latinLnBrk="0" hangingPunct="1">
      <a:defRPr kumimoji="1" sz="1200" kern="1200">
        <a:solidFill>
          <a:schemeClr val="tx1"/>
        </a:solidFill>
        <a:latin typeface="+mn-lt"/>
        <a:ea typeface="+mn-ea"/>
        <a:cs typeface="+mn-cs"/>
      </a:defRPr>
    </a:lvl2pPr>
    <a:lvl3pPr marL="914373" algn="l" defTabSz="914373" rtl="0" eaLnBrk="1" latinLnBrk="0" hangingPunct="1">
      <a:defRPr kumimoji="1" sz="1200" kern="1200">
        <a:solidFill>
          <a:schemeClr val="tx1"/>
        </a:solidFill>
        <a:latin typeface="+mn-lt"/>
        <a:ea typeface="+mn-ea"/>
        <a:cs typeface="+mn-cs"/>
      </a:defRPr>
    </a:lvl3pPr>
    <a:lvl4pPr marL="1371560" algn="l" defTabSz="914373" rtl="0" eaLnBrk="1" latinLnBrk="0" hangingPunct="1">
      <a:defRPr kumimoji="1" sz="1200" kern="1200">
        <a:solidFill>
          <a:schemeClr val="tx1"/>
        </a:solidFill>
        <a:latin typeface="+mn-lt"/>
        <a:ea typeface="+mn-ea"/>
        <a:cs typeface="+mn-cs"/>
      </a:defRPr>
    </a:lvl4pPr>
    <a:lvl5pPr marL="1828747" algn="l" defTabSz="914373" rtl="0" eaLnBrk="1" latinLnBrk="0" hangingPunct="1">
      <a:defRPr kumimoji="1" sz="1200" kern="1200">
        <a:solidFill>
          <a:schemeClr val="tx1"/>
        </a:solidFill>
        <a:latin typeface="+mn-lt"/>
        <a:ea typeface="+mn-ea"/>
        <a:cs typeface="+mn-cs"/>
      </a:defRPr>
    </a:lvl5pPr>
    <a:lvl6pPr marL="2285933" algn="l" defTabSz="914373" rtl="0" eaLnBrk="1" latinLnBrk="0" hangingPunct="1">
      <a:defRPr kumimoji="1" sz="1200" kern="1200">
        <a:solidFill>
          <a:schemeClr val="tx1"/>
        </a:solidFill>
        <a:latin typeface="+mn-lt"/>
        <a:ea typeface="+mn-ea"/>
        <a:cs typeface="+mn-cs"/>
      </a:defRPr>
    </a:lvl6pPr>
    <a:lvl7pPr marL="2743120" algn="l" defTabSz="914373" rtl="0" eaLnBrk="1" latinLnBrk="0" hangingPunct="1">
      <a:defRPr kumimoji="1" sz="1200" kern="1200">
        <a:solidFill>
          <a:schemeClr val="tx1"/>
        </a:solidFill>
        <a:latin typeface="+mn-lt"/>
        <a:ea typeface="+mn-ea"/>
        <a:cs typeface="+mn-cs"/>
      </a:defRPr>
    </a:lvl7pPr>
    <a:lvl8pPr marL="3200307" algn="l" defTabSz="914373" rtl="0" eaLnBrk="1" latinLnBrk="0" hangingPunct="1">
      <a:defRPr kumimoji="1" sz="1200" kern="1200">
        <a:solidFill>
          <a:schemeClr val="tx1"/>
        </a:solidFill>
        <a:latin typeface="+mn-lt"/>
        <a:ea typeface="+mn-ea"/>
        <a:cs typeface="+mn-cs"/>
      </a:defRPr>
    </a:lvl8pPr>
    <a:lvl9pPr marL="3657494" algn="l" defTabSz="914373"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5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00"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8816148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46382255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2" name="テキスト プレースホルダー 11">
            <a:extLst>
              <a:ext uri="{FF2B5EF4-FFF2-40B4-BE49-F238E27FC236}">
                <a16:creationId xmlns:a16="http://schemas.microsoft.com/office/drawing/2014/main" id="{02C7D6AD-56C2-D17C-EE4A-4B9C9E6E5934}"/>
              </a:ext>
            </a:extLst>
          </p:cNvPr>
          <p:cNvSpPr>
            <a:spLocks noGrp="1"/>
          </p:cNvSpPr>
          <p:nvPr>
            <p:ph type="body" sz="quarter" idx="10"/>
          </p:nvPr>
        </p:nvSpPr>
        <p:spPr>
          <a:xfrm>
            <a:off x="507341" y="774373"/>
            <a:ext cx="8891323" cy="926435"/>
          </a:xfrm>
          <a:prstGeom prst="rect">
            <a:avLst/>
          </a:prstGeom>
        </p:spPr>
        <p:txBody>
          <a:bodyPr lIns="36000" tIns="36000" rIns="36000" bIns="36000" anchor="t">
            <a:noAutofit/>
          </a:bodyPr>
          <a:lstStyle>
            <a:lvl1pPr marL="0" indent="0" algn="l">
              <a:buFontTx/>
              <a:buNone/>
              <a:defRPr sz="1300"/>
            </a:lvl1pPr>
            <a:lvl2pPr marL="86417" indent="0" algn="l">
              <a:buFontTx/>
              <a:buNone/>
              <a:tabLst>
                <a:tab pos="291495" algn="l"/>
              </a:tabLst>
              <a:defRPr sz="1300"/>
            </a:lvl2pPr>
            <a:lvl3pPr marL="183152" indent="0" algn="l">
              <a:buFontTx/>
              <a:buNone/>
              <a:tabLst>
                <a:tab pos="365015" algn="l"/>
              </a:tabLst>
              <a:defRPr sz="1300"/>
            </a:lvl3pPr>
            <a:lvl4pPr algn="l">
              <a:defRPr sz="1300"/>
            </a:lvl4pPr>
            <a:lvl5pPr algn="l">
              <a:defRPr sz="13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p:txBody>
      </p:sp>
      <p:sp>
        <p:nvSpPr>
          <p:cNvPr id="4" name="コンテンツ プレースホルダー 7">
            <a:extLst>
              <a:ext uri="{FF2B5EF4-FFF2-40B4-BE49-F238E27FC236}">
                <a16:creationId xmlns:a16="http://schemas.microsoft.com/office/drawing/2014/main" id="{81628BD4-EE29-C53A-CDAC-1E0D9F3DAA92}"/>
              </a:ext>
            </a:extLst>
          </p:cNvPr>
          <p:cNvSpPr>
            <a:spLocks noGrp="1"/>
          </p:cNvSpPr>
          <p:nvPr>
            <p:ph sz="quarter" idx="11"/>
          </p:nvPr>
        </p:nvSpPr>
        <p:spPr>
          <a:xfrm>
            <a:off x="507000" y="2024844"/>
            <a:ext cx="8891322" cy="1873251"/>
          </a:xfrm>
          <a:prstGeom prst="rect">
            <a:avLst/>
          </a:prstGeom>
        </p:spPr>
        <p:txBody>
          <a:bodyPr/>
          <a:lstStyle>
            <a:lvl1pPr marL="139299" indent="-139299">
              <a:buFont typeface="Wingdings" panose="05000000000000000000" pitchFamily="2" charset="2"/>
              <a:buChar char="ü"/>
              <a:defRPr sz="975"/>
            </a:lvl1pPr>
            <a:lvl2pPr marL="291495" indent="-143169">
              <a:defRPr sz="975"/>
            </a:lvl2pPr>
            <a:lvl3pPr marL="365015" indent="-148328">
              <a:defRPr sz="975"/>
            </a:lvl3pPr>
            <a:lvl4pPr marL="439824" indent="-148328">
              <a:defRPr sz="975"/>
            </a:lvl4pPr>
            <a:lvl5pPr marL="508183" indent="-143169">
              <a:tabLst>
                <a:tab pos="508183" algn="l"/>
              </a:tabLst>
              <a:defRPr sz="975"/>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99882758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1993769352"/>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sp>
        <p:nvSpPr>
          <p:cNvPr id="13" name="テキスト プレースホルダー 4">
            <a:extLst>
              <a:ext uri="{FF2B5EF4-FFF2-40B4-BE49-F238E27FC236}">
                <a16:creationId xmlns:a16="http://schemas.microsoft.com/office/drawing/2014/main" id="{860FD802-8011-34AF-495F-555F932B44B9}"/>
              </a:ext>
            </a:extLst>
          </p:cNvPr>
          <p:cNvSpPr>
            <a:spLocks noGrp="1"/>
          </p:cNvSpPr>
          <p:nvPr>
            <p:ph type="body" sz="quarter" idx="4294967295"/>
          </p:nvPr>
        </p:nvSpPr>
        <p:spPr>
          <a:xfrm>
            <a:off x="506506" y="4149080"/>
            <a:ext cx="8892000" cy="720000"/>
          </a:xfrm>
        </p:spPr>
        <p:txBody>
          <a:bodyPr lIns="36000" tIns="36000" rIns="36000" bIns="36000">
            <a:noAutofit/>
          </a:bodyPr>
          <a:lstStyle>
            <a:lvl1pPr>
              <a:defRPr sz="1625"/>
            </a:lvl1pPr>
          </a:lstStyle>
          <a:p>
            <a:endParaRPr lang="ja-JP" altLang="en-US" sz="1462"/>
          </a:p>
        </p:txBody>
      </p:sp>
      <p:sp>
        <p:nvSpPr>
          <p:cNvPr id="16" name="テキスト プレースホルダー 4">
            <a:extLst>
              <a:ext uri="{FF2B5EF4-FFF2-40B4-BE49-F238E27FC236}">
                <a16:creationId xmlns:a16="http://schemas.microsoft.com/office/drawing/2014/main" id="{F2013EBA-49E0-1177-CA6D-448CC398F17A}"/>
              </a:ext>
            </a:extLst>
          </p:cNvPr>
          <p:cNvSpPr>
            <a:spLocks noGrp="1"/>
          </p:cNvSpPr>
          <p:nvPr>
            <p:ph type="body" sz="quarter" idx="4294967295" hasCustomPrompt="1"/>
          </p:nvPr>
        </p:nvSpPr>
        <p:spPr>
          <a:xfrm>
            <a:off x="6201139" y="5373313"/>
            <a:ext cx="3042338" cy="720000"/>
          </a:xfrm>
        </p:spPr>
        <p:txBody>
          <a:bodyPr lIns="36000" tIns="36000" rIns="36000" bIns="36000">
            <a:noAutofit/>
          </a:bodyPr>
          <a:lstStyle>
            <a:lvl1pPr>
              <a:defRPr sz="1625"/>
            </a:lvl1pPr>
          </a:lstStyle>
          <a:p>
            <a:r>
              <a:rPr lang="ja-JP" altLang="en-US" sz="1462"/>
              <a:t>資料作成日付、</a:t>
            </a:r>
            <a:br>
              <a:rPr lang="en-US" altLang="ja-JP" sz="1462"/>
            </a:br>
            <a:r>
              <a:rPr lang="ja-JP" altLang="en-US" sz="1462"/>
              <a:t>会社名を入力</a:t>
            </a:r>
          </a:p>
        </p:txBody>
      </p:sp>
      <p:sp>
        <p:nvSpPr>
          <p:cNvPr id="17" name="テキスト プレースホルダー 11">
            <a:extLst>
              <a:ext uri="{FF2B5EF4-FFF2-40B4-BE49-F238E27FC236}">
                <a16:creationId xmlns:a16="http://schemas.microsoft.com/office/drawing/2014/main" id="{F3428E60-F8EE-59DA-8B2F-81AD5D057A46}"/>
              </a:ext>
            </a:extLst>
          </p:cNvPr>
          <p:cNvSpPr>
            <a:spLocks noGrp="1"/>
          </p:cNvSpPr>
          <p:nvPr>
            <p:ph type="body" sz="quarter" idx="10" hasCustomPrompt="1"/>
          </p:nvPr>
        </p:nvSpPr>
        <p:spPr>
          <a:xfrm>
            <a:off x="507341" y="2708273"/>
            <a:ext cx="8891323" cy="864000"/>
          </a:xfrm>
          <a:prstGeom prst="rect">
            <a:avLst/>
          </a:prstGeom>
        </p:spPr>
        <p:txBody>
          <a:bodyPr lIns="36000" tIns="36000" rIns="36000" bIns="36000">
            <a:noAutofit/>
          </a:bodyPr>
          <a:lstStyle>
            <a:lvl1pPr>
              <a:defRPr sz="1950" b="1">
                <a:latin typeface="+mj-ea"/>
                <a:ea typeface="+mj-ea"/>
              </a:defRPr>
            </a:lvl1pPr>
            <a:lvl2pPr>
              <a:defRPr sz="1950">
                <a:latin typeface="+mj-ea"/>
                <a:ea typeface="+mj-ea"/>
              </a:defRPr>
            </a:lvl2pPr>
            <a:lvl3pPr>
              <a:defRPr sz="1950">
                <a:latin typeface="+mj-ea"/>
                <a:ea typeface="+mj-ea"/>
              </a:defRPr>
            </a:lvl3pPr>
            <a:lvl4pPr>
              <a:defRPr sz="1950">
                <a:latin typeface="+mj-ea"/>
                <a:ea typeface="+mj-ea"/>
              </a:defRPr>
            </a:lvl4pPr>
            <a:lvl5pPr>
              <a:defRPr sz="1950">
                <a:latin typeface="+mj-ea"/>
                <a:ea typeface="+mj-ea"/>
              </a:defRPr>
            </a:lvl5pPr>
          </a:lstStyle>
          <a:p>
            <a:pPr lvl="0"/>
            <a:r>
              <a:rPr kumimoji="1" lang="ja-JP" altLang="en-US"/>
              <a:t>ファイルタイトルを入力</a:t>
            </a:r>
          </a:p>
        </p:txBody>
      </p:sp>
    </p:spTree>
    <p:extLst>
      <p:ext uri="{BB962C8B-B14F-4D97-AF65-F5344CB8AC3E}">
        <p14:creationId xmlns:p14="http://schemas.microsoft.com/office/powerpoint/2010/main" val="730514090"/>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1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46"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91760471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B5F514-B7F3-0B8E-B1D6-F8A16F8C61D7}"/>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F1B213-BAAA-CD06-A1C6-B95158E72468}"/>
              </a:ext>
            </a:extLst>
          </p:cNvPr>
          <p:cNvSpPr>
            <a:spLocks noGrp="1"/>
          </p:cNvSpPr>
          <p:nvPr>
            <p:ph idx="1"/>
          </p:nvPr>
        </p:nvSpPr>
        <p:spPr>
          <a:xfrm>
            <a:off x="681038" y="1825625"/>
            <a:ext cx="8543925"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729364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
        <p:nvSpPr>
          <p:cNvPr id="4" name="Rectangle 26"/>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00">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userDrawn="1"/>
        </p:nvCxnSpPr>
        <p:spPr>
          <a:xfrm>
            <a:off x="493582"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5"/>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900" i="0" kern="1200">
                <a:solidFill>
                  <a:schemeClr val="tx1">
                    <a:tint val="75000"/>
                  </a:schemeClr>
                </a:solidFill>
                <a:latin typeface="ＭＳ Ｐゴシック" pitchFamily="50" charset="-128"/>
                <a:ea typeface="ＭＳ Ｐゴシック" pitchFamily="50" charset="-128"/>
                <a:cs typeface="+mn-cs"/>
              </a:defRPr>
            </a:lvl1pPr>
            <a:lvl2pPr marL="457117"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2pPr>
            <a:lvl3pPr marL="914235"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3pPr>
            <a:lvl4pPr marL="1371353"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4pPr>
            <a:lvl5pPr marL="1828470"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5pPr>
            <a:lvl6pPr marL="2285588"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6pPr>
            <a:lvl7pPr marL="2742705"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7pPr>
            <a:lvl8pPr marL="3199823"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8pPr>
            <a:lvl9pPr marL="3656940"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9pPr>
          </a:lstStyle>
          <a:p>
            <a:r>
              <a:rPr lang="en-US" altLang="ja-JP" dirty="0"/>
              <a:t>Ⅵ- </a:t>
            </a:r>
            <a:fld id="{E3A1B1B9-DB5A-4A9C-982F-30AEF92F76F0}" type="slidenum">
              <a:rPr lang="ja-JP" altLang="en-US" smtClean="0"/>
              <a:pPr/>
              <a:t>‹#›</a:t>
            </a:fld>
            <a:endParaRPr lang="ja-JP" altLang="en-US"/>
          </a:p>
        </p:txBody>
      </p:sp>
    </p:spTree>
    <p:extLst>
      <p:ext uri="{BB962C8B-B14F-4D97-AF65-F5344CB8AC3E}">
        <p14:creationId xmlns:p14="http://schemas.microsoft.com/office/powerpoint/2010/main" val="3815723713"/>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1208732935"/>
      </p:ext>
    </p:extLst>
  </p:cSld>
  <p:clrMapOvr>
    <a:masterClrMapping/>
  </p:clrMapOvr>
  <p:extLst>
    <p:ext uri="{DCECCB84-F9BA-43D5-87BE-67443E8EF086}">
      <p15:sldGuideLst xmlns:p15="http://schemas.microsoft.com/office/powerpoint/2012/main">
        <p15:guide id="1" orient="horz" pos="2160">
          <p15:clr>
            <a:srgbClr val="FBAE40"/>
          </p15:clr>
        </p15:guide>
        <p15:guide id="2" pos="6015">
          <p15:clr>
            <a:srgbClr val="FBAE40"/>
          </p15:clr>
        </p15:guide>
        <p15:guide id="3" pos="225">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userDrawn="1"/>
        </p:nvSpPr>
        <p:spPr>
          <a:xfrm>
            <a:off x="0" y="0"/>
            <a:ext cx="3988592" cy="350865"/>
          </a:xfrm>
          <a:prstGeom prst="rect">
            <a:avLst/>
          </a:prstGeom>
        </p:spPr>
        <p:txBody>
          <a:bodyPr wrap="none">
            <a:spAutoFit/>
          </a:bodyPr>
          <a:lstStyle/>
          <a:p>
            <a:pPr>
              <a:lnSpc>
                <a:spcPct val="80000"/>
              </a:lnSpc>
              <a:spcBef>
                <a:spcPts val="0"/>
              </a:spcBef>
            </a:pPr>
            <a:r>
              <a:rPr kumimoji="1" lang="en-US" altLang="ja-JP" sz="1050" b="0" i="0" u="none" kern="1200" dirty="0">
                <a:solidFill>
                  <a:schemeClr val="tx1"/>
                </a:solidFill>
                <a:latin typeface="+mj-ea"/>
                <a:ea typeface="+mj-ea"/>
                <a:cs typeface="Angsana New" panose="020B0502040204020203" pitchFamily="18" charset="-34"/>
              </a:rPr>
              <a:t>Ⅱ</a:t>
            </a:r>
            <a:r>
              <a:rPr kumimoji="1" lang="ja-JP" altLang="en-US" sz="1050"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1050"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endParaRPr lang="en-US" altLang="ja-JP"/>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1329777725"/>
      </p:ext>
    </p:extLst>
  </p:cSld>
  <p:clrMapOvr>
    <a:masterClrMapping/>
  </p:clrMapOvr>
  <p:extLst>
    <p:ext uri="{DCECCB84-F9BA-43D5-87BE-67443E8EF086}">
      <p15:sldGuideLst xmlns:p15="http://schemas.microsoft.com/office/powerpoint/2012/main">
        <p15:guide id="1" orient="horz" pos="2160">
          <p15:clr>
            <a:srgbClr val="FBAE40"/>
          </p15:clr>
        </p15:guide>
        <p15:guide id="2" pos="6014">
          <p15:clr>
            <a:srgbClr val="FBAE40"/>
          </p15:clr>
        </p15:guide>
        <p15:guide id="3" pos="22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userDrawn="1"/>
        </p:nvSpPr>
        <p:spPr>
          <a:xfrm>
            <a:off x="0" y="0"/>
            <a:ext cx="1688283" cy="221599"/>
          </a:xfrm>
          <a:prstGeom prst="rect">
            <a:avLst/>
          </a:prstGeom>
        </p:spPr>
        <p:txBody>
          <a:bodyPr wrap="none">
            <a:spAutoFit/>
          </a:bodyPr>
          <a:lstStyle/>
          <a:p>
            <a:r>
              <a:rPr lang="en-US" altLang="ja-JP" sz="1050" i="0" dirty="0">
                <a:latin typeface="+mj-ea"/>
                <a:ea typeface="+mj-ea"/>
              </a:rPr>
              <a:t>Ⅲ</a:t>
            </a:r>
            <a:r>
              <a:rPr lang="ja-JP" altLang="en-US" sz="1050"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3825257710"/>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userDrawn="1"/>
        </p:nvSpPr>
        <p:spPr>
          <a:xfrm>
            <a:off x="0" y="0"/>
            <a:ext cx="3236784" cy="221599"/>
          </a:xfrm>
          <a:prstGeom prst="rect">
            <a:avLst/>
          </a:prstGeom>
        </p:spPr>
        <p:txBody>
          <a:bodyPr wrap="none">
            <a:spAutoFit/>
          </a:bodyPr>
          <a:lstStyle/>
          <a:p>
            <a:r>
              <a:rPr lang="en-US" altLang="ja-JP" sz="1050" i="0" dirty="0">
                <a:latin typeface="+mj-ea"/>
                <a:ea typeface="+mj-ea"/>
              </a:rPr>
              <a:t>Ⅳ</a:t>
            </a:r>
            <a:r>
              <a:rPr lang="ja-JP" altLang="en-US" sz="1050" i="0">
                <a:latin typeface="+mj-ea"/>
                <a:ea typeface="+mj-ea"/>
              </a:rPr>
              <a:t>章　令和</a:t>
            </a:r>
            <a:r>
              <a:rPr lang="en-US" altLang="ja-JP" sz="1050" i="0" dirty="0">
                <a:latin typeface="+mj-ea"/>
                <a:ea typeface="+mj-ea"/>
              </a:rPr>
              <a:t>5</a:t>
            </a:r>
            <a:r>
              <a:rPr lang="ja-JP" altLang="en-US" sz="1050"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919968553"/>
      </p:ext>
    </p:extLst>
  </p:cSld>
  <p:clrMapOvr>
    <a:masterClrMapping/>
  </p:clrMapOvr>
  <p:extLst>
    <p:ext uri="{DCECCB84-F9BA-43D5-87BE-67443E8EF086}">
      <p15:sldGuideLst xmlns:p15="http://schemas.microsoft.com/office/powerpoint/2012/main">
        <p15:guide id="1" orient="horz" pos="2160">
          <p15:clr>
            <a:srgbClr val="FBAE40"/>
          </p15:clr>
        </p15:guide>
        <p15:guide id="2" pos="227">
          <p15:clr>
            <a:srgbClr val="FBAE40"/>
          </p15:clr>
        </p15:guide>
        <p15:guide id="3" pos="601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userDrawn="1"/>
        </p:nvSpPr>
        <p:spPr>
          <a:xfrm>
            <a:off x="0" y="0"/>
            <a:ext cx="3943708" cy="221599"/>
          </a:xfrm>
          <a:prstGeom prst="rect">
            <a:avLst/>
          </a:prstGeom>
        </p:spPr>
        <p:txBody>
          <a:bodyPr wrap="none">
            <a:spAutoFit/>
          </a:bodyPr>
          <a:lstStyle/>
          <a:p>
            <a:pPr>
              <a:lnSpc>
                <a:spcPct val="80000"/>
              </a:lnSpc>
              <a:spcBef>
                <a:spcPts val="0"/>
              </a:spcBef>
            </a:pPr>
            <a:r>
              <a:rPr lang="en-US" altLang="ja-JP" sz="1050" b="0" i="0" dirty="0">
                <a:solidFill>
                  <a:schemeClr val="tx1"/>
                </a:solidFill>
                <a:latin typeface="+mn-ea"/>
                <a:ea typeface="+mn-ea"/>
              </a:rPr>
              <a:t>Ⅴ</a:t>
            </a:r>
            <a:r>
              <a:rPr lang="ja-JP" altLang="en-US" sz="1050" b="0" i="0">
                <a:solidFill>
                  <a:schemeClr val="tx1"/>
                </a:solidFill>
                <a:latin typeface="+mn-ea"/>
                <a:ea typeface="+mn-ea"/>
              </a:rPr>
              <a:t>章　</a:t>
            </a:r>
            <a:r>
              <a:rPr kumimoji="1" lang="ja-JP" altLang="en-US" sz="1050"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2991164507"/>
      </p:ext>
    </p:extLst>
  </p:cSld>
  <p:clrMapOvr>
    <a:masterClrMapping/>
  </p:clrMapOvr>
  <p:extLst>
    <p:ext uri="{DCECCB84-F9BA-43D5-87BE-67443E8EF086}">
      <p15:sldGuideLst xmlns:p15="http://schemas.microsoft.com/office/powerpoint/2012/main">
        <p15:guide id="1" orient="horz" pos="2160">
          <p15:clr>
            <a:srgbClr val="FBAE40"/>
          </p15:clr>
        </p15:guide>
        <p15:guide id="2" pos="227">
          <p15:clr>
            <a:srgbClr val="FBAE40"/>
          </p15:clr>
        </p15:guide>
        <p15:guide id="3" pos="601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userDrawn="1"/>
        </p:nvSpPr>
        <p:spPr>
          <a:xfrm>
            <a:off x="0" y="0"/>
            <a:ext cx="1620957" cy="221599"/>
          </a:xfrm>
          <a:prstGeom prst="rect">
            <a:avLst/>
          </a:prstGeom>
        </p:spPr>
        <p:txBody>
          <a:bodyPr wrap="none">
            <a:spAutoFit/>
          </a:bodyPr>
          <a:lstStyle/>
          <a:p>
            <a:r>
              <a:rPr lang="en-US" altLang="ja-JP" sz="1050" i="0" dirty="0">
                <a:latin typeface="+mj-ea"/>
                <a:ea typeface="+mj-ea"/>
              </a:rPr>
              <a:t>Ⅵ</a:t>
            </a:r>
            <a:r>
              <a:rPr lang="ja-JP" altLang="en-US" sz="1050"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3705838387"/>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userDrawn="1"/>
        </p:nvSpPr>
        <p:spPr>
          <a:xfrm>
            <a:off x="0" y="0"/>
            <a:ext cx="1620957" cy="221599"/>
          </a:xfrm>
          <a:prstGeom prst="rect">
            <a:avLst/>
          </a:prstGeom>
        </p:spPr>
        <p:txBody>
          <a:bodyPr wrap="none">
            <a:spAutoFit/>
          </a:bodyPr>
          <a:lstStyle/>
          <a:p>
            <a:r>
              <a:rPr lang="en-US" altLang="ja-JP" sz="1050" i="0" dirty="0">
                <a:latin typeface="+mj-ea"/>
                <a:ea typeface="+mj-ea"/>
              </a:rPr>
              <a:t>Ⅶ</a:t>
            </a:r>
            <a:r>
              <a:rPr lang="ja-JP" altLang="en-US" sz="1050" i="0">
                <a:latin typeface="+mj-ea"/>
                <a:ea typeface="+mj-ea"/>
              </a:rPr>
              <a:t>章　技術解説書（案）</a:t>
            </a: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1835157389"/>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userDrawn="1"/>
        </p:nvSpPr>
        <p:spPr>
          <a:xfrm>
            <a:off x="9548813" y="6645244"/>
            <a:ext cx="265143" cy="212756"/>
          </a:xfrm>
          <a:prstGeom prst="rect">
            <a:avLst/>
          </a:prstGeom>
          <a:solidFill>
            <a:srgbClr val="CBDDF5"/>
          </a:solidFill>
        </p:spPr>
        <p:txBody>
          <a:bodyPr wrap="none" lIns="36000" tIns="36000" rIns="36000" bIns="36000" rtlCol="0" anchor="ctr">
            <a:noAutofit/>
          </a:bodyPr>
          <a:lstStyle/>
          <a:p>
            <a:pPr algn="l"/>
            <a:endParaRPr kumimoji="1" lang="ja-JP" altLang="en-US"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userDrawn="1"/>
        </p:nvSpPr>
        <p:spPr>
          <a:xfrm>
            <a:off x="110151" y="606581"/>
            <a:ext cx="9795849" cy="624689"/>
          </a:xfrm>
          <a:prstGeom prst="rect">
            <a:avLst/>
          </a:prstGeom>
          <a:solidFill>
            <a:srgbClr val="CBDDF5"/>
          </a:solidFill>
        </p:spPr>
        <p:txBody>
          <a:bodyPr wrap="none" lIns="36000" tIns="36000" rIns="36000" bIns="36000" rtlCol="0" anchor="ctr">
            <a:noAutofit/>
          </a:bodyPr>
          <a:lstStyle/>
          <a:p>
            <a:pPr algn="l"/>
            <a:endParaRPr kumimoji="1" lang="ja-JP" altLang="en-US"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userDrawn="1"/>
        </p:nvSpPr>
        <p:spPr>
          <a:xfrm>
            <a:off x="0" y="0"/>
            <a:ext cx="10076507" cy="6953061"/>
          </a:xfrm>
          <a:prstGeom prst="rect">
            <a:avLst/>
          </a:prstGeom>
        </p:spPr>
        <p:txBody>
          <a:bodyPr wrap="none" lIns="36000" tIns="36000" rIns="36000" bIns="36000" rtlCol="0" anchor="ctr">
            <a:noAutofit/>
          </a:bodyPr>
          <a:lstStyle/>
          <a:p>
            <a:pPr algn="l"/>
            <a:endParaRPr kumimoji="1" lang="ja-JP" altLang="en-US" i="0">
              <a:latin typeface="+mn-ea"/>
              <a:ea typeface="+mn-ea"/>
              <a:cs typeface="Arial" charset="0"/>
            </a:endParaRPr>
          </a:p>
        </p:txBody>
      </p:sp>
    </p:spTree>
    <p:extLst>
      <p:ext uri="{BB962C8B-B14F-4D97-AF65-F5344CB8AC3E}">
        <p14:creationId xmlns:p14="http://schemas.microsoft.com/office/powerpoint/2010/main" val="2240430744"/>
      </p:ext>
    </p:extLst>
  </p:cSld>
  <p:clrMapOvr>
    <a:masterClrMapping/>
  </p:clrMapOvr>
  <p:extLst>
    <p:ext uri="{DCECCB84-F9BA-43D5-87BE-67443E8EF086}">
      <p15:sldGuideLst xmlns:p15="http://schemas.microsoft.com/office/powerpoint/2012/main">
        <p15:guide id="1" orient="horz" pos="2160">
          <p15:clr>
            <a:srgbClr val="FBAE40"/>
          </p15:clr>
        </p15:guide>
        <p15:guide id="2" pos="6015">
          <p15:clr>
            <a:srgbClr val="FBAE40"/>
          </p15:clr>
        </p15:guide>
        <p15:guide id="3" pos="225">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23383944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831913380"/>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dirty="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231596185"/>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p:nvSpPr>
        <p:spPr>
          <a:xfrm>
            <a:off x="0" y="0"/>
            <a:ext cx="1579278" cy="241476"/>
          </a:xfrm>
          <a:prstGeom prst="rect">
            <a:avLst/>
          </a:prstGeom>
        </p:spPr>
        <p:txBody>
          <a:bodyPr wrap="none">
            <a:spAutoFit/>
          </a:bodyPr>
          <a:lstStyle/>
          <a:p>
            <a:r>
              <a:rPr lang="en-US" altLang="ja-JP" sz="969" i="0" dirty="0">
                <a:latin typeface="+mj-ea"/>
                <a:ea typeface="+mj-ea"/>
              </a:rPr>
              <a:t>Ⅲ</a:t>
            </a:r>
            <a:r>
              <a:rPr lang="ja-JP" altLang="en-US" sz="969"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412192160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dirty="0">
                <a:latin typeface="+mj-ea"/>
                <a:ea typeface="+mj-ea"/>
              </a:rPr>
              <a:t>Ⅳ</a:t>
            </a:r>
            <a:r>
              <a:rPr lang="ja-JP" altLang="en-US" sz="969" i="0">
                <a:latin typeface="+mj-ea"/>
                <a:ea typeface="+mj-ea"/>
              </a:rPr>
              <a:t>章　令和</a:t>
            </a:r>
            <a:r>
              <a:rPr lang="en-US" altLang="ja-JP" sz="969" i="0" dirty="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97022120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dirty="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85080722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516762" cy="241476"/>
          </a:xfrm>
          <a:prstGeom prst="rect">
            <a:avLst/>
          </a:prstGeom>
        </p:spPr>
        <p:txBody>
          <a:bodyPr wrap="none">
            <a:spAutoFit/>
          </a:bodyPr>
          <a:lstStyle/>
          <a:p>
            <a:r>
              <a:rPr lang="en-US" altLang="ja-JP" sz="969" i="0" dirty="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3418154983"/>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6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p:nvSpPr>
        <p:spPr>
          <a:xfrm>
            <a:off x="0" y="0"/>
            <a:ext cx="1516762" cy="241476"/>
          </a:xfrm>
          <a:prstGeom prst="rect">
            <a:avLst/>
          </a:prstGeom>
        </p:spPr>
        <p:txBody>
          <a:bodyPr wrap="none">
            <a:spAutoFit/>
          </a:bodyPr>
          <a:lstStyle/>
          <a:p>
            <a:r>
              <a:rPr lang="en-US" altLang="ja-JP" sz="969" i="0" dirty="0">
                <a:latin typeface="+mj-ea"/>
                <a:ea typeface="+mj-ea"/>
              </a:rPr>
              <a:t>Ⅶ</a:t>
            </a:r>
            <a:r>
              <a:rPr lang="ja-JP" altLang="en-US" sz="969" i="0">
                <a:latin typeface="+mj-ea"/>
                <a:ea typeface="+mj-ea"/>
              </a:rPr>
              <a:t>章　技術解説書（案）</a:t>
            </a: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06887596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3172993512"/>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表紙2">
    <p:spTree>
      <p:nvGrpSpPr>
        <p:cNvPr id="1" name=""/>
        <p:cNvGrpSpPr/>
        <p:nvPr/>
      </p:nvGrpSpPr>
      <p:grpSpPr>
        <a:xfrm>
          <a:off x="0" y="0"/>
          <a:ext cx="0" cy="0"/>
          <a:chOff x="0" y="0"/>
          <a:chExt cx="0" cy="0"/>
        </a:xfrm>
      </p:grpSpPr>
      <p:sp>
        <p:nvSpPr>
          <p:cNvPr id="8" name="テキスト プレースホルダー 14">
            <a:extLst>
              <a:ext uri="{FF2B5EF4-FFF2-40B4-BE49-F238E27FC236}">
                <a16:creationId xmlns:a16="http://schemas.microsoft.com/office/drawing/2014/main" id="{61738D56-6561-1C48-AB89-C7F65FB15878}"/>
              </a:ext>
            </a:extLst>
          </p:cNvPr>
          <p:cNvSpPr>
            <a:spLocks noGrp="1"/>
          </p:cNvSpPr>
          <p:nvPr>
            <p:ph type="body" sz="quarter" idx="12"/>
          </p:nvPr>
        </p:nvSpPr>
        <p:spPr>
          <a:xfrm>
            <a:off x="2362200" y="4042661"/>
            <a:ext cx="7534810" cy="370807"/>
          </a:xfrm>
        </p:spPr>
        <p:txBody>
          <a:bodyPr wrap="square" lIns="288000">
            <a:spAutoFit/>
          </a:bodyPr>
          <a:lstStyle>
            <a:lvl1pPr marL="0" indent="0">
              <a:spcAft>
                <a:spcPts val="369"/>
              </a:spcAft>
              <a:buNone/>
              <a:defRPr lang="ja-JP" altLang="en-US" sz="1477" spc="138" smtClean="0">
                <a:solidFill>
                  <a:schemeClr val="tx1"/>
                </a:solidFill>
              </a:defRPr>
            </a:lvl1pPr>
            <a:lvl2pPr marL="211021" indent="0">
              <a:spcAft>
                <a:spcPts val="369"/>
              </a:spcAft>
              <a:buNone/>
              <a:defRPr lang="ja-JP" altLang="en-US" sz="1477" smtClean="0">
                <a:solidFill>
                  <a:schemeClr val="tx1"/>
                </a:solidFill>
                <a:latin typeface="+mn-lt"/>
                <a:ea typeface="+mn-ea"/>
              </a:defRPr>
            </a:lvl2pPr>
            <a:lvl3pPr marL="633062" indent="0">
              <a:spcAft>
                <a:spcPts val="369"/>
              </a:spcAft>
              <a:buNone/>
              <a:defRPr lang="ja-JP" altLang="en-US" sz="1477" smtClean="0">
                <a:solidFill>
                  <a:schemeClr val="tx1"/>
                </a:solidFill>
                <a:latin typeface="+mn-lt"/>
                <a:ea typeface="+mn-ea"/>
              </a:defRPr>
            </a:lvl3pPr>
            <a:lvl4pPr marL="1055103" indent="0">
              <a:spcAft>
                <a:spcPts val="369"/>
              </a:spcAft>
              <a:buNone/>
              <a:defRPr lang="ja-JP" altLang="en-US" sz="1477" smtClean="0">
                <a:solidFill>
                  <a:schemeClr val="tx1"/>
                </a:solidFill>
                <a:latin typeface="+mn-lt"/>
                <a:ea typeface="+mn-ea"/>
              </a:defRPr>
            </a:lvl4pPr>
            <a:lvl5pPr marL="1477145" indent="0">
              <a:spcAft>
                <a:spcPts val="369"/>
              </a:spcAft>
              <a:buNone/>
              <a:defRPr lang="ja-JP" altLang="en-US" sz="1477">
                <a:solidFill>
                  <a:schemeClr val="tx1"/>
                </a:solidFill>
                <a:latin typeface="+mn-lt"/>
                <a:ea typeface="+mn-ea"/>
              </a:defRPr>
            </a:lvl5pPr>
          </a:lstStyle>
          <a:p>
            <a:pPr marL="0" lvl="0" defTabSz="422041"/>
            <a:r>
              <a:rPr kumimoji="1" lang="ja-JP" altLang="en-US"/>
              <a:t>マスター テキストの書式設定</a:t>
            </a:r>
          </a:p>
        </p:txBody>
      </p:sp>
      <p:sp>
        <p:nvSpPr>
          <p:cNvPr id="14" name="Footer Placeholder 2">
            <a:extLst>
              <a:ext uri="{FF2B5EF4-FFF2-40B4-BE49-F238E27FC236}">
                <a16:creationId xmlns:a16="http://schemas.microsoft.com/office/drawing/2014/main" id="{00B915E3-9721-E14D-9069-1E3398AC9B47}"/>
              </a:ext>
            </a:extLst>
          </p:cNvPr>
          <p:cNvSpPr>
            <a:spLocks noGrp="1"/>
          </p:cNvSpPr>
          <p:nvPr>
            <p:ph type="ftr" sz="quarter" idx="11"/>
          </p:nvPr>
        </p:nvSpPr>
        <p:spPr>
          <a:xfrm>
            <a:off x="4450710" y="6379367"/>
            <a:ext cx="3757975" cy="263263"/>
          </a:xfrm>
        </p:spPr>
        <p:txBody>
          <a:bodyPr/>
          <a:lstStyle/>
          <a:p>
            <a:pPr>
              <a:defRPr/>
            </a:pPr>
            <a:r>
              <a:rPr lang="en-AU" dirty="0"/>
              <a:t>Copyright © 202</a:t>
            </a:r>
            <a:r>
              <a:rPr lang="en-US" altLang="ja-JP" dirty="0"/>
              <a:t>2</a:t>
            </a:r>
            <a:r>
              <a:rPr lang="en-AU" dirty="0"/>
              <a:t> Accenture All Rights Reserved.</a:t>
            </a:r>
          </a:p>
        </p:txBody>
      </p:sp>
      <p:sp>
        <p:nvSpPr>
          <p:cNvPr id="15" name="タイトル 17">
            <a:extLst>
              <a:ext uri="{FF2B5EF4-FFF2-40B4-BE49-F238E27FC236}">
                <a16:creationId xmlns:a16="http://schemas.microsoft.com/office/drawing/2014/main" id="{74E58C1A-9531-3C45-9E29-C7A0D7F2876F}"/>
              </a:ext>
            </a:extLst>
          </p:cNvPr>
          <p:cNvSpPr>
            <a:spLocks noGrp="1"/>
          </p:cNvSpPr>
          <p:nvPr>
            <p:ph type="title"/>
          </p:nvPr>
        </p:nvSpPr>
        <p:spPr>
          <a:xfrm>
            <a:off x="2362200" y="1447802"/>
            <a:ext cx="7534810" cy="2304191"/>
          </a:xfrm>
        </p:spPr>
        <p:txBody>
          <a:bodyPr lIns="288000" tIns="180000" rIns="360000" bIns="72000" anchor="b"/>
          <a:lstStyle>
            <a:lvl1pPr>
              <a:defRPr sz="2215">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3098198212"/>
      </p:ext>
    </p:extLst>
  </p:cSld>
  <p:clrMapOvr>
    <a:masterClrMapping/>
  </p:clrMapOvr>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9_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br>
              <a:rPr lang="en-US" altLang="ja-JP"/>
            </a:br>
            <a:r>
              <a:rPr lang="ja-JP" altLang="en-US"/>
              <a:t>マスタ タイトルの書式設定</a:t>
            </a:r>
          </a:p>
        </p:txBody>
      </p:sp>
      <p:sp>
        <p:nvSpPr>
          <p:cNvPr id="4" name="Rectangle 26"/>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0" indent="0" algn="l">
              <a:spcBef>
                <a:spcPts val="0"/>
              </a:spcBef>
              <a:buFontTx/>
              <a:buNone/>
              <a:defRPr sz="1400">
                <a:latin typeface="+mj-ea"/>
                <a:ea typeface="+mj-ea"/>
              </a:defRPr>
            </a:lvl1pPr>
            <a:lvl2pPr marL="479338" indent="0">
              <a:buFontTx/>
              <a:buNone/>
              <a:defRPr sz="1400">
                <a:latin typeface="+mn-ea"/>
                <a:ea typeface="+mn-ea"/>
              </a:defRPr>
            </a:lvl2pPr>
            <a:lvl3pPr marL="955503" indent="0">
              <a:buFontTx/>
              <a:buNone/>
              <a:defRPr sz="1400">
                <a:latin typeface="+mn-ea"/>
                <a:ea typeface="+mn-ea"/>
              </a:defRPr>
            </a:lvl3pPr>
          </a:lstStyle>
          <a:p>
            <a:pPr marL="0" marR="0" lvl="0" indent="0" algn="l" defTabSz="914400" rtl="0" eaLnBrk="0" fontAlgn="base" latinLnBrk="0" hangingPunct="0">
              <a:lnSpc>
                <a:spcPct val="100000"/>
              </a:lnSpc>
              <a:spcBef>
                <a:spcPct val="20000"/>
              </a:spcBef>
              <a:spcAft>
                <a:spcPct val="0"/>
              </a:spcAft>
              <a:buClrTx/>
              <a:buSzTx/>
              <a:buFontTx/>
              <a:buNone/>
              <a:tabLst/>
              <a:defRPr/>
            </a:pPr>
            <a:r>
              <a:rPr lang="en-US" altLang="ja-JP"/>
              <a:t>Click to edit Master text styles</a:t>
            </a:r>
          </a:p>
          <a:p>
            <a:pPr lvl="1"/>
            <a:endParaRPr lang="en-US" altLang="ja-JP"/>
          </a:p>
          <a:p>
            <a:pPr marL="0" marR="0" lvl="0" indent="0" algn="l" defTabSz="914400" rtl="0" eaLnBrk="0" fontAlgn="base" latinLnBrk="0" hangingPunct="0">
              <a:lnSpc>
                <a:spcPct val="100000"/>
              </a:lnSpc>
              <a:spcBef>
                <a:spcPts val="0"/>
              </a:spcBef>
              <a:spcAft>
                <a:spcPct val="0"/>
              </a:spcAft>
              <a:buClrTx/>
              <a:buSzTx/>
              <a:buFont typeface="+mj-lt"/>
              <a:buNone/>
              <a:tabLst/>
              <a:defRPr/>
            </a:pP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userDrawn="1"/>
        </p:nvCxnSpPr>
        <p:spPr>
          <a:xfrm>
            <a:off x="493582"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7150" y="6485691"/>
            <a:ext cx="2228850" cy="365125"/>
          </a:xfrm>
          <a:prstGeom prst="rect">
            <a:avLst/>
          </a:prstGeom>
        </p:spPr>
        <p:txBody>
          <a:bodyPr/>
          <a:lstStyle>
            <a:lvl1pPr>
              <a:defRPr sz="900" i="0">
                <a:latin typeface="+mn-ea"/>
                <a:ea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2B2E2AD-30EA-4392-9E57-A05A6E6C41F4}" type="slidenum">
              <a:rPr kumimoji="1" lang="ja-JP" altLang="en-US" sz="900" b="0" i="0" u="none" strike="noStrike" kern="1200" cap="none" spc="0" normalizeH="0" baseline="0" noProof="0" smtClean="0">
                <a:ln>
                  <a:noFill/>
                </a:ln>
                <a:solidFill>
                  <a:prstClr val="black"/>
                </a:solidFill>
                <a:effectLst/>
                <a:uLnTx/>
                <a:uFillTx/>
                <a:latin typeface="Meiryo UI"/>
                <a:ea typeface="Meiryo UI"/>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1" lang="ja-JP" altLang="en-US" sz="900" b="0" i="0" u="none" strike="noStrike" kern="1200" cap="none" spc="0" normalizeH="0" baseline="0" noProof="0">
              <a:ln>
                <a:noFill/>
              </a:ln>
              <a:solidFill>
                <a:prstClr val="black"/>
              </a:solidFill>
              <a:effectLst/>
              <a:uLnTx/>
              <a:uFillTx/>
              <a:latin typeface="Meiryo UI"/>
              <a:ea typeface="Meiryo UI"/>
              <a:cs typeface="+mn-cs"/>
            </a:endParaRPr>
          </a:p>
        </p:txBody>
      </p:sp>
      <p:sp>
        <p:nvSpPr>
          <p:cNvPr id="7" name="Rectangle 26">
            <a:extLst>
              <a:ext uri="{FF2B5EF4-FFF2-40B4-BE49-F238E27FC236}">
                <a16:creationId xmlns:a16="http://schemas.microsoft.com/office/drawing/2014/main" id="{B68BBABA-2A80-FE9A-53CE-100FA3347CB2}"/>
              </a:ext>
            </a:extLst>
          </p:cNvPr>
          <p:cNvSpPr>
            <a:spLocks noGrp="1" noChangeArrowheads="1"/>
          </p:cNvSpPr>
          <p:nvPr>
            <p:ph idx="11" hasCustomPrompt="1"/>
          </p:nvPr>
        </p:nvSpPr>
        <p:spPr bwMode="auto">
          <a:xfrm>
            <a:off x="493582" y="2619985"/>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285750" indent="-285750" algn="l">
              <a:spcBef>
                <a:spcPts val="0"/>
              </a:spcBef>
              <a:buFont typeface="Wingdings" panose="05000000000000000000" pitchFamily="2" charset="2"/>
              <a:buChar char="ü"/>
              <a:defRPr sz="1400">
                <a:latin typeface="+mj-ea"/>
                <a:ea typeface="+mj-ea"/>
              </a:defRPr>
            </a:lvl1pPr>
            <a:lvl2pPr marL="765037" indent="-285699">
              <a:buFont typeface="Wingdings" panose="05000000000000000000" pitchFamily="2" charset="2"/>
              <a:buChar char="Ø"/>
              <a:defRPr sz="1400">
                <a:latin typeface="+mn-ea"/>
                <a:ea typeface="+mn-ea"/>
              </a:defRPr>
            </a:lvl2pPr>
            <a:lvl3pPr marL="1241253" indent="-285750">
              <a:buFont typeface="Arial" panose="020B0604020202020204" pitchFamily="34" charset="0"/>
              <a:buChar char="•"/>
              <a:defRPr sz="1400">
                <a:latin typeface="+mn-ea"/>
                <a:ea typeface="+mn-ea"/>
              </a:defRPr>
            </a:lvl3pPr>
          </a:lstStyle>
          <a:p>
            <a:pPr lvl="0"/>
            <a:r>
              <a:rPr lang="en-US" altLang="ja-JP"/>
              <a:t>Click to edit Master text styles</a:t>
            </a:r>
          </a:p>
          <a:p>
            <a:pPr lvl="1"/>
            <a:r>
              <a:rPr lang="en-US" altLang="ja-JP"/>
              <a:t>Aa</a:t>
            </a:r>
          </a:p>
          <a:p>
            <a:pPr lvl="2"/>
            <a:r>
              <a:rPr lang="en-US" altLang="ja-JP" sz="1400">
                <a:latin typeface="+mn-ea"/>
                <a:ea typeface="+mn-ea"/>
              </a:rPr>
              <a:t>Bb</a:t>
            </a:r>
          </a:p>
          <a:p>
            <a:pPr lvl="2"/>
            <a:endParaRPr lang="en-US" altLang="ja-JP"/>
          </a:p>
          <a:p>
            <a:pPr lvl="1"/>
            <a:endParaRPr lang="en-US" altLang="ja-JP"/>
          </a:p>
          <a:p>
            <a:pPr marL="0" marR="0" lvl="0" indent="0" algn="l" defTabSz="914400" rtl="0" eaLnBrk="0" fontAlgn="base" latinLnBrk="0" hangingPunct="0">
              <a:lnSpc>
                <a:spcPct val="100000"/>
              </a:lnSpc>
              <a:spcBef>
                <a:spcPts val="0"/>
              </a:spcBef>
              <a:spcAft>
                <a:spcPct val="0"/>
              </a:spcAft>
              <a:buClrTx/>
              <a:buSzTx/>
              <a:buFont typeface="+mj-lt"/>
              <a:buNone/>
              <a:tabLst/>
              <a:defRPr/>
            </a:pPr>
            <a:br>
              <a:rPr lang="en-US" altLang="ja-JP"/>
            </a:br>
            <a:endParaRPr lang="en-US" altLang="ja-JP"/>
          </a:p>
        </p:txBody>
      </p:sp>
    </p:spTree>
    <p:extLst>
      <p:ext uri="{BB962C8B-B14F-4D97-AF65-F5344CB8AC3E}">
        <p14:creationId xmlns:p14="http://schemas.microsoft.com/office/powerpoint/2010/main" val="2015678929"/>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2000"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1702220400"/>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Title Only（大）">
    <p:spTree>
      <p:nvGrpSpPr>
        <p:cNvPr id="1" name=""/>
        <p:cNvGrpSpPr/>
        <p:nvPr/>
      </p:nvGrpSpPr>
      <p:grpSpPr>
        <a:xfrm>
          <a:off x="0" y="0"/>
          <a:ext cx="0" cy="0"/>
          <a:chOff x="0" y="0"/>
          <a:chExt cx="0" cy="0"/>
        </a:xfrm>
      </p:grpSpPr>
      <p:sp>
        <p:nvSpPr>
          <p:cNvPr id="2" name="Title 1"/>
          <p:cNvSpPr>
            <a:spLocks noGrp="1"/>
          </p:cNvSpPr>
          <p:nvPr>
            <p:ph type="title"/>
          </p:nvPr>
        </p:nvSpPr>
        <p:spPr>
          <a:xfrm>
            <a:off x="248809" y="165600"/>
            <a:ext cx="9657193" cy="360000"/>
          </a:xfrm>
          <a:solidFill>
            <a:srgbClr val="00B0F0"/>
          </a:solidFill>
        </p:spPr>
        <p:txBody>
          <a:bodyPr lIns="72000" tIns="108000" rIns="72000" bIns="72000">
            <a:noAutofit/>
          </a:bodyPr>
          <a:lstStyle>
            <a:lvl1pPr marL="0">
              <a:defRPr sz="2200"/>
            </a:lvl1pPr>
          </a:lstStyle>
          <a:p>
            <a:endParaRPr lang="en-US"/>
          </a:p>
        </p:txBody>
      </p:sp>
      <p:sp>
        <p:nvSpPr>
          <p:cNvPr id="3" name="正方形/長方形 2"/>
          <p:cNvSpPr/>
          <p:nvPr userDrawn="1"/>
        </p:nvSpPr>
        <p:spPr>
          <a:xfrm>
            <a:off x="0" y="165600"/>
            <a:ext cx="248806" cy="360000"/>
          </a:xfrm>
          <a:prstGeom prst="rect">
            <a:avLst/>
          </a:prstGeom>
          <a:solidFill>
            <a:srgbClr val="0032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4" name="テキスト プレースホルダー 14"/>
          <p:cNvSpPr>
            <a:spLocks noGrp="1"/>
          </p:cNvSpPr>
          <p:nvPr>
            <p:ph type="body" sz="quarter" idx="10"/>
          </p:nvPr>
        </p:nvSpPr>
        <p:spPr>
          <a:xfrm>
            <a:off x="272135" y="692958"/>
            <a:ext cx="9439485" cy="1390124"/>
          </a:xfrm>
          <a:prstGeom prst="rect">
            <a:avLst/>
          </a:prstGeom>
        </p:spPr>
        <p:txBody>
          <a:bodyPr wrap="square" lIns="0" tIns="0" rIns="0" bIns="0">
            <a:spAutoFit/>
          </a:bodyPr>
          <a:lstStyle>
            <a:lvl1pPr marL="87828" indent="-87828">
              <a:buClr>
                <a:srgbClr val="002060"/>
              </a:buClr>
              <a:buFont typeface="メイリオ" panose="020B0604030504040204" pitchFamily="50" charset="-128"/>
              <a:buChar char="▪"/>
              <a:defRPr sz="1600">
                <a:solidFill>
                  <a:schemeClr val="tx1"/>
                </a:solidFill>
                <a:latin typeface="メイリオ" panose="020B0604030504040204" pitchFamily="50" charset="-128"/>
                <a:ea typeface="メイリオ" panose="020B0604030504040204" pitchFamily="50" charset="-128"/>
              </a:defRPr>
            </a:lvl1pPr>
            <a:lvl2pPr marL="368875" indent="-175655">
              <a:buFont typeface="Arial" panose="020B0604020202020204" pitchFamily="34" charset="0"/>
              <a:buChar char="‒"/>
              <a:defRPr sz="1600">
                <a:solidFill>
                  <a:schemeClr val="tx1"/>
                </a:solidFill>
                <a:latin typeface="メイリオ" panose="020B0604030504040204" pitchFamily="50" charset="-128"/>
                <a:ea typeface="メイリオ" panose="020B0604030504040204" pitchFamily="50" charset="-128"/>
              </a:defRPr>
            </a:lvl2pPr>
            <a:lvl3pPr marL="544531" indent="-175655">
              <a:buFont typeface="メイリオ" panose="020B0604030504040204" pitchFamily="50" charset="-128"/>
              <a:buChar char="▫"/>
              <a:defRPr sz="1600">
                <a:solidFill>
                  <a:schemeClr val="tx1"/>
                </a:solidFill>
                <a:latin typeface="メイリオ" panose="020B0604030504040204" pitchFamily="50" charset="-128"/>
                <a:ea typeface="メイリオ" panose="020B0604030504040204" pitchFamily="50" charset="-128"/>
              </a:defRPr>
            </a:lvl3pPr>
            <a:lvl4pPr marL="720186" indent="-175655">
              <a:buFont typeface="Calibri" panose="020F0502020204030204" pitchFamily="34" charset="0"/>
              <a:buChar char="‐"/>
              <a:defRPr sz="1600">
                <a:solidFill>
                  <a:schemeClr val="tx1"/>
                </a:solidFill>
                <a:latin typeface="メイリオ" panose="020B0604030504040204" pitchFamily="50" charset="-128"/>
                <a:ea typeface="メイリオ" panose="020B0604030504040204" pitchFamily="50" charset="-128"/>
              </a:defRPr>
            </a:lvl4pPr>
            <a:lvl5pPr marL="895842" indent="-175655">
              <a:buFont typeface="メイリオ" panose="020B0604030504040204" pitchFamily="50" charset="-128"/>
              <a:buChar char="◦"/>
              <a:defRPr sz="1600">
                <a:solidFill>
                  <a:schemeClr val="tx1"/>
                </a:solidFill>
                <a:latin typeface="メイリオ" panose="020B0604030504040204" pitchFamily="50" charset="-128"/>
                <a:ea typeface="メイリオ"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6411341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
        <p:nvSpPr>
          <p:cNvPr id="4" name="Rectangle 26"/>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00">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userDrawn="1"/>
        </p:nvCxnSpPr>
        <p:spPr>
          <a:xfrm>
            <a:off x="493582"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5"/>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900" i="0" kern="1200">
                <a:solidFill>
                  <a:schemeClr val="tx1">
                    <a:tint val="75000"/>
                  </a:schemeClr>
                </a:solidFill>
                <a:latin typeface="ＭＳ Ｐゴシック" pitchFamily="50" charset="-128"/>
                <a:ea typeface="ＭＳ Ｐゴシック" pitchFamily="50" charset="-128"/>
                <a:cs typeface="+mn-cs"/>
              </a:defRPr>
            </a:lvl1pPr>
            <a:lvl2pPr marL="457117"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2pPr>
            <a:lvl3pPr marL="914235"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3pPr>
            <a:lvl4pPr marL="1371353"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4pPr>
            <a:lvl5pPr marL="1828470"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5pPr>
            <a:lvl6pPr marL="2285588"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6pPr>
            <a:lvl7pPr marL="2742705"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7pPr>
            <a:lvl8pPr marL="3199823"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8pPr>
            <a:lvl9pPr marL="3656940"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9pPr>
          </a:lstStyle>
          <a:p>
            <a:r>
              <a:rPr lang="en-US" altLang="ja-JP" dirty="0"/>
              <a:t>Ⅵ- </a:t>
            </a:r>
            <a:fld id="{E3A1B1B9-DB5A-4A9C-982F-30AEF92F76F0}" type="slidenum">
              <a:rPr lang="ja-JP" altLang="en-US" smtClean="0"/>
              <a:pPr/>
              <a:t>‹#›</a:t>
            </a:fld>
            <a:endParaRPr lang="ja-JP" altLang="en-US"/>
          </a:p>
        </p:txBody>
      </p:sp>
    </p:spTree>
    <p:extLst>
      <p:ext uri="{BB962C8B-B14F-4D97-AF65-F5344CB8AC3E}">
        <p14:creationId xmlns:p14="http://schemas.microsoft.com/office/powerpoint/2010/main" val="1087251299"/>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2412957434"/>
      </p:ext>
    </p:extLst>
  </p:cSld>
  <p:clrMapOvr>
    <a:masterClrMapping/>
  </p:clrMapOvr>
  <p:extLst>
    <p:ext uri="{DCECCB84-F9BA-43D5-87BE-67443E8EF086}">
      <p15:sldGuideLst xmlns:p15="http://schemas.microsoft.com/office/powerpoint/2012/main">
        <p15:guide id="1" orient="horz" pos="2160">
          <p15:clr>
            <a:srgbClr val="FBAE40"/>
          </p15:clr>
        </p15:guide>
        <p15:guide id="2" pos="6015">
          <p15:clr>
            <a:srgbClr val="FBAE40"/>
          </p15:clr>
        </p15:guide>
        <p15:guide id="3" pos="225">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userDrawn="1"/>
        </p:nvSpPr>
        <p:spPr>
          <a:xfrm>
            <a:off x="0" y="0"/>
            <a:ext cx="3988592" cy="350865"/>
          </a:xfrm>
          <a:prstGeom prst="rect">
            <a:avLst/>
          </a:prstGeom>
        </p:spPr>
        <p:txBody>
          <a:bodyPr wrap="none">
            <a:spAutoFit/>
          </a:bodyPr>
          <a:lstStyle/>
          <a:p>
            <a:pPr>
              <a:lnSpc>
                <a:spcPct val="80000"/>
              </a:lnSpc>
              <a:spcBef>
                <a:spcPts val="0"/>
              </a:spcBef>
            </a:pPr>
            <a:r>
              <a:rPr kumimoji="1" lang="en-US" altLang="ja-JP" sz="1050" b="0" i="0" u="none" kern="1200" dirty="0">
                <a:solidFill>
                  <a:schemeClr val="tx1"/>
                </a:solidFill>
                <a:latin typeface="+mj-ea"/>
                <a:ea typeface="+mj-ea"/>
                <a:cs typeface="Angsana New" panose="020B0502040204020203" pitchFamily="18" charset="-34"/>
              </a:rPr>
              <a:t>Ⅱ</a:t>
            </a:r>
            <a:r>
              <a:rPr kumimoji="1" lang="ja-JP" altLang="en-US" sz="1050"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1050"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endParaRPr lang="en-US" altLang="ja-JP"/>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393131732"/>
      </p:ext>
    </p:extLst>
  </p:cSld>
  <p:clrMapOvr>
    <a:masterClrMapping/>
  </p:clrMapOvr>
  <p:extLst>
    <p:ext uri="{DCECCB84-F9BA-43D5-87BE-67443E8EF086}">
      <p15:sldGuideLst xmlns:p15="http://schemas.microsoft.com/office/powerpoint/2012/main">
        <p15:guide id="1" orient="horz" pos="2160">
          <p15:clr>
            <a:srgbClr val="FBAE40"/>
          </p15:clr>
        </p15:guide>
        <p15:guide id="2" pos="6014">
          <p15:clr>
            <a:srgbClr val="FBAE40"/>
          </p15:clr>
        </p15:guide>
        <p15:guide id="3" pos="22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userDrawn="1"/>
        </p:nvSpPr>
        <p:spPr>
          <a:xfrm>
            <a:off x="0" y="0"/>
            <a:ext cx="1688283" cy="221599"/>
          </a:xfrm>
          <a:prstGeom prst="rect">
            <a:avLst/>
          </a:prstGeom>
        </p:spPr>
        <p:txBody>
          <a:bodyPr wrap="none">
            <a:spAutoFit/>
          </a:bodyPr>
          <a:lstStyle/>
          <a:p>
            <a:r>
              <a:rPr lang="en-US" altLang="ja-JP" sz="1050" i="0" dirty="0">
                <a:latin typeface="+mj-ea"/>
                <a:ea typeface="+mj-ea"/>
              </a:rPr>
              <a:t>Ⅲ</a:t>
            </a:r>
            <a:r>
              <a:rPr lang="ja-JP" altLang="en-US" sz="1050"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3946515212"/>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userDrawn="1"/>
        </p:nvSpPr>
        <p:spPr>
          <a:xfrm>
            <a:off x="0" y="0"/>
            <a:ext cx="3236784" cy="221599"/>
          </a:xfrm>
          <a:prstGeom prst="rect">
            <a:avLst/>
          </a:prstGeom>
        </p:spPr>
        <p:txBody>
          <a:bodyPr wrap="none">
            <a:spAutoFit/>
          </a:bodyPr>
          <a:lstStyle/>
          <a:p>
            <a:r>
              <a:rPr lang="en-US" altLang="ja-JP" sz="1050" i="0" dirty="0">
                <a:latin typeface="+mj-ea"/>
                <a:ea typeface="+mj-ea"/>
              </a:rPr>
              <a:t>Ⅳ</a:t>
            </a:r>
            <a:r>
              <a:rPr lang="ja-JP" altLang="en-US" sz="1050" i="0">
                <a:latin typeface="+mj-ea"/>
                <a:ea typeface="+mj-ea"/>
              </a:rPr>
              <a:t>章　令和</a:t>
            </a:r>
            <a:r>
              <a:rPr lang="en-US" altLang="ja-JP" sz="1050" i="0" dirty="0">
                <a:latin typeface="+mj-ea"/>
                <a:ea typeface="+mj-ea"/>
              </a:rPr>
              <a:t>5</a:t>
            </a:r>
            <a:r>
              <a:rPr lang="ja-JP" altLang="en-US" sz="1050"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1474942343"/>
      </p:ext>
    </p:extLst>
  </p:cSld>
  <p:clrMapOvr>
    <a:masterClrMapping/>
  </p:clrMapOvr>
  <p:extLst>
    <p:ext uri="{DCECCB84-F9BA-43D5-87BE-67443E8EF086}">
      <p15:sldGuideLst xmlns:p15="http://schemas.microsoft.com/office/powerpoint/2012/main">
        <p15:guide id="1" orient="horz" pos="2160">
          <p15:clr>
            <a:srgbClr val="FBAE40"/>
          </p15:clr>
        </p15:guide>
        <p15:guide id="2" pos="227">
          <p15:clr>
            <a:srgbClr val="FBAE40"/>
          </p15:clr>
        </p15:guide>
        <p15:guide id="3" pos="601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userDrawn="1"/>
        </p:nvSpPr>
        <p:spPr>
          <a:xfrm>
            <a:off x="0" y="0"/>
            <a:ext cx="3943708" cy="221599"/>
          </a:xfrm>
          <a:prstGeom prst="rect">
            <a:avLst/>
          </a:prstGeom>
        </p:spPr>
        <p:txBody>
          <a:bodyPr wrap="none">
            <a:spAutoFit/>
          </a:bodyPr>
          <a:lstStyle/>
          <a:p>
            <a:pPr>
              <a:lnSpc>
                <a:spcPct val="80000"/>
              </a:lnSpc>
              <a:spcBef>
                <a:spcPts val="0"/>
              </a:spcBef>
            </a:pPr>
            <a:r>
              <a:rPr lang="en-US" altLang="ja-JP" sz="1050" b="0" i="0" dirty="0">
                <a:solidFill>
                  <a:schemeClr val="tx1"/>
                </a:solidFill>
                <a:latin typeface="+mn-ea"/>
                <a:ea typeface="+mn-ea"/>
              </a:rPr>
              <a:t>Ⅴ</a:t>
            </a:r>
            <a:r>
              <a:rPr lang="ja-JP" altLang="en-US" sz="1050" b="0" i="0">
                <a:solidFill>
                  <a:schemeClr val="tx1"/>
                </a:solidFill>
                <a:latin typeface="+mn-ea"/>
                <a:ea typeface="+mn-ea"/>
              </a:rPr>
              <a:t>章　</a:t>
            </a:r>
            <a:r>
              <a:rPr kumimoji="1" lang="ja-JP" altLang="en-US" sz="1050"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749058045"/>
      </p:ext>
    </p:extLst>
  </p:cSld>
  <p:clrMapOvr>
    <a:masterClrMapping/>
  </p:clrMapOvr>
  <p:extLst>
    <p:ext uri="{DCECCB84-F9BA-43D5-87BE-67443E8EF086}">
      <p15:sldGuideLst xmlns:p15="http://schemas.microsoft.com/office/powerpoint/2012/main">
        <p15:guide id="1" orient="horz" pos="2160">
          <p15:clr>
            <a:srgbClr val="FBAE40"/>
          </p15:clr>
        </p15:guide>
        <p15:guide id="2" pos="227">
          <p15:clr>
            <a:srgbClr val="FBAE40"/>
          </p15:clr>
        </p15:guide>
        <p15:guide id="3" pos="6015">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userDrawn="1"/>
        </p:nvSpPr>
        <p:spPr>
          <a:xfrm>
            <a:off x="0" y="0"/>
            <a:ext cx="1620957" cy="221599"/>
          </a:xfrm>
          <a:prstGeom prst="rect">
            <a:avLst/>
          </a:prstGeom>
        </p:spPr>
        <p:txBody>
          <a:bodyPr wrap="none">
            <a:spAutoFit/>
          </a:bodyPr>
          <a:lstStyle/>
          <a:p>
            <a:r>
              <a:rPr lang="en-US" altLang="ja-JP" sz="1050" i="0" dirty="0">
                <a:latin typeface="+mj-ea"/>
                <a:ea typeface="+mj-ea"/>
              </a:rPr>
              <a:t>Ⅵ</a:t>
            </a:r>
            <a:r>
              <a:rPr lang="ja-JP" altLang="en-US" sz="1050"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1046400890"/>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6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userDrawn="1"/>
        </p:nvSpPr>
        <p:spPr>
          <a:xfrm>
            <a:off x="0" y="0"/>
            <a:ext cx="1620957" cy="221599"/>
          </a:xfrm>
          <a:prstGeom prst="rect">
            <a:avLst/>
          </a:prstGeom>
        </p:spPr>
        <p:txBody>
          <a:bodyPr wrap="none">
            <a:spAutoFit/>
          </a:bodyPr>
          <a:lstStyle/>
          <a:p>
            <a:r>
              <a:rPr lang="en-US" altLang="ja-JP" sz="1050" i="0" dirty="0">
                <a:latin typeface="+mj-ea"/>
                <a:ea typeface="+mj-ea"/>
              </a:rPr>
              <a:t>Ⅶ</a:t>
            </a:r>
            <a:r>
              <a:rPr lang="ja-JP" altLang="en-US" sz="1050" i="0">
                <a:latin typeface="+mj-ea"/>
                <a:ea typeface="+mj-ea"/>
              </a:rPr>
              <a:t>章　技術解説書（案）</a:t>
            </a: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3201370265"/>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userDrawn="1"/>
        </p:nvSpPr>
        <p:spPr>
          <a:xfrm>
            <a:off x="9548813" y="6645244"/>
            <a:ext cx="265143" cy="212756"/>
          </a:xfrm>
          <a:prstGeom prst="rect">
            <a:avLst/>
          </a:prstGeom>
          <a:solidFill>
            <a:srgbClr val="CBDDF5"/>
          </a:solidFill>
        </p:spPr>
        <p:txBody>
          <a:bodyPr wrap="none" lIns="36000" tIns="36000" rIns="36000" bIns="36000" rtlCol="0" anchor="ctr">
            <a:noAutofit/>
          </a:bodyPr>
          <a:lstStyle/>
          <a:p>
            <a:pPr algn="l"/>
            <a:endParaRPr kumimoji="1" lang="ja-JP" altLang="en-US"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userDrawn="1"/>
        </p:nvSpPr>
        <p:spPr>
          <a:xfrm>
            <a:off x="110151" y="606581"/>
            <a:ext cx="9795849" cy="624689"/>
          </a:xfrm>
          <a:prstGeom prst="rect">
            <a:avLst/>
          </a:prstGeom>
          <a:solidFill>
            <a:srgbClr val="CBDDF5"/>
          </a:solidFill>
        </p:spPr>
        <p:txBody>
          <a:bodyPr wrap="none" lIns="36000" tIns="36000" rIns="36000" bIns="36000" rtlCol="0" anchor="ctr">
            <a:noAutofit/>
          </a:bodyPr>
          <a:lstStyle/>
          <a:p>
            <a:pPr algn="l"/>
            <a:endParaRPr kumimoji="1" lang="ja-JP" altLang="en-US"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userDrawn="1"/>
        </p:nvSpPr>
        <p:spPr>
          <a:xfrm>
            <a:off x="0" y="0"/>
            <a:ext cx="10076507" cy="6953061"/>
          </a:xfrm>
          <a:prstGeom prst="rect">
            <a:avLst/>
          </a:prstGeom>
        </p:spPr>
        <p:txBody>
          <a:bodyPr wrap="none" lIns="36000" tIns="36000" rIns="36000" bIns="36000" rtlCol="0" anchor="ctr">
            <a:noAutofit/>
          </a:bodyPr>
          <a:lstStyle/>
          <a:p>
            <a:pPr algn="l"/>
            <a:endParaRPr kumimoji="1" lang="ja-JP" altLang="en-US" i="0">
              <a:latin typeface="+mn-ea"/>
              <a:ea typeface="+mn-ea"/>
              <a:cs typeface="Arial" charset="0"/>
            </a:endParaRPr>
          </a:p>
        </p:txBody>
      </p:sp>
    </p:spTree>
    <p:extLst>
      <p:ext uri="{BB962C8B-B14F-4D97-AF65-F5344CB8AC3E}">
        <p14:creationId xmlns:p14="http://schemas.microsoft.com/office/powerpoint/2010/main" val="2593496442"/>
      </p:ext>
    </p:extLst>
  </p:cSld>
  <p:clrMapOvr>
    <a:masterClrMapping/>
  </p:clrMapOvr>
  <p:extLst>
    <p:ext uri="{DCECCB84-F9BA-43D5-87BE-67443E8EF086}">
      <p15:sldGuideLst xmlns:p15="http://schemas.microsoft.com/office/powerpoint/2012/main">
        <p15:guide id="1" orient="horz" pos="2160">
          <p15:clr>
            <a:srgbClr val="FBAE40"/>
          </p15:clr>
        </p15:guide>
        <p15:guide id="2" pos="6015">
          <p15:clr>
            <a:srgbClr val="FBAE40"/>
          </p15:clr>
        </p15:guide>
        <p15:guide id="3" pos="225">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88009679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325860574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r>
              <a:rPr lang="en-US" altLang="ja-JP" dirty="0"/>
              <a:t>Ⅵ- </a:t>
            </a:r>
            <a:fld id="{E3A1B1B9-DB5A-4A9C-982F-30AEF92F76F0}" type="slidenum">
              <a:rPr lang="ja-JP" altLang="en-US" smtClean="0"/>
              <a:pPr/>
              <a:t>‹#›</a:t>
            </a:fld>
            <a:endParaRPr lang="ja-JP" altLang="en-US"/>
          </a:p>
        </p:txBody>
      </p:sp>
    </p:spTree>
    <p:extLst>
      <p:ext uri="{BB962C8B-B14F-4D97-AF65-F5344CB8AC3E}">
        <p14:creationId xmlns:p14="http://schemas.microsoft.com/office/powerpoint/2010/main" val="638411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689411270"/>
      </p:ext>
    </p:extLst>
  </p:cSld>
  <p:clrMapOvr>
    <a:masterClrMapping/>
  </p:clrMapOvr>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dirty="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567376059"/>
      </p:ext>
    </p:extLst>
  </p:cSld>
  <p:clrMapOvr>
    <a:masterClrMapping/>
  </p:clrMapOvr>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055098902"/>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dirty="0">
                <a:latin typeface="+mj-ea"/>
                <a:ea typeface="+mj-ea"/>
              </a:rPr>
              <a:t>Ⅳ</a:t>
            </a:r>
            <a:r>
              <a:rPr lang="ja-JP" altLang="en-US" sz="969" i="0">
                <a:latin typeface="+mj-ea"/>
                <a:ea typeface="+mj-ea"/>
              </a:rPr>
              <a:t>章　令和</a:t>
            </a:r>
            <a:r>
              <a:rPr lang="en-US" altLang="ja-JP" sz="969" i="0" dirty="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819253058"/>
      </p:ext>
    </p:extLst>
  </p:cSld>
  <p:clrMapOvr>
    <a:masterClrMapping/>
  </p:clrMapOvr>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dirty="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845553278"/>
      </p:ext>
    </p:extLst>
  </p:cSld>
  <p:clrMapOvr>
    <a:masterClrMapping/>
  </p:clrMapOvr>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516762" cy="241476"/>
          </a:xfrm>
          <a:prstGeom prst="rect">
            <a:avLst/>
          </a:prstGeom>
        </p:spPr>
        <p:txBody>
          <a:bodyPr wrap="none">
            <a:spAutoFit/>
          </a:bodyPr>
          <a:lstStyle/>
          <a:p>
            <a:r>
              <a:rPr lang="en-US" altLang="ja-JP" sz="969" i="0" dirty="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619923062"/>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6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p:nvSpPr>
        <p:spPr>
          <a:xfrm>
            <a:off x="0" y="0"/>
            <a:ext cx="1516762" cy="241476"/>
          </a:xfrm>
          <a:prstGeom prst="rect">
            <a:avLst/>
          </a:prstGeom>
        </p:spPr>
        <p:txBody>
          <a:bodyPr wrap="none">
            <a:spAutoFit/>
          </a:bodyPr>
          <a:lstStyle/>
          <a:p>
            <a:r>
              <a:rPr lang="en-US" altLang="ja-JP" sz="969" i="0" dirty="0">
                <a:latin typeface="+mj-ea"/>
                <a:ea typeface="+mj-ea"/>
              </a:rPr>
              <a:t>Ⅶ</a:t>
            </a:r>
            <a:r>
              <a:rPr lang="ja-JP" altLang="en-US" sz="969" i="0">
                <a:latin typeface="+mj-ea"/>
                <a:ea typeface="+mj-ea"/>
              </a:rPr>
              <a:t>章　技術解説書（案）</a:t>
            </a: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52584662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482922804"/>
      </p:ext>
    </p:extLst>
  </p:cSld>
  <p:clrMapOvr>
    <a:masterClrMapping/>
  </p:clrMapOvr>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3.xml"/><Relationship Id="rId5" Type="http://schemas.openxmlformats.org/officeDocument/2006/relationships/slideLayout" Target="../slideLayouts/slideLayout5.xml"/><Relationship Id="rId10"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10" Type="http://schemas.openxmlformats.org/officeDocument/2006/relationships/theme" Target="../theme/theme2.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heme" Target="../theme/theme4.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5" Type="http://schemas.openxmlformats.org/officeDocument/2006/relationships/slideLayout" Target="../slideLayouts/slideLayout45.xml"/><Relationship Id="rId10" Type="http://schemas.openxmlformats.org/officeDocument/2006/relationships/theme" Target="../theme/theme5.xml"/><Relationship Id="rId4" Type="http://schemas.openxmlformats.org/officeDocument/2006/relationships/slideLayout" Target="../slideLayouts/slideLayout44.xml"/><Relationship Id="rId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8D37800-827B-46F8-DF58-F3EAC1F7B0AA}"/>
              </a:ext>
            </a:extLst>
          </p:cNvPr>
          <p:cNvGraphicFramePr>
            <a:graphicFrameLocks noChangeAspect="1"/>
          </p:cNvGraphicFramePr>
          <p:nvPr userDrawn="1">
            <p:custDataLst>
              <p:tags r:id="rId9"/>
            </p:custDataLst>
            <p:extLst>
              <p:ext uri="{D42A27DB-BD31-4B8C-83A1-F6EECF244321}">
                <p14:modId xmlns:p14="http://schemas.microsoft.com/office/powerpoint/2010/main" val="1457617614"/>
              </p:ext>
            </p:ext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スライド" r:id="rId12" imgW="360" imgH="360" progId="TCLayout.ActiveDocument.1">
                  <p:embed/>
                </p:oleObj>
              </mc:Choice>
              <mc:Fallback>
                <p:oleObj name="think-cellスライド" r:id="rId12" imgW="360" imgH="360" progId="TCLayout.ActiveDocument.1">
                  <p:embed/>
                  <p:pic>
                    <p:nvPicPr>
                      <p:cNvPr id="3" name="think-cell data - do not delete" hidden="1">
                        <a:extLst>
                          <a:ext uri="{FF2B5EF4-FFF2-40B4-BE49-F238E27FC236}">
                            <a16:creationId xmlns:a16="http://schemas.microsoft.com/office/drawing/2014/main" id="{58D37800-827B-46F8-DF58-F3EAC1F7B0AA}"/>
                          </a:ext>
                        </a:extLst>
                      </p:cNvPr>
                      <p:cNvPicPr/>
                      <p:nvPr/>
                    </p:nvPicPr>
                    <p:blipFill>
                      <a:blip r:embed="rId13"/>
                      <a:stretch>
                        <a:fillRect/>
                      </a:stretch>
                    </p:blipFill>
                    <p:spPr>
                      <a:xfrm>
                        <a:off x="1588" y="1589"/>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009450" y="6453376"/>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796" rtl="0" eaLnBrk="1" fontAlgn="auto" latinLnBrk="0" hangingPunct="1">
              <a:lnSpc>
                <a:spcPct val="100000"/>
              </a:lnSpc>
              <a:spcBef>
                <a:spcPts val="0"/>
              </a:spcBef>
              <a:spcAft>
                <a:spcPts val="0"/>
              </a:spcAft>
              <a:buClrTx/>
              <a:buSzTx/>
              <a:buFontTx/>
              <a:buNone/>
              <a:tabLst/>
              <a:defRPr/>
            </a:pPr>
            <a:fld id="{EF2F7A32-C1EA-4F7E-B0A2-7FCB5BFE90DE}" type="slidenum">
              <a:rPr kumimoji="0" lang="en-GB" sz="7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685796" rtl="0" eaLnBrk="1" fontAlgn="auto" latinLnBrk="0" hangingPunct="1">
                <a:lnSpc>
                  <a:spcPct val="100000"/>
                </a:lnSpc>
                <a:spcBef>
                  <a:spcPts val="0"/>
                </a:spcBef>
                <a:spcAft>
                  <a:spcPts val="0"/>
                </a:spcAft>
                <a:buClrTx/>
                <a:buSzTx/>
                <a:buFontTx/>
                <a:buNone/>
                <a:tabLst/>
                <a:defRPr/>
              </a:pPr>
              <a:t>‹#›</a:t>
            </a:fld>
            <a:endParaRPr kumimoji="0" lang="en-GB" sz="675" b="0" i="0" u="none" strike="noStrike" kern="1200" cap="none" spc="0" normalizeH="0" baseline="0" noProof="0" dirty="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3" y="-447501"/>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8" y="-447501"/>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3" y="7012040"/>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9" y="7012040"/>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3" y="266705"/>
            <a:ext cx="8915399"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1"/>
            <a:ext cx="8892000"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grpSp>
      <p:sp>
        <p:nvSpPr>
          <p:cNvPr id="13" name="AcnSubjectTitle_ID_13" hidden="1">
            <a:extLst>
              <a:ext uri="{FF2B5EF4-FFF2-40B4-BE49-F238E27FC236}">
                <a16:creationId xmlns:a16="http://schemas.microsoft.com/office/drawing/2014/main" id="{80CE973F-CC52-F6DE-E743-68E029CAB8DA}"/>
              </a:ext>
            </a:extLst>
          </p:cNvPr>
          <p:cNvSpPr txBox="1"/>
          <p:nvPr userDrawn="1">
            <p:custDataLst>
              <p:tags r:id="rId10"/>
            </p:custDataLst>
          </p:nvPr>
        </p:nvSpPr>
        <p:spPr bwMode="gray">
          <a:xfrm>
            <a:off x="179388" y="1420813"/>
            <a:ext cx="6985000" cy="269680"/>
          </a:xfrm>
          <a:prstGeom prst="rect">
            <a:avLst/>
          </a:prstGeom>
          <a:noFill/>
        </p:spPr>
        <p:txBody>
          <a:bodyPr vert="horz" wrap="square" lIns="36000" tIns="36000" rIns="36000" bIns="36000" rtlCol="0" anchor="ctr">
            <a:spAutoFit/>
          </a:bodyPr>
          <a:lstStyle/>
          <a:p>
            <a:pPr algn="l" defTabSz="914400" fontAlgn="base">
              <a:lnSpc>
                <a:spcPct val="80000"/>
              </a:lnSpc>
              <a:spcBef>
                <a:spcPct val="0"/>
              </a:spcBef>
              <a:spcAft>
                <a:spcPct val="0"/>
              </a:spcAft>
              <a:buFontTx/>
              <a:buNone/>
            </a:pPr>
            <a:r>
              <a:rPr kumimoji="1" lang="en-US" altLang="ja-JP" sz="1600" b="1" i="0" dirty="0">
                <a:solidFill>
                  <a:schemeClr val="tx1"/>
                </a:solidFill>
                <a:latin typeface="Meiryo UI" panose="020B0604030504040204" pitchFamily="50" charset="-128"/>
                <a:ea typeface="Meiryo UI" panose="020B0604030504040204" pitchFamily="50" charset="-128"/>
              </a:rPr>
              <a:t>Subject Title</a:t>
            </a:r>
            <a:endParaRPr kumimoji="1" lang="ja-JP" altLang="en-US" sz="1600" b="1" i="0">
              <a:solidFill>
                <a:schemeClr val="tx1"/>
              </a:solidFill>
              <a:latin typeface="Meiryo UI" panose="020B0604030504040204" pitchFamily="50" charset="-128"/>
              <a:ea typeface="Meiryo UI" panose="020B0604030504040204" pitchFamily="50" charset="-128"/>
            </a:endParaRPr>
          </a:p>
        </p:txBody>
      </p:sp>
      <p:sp>
        <p:nvSpPr>
          <p:cNvPr id="17" name="AcnFootnote_ID_17" hidden="1">
            <a:extLst>
              <a:ext uri="{FF2B5EF4-FFF2-40B4-BE49-F238E27FC236}">
                <a16:creationId xmlns:a16="http://schemas.microsoft.com/office/drawing/2014/main" id="{8766CB3F-02BB-8D4F-CC0C-78CAF99C6587}"/>
              </a:ext>
            </a:extLst>
          </p:cNvPr>
          <p:cNvSpPr txBox="1"/>
          <p:nvPr userDrawn="1">
            <p:custDataLst>
              <p:tags r:id="rId11"/>
            </p:custDataLst>
          </p:nvPr>
        </p:nvSpPr>
        <p:spPr bwMode="gray">
          <a:xfrm>
            <a:off x="179388" y="6254750"/>
            <a:ext cx="8780463" cy="349702"/>
          </a:xfrm>
          <a:prstGeom prst="rect">
            <a:avLst/>
          </a:prstGeom>
          <a:noFill/>
        </p:spPr>
        <p:txBody>
          <a:bodyPr vert="horz" wrap="square" lIns="36000" tIns="36000" rIns="36000" bIns="36000" rtlCol="0" anchor="b">
            <a:spAutoFit/>
          </a:bodyPr>
          <a:lstStyle/>
          <a:p>
            <a:pPr marL="538163" indent="-538163" algn="l" defTabSz="914400" fontAlgn="base">
              <a:lnSpc>
                <a:spcPct val="80000"/>
              </a:lnSpc>
              <a:spcBef>
                <a:spcPct val="0"/>
              </a:spcBef>
              <a:spcAft>
                <a:spcPct val="0"/>
              </a:spcAft>
              <a:buFontTx/>
              <a:buNone/>
            </a:pPr>
            <a:r>
              <a:rPr kumimoji="1" lang="en-US" altLang="ja-JP" sz="1000" b="0" i="0" dirty="0">
                <a:solidFill>
                  <a:schemeClr val="tx1"/>
                </a:solidFill>
                <a:latin typeface="Meiryo UI" panose="020B0604030504040204" pitchFamily="50" charset="-128"/>
                <a:ea typeface="Meiryo UI" panose="020B0604030504040204" pitchFamily="50" charset="-128"/>
              </a:rPr>
              <a:t>*	Footnote</a:t>
            </a:r>
          </a:p>
          <a:p>
            <a:pPr marL="538163" indent="-538163" algn="l" defTabSz="914400" fontAlgn="base">
              <a:lnSpc>
                <a:spcPct val="80000"/>
              </a:lnSpc>
              <a:spcBef>
                <a:spcPct val="20000"/>
              </a:spcBef>
              <a:spcAft>
                <a:spcPct val="0"/>
              </a:spcAft>
              <a:buFontTx/>
              <a:buNone/>
            </a:pPr>
            <a:r>
              <a:rPr kumimoji="1" lang="en-US" altLang="ja-JP" sz="1000" b="0" i="0" dirty="0">
                <a:solidFill>
                  <a:schemeClr val="tx1"/>
                </a:solidFill>
                <a:latin typeface="Meiryo UI" panose="020B0604030504040204" pitchFamily="50" charset="-128"/>
                <a:ea typeface="Meiryo UI" panose="020B0604030504040204" pitchFamily="50" charset="-128"/>
              </a:rPr>
              <a:t>Source:	Source</a:t>
            </a:r>
            <a:endParaRPr kumimoji="1" lang="ja-JP" altLang="en-US" sz="1000" b="0" i="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927582181"/>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Lst>
  <p:hf sldNum="0" hdr="0" dt="0"/>
  <p:txStyles>
    <p:titleStyle>
      <a:lvl1pPr algn="ctr" defTabSz="571394" rtl="0" eaLnBrk="1" fontAlgn="base" hangingPunct="1">
        <a:spcBef>
          <a:spcPct val="0"/>
        </a:spcBef>
        <a:spcAft>
          <a:spcPct val="0"/>
        </a:spcAft>
        <a:defRPr kumimoji="1" sz="1200">
          <a:solidFill>
            <a:schemeClr val="bg1"/>
          </a:solidFill>
          <a:latin typeface="+mj-ea"/>
          <a:ea typeface="+mj-ea"/>
          <a:cs typeface="+mj-cs"/>
        </a:defRPr>
      </a:lvl1pPr>
      <a:lvl2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2pPr>
      <a:lvl3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3pPr>
      <a:lvl4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4pPr>
      <a:lvl5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5pPr>
      <a:lvl6pPr marL="342836"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685673"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028509"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371345"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050">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p:bodyStyle>
    <p:otherStyle>
      <a:defPPr>
        <a:defRPr lang="ja-JP"/>
      </a:defPPr>
      <a:lvl1pPr marL="0" algn="l" defTabSz="685673" rtl="0" eaLnBrk="1" latinLnBrk="0" hangingPunct="1">
        <a:defRPr kumimoji="1" sz="1351" kern="1200">
          <a:solidFill>
            <a:schemeClr val="tx1"/>
          </a:solidFill>
          <a:latin typeface="+mn-lt"/>
          <a:ea typeface="+mn-ea"/>
          <a:cs typeface="+mn-cs"/>
        </a:defRPr>
      </a:lvl1pPr>
      <a:lvl2pPr marL="342836" algn="l" defTabSz="685673" rtl="0" eaLnBrk="1" latinLnBrk="0" hangingPunct="1">
        <a:defRPr kumimoji="1" sz="1351" kern="1200">
          <a:solidFill>
            <a:schemeClr val="tx1"/>
          </a:solidFill>
          <a:latin typeface="+mn-lt"/>
          <a:ea typeface="+mn-ea"/>
          <a:cs typeface="+mn-cs"/>
        </a:defRPr>
      </a:lvl2pPr>
      <a:lvl3pPr marL="685673" algn="l" defTabSz="685673" rtl="0" eaLnBrk="1" latinLnBrk="0" hangingPunct="1">
        <a:defRPr kumimoji="1" sz="1351" kern="1200">
          <a:solidFill>
            <a:schemeClr val="tx1"/>
          </a:solidFill>
          <a:latin typeface="+mn-lt"/>
          <a:ea typeface="+mn-ea"/>
          <a:cs typeface="+mn-cs"/>
        </a:defRPr>
      </a:lvl3pPr>
      <a:lvl4pPr marL="1028509" algn="l" defTabSz="685673" rtl="0" eaLnBrk="1" latinLnBrk="0" hangingPunct="1">
        <a:defRPr kumimoji="1" sz="1351" kern="1200">
          <a:solidFill>
            <a:schemeClr val="tx1"/>
          </a:solidFill>
          <a:latin typeface="+mn-lt"/>
          <a:ea typeface="+mn-ea"/>
          <a:cs typeface="+mn-cs"/>
        </a:defRPr>
      </a:lvl4pPr>
      <a:lvl5pPr marL="1371345" algn="l" defTabSz="685673" rtl="0" eaLnBrk="1" latinLnBrk="0" hangingPunct="1">
        <a:defRPr kumimoji="1" sz="1351" kern="1200">
          <a:solidFill>
            <a:schemeClr val="tx1"/>
          </a:solidFill>
          <a:latin typeface="+mn-lt"/>
          <a:ea typeface="+mn-ea"/>
          <a:cs typeface="+mn-cs"/>
        </a:defRPr>
      </a:lvl5pPr>
      <a:lvl6pPr marL="1714181" algn="l" defTabSz="685673" rtl="0" eaLnBrk="1" latinLnBrk="0" hangingPunct="1">
        <a:defRPr kumimoji="1" sz="1351" kern="1200">
          <a:solidFill>
            <a:schemeClr val="tx1"/>
          </a:solidFill>
          <a:latin typeface="+mn-lt"/>
          <a:ea typeface="+mn-ea"/>
          <a:cs typeface="+mn-cs"/>
        </a:defRPr>
      </a:lvl6pPr>
      <a:lvl7pPr marL="2057017" algn="l" defTabSz="685673" rtl="0" eaLnBrk="1" latinLnBrk="0" hangingPunct="1">
        <a:defRPr kumimoji="1" sz="1351" kern="1200">
          <a:solidFill>
            <a:schemeClr val="tx1"/>
          </a:solidFill>
          <a:latin typeface="+mn-lt"/>
          <a:ea typeface="+mn-ea"/>
          <a:cs typeface="+mn-cs"/>
        </a:defRPr>
      </a:lvl7pPr>
      <a:lvl8pPr marL="2399854" algn="l" defTabSz="685673" rtl="0" eaLnBrk="1" latinLnBrk="0" hangingPunct="1">
        <a:defRPr kumimoji="1" sz="1351" kern="1200">
          <a:solidFill>
            <a:schemeClr val="tx1"/>
          </a:solidFill>
          <a:latin typeface="+mn-lt"/>
          <a:ea typeface="+mn-ea"/>
          <a:cs typeface="+mn-cs"/>
        </a:defRPr>
      </a:lvl8pPr>
      <a:lvl9pPr marL="2742689" algn="l" defTabSz="685673" rtl="0" eaLnBrk="1" latinLnBrk="0" hangingPunct="1">
        <a:defRPr kumimoji="1"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12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5FAB5873-FF1D-4113-8282-0EA44741E4D1}"/>
              </a:ext>
            </a:extLst>
          </p:cNvPr>
          <p:cNvSpPr txBox="1">
            <a:spLocks/>
          </p:cNvSpPr>
          <p:nvPr userDrawn="1"/>
        </p:nvSpPr>
        <p:spPr>
          <a:xfrm>
            <a:off x="9527282" y="6709482"/>
            <a:ext cx="357571"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EF2F7A32-C1EA-4F7E-B0A2-7FCB5BFE90DE}" type="slidenum">
              <a:rPr kumimoji="0" lang="en-GB" sz="900"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GB" sz="900" b="0" i="0" u="none" strike="noStrike" kern="1200" cap="none" spc="0" normalizeH="0" baseline="0" noProof="0" dirty="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userDrawn="1"/>
        </p:nvSpPr>
        <p:spPr>
          <a:xfrm>
            <a:off x="4321" y="-376518"/>
            <a:ext cx="492443" cy="240066"/>
          </a:xfrm>
          <a:prstGeom prst="rect">
            <a:avLst/>
          </a:prstGeom>
          <a:noFill/>
        </p:spPr>
        <p:txBody>
          <a:bodyPr wrap="none" rtlCol="0">
            <a:spAutoFit/>
          </a:bodyPr>
          <a:lstStyle/>
          <a:p>
            <a:r>
              <a:rPr kumimoji="1" lang="ja-JP" altLang="en-US"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userDrawn="1"/>
        </p:nvSpPr>
        <p:spPr>
          <a:xfrm>
            <a:off x="9413557" y="-376518"/>
            <a:ext cx="492443" cy="240066"/>
          </a:xfrm>
          <a:prstGeom prst="rect">
            <a:avLst/>
          </a:prstGeom>
          <a:noFill/>
        </p:spPr>
        <p:txBody>
          <a:bodyPr wrap="none" rtlCol="0">
            <a:spAutoFit/>
          </a:bodyPr>
          <a:lstStyle/>
          <a:p>
            <a:r>
              <a:rPr kumimoji="1" lang="ja-JP" altLang="en-US"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userDrawn="1"/>
        </p:nvCxnSpPr>
        <p:spPr bwMode="auto">
          <a:xfrm>
            <a:off x="0" y="6961684"/>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userDrawn="1"/>
        </p:nvCxnSpPr>
        <p:spPr bwMode="auto">
          <a:xfrm>
            <a:off x="9412425" y="6961684"/>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userDrawn="1"/>
        </p:nvSpPr>
        <p:spPr>
          <a:xfrm>
            <a:off x="4321" y="7012040"/>
            <a:ext cx="492443" cy="240066"/>
          </a:xfrm>
          <a:prstGeom prst="rect">
            <a:avLst/>
          </a:prstGeom>
          <a:noFill/>
        </p:spPr>
        <p:txBody>
          <a:bodyPr wrap="none" rtlCol="0">
            <a:spAutoFit/>
          </a:bodyPr>
          <a:lstStyle/>
          <a:p>
            <a:r>
              <a:rPr kumimoji="1" lang="ja-JP" altLang="en-US"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userDrawn="1"/>
        </p:nvSpPr>
        <p:spPr>
          <a:xfrm>
            <a:off x="9413557" y="7012040"/>
            <a:ext cx="492443" cy="240066"/>
          </a:xfrm>
          <a:prstGeom prst="rect">
            <a:avLst/>
          </a:prstGeom>
          <a:noFill/>
        </p:spPr>
        <p:txBody>
          <a:bodyPr wrap="none" rtlCol="0">
            <a:spAutoFit/>
          </a:bodyPr>
          <a:lstStyle/>
          <a:p>
            <a:r>
              <a:rPr kumimoji="1" lang="ja-JP" altLang="en-US"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userDrawn="1"/>
        </p:nvCxnSpPr>
        <p:spPr bwMode="auto">
          <a:xfrm>
            <a:off x="0" y="-112907"/>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userDrawn="1"/>
        </p:nvCxnSpPr>
        <p:spPr bwMode="auto">
          <a:xfrm>
            <a:off x="9412425" y="-112907"/>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userDrawn="1"/>
        </p:nvSpPr>
        <p:spPr>
          <a:xfrm>
            <a:off x="-536528" y="1233654"/>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914296" eaLnBrk="1" fontAlgn="auto" latinLnBrk="0" hangingPunct="1">
              <a:lnSpc>
                <a:spcPct val="100000"/>
              </a:lnSpc>
              <a:spcBef>
                <a:spcPts val="0"/>
              </a:spcBef>
              <a:spcAft>
                <a:spcPts val="0"/>
              </a:spcAft>
              <a:buClrTx/>
              <a:buSzTx/>
              <a:buFontTx/>
              <a:buNone/>
              <a:tabLst/>
              <a:defRPr/>
            </a:pPr>
            <a:endParaRPr kumimoji="0" lang="ja-JP" altLang="en-US" sz="1800"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userDrawn="1"/>
        </p:nvSpPr>
        <p:spPr>
          <a:xfrm>
            <a:off x="-536528" y="1628306"/>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914296" eaLnBrk="1" fontAlgn="auto" latinLnBrk="0" hangingPunct="1">
              <a:lnSpc>
                <a:spcPct val="100000"/>
              </a:lnSpc>
              <a:spcBef>
                <a:spcPts val="0"/>
              </a:spcBef>
              <a:spcAft>
                <a:spcPts val="0"/>
              </a:spcAft>
              <a:buClrTx/>
              <a:buSzTx/>
              <a:buFontTx/>
              <a:buNone/>
              <a:tabLst/>
              <a:defRPr/>
            </a:pPr>
            <a:endParaRPr kumimoji="0" lang="ja-JP" altLang="en-US" sz="1800"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userDrawn="1"/>
        </p:nvSpPr>
        <p:spPr>
          <a:xfrm>
            <a:off x="-536528" y="2022958"/>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914296" eaLnBrk="1" fontAlgn="auto" latinLnBrk="0" hangingPunct="1">
              <a:lnSpc>
                <a:spcPct val="100000"/>
              </a:lnSpc>
              <a:spcBef>
                <a:spcPts val="0"/>
              </a:spcBef>
              <a:spcAft>
                <a:spcPts val="0"/>
              </a:spcAft>
              <a:buClrTx/>
              <a:buSzTx/>
              <a:buFontTx/>
              <a:buNone/>
              <a:tabLst/>
              <a:defRPr/>
            </a:pPr>
            <a:endParaRPr kumimoji="0" lang="ja-JP" altLang="en-US" sz="1800"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userDrawn="1"/>
        </p:nvSpPr>
        <p:spPr>
          <a:xfrm>
            <a:off x="-536528" y="2417610"/>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defTabSz="914296" fontAlgn="auto">
              <a:lnSpc>
                <a:spcPct val="100000"/>
              </a:lnSpc>
              <a:spcBef>
                <a:spcPts val="0"/>
              </a:spcBef>
              <a:spcAft>
                <a:spcPts val="0"/>
              </a:spcAft>
            </a:pPr>
            <a:endParaRPr kumimoji="0" lang="ja-JP" altLang="en-US" sz="1400"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userDrawn="1"/>
        </p:nvSpPr>
        <p:spPr>
          <a:xfrm>
            <a:off x="495301"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i="0" kern="0"/>
          </a:p>
        </p:txBody>
      </p:sp>
      <p:cxnSp>
        <p:nvCxnSpPr>
          <p:cNvPr id="18" name="Straight Connector 7">
            <a:extLst>
              <a:ext uri="{FF2B5EF4-FFF2-40B4-BE49-F238E27FC236}">
                <a16:creationId xmlns:a16="http://schemas.microsoft.com/office/drawing/2014/main" id="{3426408B-7E00-884B-2AE7-3F477FF5C006}"/>
              </a:ext>
            </a:extLst>
          </p:cNvPr>
          <p:cNvCxnSpPr/>
          <p:nvPr userDrawn="1"/>
        </p:nvCxnSpPr>
        <p:spPr>
          <a:xfrm>
            <a:off x="493582" y="701780"/>
            <a:ext cx="9412419"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userDrawn="1"/>
        </p:nvSpPr>
        <p:spPr>
          <a:xfrm>
            <a:off x="495301"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i="0" kern="0"/>
          </a:p>
        </p:txBody>
      </p:sp>
    </p:spTree>
    <p:extLst>
      <p:ext uri="{BB962C8B-B14F-4D97-AF65-F5344CB8AC3E}">
        <p14:creationId xmlns:p14="http://schemas.microsoft.com/office/powerpoint/2010/main" val="141805616"/>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Lst>
  <p:hf hdr="0" ftr="0" dt="0"/>
  <p:txStyles>
    <p:titleStyle>
      <a:lvl1pPr algn="ctr" defTabSz="761863" rtl="0" eaLnBrk="0" fontAlgn="base" hangingPunct="0">
        <a:spcBef>
          <a:spcPct val="0"/>
        </a:spcBef>
        <a:spcAft>
          <a:spcPct val="0"/>
        </a:spcAft>
        <a:defRPr sz="1600">
          <a:solidFill>
            <a:schemeClr val="bg1"/>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p:titleStyle>
    <p:bodyStyle>
      <a:lvl1pPr marL="0" indent="0" algn="l" rtl="0" eaLnBrk="0" fontAlgn="base" hangingPunct="0">
        <a:spcBef>
          <a:spcPct val="20000"/>
        </a:spcBef>
        <a:spcAft>
          <a:spcPct val="0"/>
        </a:spcAft>
        <a:defRPr kumimoji="1" sz="1400">
          <a:solidFill>
            <a:schemeClr val="tx1"/>
          </a:solidFill>
          <a:latin typeface="+mj-ea"/>
          <a:ea typeface="+mj-ea"/>
          <a:cs typeface="+mn-cs"/>
        </a:defRPr>
      </a:lvl1pPr>
      <a:lvl2pPr marL="765037" indent="-285699" algn="l" rtl="0" eaLnBrk="0" fontAlgn="base" hangingPunct="0">
        <a:spcBef>
          <a:spcPct val="20000"/>
        </a:spcBef>
        <a:spcAft>
          <a:spcPct val="0"/>
        </a:spcAft>
        <a:buChar char="–"/>
        <a:defRPr kumimoji="1" sz="2800">
          <a:solidFill>
            <a:schemeClr val="tx1"/>
          </a:solidFill>
          <a:latin typeface="Times New Roman" pitchFamily="18" charset="0"/>
          <a:ea typeface="+mn-ea"/>
        </a:defRPr>
      </a:lvl2pPr>
      <a:lvl3pPr marL="1184062" indent="-228559" algn="l" rtl="0" eaLnBrk="0" fontAlgn="base" hangingPunct="0">
        <a:spcBef>
          <a:spcPct val="20000"/>
        </a:spcBef>
        <a:spcAft>
          <a:spcPct val="0"/>
        </a:spcAft>
        <a:buChar char="•"/>
        <a:defRPr kumimoji="1" sz="2400">
          <a:solidFill>
            <a:schemeClr val="tx1"/>
          </a:solidFill>
          <a:latin typeface="Times New Roman" pitchFamily="18" charset="0"/>
          <a:ea typeface="+mn-ea"/>
        </a:defRPr>
      </a:lvl3pPr>
      <a:lvl4pPr marL="1603086" indent="-228559" algn="l" rtl="0" eaLnBrk="0" fontAlgn="base" hangingPunct="0">
        <a:spcBef>
          <a:spcPct val="20000"/>
        </a:spcBef>
        <a:spcAft>
          <a:spcPct val="0"/>
        </a:spcAft>
        <a:buChar char="–"/>
        <a:defRPr kumimoji="1" sz="2000">
          <a:solidFill>
            <a:schemeClr val="tx1"/>
          </a:solidFill>
          <a:latin typeface="Times New Roman" pitchFamily="18" charset="0"/>
          <a:ea typeface="+mn-ea"/>
        </a:defRPr>
      </a:lvl4pPr>
      <a:lvl5pPr marL="2057029" indent="-230146" algn="l" rtl="0" eaLnBrk="0" fontAlgn="base" hangingPunct="0">
        <a:spcBef>
          <a:spcPct val="20000"/>
        </a:spcBef>
        <a:spcAft>
          <a:spcPct val="0"/>
        </a:spcAft>
        <a:buChar char="»"/>
        <a:defRPr kumimoji="1" sz="2000">
          <a:solidFill>
            <a:schemeClr val="tx1"/>
          </a:solidFill>
          <a:latin typeface="Times New Roman" pitchFamily="18" charset="0"/>
          <a:ea typeface="+mn-ea"/>
        </a:defRPr>
      </a:lvl5pPr>
      <a:lvl6pPr marL="2514147" indent="-228559" algn="l" rtl="0" fontAlgn="base">
        <a:spcBef>
          <a:spcPct val="20000"/>
        </a:spcBef>
        <a:spcAft>
          <a:spcPct val="0"/>
        </a:spcAft>
        <a:buChar char="»"/>
        <a:defRPr kumimoji="1" sz="2000">
          <a:solidFill>
            <a:schemeClr val="tx1"/>
          </a:solidFill>
          <a:latin typeface="Times New Roman" pitchFamily="18" charset="0"/>
          <a:ea typeface="+mn-ea"/>
        </a:defRPr>
      </a:lvl6pPr>
      <a:lvl7pPr marL="2971264" indent="-228559" algn="l" rtl="0" fontAlgn="base">
        <a:spcBef>
          <a:spcPct val="20000"/>
        </a:spcBef>
        <a:spcAft>
          <a:spcPct val="0"/>
        </a:spcAft>
        <a:buChar char="»"/>
        <a:defRPr kumimoji="1" sz="2000">
          <a:solidFill>
            <a:schemeClr val="tx1"/>
          </a:solidFill>
          <a:latin typeface="Times New Roman" pitchFamily="18" charset="0"/>
          <a:ea typeface="+mn-ea"/>
        </a:defRPr>
      </a:lvl7pPr>
      <a:lvl8pPr marL="3428382" indent="-228559" algn="l" rtl="0" fontAlgn="base">
        <a:spcBef>
          <a:spcPct val="20000"/>
        </a:spcBef>
        <a:spcAft>
          <a:spcPct val="0"/>
        </a:spcAft>
        <a:buChar char="»"/>
        <a:defRPr kumimoji="1" sz="2000">
          <a:solidFill>
            <a:schemeClr val="tx1"/>
          </a:solidFill>
          <a:latin typeface="Times New Roman" pitchFamily="18" charset="0"/>
          <a:ea typeface="+mn-ea"/>
        </a:defRPr>
      </a:lvl8pPr>
      <a:lvl9pPr marL="3885499" indent="-228559" algn="l" rtl="0" fontAlgn="base">
        <a:spcBef>
          <a:spcPct val="20000"/>
        </a:spcBef>
        <a:spcAft>
          <a:spcPct val="0"/>
        </a:spcAft>
        <a:buChar char="»"/>
        <a:defRPr kumimoji="1" sz="2000">
          <a:solidFill>
            <a:schemeClr val="tx1"/>
          </a:solidFill>
          <a:latin typeface="Times New Roman" pitchFamily="18" charset="0"/>
          <a:ea typeface="+mn-ea"/>
        </a:defRPr>
      </a:lvl9pPr>
    </p:bodyStyle>
    <p:otherStyle>
      <a:defPPr>
        <a:defRPr lang="ja-JP"/>
      </a:defPPr>
      <a:lvl1pPr marL="0" algn="l" defTabSz="914235" rtl="0" eaLnBrk="1" latinLnBrk="0" hangingPunct="1">
        <a:defRPr kumimoji="1" sz="1800" kern="1200">
          <a:solidFill>
            <a:schemeClr val="tx1"/>
          </a:solidFill>
          <a:latin typeface="+mn-lt"/>
          <a:ea typeface="+mn-ea"/>
          <a:cs typeface="+mn-cs"/>
        </a:defRPr>
      </a:lvl1pPr>
      <a:lvl2pPr marL="457117" algn="l" defTabSz="914235" rtl="0" eaLnBrk="1" latinLnBrk="0" hangingPunct="1">
        <a:defRPr kumimoji="1" sz="1800" kern="1200">
          <a:solidFill>
            <a:schemeClr val="tx1"/>
          </a:solidFill>
          <a:latin typeface="+mn-lt"/>
          <a:ea typeface="+mn-ea"/>
          <a:cs typeface="+mn-cs"/>
        </a:defRPr>
      </a:lvl2pPr>
      <a:lvl3pPr marL="914235" algn="l" defTabSz="914235" rtl="0" eaLnBrk="1" latinLnBrk="0" hangingPunct="1">
        <a:defRPr kumimoji="1" sz="1800" kern="1200">
          <a:solidFill>
            <a:schemeClr val="tx1"/>
          </a:solidFill>
          <a:latin typeface="+mn-lt"/>
          <a:ea typeface="+mn-ea"/>
          <a:cs typeface="+mn-cs"/>
        </a:defRPr>
      </a:lvl3pPr>
      <a:lvl4pPr marL="1371353" algn="l" defTabSz="914235" rtl="0" eaLnBrk="1" latinLnBrk="0" hangingPunct="1">
        <a:defRPr kumimoji="1" sz="1800" kern="1200">
          <a:solidFill>
            <a:schemeClr val="tx1"/>
          </a:solidFill>
          <a:latin typeface="+mn-lt"/>
          <a:ea typeface="+mn-ea"/>
          <a:cs typeface="+mn-cs"/>
        </a:defRPr>
      </a:lvl4pPr>
      <a:lvl5pPr marL="1828470" algn="l" defTabSz="914235" rtl="0" eaLnBrk="1" latinLnBrk="0" hangingPunct="1">
        <a:defRPr kumimoji="1" sz="1800" kern="1200">
          <a:solidFill>
            <a:schemeClr val="tx1"/>
          </a:solidFill>
          <a:latin typeface="+mn-lt"/>
          <a:ea typeface="+mn-ea"/>
          <a:cs typeface="+mn-cs"/>
        </a:defRPr>
      </a:lvl5pPr>
      <a:lvl6pPr marL="2285588" algn="l" defTabSz="914235" rtl="0" eaLnBrk="1" latinLnBrk="0" hangingPunct="1">
        <a:defRPr kumimoji="1" sz="1800" kern="1200">
          <a:solidFill>
            <a:schemeClr val="tx1"/>
          </a:solidFill>
          <a:latin typeface="+mn-lt"/>
          <a:ea typeface="+mn-ea"/>
          <a:cs typeface="+mn-cs"/>
        </a:defRPr>
      </a:lvl6pPr>
      <a:lvl7pPr marL="2742705" algn="l" defTabSz="914235" rtl="0" eaLnBrk="1" latinLnBrk="0" hangingPunct="1">
        <a:defRPr kumimoji="1" sz="1800" kern="1200">
          <a:solidFill>
            <a:schemeClr val="tx1"/>
          </a:solidFill>
          <a:latin typeface="+mn-lt"/>
          <a:ea typeface="+mn-ea"/>
          <a:cs typeface="+mn-cs"/>
        </a:defRPr>
      </a:lvl7pPr>
      <a:lvl8pPr marL="3199823" algn="l" defTabSz="914235" rtl="0" eaLnBrk="1" latinLnBrk="0" hangingPunct="1">
        <a:defRPr kumimoji="1" sz="1800" kern="1200">
          <a:solidFill>
            <a:schemeClr val="tx1"/>
          </a:solidFill>
          <a:latin typeface="+mn-lt"/>
          <a:ea typeface="+mn-ea"/>
          <a:cs typeface="+mn-cs"/>
        </a:defRPr>
      </a:lvl8pPr>
      <a:lvl9pPr marL="3656940" algn="l" defTabSz="914235"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574907" y="6709482"/>
            <a:ext cx="357572"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dirty="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2" y="-376518"/>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413558" y="-376518"/>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2" y="7012040"/>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8" y="7012040"/>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p:nvSpPr>
        <p:spPr>
          <a:xfrm>
            <a:off x="-536528" y="1233656"/>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536528" y="1628308"/>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536528" y="2022960"/>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p:nvSpPr>
        <p:spPr>
          <a:xfrm>
            <a:off x="-536528" y="2417612"/>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84406" tIns="42203" rIns="84406" bIns="42203" numCol="1" spcCol="0" rtlCol="0" fromWordArt="0" anchor="ctr" anchorCtr="0" forceAA="0" compatLnSpc="1">
            <a:prstTxWarp prst="textNoShape">
              <a:avLst/>
            </a:prstTxWarp>
            <a:noAutofit/>
          </a:bodyPr>
          <a:lstStyle/>
          <a:p>
            <a:pPr defTabSz="843987" fontAlgn="auto">
              <a:lnSpc>
                <a:spcPct val="100000"/>
              </a:lnSpc>
              <a:spcBef>
                <a:spcPts val="0"/>
              </a:spcBef>
              <a:spcAft>
                <a:spcPts val="0"/>
              </a:spcAft>
            </a:pPr>
            <a:endParaRPr kumimoji="0" lang="ja-JP" altLang="en-US" sz="1292"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cxnSp>
        <p:nvCxnSpPr>
          <p:cNvPr id="18" name="Straight Connector 7">
            <a:extLst>
              <a:ext uri="{FF2B5EF4-FFF2-40B4-BE49-F238E27FC236}">
                <a16:creationId xmlns:a16="http://schemas.microsoft.com/office/drawing/2014/main" id="{3426408B-7E00-884B-2AE7-3F477FF5C006}"/>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495302"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Tree>
    <p:extLst>
      <p:ext uri="{BB962C8B-B14F-4D97-AF65-F5344CB8AC3E}">
        <p14:creationId xmlns:p14="http://schemas.microsoft.com/office/powerpoint/2010/main" val="1112096272"/>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Lst>
  <p:hf hd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5FAB5873-FF1D-4113-8282-0EA44741E4D1}"/>
              </a:ext>
            </a:extLst>
          </p:cNvPr>
          <p:cNvSpPr txBox="1">
            <a:spLocks/>
          </p:cNvSpPr>
          <p:nvPr userDrawn="1"/>
        </p:nvSpPr>
        <p:spPr>
          <a:xfrm>
            <a:off x="9527282" y="6709482"/>
            <a:ext cx="357571"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EF2F7A32-C1EA-4F7E-B0A2-7FCB5BFE90DE}" type="slidenum">
              <a:rPr kumimoji="0" lang="en-GB" sz="900"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GB" sz="900" b="0" i="0" u="none" strike="noStrike" kern="1200" cap="none" spc="0" normalizeH="0" baseline="0" noProof="0" dirty="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userDrawn="1"/>
        </p:nvSpPr>
        <p:spPr>
          <a:xfrm>
            <a:off x="4321" y="-376518"/>
            <a:ext cx="492443" cy="240066"/>
          </a:xfrm>
          <a:prstGeom prst="rect">
            <a:avLst/>
          </a:prstGeom>
          <a:noFill/>
        </p:spPr>
        <p:txBody>
          <a:bodyPr wrap="none" rtlCol="0">
            <a:spAutoFit/>
          </a:bodyPr>
          <a:lstStyle/>
          <a:p>
            <a:r>
              <a:rPr kumimoji="1" lang="ja-JP" altLang="en-US"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userDrawn="1"/>
        </p:nvSpPr>
        <p:spPr>
          <a:xfrm>
            <a:off x="9413557" y="-376518"/>
            <a:ext cx="492443" cy="240066"/>
          </a:xfrm>
          <a:prstGeom prst="rect">
            <a:avLst/>
          </a:prstGeom>
          <a:noFill/>
        </p:spPr>
        <p:txBody>
          <a:bodyPr wrap="none" rtlCol="0">
            <a:spAutoFit/>
          </a:bodyPr>
          <a:lstStyle/>
          <a:p>
            <a:r>
              <a:rPr kumimoji="1" lang="ja-JP" altLang="en-US"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userDrawn="1"/>
        </p:nvCxnSpPr>
        <p:spPr bwMode="auto">
          <a:xfrm>
            <a:off x="0" y="6961684"/>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userDrawn="1"/>
        </p:nvCxnSpPr>
        <p:spPr bwMode="auto">
          <a:xfrm>
            <a:off x="9412425" y="6961684"/>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userDrawn="1"/>
        </p:nvSpPr>
        <p:spPr>
          <a:xfrm>
            <a:off x="4321" y="7012040"/>
            <a:ext cx="492443" cy="240066"/>
          </a:xfrm>
          <a:prstGeom prst="rect">
            <a:avLst/>
          </a:prstGeom>
          <a:noFill/>
        </p:spPr>
        <p:txBody>
          <a:bodyPr wrap="none" rtlCol="0">
            <a:spAutoFit/>
          </a:bodyPr>
          <a:lstStyle/>
          <a:p>
            <a:r>
              <a:rPr kumimoji="1" lang="ja-JP" altLang="en-US"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userDrawn="1"/>
        </p:nvSpPr>
        <p:spPr>
          <a:xfrm>
            <a:off x="9413557" y="7012040"/>
            <a:ext cx="492443" cy="240066"/>
          </a:xfrm>
          <a:prstGeom prst="rect">
            <a:avLst/>
          </a:prstGeom>
          <a:noFill/>
        </p:spPr>
        <p:txBody>
          <a:bodyPr wrap="none" rtlCol="0">
            <a:spAutoFit/>
          </a:bodyPr>
          <a:lstStyle/>
          <a:p>
            <a:r>
              <a:rPr kumimoji="1" lang="ja-JP" altLang="en-US"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userDrawn="1"/>
        </p:nvCxnSpPr>
        <p:spPr bwMode="auto">
          <a:xfrm>
            <a:off x="0" y="-112907"/>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userDrawn="1"/>
        </p:nvCxnSpPr>
        <p:spPr bwMode="auto">
          <a:xfrm>
            <a:off x="9412425" y="-112907"/>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userDrawn="1"/>
        </p:nvSpPr>
        <p:spPr>
          <a:xfrm>
            <a:off x="-536528" y="1233654"/>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914296" eaLnBrk="1" fontAlgn="auto" latinLnBrk="0" hangingPunct="1">
              <a:lnSpc>
                <a:spcPct val="100000"/>
              </a:lnSpc>
              <a:spcBef>
                <a:spcPts val="0"/>
              </a:spcBef>
              <a:spcAft>
                <a:spcPts val="0"/>
              </a:spcAft>
              <a:buClrTx/>
              <a:buSzTx/>
              <a:buFontTx/>
              <a:buNone/>
              <a:tabLst/>
              <a:defRPr/>
            </a:pPr>
            <a:endParaRPr kumimoji="0" lang="ja-JP" altLang="en-US" sz="1800"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userDrawn="1"/>
        </p:nvSpPr>
        <p:spPr>
          <a:xfrm>
            <a:off x="-536528" y="1628306"/>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914296" eaLnBrk="1" fontAlgn="auto" latinLnBrk="0" hangingPunct="1">
              <a:lnSpc>
                <a:spcPct val="100000"/>
              </a:lnSpc>
              <a:spcBef>
                <a:spcPts val="0"/>
              </a:spcBef>
              <a:spcAft>
                <a:spcPts val="0"/>
              </a:spcAft>
              <a:buClrTx/>
              <a:buSzTx/>
              <a:buFontTx/>
              <a:buNone/>
              <a:tabLst/>
              <a:defRPr/>
            </a:pPr>
            <a:endParaRPr kumimoji="0" lang="ja-JP" altLang="en-US" sz="1800"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userDrawn="1"/>
        </p:nvSpPr>
        <p:spPr>
          <a:xfrm>
            <a:off x="-536528" y="2022958"/>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914296" eaLnBrk="1" fontAlgn="auto" latinLnBrk="0" hangingPunct="1">
              <a:lnSpc>
                <a:spcPct val="100000"/>
              </a:lnSpc>
              <a:spcBef>
                <a:spcPts val="0"/>
              </a:spcBef>
              <a:spcAft>
                <a:spcPts val="0"/>
              </a:spcAft>
              <a:buClrTx/>
              <a:buSzTx/>
              <a:buFontTx/>
              <a:buNone/>
              <a:tabLst/>
              <a:defRPr/>
            </a:pPr>
            <a:endParaRPr kumimoji="0" lang="ja-JP" altLang="en-US" sz="1800"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userDrawn="1"/>
        </p:nvSpPr>
        <p:spPr>
          <a:xfrm>
            <a:off x="-536528" y="2417610"/>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defTabSz="914296" fontAlgn="auto">
              <a:lnSpc>
                <a:spcPct val="100000"/>
              </a:lnSpc>
              <a:spcBef>
                <a:spcPts val="0"/>
              </a:spcBef>
              <a:spcAft>
                <a:spcPts val="0"/>
              </a:spcAft>
            </a:pPr>
            <a:endParaRPr kumimoji="0" lang="ja-JP" altLang="en-US" sz="1400"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userDrawn="1"/>
        </p:nvSpPr>
        <p:spPr>
          <a:xfrm>
            <a:off x="495301"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i="0" kern="0"/>
          </a:p>
        </p:txBody>
      </p:sp>
      <p:cxnSp>
        <p:nvCxnSpPr>
          <p:cNvPr id="18" name="Straight Connector 7">
            <a:extLst>
              <a:ext uri="{FF2B5EF4-FFF2-40B4-BE49-F238E27FC236}">
                <a16:creationId xmlns:a16="http://schemas.microsoft.com/office/drawing/2014/main" id="{3426408B-7E00-884B-2AE7-3F477FF5C006}"/>
              </a:ext>
            </a:extLst>
          </p:cNvPr>
          <p:cNvCxnSpPr/>
          <p:nvPr userDrawn="1"/>
        </p:nvCxnSpPr>
        <p:spPr>
          <a:xfrm>
            <a:off x="493582" y="701780"/>
            <a:ext cx="9412419"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userDrawn="1"/>
        </p:nvSpPr>
        <p:spPr>
          <a:xfrm>
            <a:off x="495301"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i="0" kern="0"/>
          </a:p>
        </p:txBody>
      </p:sp>
    </p:spTree>
    <p:extLst>
      <p:ext uri="{BB962C8B-B14F-4D97-AF65-F5344CB8AC3E}">
        <p14:creationId xmlns:p14="http://schemas.microsoft.com/office/powerpoint/2010/main" val="2122238395"/>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Lst>
  <p:hf hdr="0" ftr="0" dt="0"/>
  <p:txStyles>
    <p:titleStyle>
      <a:lvl1pPr algn="ctr" defTabSz="761863" rtl="0" eaLnBrk="0" fontAlgn="base" hangingPunct="0">
        <a:spcBef>
          <a:spcPct val="0"/>
        </a:spcBef>
        <a:spcAft>
          <a:spcPct val="0"/>
        </a:spcAft>
        <a:defRPr sz="1600">
          <a:solidFill>
            <a:schemeClr val="bg1"/>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p:titleStyle>
    <p:bodyStyle>
      <a:lvl1pPr marL="0" indent="0" algn="l" rtl="0" eaLnBrk="0" fontAlgn="base" hangingPunct="0">
        <a:spcBef>
          <a:spcPct val="20000"/>
        </a:spcBef>
        <a:spcAft>
          <a:spcPct val="0"/>
        </a:spcAft>
        <a:defRPr kumimoji="1" sz="1400">
          <a:solidFill>
            <a:schemeClr val="tx1"/>
          </a:solidFill>
          <a:latin typeface="+mj-ea"/>
          <a:ea typeface="+mj-ea"/>
          <a:cs typeface="+mn-cs"/>
        </a:defRPr>
      </a:lvl1pPr>
      <a:lvl2pPr marL="765037" indent="-285699" algn="l" rtl="0" eaLnBrk="0" fontAlgn="base" hangingPunct="0">
        <a:spcBef>
          <a:spcPct val="20000"/>
        </a:spcBef>
        <a:spcAft>
          <a:spcPct val="0"/>
        </a:spcAft>
        <a:buChar char="–"/>
        <a:defRPr kumimoji="1" sz="2800">
          <a:solidFill>
            <a:schemeClr val="tx1"/>
          </a:solidFill>
          <a:latin typeface="Times New Roman" pitchFamily="18" charset="0"/>
          <a:ea typeface="+mn-ea"/>
        </a:defRPr>
      </a:lvl2pPr>
      <a:lvl3pPr marL="1184062" indent="-228559" algn="l" rtl="0" eaLnBrk="0" fontAlgn="base" hangingPunct="0">
        <a:spcBef>
          <a:spcPct val="20000"/>
        </a:spcBef>
        <a:spcAft>
          <a:spcPct val="0"/>
        </a:spcAft>
        <a:buChar char="•"/>
        <a:defRPr kumimoji="1" sz="2400">
          <a:solidFill>
            <a:schemeClr val="tx1"/>
          </a:solidFill>
          <a:latin typeface="Times New Roman" pitchFamily="18" charset="0"/>
          <a:ea typeface="+mn-ea"/>
        </a:defRPr>
      </a:lvl3pPr>
      <a:lvl4pPr marL="1603086" indent="-228559" algn="l" rtl="0" eaLnBrk="0" fontAlgn="base" hangingPunct="0">
        <a:spcBef>
          <a:spcPct val="20000"/>
        </a:spcBef>
        <a:spcAft>
          <a:spcPct val="0"/>
        </a:spcAft>
        <a:buChar char="–"/>
        <a:defRPr kumimoji="1" sz="2000">
          <a:solidFill>
            <a:schemeClr val="tx1"/>
          </a:solidFill>
          <a:latin typeface="Times New Roman" pitchFamily="18" charset="0"/>
          <a:ea typeface="+mn-ea"/>
        </a:defRPr>
      </a:lvl4pPr>
      <a:lvl5pPr marL="2057029" indent="-230146" algn="l" rtl="0" eaLnBrk="0" fontAlgn="base" hangingPunct="0">
        <a:spcBef>
          <a:spcPct val="20000"/>
        </a:spcBef>
        <a:spcAft>
          <a:spcPct val="0"/>
        </a:spcAft>
        <a:buChar char="»"/>
        <a:defRPr kumimoji="1" sz="2000">
          <a:solidFill>
            <a:schemeClr val="tx1"/>
          </a:solidFill>
          <a:latin typeface="Times New Roman" pitchFamily="18" charset="0"/>
          <a:ea typeface="+mn-ea"/>
        </a:defRPr>
      </a:lvl5pPr>
      <a:lvl6pPr marL="2514147" indent="-228559" algn="l" rtl="0" fontAlgn="base">
        <a:spcBef>
          <a:spcPct val="20000"/>
        </a:spcBef>
        <a:spcAft>
          <a:spcPct val="0"/>
        </a:spcAft>
        <a:buChar char="»"/>
        <a:defRPr kumimoji="1" sz="2000">
          <a:solidFill>
            <a:schemeClr val="tx1"/>
          </a:solidFill>
          <a:latin typeface="Times New Roman" pitchFamily="18" charset="0"/>
          <a:ea typeface="+mn-ea"/>
        </a:defRPr>
      </a:lvl6pPr>
      <a:lvl7pPr marL="2971264" indent="-228559" algn="l" rtl="0" fontAlgn="base">
        <a:spcBef>
          <a:spcPct val="20000"/>
        </a:spcBef>
        <a:spcAft>
          <a:spcPct val="0"/>
        </a:spcAft>
        <a:buChar char="»"/>
        <a:defRPr kumimoji="1" sz="2000">
          <a:solidFill>
            <a:schemeClr val="tx1"/>
          </a:solidFill>
          <a:latin typeface="Times New Roman" pitchFamily="18" charset="0"/>
          <a:ea typeface="+mn-ea"/>
        </a:defRPr>
      </a:lvl7pPr>
      <a:lvl8pPr marL="3428382" indent="-228559" algn="l" rtl="0" fontAlgn="base">
        <a:spcBef>
          <a:spcPct val="20000"/>
        </a:spcBef>
        <a:spcAft>
          <a:spcPct val="0"/>
        </a:spcAft>
        <a:buChar char="»"/>
        <a:defRPr kumimoji="1" sz="2000">
          <a:solidFill>
            <a:schemeClr val="tx1"/>
          </a:solidFill>
          <a:latin typeface="Times New Roman" pitchFamily="18" charset="0"/>
          <a:ea typeface="+mn-ea"/>
        </a:defRPr>
      </a:lvl8pPr>
      <a:lvl9pPr marL="3885499" indent="-228559" algn="l" rtl="0" fontAlgn="base">
        <a:spcBef>
          <a:spcPct val="20000"/>
        </a:spcBef>
        <a:spcAft>
          <a:spcPct val="0"/>
        </a:spcAft>
        <a:buChar char="»"/>
        <a:defRPr kumimoji="1" sz="2000">
          <a:solidFill>
            <a:schemeClr val="tx1"/>
          </a:solidFill>
          <a:latin typeface="Times New Roman" pitchFamily="18" charset="0"/>
          <a:ea typeface="+mn-ea"/>
        </a:defRPr>
      </a:lvl9pPr>
    </p:bodyStyle>
    <p:otherStyle>
      <a:defPPr>
        <a:defRPr lang="ja-JP"/>
      </a:defPPr>
      <a:lvl1pPr marL="0" algn="l" defTabSz="914235" rtl="0" eaLnBrk="1" latinLnBrk="0" hangingPunct="1">
        <a:defRPr kumimoji="1" sz="1800" kern="1200">
          <a:solidFill>
            <a:schemeClr val="tx1"/>
          </a:solidFill>
          <a:latin typeface="+mn-lt"/>
          <a:ea typeface="+mn-ea"/>
          <a:cs typeface="+mn-cs"/>
        </a:defRPr>
      </a:lvl1pPr>
      <a:lvl2pPr marL="457117" algn="l" defTabSz="914235" rtl="0" eaLnBrk="1" latinLnBrk="0" hangingPunct="1">
        <a:defRPr kumimoji="1" sz="1800" kern="1200">
          <a:solidFill>
            <a:schemeClr val="tx1"/>
          </a:solidFill>
          <a:latin typeface="+mn-lt"/>
          <a:ea typeface="+mn-ea"/>
          <a:cs typeface="+mn-cs"/>
        </a:defRPr>
      </a:lvl2pPr>
      <a:lvl3pPr marL="914235" algn="l" defTabSz="914235" rtl="0" eaLnBrk="1" latinLnBrk="0" hangingPunct="1">
        <a:defRPr kumimoji="1" sz="1800" kern="1200">
          <a:solidFill>
            <a:schemeClr val="tx1"/>
          </a:solidFill>
          <a:latin typeface="+mn-lt"/>
          <a:ea typeface="+mn-ea"/>
          <a:cs typeface="+mn-cs"/>
        </a:defRPr>
      </a:lvl3pPr>
      <a:lvl4pPr marL="1371353" algn="l" defTabSz="914235" rtl="0" eaLnBrk="1" latinLnBrk="0" hangingPunct="1">
        <a:defRPr kumimoji="1" sz="1800" kern="1200">
          <a:solidFill>
            <a:schemeClr val="tx1"/>
          </a:solidFill>
          <a:latin typeface="+mn-lt"/>
          <a:ea typeface="+mn-ea"/>
          <a:cs typeface="+mn-cs"/>
        </a:defRPr>
      </a:lvl4pPr>
      <a:lvl5pPr marL="1828470" algn="l" defTabSz="914235" rtl="0" eaLnBrk="1" latinLnBrk="0" hangingPunct="1">
        <a:defRPr kumimoji="1" sz="1800" kern="1200">
          <a:solidFill>
            <a:schemeClr val="tx1"/>
          </a:solidFill>
          <a:latin typeface="+mn-lt"/>
          <a:ea typeface="+mn-ea"/>
          <a:cs typeface="+mn-cs"/>
        </a:defRPr>
      </a:lvl5pPr>
      <a:lvl6pPr marL="2285588" algn="l" defTabSz="914235" rtl="0" eaLnBrk="1" latinLnBrk="0" hangingPunct="1">
        <a:defRPr kumimoji="1" sz="1800" kern="1200">
          <a:solidFill>
            <a:schemeClr val="tx1"/>
          </a:solidFill>
          <a:latin typeface="+mn-lt"/>
          <a:ea typeface="+mn-ea"/>
          <a:cs typeface="+mn-cs"/>
        </a:defRPr>
      </a:lvl6pPr>
      <a:lvl7pPr marL="2742705" algn="l" defTabSz="914235" rtl="0" eaLnBrk="1" latinLnBrk="0" hangingPunct="1">
        <a:defRPr kumimoji="1" sz="1800" kern="1200">
          <a:solidFill>
            <a:schemeClr val="tx1"/>
          </a:solidFill>
          <a:latin typeface="+mn-lt"/>
          <a:ea typeface="+mn-ea"/>
          <a:cs typeface="+mn-cs"/>
        </a:defRPr>
      </a:lvl7pPr>
      <a:lvl8pPr marL="3199823" algn="l" defTabSz="914235" rtl="0" eaLnBrk="1" latinLnBrk="0" hangingPunct="1">
        <a:defRPr kumimoji="1" sz="1800" kern="1200">
          <a:solidFill>
            <a:schemeClr val="tx1"/>
          </a:solidFill>
          <a:latin typeface="+mn-lt"/>
          <a:ea typeface="+mn-ea"/>
          <a:cs typeface="+mn-cs"/>
        </a:defRPr>
      </a:lvl8pPr>
      <a:lvl9pPr marL="3656940" algn="l" defTabSz="914235" rtl="0" eaLnBrk="1" latinLnBrk="0" hangingPunct="1">
        <a:defRPr kumimoji="1"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5FAB5873-FF1D-4113-8282-0EA44741E4D1}"/>
              </a:ext>
            </a:extLst>
          </p:cNvPr>
          <p:cNvSpPr txBox="1">
            <a:spLocks/>
          </p:cNvSpPr>
          <p:nvPr userDrawn="1"/>
        </p:nvSpPr>
        <p:spPr>
          <a:xfrm>
            <a:off x="9527282" y="6709482"/>
            <a:ext cx="357572"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dirty="0">
              <a:ln>
                <a:noFill/>
              </a:ln>
              <a:solidFill>
                <a:srgbClr val="000000">
                  <a:alpha val="50000"/>
                </a:srgbClr>
              </a:solidFill>
              <a:effectLst/>
              <a:uLnTx/>
              <a:uFillTx/>
              <a:latin typeface="+mn-ea"/>
              <a:ea typeface="+mn-ea"/>
              <a:cs typeface="+mn-cs"/>
            </a:endParaRPr>
          </a:p>
        </p:txBody>
      </p:sp>
      <p:sp>
        <p:nvSpPr>
          <p:cNvPr id="14" name="正方形/長方形 13">
            <a:extLst>
              <a:ext uri="{FF2B5EF4-FFF2-40B4-BE49-F238E27FC236}">
                <a16:creationId xmlns:a16="http://schemas.microsoft.com/office/drawing/2014/main" id="{1084623F-472B-4E76-893D-31861E01631F}"/>
              </a:ext>
            </a:extLst>
          </p:cNvPr>
          <p:cNvSpPr/>
          <p:nvPr/>
        </p:nvSpPr>
        <p:spPr>
          <a:xfrm>
            <a:off x="-536528" y="1233656"/>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536528" y="1628308"/>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536528" y="2022960"/>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p:nvSpPr>
        <p:spPr>
          <a:xfrm>
            <a:off x="-536528" y="2417612"/>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84406" tIns="42203" rIns="84406" bIns="42203" numCol="1" spcCol="0" rtlCol="0" fromWordArt="0" anchor="ctr" anchorCtr="0" forceAA="0" compatLnSpc="1">
            <a:prstTxWarp prst="textNoShape">
              <a:avLst/>
            </a:prstTxWarp>
            <a:noAutofit/>
          </a:bodyPr>
          <a:lstStyle/>
          <a:p>
            <a:pPr defTabSz="843987" fontAlgn="auto">
              <a:lnSpc>
                <a:spcPct val="100000"/>
              </a:lnSpc>
              <a:spcBef>
                <a:spcPts val="0"/>
              </a:spcBef>
              <a:spcAft>
                <a:spcPts val="0"/>
              </a:spcAft>
            </a:pPr>
            <a:endParaRPr kumimoji="0" lang="ja-JP" altLang="en-US" sz="1292"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cxnSp>
        <p:nvCxnSpPr>
          <p:cNvPr id="18" name="Straight Connector 7">
            <a:extLst>
              <a:ext uri="{FF2B5EF4-FFF2-40B4-BE49-F238E27FC236}">
                <a16:creationId xmlns:a16="http://schemas.microsoft.com/office/drawing/2014/main" id="{3426408B-7E00-884B-2AE7-3F477FF5C006}"/>
              </a:ext>
            </a:extLst>
          </p:cNvPr>
          <p:cNvCxnSpPr/>
          <p:nvPr/>
        </p:nvCxnSpPr>
        <p:spPr>
          <a:xfrm>
            <a:off x="493584" y="701780"/>
            <a:ext cx="9000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495302"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Tree>
    <p:extLst>
      <p:ext uri="{BB962C8B-B14F-4D97-AF65-F5344CB8AC3E}">
        <p14:creationId xmlns:p14="http://schemas.microsoft.com/office/powerpoint/2010/main" val="39806392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Lst>
  <p:hf hdr="0" ft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microsoft.com/office/2018/10/relationships/comments" Target="../comments/modernComment_12C_2776E0F4.xml"/><Relationship Id="rId1" Type="http://schemas.openxmlformats.org/officeDocument/2006/relationships/slideLayout" Target="../slideLayouts/slideLayout40.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0.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7.png"/><Relationship Id="rId2" Type="http://schemas.microsoft.com/office/2018/10/relationships/comments" Target="../comments/modernComment_12F_46651541.xml"/><Relationship Id="rId1" Type="http://schemas.openxmlformats.org/officeDocument/2006/relationships/slideLayout" Target="../slideLayouts/slideLayout40.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40.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2.png"/><Relationship Id="rId2" Type="http://schemas.microsoft.com/office/2018/10/relationships/comments" Target="../comments/modernComment_130_ED1945FD.xml"/><Relationship Id="rId1" Type="http://schemas.openxmlformats.org/officeDocument/2006/relationships/slideLayout" Target="../slideLayouts/slideLayout40.xml"/><Relationship Id="rId6" Type="http://schemas.openxmlformats.org/officeDocument/2006/relationships/image" Target="../media/image6.png"/><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AF868-485A-BBCC-5C1F-9F4ED6FF66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C71FCF-3184-6BD8-6085-E0C1EA6C242A}"/>
              </a:ext>
            </a:extLst>
          </p:cNvPr>
          <p:cNvSpPr>
            <a:spLocks noGrp="1"/>
          </p:cNvSpPr>
          <p:nvPr>
            <p:ph type="title"/>
          </p:nvPr>
        </p:nvSpPr>
        <p:spPr/>
        <p:txBody>
          <a:bodyPr/>
          <a:lstStyle/>
          <a:p>
            <a:r>
              <a:rPr lang="ja-JP" altLang="en-US"/>
              <a:t>ポータルサイト更新依頼</a:t>
            </a:r>
            <a:br>
              <a:rPr lang="en-US" altLang="ja-JP" dirty="0"/>
            </a:br>
            <a:r>
              <a:rPr kumimoji="1" lang="ja-JP" altLang="en-US"/>
              <a:t>　各マスタページの具体的な公開イメージ</a:t>
            </a:r>
            <a:r>
              <a:rPr kumimoji="1" lang="en-US" altLang="ja-JP" dirty="0"/>
              <a:t> – </a:t>
            </a:r>
            <a:r>
              <a:rPr kumimoji="1" lang="ja-JP" altLang="en-US"/>
              <a:t>目次</a:t>
            </a:r>
            <a:endParaRPr lang="en-US" dirty="0"/>
          </a:p>
        </p:txBody>
      </p:sp>
      <p:graphicFrame>
        <p:nvGraphicFramePr>
          <p:cNvPr id="6" name="表 5">
            <a:extLst>
              <a:ext uri="{FF2B5EF4-FFF2-40B4-BE49-F238E27FC236}">
                <a16:creationId xmlns:a16="http://schemas.microsoft.com/office/drawing/2014/main" id="{455B1CDA-87AD-56E0-000F-D84954B22D28}"/>
              </a:ext>
            </a:extLst>
          </p:cNvPr>
          <p:cNvGraphicFramePr>
            <a:graphicFrameLocks noGrp="1"/>
          </p:cNvGraphicFramePr>
          <p:nvPr/>
        </p:nvGraphicFramePr>
        <p:xfrm>
          <a:off x="513052" y="1124744"/>
          <a:ext cx="7819336" cy="3267720"/>
        </p:xfrm>
        <a:graphic>
          <a:graphicData uri="http://schemas.openxmlformats.org/drawingml/2006/table">
            <a:tbl>
              <a:tblPr/>
              <a:tblGrid>
                <a:gridCol w="1156697">
                  <a:extLst>
                    <a:ext uri="{9D8B030D-6E8A-4147-A177-3AD203B41FA5}">
                      <a16:colId xmlns:a16="http://schemas.microsoft.com/office/drawing/2014/main" val="1750773779"/>
                    </a:ext>
                  </a:extLst>
                </a:gridCol>
                <a:gridCol w="630515">
                  <a:extLst>
                    <a:ext uri="{9D8B030D-6E8A-4147-A177-3AD203B41FA5}">
                      <a16:colId xmlns:a16="http://schemas.microsoft.com/office/drawing/2014/main" val="2495594122"/>
                    </a:ext>
                  </a:extLst>
                </a:gridCol>
                <a:gridCol w="2342667">
                  <a:extLst>
                    <a:ext uri="{9D8B030D-6E8A-4147-A177-3AD203B41FA5}">
                      <a16:colId xmlns:a16="http://schemas.microsoft.com/office/drawing/2014/main" val="1953968192"/>
                    </a:ext>
                  </a:extLst>
                </a:gridCol>
                <a:gridCol w="3689457">
                  <a:extLst>
                    <a:ext uri="{9D8B030D-6E8A-4147-A177-3AD203B41FA5}">
                      <a16:colId xmlns:a16="http://schemas.microsoft.com/office/drawing/2014/main" val="4104317919"/>
                    </a:ext>
                  </a:extLst>
                </a:gridCol>
              </a:tblGrid>
              <a:tr h="0">
                <a:tc gridSpan="3">
                  <a:txBody>
                    <a:bodyPr/>
                    <a:lstStyle/>
                    <a:p>
                      <a:pPr algn="ctr" fontAlgn="ctr"/>
                      <a:r>
                        <a:rPr lang="ja-JP" altLang="en-US" sz="900" b="1" i="0" u="none" strike="noStrike">
                          <a:solidFill>
                            <a:srgbClr val="FFFFFF"/>
                          </a:solidFill>
                          <a:effectLst/>
                          <a:latin typeface="ＭＳ Ｐゴシック"/>
                          <a:ea typeface="ＭＳ Ｐゴシック"/>
                        </a:rPr>
                        <a:t>マスタの情報</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05496"/>
                    </a:solidFill>
                  </a:tcPr>
                </a:tc>
                <a:tc hMerge="1">
                  <a:txBody>
                    <a:bodyPr/>
                    <a:lstStyle/>
                    <a:p>
                      <a:endParaRPr kumimoji="1" lang="ja-JP" altLang="en-US"/>
                    </a:p>
                  </a:txBody>
                  <a:tcPr/>
                </a:tc>
                <a:tc hMerge="1">
                  <a:txBody>
                    <a:bodyPr/>
                    <a:lstStyle/>
                    <a:p>
                      <a:endParaRPr kumimoji="1" lang="ja-JP" altLang="en-US"/>
                    </a:p>
                  </a:txBody>
                  <a:tcPr/>
                </a:tc>
                <a:tc rowSpan="2">
                  <a:txBody>
                    <a:bodyPr/>
                    <a:lstStyle/>
                    <a:p>
                      <a:pPr marL="0" algn="ctr" defTabSz="843930" rtl="0" eaLnBrk="1" fontAlgn="ctr" latinLnBrk="0" hangingPunct="1"/>
                      <a:r>
                        <a:rPr kumimoji="1" lang="ja-JP" altLang="en-US" sz="900" b="1" i="0" u="none" strike="noStrike" kern="1200">
                          <a:solidFill>
                            <a:schemeClr val="tx1"/>
                          </a:solidFill>
                          <a:effectLst/>
                          <a:latin typeface="Meiryo UI"/>
                          <a:ea typeface="Meiryo UI"/>
                          <a:cs typeface="+mn-cs"/>
                        </a:rPr>
                        <a:t>更新イメージ図</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651321819"/>
                  </a:ext>
                </a:extLst>
              </a:tr>
              <a:tr h="0">
                <a:tc gridSpan="2">
                  <a:txBody>
                    <a:bodyPr/>
                    <a:lstStyle/>
                    <a:p>
                      <a:pPr algn="ctr" fontAlgn="ctr"/>
                      <a:r>
                        <a:rPr lang="ja-JP" altLang="en-US" sz="900" b="0" i="0" u="none" strike="noStrike">
                          <a:effectLst/>
                          <a:latin typeface="Meiryo UI"/>
                          <a:ea typeface="Meiryo UI"/>
                        </a:rPr>
                        <a:t>情報</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9BC2E6"/>
                    </a:solidFill>
                  </a:tcPr>
                </a:tc>
                <a:tc hMerge="1">
                  <a:txBody>
                    <a:bodyPr/>
                    <a:lstStyle/>
                    <a:p>
                      <a:endParaRPr kumimoji="1" lang="ja-JP" altLang="en-US"/>
                    </a:p>
                  </a:txBody>
                  <a:tcPr/>
                </a:tc>
                <a:tc>
                  <a:txBody>
                    <a:bodyPr/>
                    <a:lstStyle/>
                    <a:p>
                      <a:pPr algn="ctr" fontAlgn="ctr"/>
                      <a:r>
                        <a:rPr lang="ja-JP" altLang="en-US" sz="900" b="0" i="0" u="none" strike="noStrike">
                          <a:effectLst/>
                          <a:latin typeface="Meiryo UI"/>
                          <a:ea typeface="Meiryo UI"/>
                        </a:rPr>
                        <a:t>名称</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9BC2E6"/>
                    </a:solidFill>
                  </a:tcPr>
                </a:tc>
                <a:tc vMerge="1">
                  <a:txBody>
                    <a:bodyPr/>
                    <a:lstStyle/>
                    <a:p>
                      <a:pPr algn="ctr" fontAlgn="ctr"/>
                      <a:endParaRPr lang="ja-JP" altLang="en-US" sz="1050" b="0" i="0" u="none" strike="noStrike">
                        <a:effectLst/>
                        <a:latin typeface="Meiryo UI" panose="020B0604030504040204" pitchFamily="50" charset="-128"/>
                        <a:ea typeface="Meiryo UI" panose="020B0604030504040204" pitchFamily="50" charset="-128"/>
                      </a:endParaRPr>
                    </a:p>
                  </a:txBody>
                  <a:tcPr marL="6389" marR="6389" marT="638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20100623"/>
                  </a:ext>
                </a:extLst>
              </a:tr>
              <a:tr h="0">
                <a:tc rowSpan="2">
                  <a:txBody>
                    <a:bodyPr/>
                    <a:lstStyle/>
                    <a:p>
                      <a:pPr algn="l" fontAlgn="ctr"/>
                      <a:r>
                        <a:rPr lang="ja-JP" altLang="en-US" sz="900" b="0" i="0" u="none" strike="noStrike">
                          <a:effectLst/>
                          <a:latin typeface="Meiryo UI"/>
                          <a:ea typeface="Meiryo UI"/>
                        </a:rPr>
                        <a:t>傷病名</a:t>
                      </a:r>
                    </a:p>
                    <a:p>
                      <a:pPr algn="l" fontAlgn="ctr"/>
                      <a:r>
                        <a:rPr lang="ja-JP" altLang="en-US" sz="900" b="0" i="0" u="none" strike="noStrike">
                          <a:effectLst/>
                          <a:latin typeface="Meiryo UI"/>
                          <a:ea typeface="Meiryo UI"/>
                        </a:rPr>
                        <a:t>　</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fontAlgn="t"/>
                      <a:r>
                        <a:rPr lang="ja-JP" altLang="en-US" sz="900" b="0" i="0" u="none" strike="noStrike">
                          <a:solidFill>
                            <a:schemeClr val="tx1"/>
                          </a:solidFill>
                          <a:effectLst/>
                          <a:latin typeface="Meiryo UI"/>
                          <a:ea typeface="Meiryo UI"/>
                        </a:rPr>
                        <a:t>傷病名</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fontAlgn="t"/>
                      <a:r>
                        <a:rPr lang="ja-JP" altLang="en-US" sz="900" b="0" i="0" u="none" strike="noStrike">
                          <a:solidFill>
                            <a:schemeClr val="tx1"/>
                          </a:solidFill>
                          <a:effectLst/>
                          <a:latin typeface="Meiryo UI" panose="020B0604030504040204" pitchFamily="50" charset="-128"/>
                          <a:ea typeface="Meiryo UI" panose="020B0604030504040204" pitchFamily="50" charset="-128"/>
                        </a:rPr>
                        <a:t>標準</a:t>
                      </a:r>
                      <a:r>
                        <a:rPr lang="zh-CN" altLang="en-US" sz="900" b="0" i="0" u="none" strike="noStrike">
                          <a:solidFill>
                            <a:schemeClr val="tx1"/>
                          </a:solidFill>
                          <a:effectLst/>
                          <a:latin typeface="Meiryo UI" panose="020B0604030504040204" pitchFamily="50" charset="-128"/>
                          <a:ea typeface="Meiryo UI" panose="020B0604030504040204" pitchFamily="50" charset="-128"/>
                        </a:rPr>
                        <a:t>病名</a:t>
                      </a:r>
                      <a:r>
                        <a:rPr lang="ja-JP" altLang="en-US" sz="900" b="0" i="0" u="none" strike="noStrike">
                          <a:solidFill>
                            <a:schemeClr val="tx1"/>
                          </a:solidFill>
                          <a:effectLst/>
                          <a:latin typeface="Meiryo UI" panose="020B0604030504040204" pitchFamily="50" charset="-128"/>
                          <a:ea typeface="Meiryo UI" panose="020B0604030504040204" pitchFamily="50" charset="-128"/>
                        </a:rPr>
                        <a:t>履歴マスタ</a:t>
                      </a:r>
                      <a:endParaRPr lang="zh-CN" altLang="en-US" sz="9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a:ea typeface="Meiryo UI"/>
                          <a:cs typeface="+mn-cs"/>
                        </a:rPr>
                        <a:t>-</a:t>
                      </a:r>
                      <a:r>
                        <a:rPr kumimoji="1" lang="ja-JP" altLang="en-US" sz="900" b="0" i="0" u="none" strike="noStrike" kern="1200" cap="none" spc="0" normalizeH="0" baseline="0" noProof="0">
                          <a:ln>
                            <a:noFill/>
                          </a:ln>
                          <a:solidFill>
                            <a:schemeClr val="tx1"/>
                          </a:solidFill>
                          <a:effectLst/>
                          <a:uLnTx/>
                          <a:uFillTx/>
                          <a:latin typeface="Meiryo UI"/>
                          <a:ea typeface="Meiryo UI"/>
                          <a:cs typeface="+mn-cs"/>
                        </a:rPr>
                        <a:t>（更新なし）</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756998166"/>
                  </a:ext>
                </a:extLst>
              </a:tr>
              <a:tr h="0">
                <a:tc vMerge="1">
                  <a:txBody>
                    <a:bodyPr/>
                    <a:lstStyle/>
                    <a:p>
                      <a:endParaRPr/>
                    </a:p>
                  </a:txBody>
                  <a:tcPr marL="6389"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t"/>
                      <a:r>
                        <a:rPr lang="ja-JP" altLang="en-US" sz="900" b="0" i="0" u="none" strike="noStrike">
                          <a:solidFill>
                            <a:schemeClr val="tx1"/>
                          </a:solidFill>
                          <a:effectLst/>
                          <a:latin typeface="Meiryo UI"/>
                          <a:ea typeface="Meiryo UI"/>
                        </a:rPr>
                        <a:t>修飾語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fontAlgn="t"/>
                      <a:r>
                        <a:rPr lang="zh-TW" altLang="en-US" sz="900" b="0" i="0" u="none" strike="noStrike">
                          <a:solidFill>
                            <a:schemeClr val="tx1"/>
                          </a:solidFill>
                          <a:effectLst/>
                          <a:latin typeface="Meiryo UI" panose="020B0604030504040204" pitchFamily="50" charset="-128"/>
                          <a:ea typeface="Meiryo UI" panose="020B0604030504040204" pitchFamily="50" charset="-128"/>
                        </a:rPr>
                        <a:t>修飾語</a:t>
                      </a:r>
                      <a:r>
                        <a:rPr lang="ja-JP" altLang="en-US" sz="900" b="0" i="0" u="none" strike="noStrike">
                          <a:solidFill>
                            <a:schemeClr val="tx1"/>
                          </a:solidFill>
                          <a:effectLst/>
                          <a:latin typeface="Meiryo UI" panose="020B0604030504040204" pitchFamily="50" charset="-128"/>
                          <a:ea typeface="Meiryo UI" panose="020B0604030504040204" pitchFamily="50" charset="-128"/>
                        </a:rPr>
                        <a:t>マスタ</a:t>
                      </a:r>
                      <a:endParaRPr lang="zh-TW" altLang="en-US" sz="9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a:ea typeface="+mn-ea"/>
                          <a:cs typeface="+mn-cs"/>
                        </a:rPr>
                        <a:t>-</a:t>
                      </a:r>
                      <a:r>
                        <a:rPr kumimoji="1" lang="ja-JP" altLang="en-US" sz="900" b="0" i="0" u="none" strike="noStrike" kern="1200" cap="none" spc="0" normalizeH="0" baseline="0" noProof="0">
                          <a:ln>
                            <a:noFill/>
                          </a:ln>
                          <a:solidFill>
                            <a:schemeClr val="tx1"/>
                          </a:solidFill>
                          <a:effectLst/>
                          <a:uLnTx/>
                          <a:uFillTx/>
                          <a:latin typeface="Meiryo UI"/>
                          <a:ea typeface="+mn-ea"/>
                          <a:cs typeface="+mn-cs"/>
                        </a:rPr>
                        <a:t>（更新なし）</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864451565"/>
                  </a:ext>
                </a:extLst>
              </a:tr>
              <a:tr h="0">
                <a:tc rowSpan="4" gridSpan="2">
                  <a:txBody>
                    <a:bodyPr/>
                    <a:lstStyle/>
                    <a:p>
                      <a:pPr algn="l" fontAlgn="ctr"/>
                      <a:r>
                        <a:rPr lang="ja-JP" altLang="en-US" sz="900" b="0" i="0" u="none" strike="noStrike" dirty="0">
                          <a:solidFill>
                            <a:schemeClr val="tx1"/>
                          </a:solidFill>
                          <a:effectLst/>
                          <a:latin typeface="Meiryo UI"/>
                          <a:ea typeface="Meiryo UI"/>
                        </a:rPr>
                        <a:t>薬剤アレルギー等</a:t>
                      </a:r>
                    </a:p>
                  </a:txBody>
                  <a:tcPr marL="36000" marR="36000" marT="36000" marB="36000" anchor="ctr">
                    <a:lnL w="12700" cap="flat" cmpd="sng" algn="ctr">
                      <a:solidFill>
                        <a:schemeClr val="bg1">
                          <a:lumMod val="65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rowSpan="4" hMerge="1">
                  <a:txBody>
                    <a:bodyPr/>
                    <a:lstStyle/>
                    <a:p>
                      <a:endParaRPr/>
                    </a:p>
                  </a:txBody>
                  <a:tcPr marL="72000"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a:latin typeface="Meiryo UI"/>
                          <a:ea typeface="Meiryo UI"/>
                        </a:rPr>
                        <a:t>薬剤アレルギー用コードマスタ</a:t>
                      </a:r>
                      <a:endParaRPr kumimoji="1" lang="en-US" altLang="ja-JP" sz="900" dirty="0">
                        <a:latin typeface="Meiryo UI"/>
                        <a:ea typeface="Meiryo UI"/>
                      </a:endParaRPr>
                    </a:p>
                  </a:txBody>
                  <a:tcPr marL="36000" marR="36000" marT="36000" marB="36000" anchor="ctr">
                    <a:lnL w="635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a:ea typeface="+mn-ea"/>
                          <a:cs typeface="+mn-cs"/>
                        </a:rPr>
                        <a:t>-</a:t>
                      </a:r>
                      <a:r>
                        <a:rPr kumimoji="1" lang="ja-JP" altLang="en-US" sz="900" b="0" i="0" u="none" strike="noStrike" kern="1200" cap="none" spc="0" normalizeH="0" baseline="0" noProof="0">
                          <a:ln>
                            <a:noFill/>
                          </a:ln>
                          <a:solidFill>
                            <a:schemeClr val="tx1"/>
                          </a:solidFill>
                          <a:effectLst/>
                          <a:uLnTx/>
                          <a:uFillTx/>
                          <a:latin typeface="Meiryo UI"/>
                          <a:ea typeface="+mn-ea"/>
                          <a:cs typeface="+mn-cs"/>
                        </a:rPr>
                        <a:t>（更新なし）</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26355900"/>
                  </a:ext>
                </a:extLst>
              </a:tr>
              <a:tr h="0">
                <a:tc gridSpan="2" vMerge="1">
                  <a:txBody>
                    <a:bodyPr/>
                    <a:lstStyle/>
                    <a:p>
                      <a:endParaRPr/>
                    </a:p>
                  </a:txBody>
                  <a:tcPr marL="6389"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noFill/>
                  </a:tcPr>
                </a:tc>
                <a:tc hMerge="1" vMerge="1">
                  <a:txBody>
                    <a:bodyPr/>
                    <a:lstStyle/>
                    <a:p>
                      <a:endParaRPr/>
                    </a:p>
                  </a:txBody>
                  <a:tcPr marL="6389"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900" kern="1200">
                          <a:solidFill>
                            <a:schemeClr val="dk1"/>
                          </a:solidFill>
                          <a:effectLst/>
                          <a:latin typeface="+mn-lt"/>
                          <a:ea typeface="+mn-ea"/>
                          <a:cs typeface="+mn-cs"/>
                        </a:rPr>
                        <a:t>剤形・規格・銘柄不明</a:t>
                      </a:r>
                      <a:r>
                        <a:rPr kumimoji="1" lang="ja-JP" altLang="en-US" sz="900" kern="1200">
                          <a:solidFill>
                            <a:schemeClr val="dk1"/>
                          </a:solidFill>
                          <a:effectLst/>
                          <a:latin typeface="+mn-lt"/>
                          <a:ea typeface="+mn-ea"/>
                          <a:cs typeface="+mn-cs"/>
                        </a:rPr>
                        <a:t>コ</a:t>
                      </a:r>
                      <a:r>
                        <a:rPr kumimoji="1" lang="ja-JP" altLang="ja-JP" sz="900" kern="1200">
                          <a:solidFill>
                            <a:schemeClr val="dk1"/>
                          </a:solidFill>
                          <a:effectLst/>
                          <a:latin typeface="+mn-lt"/>
                          <a:ea typeface="+mn-ea"/>
                          <a:cs typeface="+mn-cs"/>
                        </a:rPr>
                        <a:t>ード</a:t>
                      </a:r>
                      <a:r>
                        <a:rPr kumimoji="1" lang="ja-JP" altLang="en-US" sz="900" kern="1200">
                          <a:solidFill>
                            <a:schemeClr val="dk1"/>
                          </a:solidFill>
                          <a:effectLst/>
                          <a:latin typeface="+mn-lt"/>
                          <a:ea typeface="+mn-ea"/>
                          <a:cs typeface="+mn-cs"/>
                        </a:rPr>
                        <a:t>マスタ</a:t>
                      </a:r>
                      <a:endParaRPr kumimoji="1" lang="ja-JP" altLang="en-US" sz="900">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a:ea typeface="+mn-ea"/>
                          <a:cs typeface="+mn-cs"/>
                        </a:rPr>
                        <a:t>-</a:t>
                      </a:r>
                      <a:r>
                        <a:rPr kumimoji="1" lang="ja-JP" altLang="en-US" sz="900" b="0" i="0" u="none" strike="noStrike" kern="1200" cap="none" spc="0" normalizeH="0" baseline="0" noProof="0">
                          <a:ln>
                            <a:noFill/>
                          </a:ln>
                          <a:solidFill>
                            <a:schemeClr val="tx1"/>
                          </a:solidFill>
                          <a:effectLst/>
                          <a:uLnTx/>
                          <a:uFillTx/>
                          <a:latin typeface="Meiryo UI"/>
                          <a:ea typeface="+mn-ea"/>
                          <a:cs typeface="+mn-cs"/>
                        </a:rPr>
                        <a:t>（更新なし）</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192246524"/>
                  </a:ext>
                </a:extLst>
              </a:tr>
              <a:tr h="0">
                <a:tc gridSpan="2" vMerge="1">
                  <a:txBody>
                    <a:bodyPr/>
                    <a:lstStyle/>
                    <a:p>
                      <a:pPr algn="l" fontAlgn="ctr"/>
                      <a:endParaRPr lang="ja-JP" altLang="en-US" sz="900" b="0" i="0" u="none" strike="noStrike" dirty="0">
                        <a:solidFill>
                          <a:schemeClr val="tx1"/>
                        </a:solidFill>
                        <a:effectLst/>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hMerge="1" vMerge="1">
                  <a:txBody>
                    <a:bodyPr/>
                    <a:lstStyle/>
                    <a:p>
                      <a:endParaRPr kumimoji="1" lang="ja-JP" altLang="en-US"/>
                    </a:p>
                  </a:txBody>
                  <a:tcPr/>
                </a:tc>
                <a:tc>
                  <a:txBody>
                    <a:bodyPr/>
                    <a:lstStyle/>
                    <a:p>
                      <a:pPr algn="l" fontAlgn="t"/>
                      <a:r>
                        <a:rPr kumimoji="1" lang="en-US" altLang="ja-JP" sz="900" b="0" i="0" u="none" strike="noStrike" kern="1200" dirty="0">
                          <a:solidFill>
                            <a:srgbClr val="000000"/>
                          </a:solidFill>
                          <a:effectLst/>
                          <a:latin typeface="Arial" panose="020B0604020202020204" pitchFamily="34" charset="0"/>
                          <a:ea typeface="Meiryo UI" panose="020B0604030504040204" pitchFamily="50" charset="-128"/>
                        </a:rPr>
                        <a:t>【</a:t>
                      </a:r>
                      <a:r>
                        <a:rPr kumimoji="1" lang="ja-JP" altLang="en-US" sz="900" b="0" i="0" u="none" strike="noStrike" kern="1200" dirty="0">
                          <a:solidFill>
                            <a:srgbClr val="000000"/>
                          </a:solidFill>
                          <a:effectLst/>
                          <a:latin typeface="Arial" panose="020B0604020202020204" pitchFamily="34" charset="0"/>
                          <a:ea typeface="Meiryo UI" panose="020B0604030504040204" pitchFamily="50" charset="-128"/>
                        </a:rPr>
                        <a:t>参考表</a:t>
                      </a:r>
                      <a:r>
                        <a:rPr kumimoji="1" lang="en-US" altLang="ja-JP" sz="900" b="0" i="0" u="none" strike="noStrike" kern="1200" dirty="0">
                          <a:solidFill>
                            <a:srgbClr val="000000"/>
                          </a:solidFill>
                          <a:effectLst/>
                          <a:latin typeface="Arial" panose="020B0604020202020204" pitchFamily="34" charset="0"/>
                          <a:ea typeface="Meiryo UI" panose="020B0604030504040204" pitchFamily="50" charset="-128"/>
                        </a:rPr>
                        <a:t>】『</a:t>
                      </a:r>
                      <a:r>
                        <a:rPr kumimoji="1" lang="ja-JP" altLang="en-US" sz="900" b="0" i="0" u="none" strike="noStrike" kern="1200" dirty="0">
                          <a:solidFill>
                            <a:srgbClr val="000000"/>
                          </a:solidFill>
                          <a:effectLst/>
                          <a:latin typeface="Arial" panose="020B0604020202020204" pitchFamily="34" charset="0"/>
                          <a:ea typeface="Meiryo UI" panose="020B0604030504040204" pitchFamily="50" charset="-128"/>
                        </a:rPr>
                        <a:t>個別医薬品コード（</a:t>
                      </a:r>
                      <a:r>
                        <a:rPr kumimoji="1" lang="en-US" altLang="ja-JP" sz="900" b="0" i="0" u="none" strike="noStrike" kern="1200" dirty="0">
                          <a:solidFill>
                            <a:srgbClr val="000000"/>
                          </a:solidFill>
                          <a:effectLst/>
                          <a:latin typeface="Arial" panose="020B0604020202020204" pitchFamily="34" charset="0"/>
                          <a:ea typeface="Meiryo UI" panose="020B0604030504040204" pitchFamily="50" charset="-128"/>
                        </a:rPr>
                        <a:t>YJ</a:t>
                      </a:r>
                      <a:r>
                        <a:rPr kumimoji="1" lang="ja-JP" altLang="en-US" sz="900" b="0" i="0" u="none" strike="noStrike" kern="1200" dirty="0">
                          <a:solidFill>
                            <a:srgbClr val="000000"/>
                          </a:solidFill>
                          <a:effectLst/>
                          <a:latin typeface="Arial" panose="020B0604020202020204" pitchFamily="34" charset="0"/>
                          <a:ea typeface="Meiryo UI" panose="020B0604030504040204" pitchFamily="50" charset="-128"/>
                        </a:rPr>
                        <a:t>コードリスト）</a:t>
                      </a:r>
                      <a:r>
                        <a:rPr kumimoji="1" lang="en-US" altLang="ja-JP" sz="900" b="0" i="0" u="none" strike="noStrike" kern="1200" dirty="0">
                          <a:solidFill>
                            <a:srgbClr val="000000"/>
                          </a:solidFill>
                          <a:effectLst/>
                          <a:latin typeface="Arial" panose="020B0604020202020204" pitchFamily="34" charset="0"/>
                          <a:ea typeface="Meiryo UI" panose="020B0604030504040204" pitchFamily="50" charset="-128"/>
                        </a:rPr>
                        <a:t>』</a:t>
                      </a:r>
                      <a:r>
                        <a:rPr kumimoji="1" lang="ja-JP" altLang="en-US" sz="900" b="0" i="0" u="none" strike="noStrike" kern="1200" dirty="0">
                          <a:solidFill>
                            <a:srgbClr val="000000"/>
                          </a:solidFill>
                          <a:effectLst/>
                          <a:latin typeface="Arial" panose="020B0604020202020204" pitchFamily="34" charset="0"/>
                          <a:ea typeface="Meiryo UI" panose="020B0604030504040204" pitchFamily="50" charset="-128"/>
                        </a:rPr>
                        <a:t>と </a:t>
                      </a:r>
                      <a:r>
                        <a:rPr kumimoji="1" lang="en-US" altLang="ja-JP" sz="900" b="0" i="0" u="none" strike="noStrike" kern="1200" dirty="0">
                          <a:solidFill>
                            <a:srgbClr val="000000"/>
                          </a:solidFill>
                          <a:effectLst/>
                          <a:latin typeface="Arial" panose="020B0604020202020204" pitchFamily="34" charset="0"/>
                          <a:ea typeface="Meiryo UI" panose="020B0604030504040204" pitchFamily="50" charset="-128"/>
                        </a:rPr>
                        <a:t>『</a:t>
                      </a:r>
                      <a:r>
                        <a:rPr kumimoji="1" lang="ja-JP" altLang="en-US" sz="900" b="0" i="0" u="none" strike="noStrike" kern="1200" dirty="0">
                          <a:solidFill>
                            <a:srgbClr val="000000"/>
                          </a:solidFill>
                          <a:effectLst/>
                          <a:latin typeface="Arial" panose="020B0604020202020204" pitchFamily="34" charset="0"/>
                          <a:ea typeface="Meiryo UI" panose="020B0604030504040204" pitchFamily="50" charset="-128"/>
                        </a:rPr>
                        <a:t>剤形・規格・銘柄不明コードマスタ</a:t>
                      </a:r>
                      <a:r>
                        <a:rPr kumimoji="1" lang="en-US" altLang="ja-JP" sz="900" b="0" i="0" u="none" strike="noStrike" kern="1200" dirty="0">
                          <a:solidFill>
                            <a:srgbClr val="000000"/>
                          </a:solidFill>
                          <a:effectLst/>
                          <a:latin typeface="Arial" panose="020B0604020202020204" pitchFamily="34" charset="0"/>
                          <a:ea typeface="Meiryo UI" panose="020B0604030504040204" pitchFamily="50" charset="-128"/>
                        </a:rPr>
                        <a:t>』</a:t>
                      </a:r>
                      <a:r>
                        <a:rPr kumimoji="1" lang="ja-JP" altLang="en-US" sz="900" b="0" i="0" u="none" strike="noStrike" kern="1200" dirty="0">
                          <a:solidFill>
                            <a:srgbClr val="000000"/>
                          </a:solidFill>
                          <a:effectLst/>
                          <a:latin typeface="Arial" panose="020B0604020202020204" pitchFamily="34" charset="0"/>
                          <a:ea typeface="Meiryo UI" panose="020B0604030504040204" pitchFamily="50" charset="-128"/>
                        </a:rPr>
                        <a:t>との対応表</a:t>
                      </a:r>
                      <a:endParaRPr lang="ja-JP" altLang="en-US" sz="900" b="0" i="0" u="none" strike="noStrike" dirty="0">
                        <a:solidFill>
                          <a:schemeClr val="tx1"/>
                        </a:solidFill>
                        <a:effectLst/>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a:ea typeface="+mn-ea"/>
                          <a:cs typeface="+mn-cs"/>
                        </a:rPr>
                        <a:t>-</a:t>
                      </a:r>
                      <a:r>
                        <a:rPr kumimoji="1" lang="ja-JP" altLang="en-US" sz="900" b="0" i="0" u="none" strike="noStrike" kern="1200" cap="none" spc="0" normalizeH="0" baseline="0" noProof="0" dirty="0">
                          <a:ln>
                            <a:noFill/>
                          </a:ln>
                          <a:solidFill>
                            <a:schemeClr val="tx1"/>
                          </a:solidFill>
                          <a:effectLst/>
                          <a:uLnTx/>
                          <a:uFillTx/>
                          <a:latin typeface="Meiryo UI"/>
                          <a:ea typeface="+mn-ea"/>
                          <a:cs typeface="+mn-cs"/>
                        </a:rPr>
                        <a:t>（更新なし）</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945735408"/>
                  </a:ext>
                </a:extLst>
              </a:tr>
              <a:tr h="0">
                <a:tc gridSpan="2" vMerge="1">
                  <a:txBody>
                    <a:bodyPr/>
                    <a:lstStyle/>
                    <a:p>
                      <a:pPr algn="l" fontAlgn="ctr"/>
                      <a:endParaRPr lang="ja-JP" altLang="en-US" sz="900" b="0" i="0" u="none" strike="noStrike" dirty="0">
                        <a:solidFill>
                          <a:schemeClr val="tx1"/>
                        </a:solidFill>
                        <a:effectLst/>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hMerge="1" vMerge="1">
                  <a:txBody>
                    <a:bodyPr/>
                    <a:lstStyle/>
                    <a:p>
                      <a:endParaRPr kumimoji="1" lang="ja-JP" altLang="en-US"/>
                    </a:p>
                  </a:txBody>
                  <a:tcPr/>
                </a:tc>
                <a:tc>
                  <a:txBody>
                    <a:bodyPr/>
                    <a:lstStyle/>
                    <a:p>
                      <a:pPr algn="l" fontAlgn="t"/>
                      <a:r>
                        <a:rPr lang="en-US" altLang="ja-JP" sz="900" b="0" i="0" u="none" strike="noStrike" dirty="0">
                          <a:solidFill>
                            <a:schemeClr val="tx1"/>
                          </a:solidFill>
                          <a:effectLst/>
                          <a:latin typeface="Meiryo UI"/>
                          <a:ea typeface="Meiryo UI"/>
                        </a:rPr>
                        <a:t>【</a:t>
                      </a:r>
                      <a:r>
                        <a:rPr lang="ja-JP" altLang="en-US" sz="900" b="0" i="0" u="none" strike="noStrike" dirty="0">
                          <a:solidFill>
                            <a:schemeClr val="tx1"/>
                          </a:solidFill>
                          <a:effectLst/>
                          <a:latin typeface="Meiryo UI"/>
                          <a:ea typeface="Meiryo UI"/>
                        </a:rPr>
                        <a:t>参考表</a:t>
                      </a:r>
                      <a:r>
                        <a:rPr lang="en-US" altLang="ja-JP" sz="900" b="0" i="0" u="none" strike="noStrike" dirty="0">
                          <a:solidFill>
                            <a:schemeClr val="tx1"/>
                          </a:solidFill>
                          <a:effectLst/>
                          <a:latin typeface="Meiryo UI"/>
                          <a:ea typeface="Meiryo UI"/>
                        </a:rPr>
                        <a:t>】</a:t>
                      </a:r>
                      <a:r>
                        <a:rPr kumimoji="1" lang="en-US" altLang="ja-JP" sz="900" dirty="0">
                          <a:solidFill>
                            <a:prstClr val="black"/>
                          </a:solidFill>
                          <a:latin typeface="Meiryo UI"/>
                        </a:rPr>
                        <a:t>】『</a:t>
                      </a:r>
                      <a:r>
                        <a:rPr kumimoji="1" lang="ja-JP" altLang="en-US" sz="900" dirty="0">
                          <a:solidFill>
                            <a:prstClr val="black"/>
                          </a:solidFill>
                          <a:latin typeface="Meiryo UI"/>
                        </a:rPr>
                        <a:t>一般名処方マスタ</a:t>
                      </a:r>
                      <a:r>
                        <a:rPr kumimoji="1" lang="en-US" altLang="ja-JP" sz="900" dirty="0">
                          <a:solidFill>
                            <a:prstClr val="black"/>
                          </a:solidFill>
                          <a:latin typeface="Meiryo UI"/>
                        </a:rPr>
                        <a:t>』</a:t>
                      </a:r>
                      <a:r>
                        <a:rPr kumimoji="1" lang="ja-JP" altLang="en-US" sz="900" dirty="0">
                          <a:solidFill>
                            <a:prstClr val="black"/>
                          </a:solidFill>
                          <a:latin typeface="Meiryo UI"/>
                        </a:rPr>
                        <a:t>と </a:t>
                      </a:r>
                      <a:r>
                        <a:rPr kumimoji="1" lang="en-US" altLang="ja-JP" sz="900" dirty="0">
                          <a:solidFill>
                            <a:prstClr val="black"/>
                          </a:solidFill>
                          <a:latin typeface="Meiryo UI"/>
                        </a:rPr>
                        <a:t>『</a:t>
                      </a:r>
                      <a:r>
                        <a:rPr kumimoji="1" lang="ja-JP" altLang="en-US" sz="900" dirty="0">
                          <a:solidFill>
                            <a:prstClr val="black"/>
                          </a:solidFill>
                          <a:latin typeface="Meiryo UI"/>
                        </a:rPr>
                        <a:t>剤形・規格・銘柄不明コードマスタ</a:t>
                      </a:r>
                      <a:r>
                        <a:rPr kumimoji="1" lang="en-US" altLang="ja-JP" sz="900" dirty="0">
                          <a:solidFill>
                            <a:prstClr val="black"/>
                          </a:solidFill>
                          <a:latin typeface="Meiryo UI"/>
                        </a:rPr>
                        <a:t>』</a:t>
                      </a:r>
                      <a:r>
                        <a:rPr kumimoji="1" lang="ja-JP" altLang="en-US" sz="900" dirty="0">
                          <a:solidFill>
                            <a:prstClr val="black"/>
                          </a:solidFill>
                          <a:latin typeface="Meiryo UI"/>
                        </a:rPr>
                        <a:t>との対応表</a:t>
                      </a:r>
                      <a:endParaRPr lang="ja-JP" altLang="en-US" sz="900" b="0" i="0" u="none" strike="noStrike" dirty="0">
                        <a:solidFill>
                          <a:schemeClr val="tx1"/>
                        </a:solidFill>
                        <a:effectLst/>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a:ea typeface="+mn-ea"/>
                          <a:cs typeface="+mn-cs"/>
                        </a:rPr>
                        <a:t>P4</a:t>
                      </a:r>
                      <a:r>
                        <a:rPr kumimoji="1" lang="ja-JP" altLang="en-US" sz="900" b="0" i="0" u="none" strike="noStrike" kern="1200" cap="none" spc="0" normalizeH="0" baseline="0" noProof="0" dirty="0">
                          <a:ln>
                            <a:noFill/>
                          </a:ln>
                          <a:solidFill>
                            <a:schemeClr val="tx1"/>
                          </a:solidFill>
                          <a:effectLst/>
                          <a:uLnTx/>
                          <a:uFillTx/>
                          <a:latin typeface="Meiryo UI"/>
                          <a:ea typeface="+mn-ea"/>
                          <a:cs typeface="+mn-cs"/>
                        </a:rPr>
                        <a:t>（新規公開）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32153703"/>
                  </a:ext>
                </a:extLst>
              </a:tr>
              <a:tr h="0">
                <a:tc gridSpan="2">
                  <a:txBody>
                    <a:bodyPr/>
                    <a:lstStyle/>
                    <a:p>
                      <a:pPr algn="l" fontAlgn="ctr"/>
                      <a:r>
                        <a:rPr lang="ja-JP" altLang="en-US" sz="900" b="0" i="0" u="none" strike="noStrike">
                          <a:solidFill>
                            <a:schemeClr val="tx1"/>
                          </a:solidFill>
                          <a:effectLst/>
                          <a:latin typeface="Meiryo UI"/>
                          <a:ea typeface="Meiryo UI"/>
                        </a:rPr>
                        <a:t>その他アレルギー等</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hMerge="1">
                  <a:txBody>
                    <a:bodyPr/>
                    <a:lstStyle/>
                    <a:p>
                      <a:endParaRPr/>
                    </a:p>
                  </a:txBody>
                  <a:tcPr marL="72000"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US" altLang="ja-JP" sz="900" b="0" i="0" u="none" strike="noStrike" dirty="0">
                          <a:solidFill>
                            <a:schemeClr val="tx1"/>
                          </a:solidFill>
                          <a:effectLst/>
                          <a:latin typeface="Meiryo UI"/>
                          <a:ea typeface="Meiryo UI"/>
                        </a:rPr>
                        <a:t>J-FAGY</a:t>
                      </a:r>
                      <a:r>
                        <a:rPr lang="ja-JP" altLang="en-US" sz="900" b="0" i="0" u="none" strike="noStrike">
                          <a:solidFill>
                            <a:schemeClr val="tx1"/>
                          </a:solidFill>
                          <a:effectLst/>
                          <a:latin typeface="Meiryo UI"/>
                          <a:ea typeface="Meiryo UI"/>
                        </a:rPr>
                        <a:t>アレルゲンコードマスタ </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schemeClr val="tx1"/>
                          </a:solidFill>
                          <a:effectLst/>
                          <a:uLnTx/>
                          <a:uFillTx/>
                          <a:latin typeface="Meiryo UI"/>
                          <a:ea typeface="+mn-ea"/>
                          <a:cs typeface="+mn-cs"/>
                        </a:rPr>
                        <a:t>（更新なし）</a:t>
                      </a:r>
                      <a:endPar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54357383"/>
                  </a:ext>
                </a:extLst>
              </a:tr>
              <a:tr h="0">
                <a:tc gridSpan="2">
                  <a:txBody>
                    <a:bodyPr/>
                    <a:lstStyle/>
                    <a:p>
                      <a:pPr algn="l" fontAlgn="ctr"/>
                      <a:r>
                        <a:rPr lang="ja-JP" altLang="en-US" sz="900" b="0" i="0" u="none" strike="noStrike">
                          <a:solidFill>
                            <a:schemeClr val="tx1"/>
                          </a:solidFill>
                          <a:effectLst/>
                          <a:latin typeface="Meiryo UI"/>
                          <a:ea typeface="Meiryo UI"/>
                        </a:rPr>
                        <a:t>検査・感染症</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hMerge="1">
                  <a:txBody>
                    <a:bodyPr/>
                    <a:lstStyle/>
                    <a:p>
                      <a:endParaRPr/>
                    </a:p>
                  </a:txBody>
                  <a:tcPr marL="72000"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ja-JP" altLang="en-US" sz="900" b="0" i="0" u="none" strike="noStrike">
                          <a:solidFill>
                            <a:schemeClr val="tx1"/>
                          </a:solidFill>
                          <a:effectLst/>
                          <a:latin typeface="Meiryo UI"/>
                          <a:ea typeface="Meiryo UI"/>
                        </a:rPr>
                        <a:t>電子カルテ情報共有サービス対応</a:t>
                      </a:r>
                      <a:r>
                        <a:rPr lang="en-US" altLang="ja-JP" sz="900" b="0" i="0" u="none" strike="noStrike" dirty="0">
                          <a:solidFill>
                            <a:schemeClr val="tx1"/>
                          </a:solidFill>
                          <a:effectLst/>
                          <a:latin typeface="Meiryo UI"/>
                          <a:ea typeface="Meiryo UI"/>
                        </a:rPr>
                        <a:t>JLAC</a:t>
                      </a:r>
                      <a:r>
                        <a:rPr lang="ja-JP" altLang="en-US" sz="900" b="0" i="0" u="none" strike="noStrike">
                          <a:solidFill>
                            <a:schemeClr val="tx1"/>
                          </a:solidFill>
                          <a:effectLst/>
                          <a:latin typeface="Meiryo UI"/>
                          <a:ea typeface="Meiryo UI"/>
                        </a:rPr>
                        <a:t>コード表</a:t>
                      </a:r>
                    </a:p>
                    <a:p>
                      <a:pPr algn="l" fontAlgn="t"/>
                      <a:r>
                        <a:rPr lang="en-US" altLang="ja-JP" sz="900" b="0" i="0" u="none" strike="noStrike" dirty="0">
                          <a:solidFill>
                            <a:schemeClr val="tx1"/>
                          </a:solidFill>
                          <a:effectLst/>
                          <a:latin typeface="Meiryo UI"/>
                          <a:ea typeface="Meiryo UI"/>
                        </a:rPr>
                        <a:t>(</a:t>
                      </a:r>
                      <a:r>
                        <a:rPr lang="ja-JP" altLang="en-US" sz="900" b="0" i="0" u="none" strike="noStrike">
                          <a:solidFill>
                            <a:schemeClr val="tx1"/>
                          </a:solidFill>
                          <a:effectLst/>
                          <a:latin typeface="Meiryo UI"/>
                          <a:ea typeface="Meiryo UI"/>
                        </a:rPr>
                        <a:t>共有項目</a:t>
                      </a:r>
                      <a:r>
                        <a:rPr lang="en-US" altLang="ja-JP" sz="900" b="0" i="0" u="none" strike="noStrike" dirty="0">
                          <a:solidFill>
                            <a:schemeClr val="tx1"/>
                          </a:solidFill>
                          <a:effectLst/>
                          <a:latin typeface="Meiryo UI"/>
                          <a:ea typeface="Meiryo UI"/>
                        </a:rPr>
                        <a:t>JLAC</a:t>
                      </a:r>
                      <a:r>
                        <a:rPr lang="ja-JP" altLang="en-US" sz="900" b="0" i="0" u="none" strike="noStrike">
                          <a:solidFill>
                            <a:schemeClr val="tx1"/>
                          </a:solidFill>
                          <a:effectLst/>
                          <a:latin typeface="Meiryo UI"/>
                          <a:ea typeface="Meiryo UI"/>
                        </a:rPr>
                        <a:t>コードマスタ</a:t>
                      </a:r>
                      <a:r>
                        <a:rPr lang="en-US" altLang="ja-JP" sz="900" b="0" i="0" u="none" strike="noStrike" dirty="0">
                          <a:solidFill>
                            <a:schemeClr val="tx1"/>
                          </a:solidFill>
                          <a:effectLst/>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fontAlgn="ctr"/>
                      <a:r>
                        <a:rPr kumimoji="1" lang="en-US" altLang="ja-JP" sz="900" b="0" i="0" u="none" strike="noStrike" kern="1200" cap="none" spc="0" normalizeH="0" baseline="0" noProof="0" dirty="0">
                          <a:ln>
                            <a:noFill/>
                          </a:ln>
                          <a:solidFill>
                            <a:schemeClr val="tx1"/>
                          </a:solidFill>
                          <a:effectLst/>
                          <a:uLnTx/>
                          <a:uFillTx/>
                          <a:latin typeface="Meiryo UI"/>
                          <a:ea typeface="Meiryo UI"/>
                          <a:cs typeface="+mn-cs"/>
                        </a:rPr>
                        <a:t>P2</a:t>
                      </a:r>
                      <a:endParaRPr lang="ja-JP" altLang="en-US" sz="900" b="0" i="0" u="none" strike="noStrike">
                        <a:solidFill>
                          <a:schemeClr val="tx1"/>
                        </a:solidFill>
                        <a:effectLst/>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510783151"/>
                  </a:ext>
                </a:extLst>
              </a:tr>
              <a:tr h="0">
                <a:tc rowSpan="2">
                  <a:txBody>
                    <a:bodyPr/>
                    <a:lstStyle/>
                    <a:p>
                      <a:pPr algn="l" fontAlgn="ctr"/>
                      <a:r>
                        <a:rPr lang="ja-JP" altLang="en-US" sz="900" b="0" i="0" u="none" strike="noStrike">
                          <a:effectLst/>
                          <a:latin typeface="Meiryo UI"/>
                          <a:ea typeface="Meiryo UI"/>
                        </a:rPr>
                        <a:t>処方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fontAlgn="t"/>
                      <a:r>
                        <a:rPr lang="ja-JP" altLang="en-US" sz="900" b="0" i="0" u="none" strike="noStrike">
                          <a:solidFill>
                            <a:schemeClr val="tx1"/>
                          </a:solidFill>
                          <a:effectLst/>
                          <a:latin typeface="Meiryo UI"/>
                          <a:ea typeface="Meiryo UI"/>
                        </a:rPr>
                        <a:t>医薬品</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t"/>
                      <a:r>
                        <a:rPr lang="ja-JP" altLang="en-US" sz="900" b="0" i="0" u="none" strike="noStrike">
                          <a:solidFill>
                            <a:schemeClr val="tx1"/>
                          </a:solidFill>
                          <a:effectLst/>
                          <a:latin typeface="Meiryo UI"/>
                          <a:ea typeface="Meiryo UI"/>
                        </a:rPr>
                        <a:t>個別医薬品コード</a:t>
                      </a:r>
                      <a:r>
                        <a:rPr lang="en-US" altLang="ja-JP" sz="900" b="0" i="0" u="none" strike="noStrike" dirty="0">
                          <a:solidFill>
                            <a:schemeClr val="tx1"/>
                          </a:solidFill>
                          <a:effectLst/>
                          <a:latin typeface="Meiryo UI"/>
                          <a:ea typeface="Meiryo UI"/>
                        </a:rPr>
                        <a:t>(YJ</a:t>
                      </a:r>
                      <a:r>
                        <a:rPr lang="ja-JP" altLang="en-US" sz="900" b="0" i="0" u="none" strike="noStrike">
                          <a:solidFill>
                            <a:schemeClr val="tx1"/>
                          </a:solidFill>
                          <a:effectLst/>
                          <a:latin typeface="Meiryo UI"/>
                          <a:ea typeface="Meiryo UI"/>
                        </a:rPr>
                        <a:t>コード</a:t>
                      </a:r>
                      <a:r>
                        <a:rPr lang="en-US" altLang="ja-JP" sz="900" b="0" i="0" u="none" strike="noStrike" dirty="0">
                          <a:solidFill>
                            <a:schemeClr val="tx1"/>
                          </a:solidFill>
                          <a:effectLst/>
                          <a:latin typeface="Meiryo UI"/>
                          <a:ea typeface="Meiryo UI"/>
                        </a:rPr>
                        <a:t>)</a:t>
                      </a:r>
                      <a:r>
                        <a:rPr lang="ja-JP" altLang="en-US" sz="900" b="0" i="0" u="none" strike="noStrike">
                          <a:solidFill>
                            <a:schemeClr val="tx1"/>
                          </a:solidFill>
                          <a:effectLst/>
                          <a:latin typeface="Meiryo UI"/>
                          <a:ea typeface="Meiryo UI"/>
                        </a:rPr>
                        <a:t>リスト</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a:ea typeface="+mn-ea"/>
                          <a:cs typeface="+mn-cs"/>
                        </a:rPr>
                        <a:t>P3</a:t>
                      </a:r>
                      <a:endParaRPr kumimoji="1" lang="ja-JP" altLang="en-US" sz="900" b="0" i="0" u="none" strike="noStrike" kern="1200" cap="none" spc="0" normalizeH="0" baseline="0" noProof="0">
                        <a:ln>
                          <a:noFill/>
                        </a:ln>
                        <a:solidFill>
                          <a:schemeClr val="tx1"/>
                        </a:solidFill>
                        <a:effectLst/>
                        <a:uLnTx/>
                        <a:uFillTx/>
                        <a:latin typeface="Meiryo UI"/>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39602801"/>
                  </a:ext>
                </a:extLst>
              </a:tr>
              <a:tr h="0">
                <a:tc vMerge="1">
                  <a:txBody>
                    <a:bodyPr/>
                    <a:lstStyle/>
                    <a:p>
                      <a:endParaRPr/>
                    </a:p>
                  </a:txBody>
                  <a:tcPr marL="6389"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t"/>
                      <a:r>
                        <a:rPr lang="ja-JP" altLang="en-US" sz="900" b="0" i="0" u="none" strike="noStrike">
                          <a:solidFill>
                            <a:schemeClr val="tx1"/>
                          </a:solidFill>
                          <a:effectLst/>
                          <a:latin typeface="Meiryo UI"/>
                          <a:ea typeface="Meiryo UI"/>
                        </a:rPr>
                        <a:t>用法</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t"/>
                      <a:r>
                        <a:rPr lang="ja-JP" altLang="en-US" sz="900" b="0" i="0" u="none" strike="noStrike">
                          <a:solidFill>
                            <a:schemeClr val="tx1"/>
                          </a:solidFill>
                          <a:effectLst/>
                          <a:latin typeface="Meiryo UI"/>
                          <a:ea typeface="Meiryo UI"/>
                        </a:rPr>
                        <a:t>電子処方箋管理サービスの処方箋情報等を記録するための用法マスタ</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fontAlgn="ct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r>
                        <a:rPr kumimoji="1" lang="ja-JP" altLang="en-US" sz="900" b="0" i="0" u="none" strike="noStrike" kern="1200" cap="none" spc="0" normalizeH="0" baseline="0" noProof="0">
                          <a:ln>
                            <a:noFill/>
                          </a:ln>
                          <a:solidFill>
                            <a:schemeClr val="tx1"/>
                          </a:solidFill>
                          <a:effectLst/>
                          <a:uLnTx/>
                          <a:uFillTx/>
                          <a:latin typeface="Meiryo UI"/>
                          <a:ea typeface="+mn-ea"/>
                          <a:cs typeface="+mn-cs"/>
                        </a:rPr>
                        <a:t>（更新なし）</a:t>
                      </a:r>
                      <a:endParaRPr lang="ja-JP" altLang="en-US" sz="9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80448404"/>
                  </a:ext>
                </a:extLst>
              </a:tr>
              <a:tr h="0">
                <a:tc gridSpan="2">
                  <a:txBody>
                    <a:bodyPr/>
                    <a:lstStyle/>
                    <a:p>
                      <a:pPr algn="l" fontAlgn="ctr"/>
                      <a:r>
                        <a:rPr lang="ja-JP" altLang="en-US" sz="900" b="0" i="0" u="none" strike="noStrike">
                          <a:solidFill>
                            <a:schemeClr val="tx1"/>
                          </a:solidFill>
                          <a:effectLst/>
                          <a:latin typeface="Meiryo UI"/>
                          <a:ea typeface="Meiryo UI"/>
                        </a:rPr>
                        <a:t>健診文書</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hMerge="1">
                  <a:txBody>
                    <a:bodyPr/>
                    <a:lstStyle/>
                    <a:p>
                      <a:endParaRPr/>
                    </a:p>
                  </a:txBody>
                  <a:tcPr marL="72000"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ja-JP" altLang="en-US" sz="900" b="0" i="0" u="none" strike="noStrike">
                          <a:solidFill>
                            <a:schemeClr val="tx1"/>
                          </a:solidFill>
                          <a:effectLst/>
                          <a:latin typeface="Meiryo UI"/>
                          <a:ea typeface="Meiryo UI"/>
                        </a:rPr>
                        <a:t>電子カルテ情報共有サービス向け健診マスタ</a:t>
                      </a:r>
                      <a:endParaRPr lang="en-US" altLang="ja-JP" sz="900" b="0" i="0" u="none" strike="noStrike" dirty="0">
                        <a:solidFill>
                          <a:schemeClr val="tx1"/>
                        </a:solidFill>
                        <a:effectLst/>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fontAlgn="ct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r>
                        <a:rPr kumimoji="1" lang="ja-JP" altLang="en-US" sz="900" b="0" i="0" u="none" strike="noStrike" kern="1200" cap="none" spc="0" normalizeH="0" baseline="0" noProof="0" dirty="0">
                          <a:ln>
                            <a:noFill/>
                          </a:ln>
                          <a:solidFill>
                            <a:schemeClr val="tx1"/>
                          </a:solidFill>
                          <a:effectLst/>
                          <a:uLnTx/>
                          <a:uFillTx/>
                          <a:latin typeface="Meiryo UI"/>
                          <a:ea typeface="+mn-ea"/>
                          <a:cs typeface="+mn-cs"/>
                        </a:rPr>
                        <a:t>（更新なし）</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13198476"/>
                  </a:ext>
                </a:extLst>
              </a:tr>
            </a:tbl>
          </a:graphicData>
        </a:graphic>
      </p:graphicFrame>
    </p:spTree>
    <p:extLst>
      <p:ext uri="{BB962C8B-B14F-4D97-AF65-F5344CB8AC3E}">
        <p14:creationId xmlns:p14="http://schemas.microsoft.com/office/powerpoint/2010/main" val="544157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518E5-E9C8-039D-27C8-70808DC25067}"/>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E27672E4-7813-BD89-32F1-8274E6F82157}"/>
              </a:ext>
            </a:extLst>
          </p:cNvPr>
          <p:cNvSpPr/>
          <p:nvPr/>
        </p:nvSpPr>
        <p:spPr>
          <a:xfrm>
            <a:off x="0" y="6639378"/>
            <a:ext cx="9906000" cy="2912651"/>
          </a:xfrm>
          <a:prstGeom prst="rect">
            <a:avLst/>
          </a:prstGeom>
          <a:solidFill>
            <a:schemeClr val="bg1"/>
          </a:solidFill>
          <a:ln>
            <a:noFill/>
          </a:ln>
        </p:spPr>
        <p:txBody>
          <a:bodyPr rtlCol="0" anchor="ctr"/>
          <a:lstStyle/>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a:ln>
                <a:noFill/>
              </a:ln>
              <a:solidFill>
                <a:prstClr val="black"/>
              </a:solidFill>
              <a:effectLst/>
              <a:uLnTx/>
              <a:uFillTx/>
              <a:latin typeface="Meiryo UI"/>
              <a:ea typeface="Meiryo UI"/>
              <a:cs typeface="+mn-cs"/>
            </a:endParaRPr>
          </a:p>
        </p:txBody>
      </p:sp>
      <p:pic>
        <p:nvPicPr>
          <p:cNvPr id="12" name="図 19">
            <a:extLst>
              <a:ext uri="{FF2B5EF4-FFF2-40B4-BE49-F238E27FC236}">
                <a16:creationId xmlns:a16="http://schemas.microsoft.com/office/drawing/2014/main" id="{0FE5B8EB-84F2-1862-5F79-988AE4CE2717}"/>
              </a:ext>
            </a:extLst>
          </p:cNvPr>
          <p:cNvPicPr preferRelativeResize="0">
            <a:picLocks/>
          </p:cNvPicPr>
          <p:nvPr/>
        </p:nvPicPr>
        <p:blipFill>
          <a:blip r:embed="rId3"/>
          <a:srcRect l="2946" t="103836" r="-2946" b="-15325"/>
          <a:stretch>
            <a:fillRect/>
          </a:stretch>
        </p:blipFill>
        <p:spPr>
          <a:xfrm>
            <a:off x="5218219" y="2802138"/>
            <a:ext cx="4300396" cy="5812613"/>
          </a:xfrm>
          <a:prstGeom prst="rect">
            <a:avLst/>
          </a:prstGeom>
          <a:ln w="19050">
            <a:solidFill>
              <a:schemeClr val="bg1">
                <a:lumMod val="85000"/>
              </a:schemeClr>
            </a:solidFill>
          </a:ln>
        </p:spPr>
      </p:pic>
      <p:sp>
        <p:nvSpPr>
          <p:cNvPr id="2" name="タイトル 1">
            <a:extLst>
              <a:ext uri="{FF2B5EF4-FFF2-40B4-BE49-F238E27FC236}">
                <a16:creationId xmlns:a16="http://schemas.microsoft.com/office/drawing/2014/main" id="{CA31DC32-77EE-49BD-AC92-552D6872C2C2}"/>
              </a:ext>
            </a:extLst>
          </p:cNvPr>
          <p:cNvSpPr>
            <a:spLocks noGrp="1"/>
          </p:cNvSpPr>
          <p:nvPr>
            <p:ph type="title"/>
          </p:nvPr>
        </p:nvSpPr>
        <p:spPr>
          <a:xfrm>
            <a:off x="506999" y="116696"/>
            <a:ext cx="9086317" cy="576000"/>
          </a:xfrm>
        </p:spPr>
        <p:txBody>
          <a:bodyPr/>
          <a:lstStyle/>
          <a:p>
            <a:r>
              <a:rPr kumimoji="1" lang="ja-JP" altLang="en-US"/>
              <a:t>ポータルサイト更新依頼</a:t>
            </a:r>
            <a:br>
              <a:rPr kumimoji="1" lang="en-US" altLang="ja-JP" dirty="0"/>
            </a:br>
            <a:r>
              <a:rPr kumimoji="1" lang="ja-JP" altLang="en-US"/>
              <a:t>　各マスタページの具体的な公開イメージ</a:t>
            </a:r>
            <a:r>
              <a:rPr kumimoji="1" lang="en-US" altLang="ja-JP" dirty="0"/>
              <a:t> – J-FAGY</a:t>
            </a:r>
            <a:r>
              <a:rPr kumimoji="1" lang="ja-JP" altLang="en-US"/>
              <a:t>アレルゲンコードマスタ</a:t>
            </a:r>
          </a:p>
        </p:txBody>
      </p:sp>
      <p:sp>
        <p:nvSpPr>
          <p:cNvPr id="4" name="四角形: 角を丸くする 3">
            <a:extLst>
              <a:ext uri="{FF2B5EF4-FFF2-40B4-BE49-F238E27FC236}">
                <a16:creationId xmlns:a16="http://schemas.microsoft.com/office/drawing/2014/main" id="{EDE6268D-6F18-F5EF-77DD-9E20EA0DE169}"/>
              </a:ext>
            </a:extLst>
          </p:cNvPr>
          <p:cNvSpPr/>
          <p:nvPr/>
        </p:nvSpPr>
        <p:spPr>
          <a:xfrm>
            <a:off x="506999" y="910928"/>
            <a:ext cx="2803761" cy="392939"/>
          </a:xfrm>
          <a:prstGeom prst="roundRect">
            <a:avLst/>
          </a:prstGeom>
          <a:solidFill>
            <a:srgbClr val="1F497D"/>
          </a:solidFill>
          <a:ln w="9525" cap="flat" cmpd="sng" algn="ctr">
            <a:no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公開イメージ</a:t>
            </a:r>
            <a:b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記事番号</a:t>
            </a: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KB0012085</a:t>
            </a:r>
            <a:endPar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 name="正方形/長方形 5">
            <a:extLst>
              <a:ext uri="{FF2B5EF4-FFF2-40B4-BE49-F238E27FC236}">
                <a16:creationId xmlns:a16="http://schemas.microsoft.com/office/drawing/2014/main" id="{6B61E35A-84B8-806F-7D10-6E5C962D2A72}"/>
              </a:ext>
            </a:extLst>
          </p:cNvPr>
          <p:cNvSpPr/>
          <p:nvPr/>
        </p:nvSpPr>
        <p:spPr>
          <a:xfrm>
            <a:off x="654475" y="1367170"/>
            <a:ext cx="8303258" cy="519524"/>
          </a:xfrm>
          <a:prstGeom prst="rect">
            <a:avLst/>
          </a:prstGeom>
          <a:solidFill>
            <a:schemeClr val="bg1"/>
          </a:solidFill>
          <a:ln>
            <a:noFill/>
          </a:ln>
        </p:spPr>
        <p:txBody>
          <a:bodyPr lIns="0" rIns="0" rtlCol="0" anchor="t" anchorCtr="0"/>
          <a:lstStyle/>
          <a:p>
            <a:pPr fontAlgn="base">
              <a:spcBef>
                <a:spcPct val="20000"/>
              </a:spcBef>
              <a:spcAft>
                <a:spcPct val="0"/>
              </a:spcAft>
              <a:defRPr/>
            </a:pPr>
            <a:r>
              <a:rPr kumimoji="1" lang="ja-JP" altLang="en-US" sz="1100">
                <a:solidFill>
                  <a:prstClr val="black"/>
                </a:solidFill>
                <a:latin typeface="Meiryo UI"/>
              </a:rPr>
              <a:t>●</a:t>
            </a:r>
            <a:r>
              <a:rPr kumimoji="1" lang="en-US" altLang="ja-JP" sz="1100" dirty="0">
                <a:solidFill>
                  <a:prstClr val="black"/>
                </a:solidFill>
                <a:latin typeface="Meiryo UI"/>
              </a:rPr>
              <a:t>J-FAGY</a:t>
            </a:r>
            <a:r>
              <a:rPr kumimoji="1" lang="ja-JP" altLang="en-US" sz="1100">
                <a:solidFill>
                  <a:prstClr val="black"/>
                </a:solidFill>
                <a:latin typeface="Meiryo UI"/>
              </a:rPr>
              <a:t>アレルゲンコードマスタは、以下の更新イメージのように、</a:t>
            </a:r>
            <a:r>
              <a:rPr kumimoji="1" lang="ja-JP" altLang="en-US" sz="1100" u="sng">
                <a:solidFill>
                  <a:prstClr val="black"/>
                </a:solidFill>
                <a:latin typeface="Meiryo UI"/>
              </a:rPr>
              <a:t>新レイアウトの変更点の追記</a:t>
            </a:r>
            <a:r>
              <a:rPr kumimoji="1" lang="ja-JP" altLang="en-US" sz="1100">
                <a:solidFill>
                  <a:prstClr val="black"/>
                </a:solidFill>
                <a:latin typeface="Meiryo UI"/>
              </a:rPr>
              <a:t>を更新ください。</a:t>
            </a:r>
            <a:endParaRPr kumimoji="1" lang="en-US" altLang="ja-JP" sz="1100" dirty="0">
              <a:solidFill>
                <a:prstClr val="black"/>
              </a:solidFill>
              <a:latin typeface="Meiryo UI"/>
            </a:endParaRPr>
          </a:p>
        </p:txBody>
      </p:sp>
      <p:sp>
        <p:nvSpPr>
          <p:cNvPr id="5" name="正方形/長方形 4">
            <a:extLst>
              <a:ext uri="{FF2B5EF4-FFF2-40B4-BE49-F238E27FC236}">
                <a16:creationId xmlns:a16="http://schemas.microsoft.com/office/drawing/2014/main" id="{3C3078AA-0CCE-9AA5-9B3F-2DF213A621A9}"/>
              </a:ext>
            </a:extLst>
          </p:cNvPr>
          <p:cNvSpPr/>
          <p:nvPr/>
        </p:nvSpPr>
        <p:spPr>
          <a:xfrm>
            <a:off x="6302486" y="2258519"/>
            <a:ext cx="1992079" cy="366467"/>
          </a:xfrm>
          <a:prstGeom prst="rect">
            <a:avLst/>
          </a:prstGeom>
          <a:solidFill>
            <a:schemeClr val="bg1"/>
          </a:solidFill>
          <a:ln>
            <a:noFill/>
          </a:ln>
        </p:spPr>
        <p:txBody>
          <a:bodyPr lIns="0" rIns="0" rtlCol="0" anchor="t" anchorCtr="0"/>
          <a:lstStyle/>
          <a:p>
            <a:pPr lvl="0" algn="ctr" fontAlgn="base">
              <a:spcBef>
                <a:spcPct val="20000"/>
              </a:spcBef>
              <a:spcAft>
                <a:spcPct val="0"/>
              </a:spcAft>
              <a:defRPr/>
            </a:pPr>
            <a:r>
              <a:rPr kumimoji="1" lang="ja-JP" altLang="en-US" sz="900" b="0" i="0" u="sng" strike="noStrike" kern="1200" cap="none" spc="0" normalizeH="0" baseline="0" noProof="0" dirty="0">
                <a:ln>
                  <a:noFill/>
                </a:ln>
                <a:solidFill>
                  <a:prstClr val="black"/>
                </a:solidFill>
                <a:effectLst/>
                <a:uLnTx/>
                <a:uFillTx/>
                <a:latin typeface="Meiryo UI"/>
                <a:ea typeface="Meiryo UI"/>
                <a:cs typeface="+mn-cs"/>
              </a:rPr>
              <a:t>＜更新案</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en-US" altLang="ja-JP" sz="900" b="1" i="0" u="sng" strike="noStrike" kern="1200" cap="none" spc="0" normalizeH="0" baseline="0" noProof="0" dirty="0">
                <a:ln>
                  <a:noFill/>
                </a:ln>
                <a:solidFill>
                  <a:prstClr val="black"/>
                </a:solidFill>
                <a:effectLst/>
                <a:uLnTx/>
                <a:uFillTx/>
                <a:latin typeface="Meiryo UI"/>
                <a:ea typeface="Meiryo UI"/>
                <a:cs typeface="+mn-cs"/>
              </a:rPr>
              <a:t>202610</a:t>
            </a:r>
            <a:r>
              <a:rPr kumimoji="1" lang="ja-JP" altLang="en-US" sz="900" b="1" u="sng" dirty="0">
                <a:solidFill>
                  <a:prstClr val="black"/>
                </a:solidFill>
                <a:latin typeface="Meiryo UI"/>
              </a:rPr>
              <a:t>のマスタ公開以降</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dirty="0">
                <a:ln>
                  <a:noFill/>
                </a:ln>
                <a:solidFill>
                  <a:prstClr val="black"/>
                </a:solidFill>
                <a:effectLst/>
                <a:uLnTx/>
                <a:uFillTx/>
                <a:latin typeface="Meiryo UI"/>
                <a:ea typeface="Meiryo UI"/>
                <a:cs typeface="+mn-cs"/>
              </a:rPr>
              <a:t>＞</a:t>
            </a:r>
            <a:endParaRPr kumimoji="1" lang="en-US" altLang="ja-JP" sz="9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eiryo UI"/>
                <a:cs typeface="+mn-cs"/>
              </a:rPr>
              <a:t>アコーディオン開</a:t>
            </a: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900" b="0" i="0" u="none" strike="noStrike" kern="1200" cap="none" spc="0" normalizeH="0" baseline="0" noProof="0" dirty="0">
              <a:ln>
                <a:noFill/>
              </a:ln>
              <a:solidFill>
                <a:prstClr val="black"/>
              </a:solidFill>
              <a:effectLst/>
              <a:uLnTx/>
              <a:uFillTx/>
              <a:latin typeface="Meiryo UI"/>
              <a:ea typeface="Meiryo UI"/>
              <a:cs typeface="+mn-cs"/>
            </a:endParaRPr>
          </a:p>
        </p:txBody>
      </p:sp>
      <p:cxnSp>
        <p:nvCxnSpPr>
          <p:cNvPr id="14" name="直線コネクタ 13">
            <a:extLst>
              <a:ext uri="{FF2B5EF4-FFF2-40B4-BE49-F238E27FC236}">
                <a16:creationId xmlns:a16="http://schemas.microsoft.com/office/drawing/2014/main" id="{66EFDB8E-53BA-30CE-D86B-0D13077473FC}"/>
              </a:ext>
            </a:extLst>
          </p:cNvPr>
          <p:cNvCxnSpPr>
            <a:cxnSpLocks/>
          </p:cNvCxnSpPr>
          <p:nvPr/>
        </p:nvCxnSpPr>
        <p:spPr bwMode="auto">
          <a:xfrm>
            <a:off x="4843529" y="1913205"/>
            <a:ext cx="0" cy="7232371"/>
          </a:xfrm>
          <a:prstGeom prst="line">
            <a:avLst/>
          </a:prstGeom>
          <a:solidFill>
            <a:schemeClr val="bg1"/>
          </a:solidFill>
          <a:ln w="9525" cap="flat" cmpd="sng" algn="ctr">
            <a:solidFill>
              <a:schemeClr val="bg1">
                <a:lumMod val="65000"/>
              </a:schemeClr>
            </a:solidFill>
            <a:prstDash val="lgDash"/>
            <a:round/>
            <a:headEnd type="none" w="med" len="med"/>
            <a:tailEnd type="none" w="med" len="med"/>
          </a:ln>
          <a:effectLst/>
        </p:spPr>
      </p:cxnSp>
      <p:sp>
        <p:nvSpPr>
          <p:cNvPr id="16" name="正方形/長方形 15">
            <a:extLst>
              <a:ext uri="{FF2B5EF4-FFF2-40B4-BE49-F238E27FC236}">
                <a16:creationId xmlns:a16="http://schemas.microsoft.com/office/drawing/2014/main" id="{3309DC30-91A8-2212-FC08-1B72FE5B0D67}"/>
              </a:ext>
            </a:extLst>
          </p:cNvPr>
          <p:cNvSpPr/>
          <p:nvPr/>
        </p:nvSpPr>
        <p:spPr>
          <a:xfrm>
            <a:off x="5148680" y="2176406"/>
            <a:ext cx="4431372" cy="6548494"/>
          </a:xfrm>
          <a:prstGeom prst="rect">
            <a:avLst/>
          </a:prstGeom>
          <a:noFill/>
          <a:ln w="19050">
            <a:solidFill>
              <a:srgbClr val="FF0000"/>
            </a:solidFill>
            <a:prstDash val="solid"/>
          </a:ln>
        </p:spPr>
        <p:txBody>
          <a:bodyPr wrap="none" lIns="36000" tIns="108000" rIns="36000" bIns="3600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050" b="0" i="0" u="none" strike="noStrike" kern="0" cap="none" spc="0" normalizeH="0" baseline="0" noProof="0">
              <a:ln>
                <a:noFill/>
              </a:ln>
              <a:solidFill>
                <a:prstClr val="black"/>
              </a:solidFill>
              <a:effectLst/>
              <a:uLnTx/>
              <a:uFillTx/>
              <a:latin typeface="Meiryo UI"/>
              <a:ea typeface="Meiryo UI"/>
              <a:cs typeface="Arial" charset="0"/>
            </a:endParaRPr>
          </a:p>
        </p:txBody>
      </p:sp>
      <p:pic>
        <p:nvPicPr>
          <p:cNvPr id="20" name="図 19">
            <a:extLst>
              <a:ext uri="{FF2B5EF4-FFF2-40B4-BE49-F238E27FC236}">
                <a16:creationId xmlns:a16="http://schemas.microsoft.com/office/drawing/2014/main" id="{B2268C2F-ACE1-7125-F5FA-0AE34741AC6D}"/>
              </a:ext>
            </a:extLst>
          </p:cNvPr>
          <p:cNvPicPr>
            <a:picLocks noChangeAspect="1"/>
          </p:cNvPicPr>
          <p:nvPr/>
        </p:nvPicPr>
        <p:blipFill>
          <a:blip r:embed="rId4"/>
          <a:stretch>
            <a:fillRect/>
          </a:stretch>
        </p:blipFill>
        <p:spPr>
          <a:xfrm>
            <a:off x="5183331" y="2772486"/>
            <a:ext cx="4317279" cy="1620406"/>
          </a:xfrm>
          <a:prstGeom prst="rect">
            <a:avLst/>
          </a:prstGeom>
        </p:spPr>
      </p:pic>
      <p:sp>
        <p:nvSpPr>
          <p:cNvPr id="17" name="正方形/長方形 16">
            <a:extLst>
              <a:ext uri="{FF2B5EF4-FFF2-40B4-BE49-F238E27FC236}">
                <a16:creationId xmlns:a16="http://schemas.microsoft.com/office/drawing/2014/main" id="{47EF6A54-1A87-F04E-5522-65F3A29F10D9}"/>
              </a:ext>
            </a:extLst>
          </p:cNvPr>
          <p:cNvSpPr/>
          <p:nvPr/>
        </p:nvSpPr>
        <p:spPr>
          <a:xfrm>
            <a:off x="5355468" y="4414343"/>
            <a:ext cx="3725032" cy="638071"/>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600" dirty="0">
                <a:solidFill>
                  <a:prstClr val="black"/>
                </a:solidFill>
                <a:latin typeface="Meiryo UI"/>
              </a:rPr>
              <a:t>J-FAGY</a:t>
            </a:r>
            <a:r>
              <a:rPr kumimoji="1" lang="ja-JP" altLang="en-US" sz="600" dirty="0">
                <a:solidFill>
                  <a:prstClr val="black"/>
                </a:solidFill>
                <a:latin typeface="Meiryo UI"/>
              </a:rPr>
              <a:t>アレルゲンコードマスタは、</a:t>
            </a:r>
            <a:r>
              <a:rPr kumimoji="1" lang="en-US" altLang="ja-JP" sz="600" dirty="0">
                <a:solidFill>
                  <a:prstClr val="black"/>
                </a:solidFill>
                <a:highlight>
                  <a:srgbClr val="FFFF00"/>
                </a:highlight>
                <a:latin typeface="Meiryo UI"/>
              </a:rPr>
              <a:t>20260925</a:t>
            </a:r>
            <a:r>
              <a:rPr kumimoji="1" lang="ja-JP" altLang="en-US" sz="600" dirty="0">
                <a:solidFill>
                  <a:prstClr val="black"/>
                </a:solidFill>
                <a:highlight>
                  <a:srgbClr val="FFFF00"/>
                </a:highlight>
                <a:latin typeface="Meiryo UI"/>
              </a:rPr>
              <a:t>版の公開</a:t>
            </a:r>
            <a:r>
              <a:rPr kumimoji="1" lang="ja-JP" altLang="en-US" sz="600" dirty="0">
                <a:solidFill>
                  <a:prstClr val="black"/>
                </a:solidFill>
                <a:latin typeface="Meiryo UI"/>
              </a:rPr>
              <a:t>に際し、一部コードの</a:t>
            </a:r>
            <a:r>
              <a:rPr lang="ja-JP" altLang="en-US" sz="600" dirty="0">
                <a:solidFill>
                  <a:srgbClr val="000000"/>
                </a:solidFill>
                <a:latin typeface="Meiryo UI" panose="020B0604030504040204" pitchFamily="50" charset="-128"/>
                <a:ea typeface="Meiryo UI" panose="020B0604030504040204" pitchFamily="50" charset="-128"/>
              </a:rPr>
              <a:t>日本語表記</a:t>
            </a:r>
            <a:r>
              <a:rPr lang="en-US" altLang="ja-JP" sz="600" dirty="0">
                <a:solidFill>
                  <a:srgbClr val="000000"/>
                </a:solidFill>
                <a:latin typeface="Meiryo UI" panose="020B0604030504040204" pitchFamily="50" charset="-128"/>
                <a:ea typeface="Meiryo UI" panose="020B0604030504040204" pitchFamily="50" charset="-128"/>
              </a:rPr>
              <a:t>(</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solidFill>
                  <a:prstClr val="black"/>
                </a:solidFill>
                <a:latin typeface="Meiryo UI"/>
              </a:rPr>
              <a:t>の見直しを実施いたしました。そのため、</a:t>
            </a:r>
            <a:r>
              <a:rPr kumimoji="1" lang="en-US" altLang="ja-JP" sz="600">
                <a:solidFill>
                  <a:prstClr val="black"/>
                </a:solidFill>
                <a:highlight>
                  <a:srgbClr val="FFFF00"/>
                </a:highlight>
                <a:latin typeface="Meiryo UI"/>
              </a:rPr>
              <a:t>20260531</a:t>
            </a:r>
            <a:r>
              <a:rPr kumimoji="1" lang="ja-JP" altLang="en-US" sz="600" dirty="0">
                <a:solidFill>
                  <a:prstClr val="black"/>
                </a:solidFill>
                <a:latin typeface="Meiryo UI"/>
              </a:rPr>
              <a:t>以前の版を用いて登録されている医療機関におかれましては、</a:t>
            </a:r>
            <a:r>
              <a:rPr kumimoji="1" lang="en-US" altLang="ja-JP" sz="600" dirty="0">
                <a:solidFill>
                  <a:prstClr val="black"/>
                </a:solidFill>
                <a:highlight>
                  <a:srgbClr val="FFFF00"/>
                </a:highlight>
                <a:latin typeface="Meiryo UI"/>
              </a:rPr>
              <a:t>20260925</a:t>
            </a:r>
            <a:r>
              <a:rPr kumimoji="1" lang="ja-JP" altLang="en-US" sz="600" dirty="0">
                <a:solidFill>
                  <a:prstClr val="black"/>
                </a:solidFill>
                <a:highlight>
                  <a:srgbClr val="FFFF00"/>
                </a:highlight>
                <a:latin typeface="Meiryo UI"/>
              </a:rPr>
              <a:t>版</a:t>
            </a:r>
            <a:r>
              <a:rPr kumimoji="1" lang="ja-JP" altLang="en-US" sz="600" dirty="0">
                <a:solidFill>
                  <a:prstClr val="black"/>
                </a:solidFill>
                <a:latin typeface="Meiryo UI"/>
              </a:rPr>
              <a:t>への移行をお願いいたします。</a:t>
            </a:r>
            <a:endParaRPr kumimoji="1" lang="en-US" altLang="ja-JP" sz="600" dirty="0">
              <a:solidFill>
                <a:prstClr val="black"/>
              </a:solidFill>
              <a:latin typeface="Meiryo UI"/>
            </a:endParaRPr>
          </a:p>
          <a:p>
            <a:pPr fontAlgn="base">
              <a:spcBef>
                <a:spcPct val="20000"/>
              </a:spcBef>
              <a:spcAft>
                <a:spcPct val="0"/>
              </a:spcAft>
              <a:defRPr/>
            </a:pPr>
            <a:r>
              <a:rPr kumimoji="1" lang="en-US" altLang="ja-JP" sz="600" dirty="0">
                <a:solidFill>
                  <a:prstClr val="black"/>
                </a:solidFill>
                <a:latin typeface="Meiryo UI"/>
              </a:rPr>
              <a:t>※</a:t>
            </a:r>
            <a:r>
              <a:rPr kumimoji="1" lang="en-US" altLang="ja-JP" sz="600" dirty="0">
                <a:solidFill>
                  <a:srgbClr val="000000"/>
                </a:solidFill>
                <a:latin typeface="Meiryo UI" panose="020B0604030504040204" pitchFamily="50" charset="-128"/>
                <a:ea typeface="Meiryo UI" panose="020B0604030504040204" pitchFamily="50" charset="-128"/>
              </a:rPr>
              <a:t> </a:t>
            </a:r>
            <a:r>
              <a:rPr kumimoji="1" lang="ja-JP" altLang="en-US" sz="600" dirty="0">
                <a:solidFill>
                  <a:srgbClr val="000000"/>
                </a:solidFill>
                <a:latin typeface="Meiryo UI" panose="020B0604030504040204" pitchFamily="50" charset="-128"/>
                <a:ea typeface="Meiryo UI" panose="020B0604030504040204" pitchFamily="50" charset="-128"/>
              </a:rPr>
              <a:t>日本語表記</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solidFill>
                  <a:prstClr val="black"/>
                </a:solidFill>
                <a:latin typeface="Meiryo UI"/>
              </a:rPr>
              <a:t>の変更は、消費者庁が定める特定原材料等の表記に</a:t>
            </a:r>
            <a:r>
              <a:rPr kumimoji="1" lang="en-US" altLang="ja-JP" sz="600" dirty="0">
                <a:solidFill>
                  <a:prstClr val="black"/>
                </a:solidFill>
                <a:latin typeface="Meiryo UI"/>
              </a:rPr>
              <a:t>J-FAGY</a:t>
            </a:r>
            <a:r>
              <a:rPr kumimoji="1" lang="ja-JP" altLang="en-US" sz="600" dirty="0">
                <a:solidFill>
                  <a:prstClr val="black"/>
                </a:solidFill>
                <a:latin typeface="Meiryo UI"/>
              </a:rPr>
              <a:t>コードの表記を合わせることを目的としています。</a:t>
            </a:r>
            <a:endParaRPr kumimoji="1" lang="en-US" altLang="ja-JP" sz="600" dirty="0">
              <a:solidFill>
                <a:prstClr val="black"/>
              </a:solidFill>
              <a:latin typeface="Meiryo UI"/>
            </a:endParaRPr>
          </a:p>
        </p:txBody>
      </p:sp>
      <p:pic>
        <p:nvPicPr>
          <p:cNvPr id="26" name="図 25">
            <a:extLst>
              <a:ext uri="{FF2B5EF4-FFF2-40B4-BE49-F238E27FC236}">
                <a16:creationId xmlns:a16="http://schemas.microsoft.com/office/drawing/2014/main" id="{692790BE-665B-B6F2-E592-E538EAF2E204}"/>
              </a:ext>
            </a:extLst>
          </p:cNvPr>
          <p:cNvPicPr>
            <a:picLocks noChangeAspect="1"/>
          </p:cNvPicPr>
          <p:nvPr/>
        </p:nvPicPr>
        <p:blipFill>
          <a:blip r:embed="rId5"/>
          <a:srcRect b="74573"/>
          <a:stretch>
            <a:fillRect/>
          </a:stretch>
        </p:blipFill>
        <p:spPr>
          <a:xfrm>
            <a:off x="5445697" y="5111110"/>
            <a:ext cx="3837337" cy="130290"/>
          </a:xfrm>
          <a:prstGeom prst="rect">
            <a:avLst/>
          </a:prstGeom>
        </p:spPr>
      </p:pic>
      <p:sp>
        <p:nvSpPr>
          <p:cNvPr id="30" name="正方形/長方形 29">
            <a:extLst>
              <a:ext uri="{FF2B5EF4-FFF2-40B4-BE49-F238E27FC236}">
                <a16:creationId xmlns:a16="http://schemas.microsoft.com/office/drawing/2014/main" id="{4E57B160-1206-565B-8CFC-6FFDE167A41E}"/>
              </a:ext>
            </a:extLst>
          </p:cNvPr>
          <p:cNvSpPr/>
          <p:nvPr/>
        </p:nvSpPr>
        <p:spPr>
          <a:xfrm>
            <a:off x="5351971" y="5690733"/>
            <a:ext cx="3893627" cy="1720277"/>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600" b="1" dirty="0">
                <a:solidFill>
                  <a:srgbClr val="FF0000"/>
                </a:solidFill>
                <a:latin typeface="Meiryo UI"/>
                <a:ea typeface="Meiryo UI"/>
              </a:rPr>
              <a:t>【</a:t>
            </a:r>
            <a:r>
              <a:rPr kumimoji="1" lang="ja-JP" altLang="en-US" sz="600" b="1" dirty="0">
                <a:solidFill>
                  <a:srgbClr val="FF0000"/>
                </a:solidFill>
                <a:latin typeface="Meiryo UI"/>
                <a:ea typeface="Meiryo UI"/>
              </a:rPr>
              <a:t>ご留意事項</a:t>
            </a:r>
            <a:r>
              <a:rPr kumimoji="1" lang="en-US" altLang="ja-JP" sz="600" b="1" dirty="0">
                <a:solidFill>
                  <a:srgbClr val="FF0000"/>
                </a:solidFill>
                <a:latin typeface="Meiryo UI"/>
                <a:ea typeface="Meiryo UI"/>
              </a:rPr>
              <a:t>】</a:t>
            </a:r>
          </a:p>
          <a:p>
            <a:pPr lvl="0" fontAlgn="base">
              <a:spcBef>
                <a:spcPct val="20000"/>
              </a:spcBef>
              <a:spcAft>
                <a:spcPct val="0"/>
              </a:spcAft>
              <a:defRPr/>
            </a:pPr>
            <a:r>
              <a:rPr kumimoji="1" lang="en-US" altLang="ja-JP" sz="600" dirty="0">
                <a:highlight>
                  <a:srgbClr val="FFFF00"/>
                </a:highlight>
                <a:latin typeface="Meiryo UI"/>
                <a:ea typeface="Meiryo UI"/>
              </a:rPr>
              <a:t>2026</a:t>
            </a:r>
            <a:r>
              <a:rPr kumimoji="1" lang="ja-JP" altLang="en-US" sz="600" dirty="0">
                <a:highlight>
                  <a:srgbClr val="FFFF00"/>
                </a:highlight>
                <a:latin typeface="Meiryo UI"/>
                <a:ea typeface="Meiryo UI"/>
              </a:rPr>
              <a:t>年</a:t>
            </a:r>
            <a:r>
              <a:rPr kumimoji="1" lang="en-US" altLang="ja-JP" sz="600" dirty="0">
                <a:highlight>
                  <a:srgbClr val="FFFF00"/>
                </a:highlight>
                <a:latin typeface="Meiryo UI"/>
                <a:ea typeface="Meiryo UI"/>
              </a:rPr>
              <a:t>10</a:t>
            </a:r>
            <a:r>
              <a:rPr kumimoji="1" lang="ja-JP" altLang="en-US" sz="600" i="0" u="none" strike="noStrike" kern="1200" cap="none" spc="0" normalizeH="0" baseline="0" noProof="0" dirty="0">
                <a:ln>
                  <a:noFill/>
                </a:ln>
                <a:effectLst/>
                <a:highlight>
                  <a:srgbClr val="FFFF00"/>
                </a:highlight>
                <a:uLnTx/>
                <a:uFillTx/>
                <a:latin typeface="Meiryo UI"/>
                <a:ea typeface="Meiryo UI"/>
                <a:cs typeface="+mn-cs"/>
              </a:rPr>
              <a:t>月</a:t>
            </a:r>
            <a:r>
              <a:rPr kumimoji="1" lang="en-US" altLang="ja-JP" sz="600" dirty="0">
                <a:highlight>
                  <a:srgbClr val="FFFF00"/>
                </a:highlight>
                <a:latin typeface="Meiryo UI"/>
                <a:ea typeface="Meiryo UI"/>
              </a:rPr>
              <a:t>XX</a:t>
            </a:r>
            <a:r>
              <a:rPr kumimoji="1" lang="ja-JP" altLang="en-US" sz="600" i="0" u="none" strike="noStrike" kern="1200" cap="none" spc="0" normalizeH="0" baseline="0" noProof="0" dirty="0">
                <a:ln>
                  <a:noFill/>
                </a:ln>
                <a:effectLst/>
                <a:highlight>
                  <a:srgbClr val="FFFF00"/>
                </a:highlight>
                <a:uLnTx/>
                <a:uFillTx/>
                <a:latin typeface="Meiryo UI"/>
                <a:ea typeface="Meiryo UI"/>
                <a:cs typeface="+mn-cs"/>
              </a:rPr>
              <a:t>日</a:t>
            </a:r>
            <a:r>
              <a:rPr kumimoji="1" lang="ja-JP" altLang="en-US" sz="600" i="0" u="none" strike="noStrike" kern="1200" cap="none" spc="0" normalizeH="0" baseline="0" noProof="0" dirty="0">
                <a:ln>
                  <a:noFill/>
                </a:ln>
                <a:effectLst/>
                <a:uLnTx/>
                <a:uFillTx/>
                <a:latin typeface="Meiryo UI"/>
                <a:ea typeface="Meiryo UI"/>
                <a:cs typeface="+mn-cs"/>
              </a:rPr>
              <a:t>以降は、</a:t>
            </a:r>
            <a:r>
              <a:rPr kumimoji="1" lang="en-US" altLang="ja-JP" sz="600" dirty="0">
                <a:highlight>
                  <a:srgbClr val="FFFF00"/>
                </a:highlight>
                <a:latin typeface="Meiryo UI"/>
                <a:ea typeface="Meiryo UI"/>
              </a:rPr>
              <a:t>20260531</a:t>
            </a:r>
            <a:r>
              <a:rPr kumimoji="1" lang="ja-JP" altLang="en-US" sz="600" i="0" u="none" strike="noStrike" kern="1200" cap="none" spc="0" normalizeH="0" baseline="0" noProof="0" dirty="0">
                <a:ln>
                  <a:noFill/>
                </a:ln>
                <a:effectLst/>
                <a:highlight>
                  <a:srgbClr val="FFFF00"/>
                </a:highlight>
                <a:uLnTx/>
                <a:uFillTx/>
                <a:latin typeface="Meiryo UI"/>
                <a:ea typeface="Meiryo UI"/>
                <a:cs typeface="+mn-cs"/>
              </a:rPr>
              <a:t>版</a:t>
            </a:r>
            <a:r>
              <a:rPr kumimoji="1" lang="ja-JP" altLang="en-US" sz="600" i="0" u="none" strike="noStrike" kern="1200" cap="none" spc="0" normalizeH="0" baseline="0" noProof="0" dirty="0">
                <a:ln>
                  <a:noFill/>
                </a:ln>
                <a:effectLst/>
                <a:uLnTx/>
                <a:uFillTx/>
                <a:latin typeface="Meiryo UI"/>
                <a:ea typeface="Meiryo UI"/>
                <a:cs typeface="+mn-cs"/>
              </a:rPr>
              <a:t>に記載されていた次の</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dirty="0">
                <a:ln>
                  <a:noFill/>
                </a:ln>
                <a:effectLst/>
                <a:uLnTx/>
                <a:uFillTx/>
                <a:latin typeface="Meiryo UI"/>
                <a:ea typeface="Meiryo UI"/>
                <a:cs typeface="+mn-cs"/>
              </a:rPr>
              <a:t>の</a:t>
            </a:r>
            <a:r>
              <a:rPr kumimoji="1" lang="en-US" altLang="ja-JP" sz="600" i="0" u="none" strike="noStrike" kern="1200" cap="none" spc="0" normalizeH="0" baseline="0" noProof="0" dirty="0">
                <a:ln>
                  <a:noFill/>
                </a:ln>
                <a:effectLst/>
                <a:uLnTx/>
                <a:uFillTx/>
                <a:latin typeface="Meiryo UI"/>
                <a:ea typeface="Meiryo UI"/>
                <a:cs typeface="+mn-cs"/>
              </a:rPr>
              <a:t>J-FAGY</a:t>
            </a:r>
            <a:r>
              <a:rPr kumimoji="1" lang="ja-JP" altLang="en-US" sz="600" i="0" u="none" strike="noStrike" kern="1200" cap="none" spc="0" normalizeH="0" baseline="0" noProof="0" dirty="0">
                <a:ln>
                  <a:noFill/>
                </a:ln>
                <a:effectLst/>
                <a:uLnTx/>
                <a:uFillTx/>
                <a:latin typeface="Meiryo UI"/>
                <a:ea typeface="Meiryo UI"/>
                <a:cs typeface="+mn-cs"/>
              </a:rPr>
              <a:t>コードが</a:t>
            </a:r>
            <a:r>
              <a:rPr kumimoji="1" lang="ja-JP" altLang="en-US" sz="600" dirty="0">
                <a:highlight>
                  <a:srgbClr val="FFFF00"/>
                </a:highlight>
                <a:latin typeface="Meiryo UI"/>
                <a:ea typeface="Meiryo UI"/>
              </a:rPr>
              <a:t>変更となりました。</a:t>
            </a:r>
            <a:endParaRPr kumimoji="1" lang="en-US" altLang="ja-JP" sz="600" i="0" u="none" strike="noStrike" kern="1200" cap="none" spc="0" normalizeH="0" baseline="0" noProof="0" dirty="0">
              <a:ln>
                <a:noFill/>
              </a:ln>
              <a:effectLst/>
              <a:highlight>
                <a:srgbClr val="FFFF00"/>
              </a:highlight>
              <a:uLnTx/>
              <a:uFillTx/>
              <a:latin typeface="Meiryo UI"/>
              <a:ea typeface="Meiryo UI"/>
              <a:cs typeface="+mn-cs"/>
            </a:endParaRPr>
          </a:p>
          <a:p>
            <a:pPr lvl="0" fontAlgn="base">
              <a:spcBef>
                <a:spcPct val="20000"/>
              </a:spcBef>
              <a:spcAft>
                <a:spcPct val="0"/>
              </a:spcAft>
              <a:defRPr/>
            </a:pPr>
            <a:r>
              <a:rPr kumimoji="1" lang="ja-JP" altLang="en-US" sz="600" i="0" u="none" strike="noStrike" kern="1200" cap="none" spc="0" normalizeH="0" baseline="0" noProof="0" dirty="0">
                <a:ln>
                  <a:noFill/>
                </a:ln>
                <a:effectLst/>
                <a:uLnTx/>
                <a:uFillTx/>
                <a:latin typeface="Meiryo UI"/>
                <a:ea typeface="Meiryo UI"/>
                <a:cs typeface="+mn-cs"/>
              </a:rPr>
              <a:t>新しい</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dirty="0">
                <a:ln>
                  <a:noFill/>
                </a:ln>
                <a:effectLst/>
                <a:uLnTx/>
                <a:uFillTx/>
                <a:latin typeface="Meiryo UI"/>
                <a:ea typeface="Meiryo UI"/>
                <a:cs typeface="+mn-cs"/>
              </a:rPr>
              <a:t>の詳細につきましては、</a:t>
            </a:r>
            <a:r>
              <a:rPr kumimoji="1" lang="en-US" altLang="ja-JP" sz="600" i="0" u="none" strike="noStrike" kern="1200" cap="none" spc="0" normalizeH="0" baseline="0" noProof="0" dirty="0">
                <a:ln>
                  <a:noFill/>
                </a:ln>
                <a:effectLst/>
                <a:highlight>
                  <a:srgbClr val="FFFF00"/>
                </a:highlight>
                <a:uLnTx/>
                <a:uFillTx/>
                <a:latin typeface="Meiryo UI"/>
                <a:ea typeface="Meiryo UI"/>
                <a:cs typeface="+mn-cs"/>
              </a:rPr>
              <a:t>20260925</a:t>
            </a:r>
            <a:r>
              <a:rPr kumimoji="1" lang="ja-JP" altLang="en-US" sz="600" i="0" u="none" strike="noStrike" kern="1200" cap="none" spc="0" normalizeH="0" baseline="0" noProof="0" dirty="0">
                <a:ln>
                  <a:noFill/>
                </a:ln>
                <a:effectLst/>
                <a:highlight>
                  <a:srgbClr val="FFFF00"/>
                </a:highlight>
                <a:uLnTx/>
                <a:uFillTx/>
                <a:latin typeface="Meiryo UI"/>
                <a:ea typeface="Meiryo UI"/>
                <a:cs typeface="+mn-cs"/>
              </a:rPr>
              <a:t>版</a:t>
            </a:r>
            <a:r>
              <a:rPr kumimoji="1" lang="ja-JP" altLang="en-US" sz="600" i="0" u="none" strike="noStrike" kern="1200" cap="none" spc="0" normalizeH="0" baseline="0" noProof="0" dirty="0">
                <a:ln>
                  <a:noFill/>
                </a:ln>
                <a:effectLst/>
                <a:uLnTx/>
                <a:uFillTx/>
                <a:latin typeface="Meiryo UI"/>
                <a:ea typeface="Meiryo UI"/>
                <a:cs typeface="+mn-cs"/>
              </a:rPr>
              <a:t>を</a:t>
            </a:r>
            <a:r>
              <a:rPr kumimoji="1" lang="ja-JP" altLang="en-US" sz="600" dirty="0">
                <a:solidFill>
                  <a:prstClr val="black"/>
                </a:solidFill>
                <a:latin typeface="Meiryo UI (Body)"/>
              </a:rPr>
              <a:t>ご確認ください。</a:t>
            </a:r>
            <a:endParaRPr kumimoji="1" lang="en-US" altLang="ja-JP" sz="600" dirty="0">
              <a:solidFill>
                <a:prstClr val="black"/>
              </a:solidFill>
              <a:latin typeface="Meiryo UI (Body)"/>
            </a:endParaRPr>
          </a:p>
          <a:p>
            <a:pPr lvl="0" fontAlgn="base">
              <a:spcBef>
                <a:spcPct val="20000"/>
              </a:spcBef>
              <a:spcAft>
                <a:spcPct val="0"/>
              </a:spcAft>
              <a:defRPr/>
            </a:pPr>
            <a:r>
              <a:rPr kumimoji="1" lang="ja-JP" altLang="en-US" sz="600" dirty="0">
                <a:highlight>
                  <a:srgbClr val="FFFF00"/>
                </a:highlight>
                <a:latin typeface="Meiryo UI"/>
                <a:ea typeface="Meiryo UI"/>
              </a:rPr>
              <a:t>　</a:t>
            </a:r>
            <a:r>
              <a:rPr kumimoji="1" lang="en-US" altLang="ja-JP" sz="600" dirty="0">
                <a:highlight>
                  <a:srgbClr val="FFFF00"/>
                </a:highlight>
                <a:latin typeface="Meiryo UI"/>
                <a:ea typeface="Meiryo UI"/>
              </a:rPr>
              <a:t>-</a:t>
            </a:r>
            <a:r>
              <a:rPr kumimoji="1" lang="ja-JP" altLang="en-US" sz="600" dirty="0">
                <a:highlight>
                  <a:srgbClr val="FFFF00"/>
                </a:highlight>
                <a:latin typeface="Meiryo UI"/>
                <a:ea typeface="Meiryo UI"/>
              </a:rPr>
              <a:t>大福</a:t>
            </a:r>
            <a:endParaRPr kumimoji="1" lang="en-US" altLang="ja-JP" sz="600" dirty="0">
              <a:highlight>
                <a:srgbClr val="FFFF00"/>
              </a:highlight>
              <a:latin typeface="Meiryo UI"/>
              <a:ea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果実</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果実（その他）​</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zh-TW" altLang="en-US" sz="600" dirty="0">
                <a:highlight>
                  <a:srgbClr val="FFFF00"/>
                </a:highlight>
                <a:latin typeface="Meiryo UI"/>
              </a:rPr>
              <a:t>果実（詳細不明）​</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麦芽，麦芽抽出物及び麦芽シロップ​</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麦芽，麦芽抽出物及び麦芽シロップ（その他）</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麦芽，麦芽抽出物及び麦芽シロップ​​（詳細不明）</a:t>
            </a:r>
            <a:endParaRPr kumimoji="1" lang="en-US" altLang="ja-JP" sz="600" dirty="0">
              <a:highlight>
                <a:srgbClr val="FFFF00"/>
              </a:highlight>
              <a:latin typeface="Meiryo UI"/>
            </a:endParaRPr>
          </a:p>
          <a:p>
            <a:pPr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食用鳥卵（その他）</a:t>
            </a:r>
            <a:endParaRPr kumimoji="1" lang="en-US" altLang="ja-JP" sz="600" dirty="0">
              <a:highlight>
                <a:srgbClr val="FFFF00"/>
              </a:highlight>
              <a:latin typeface="Meiryo UI"/>
            </a:endParaRPr>
          </a:p>
          <a:p>
            <a:pPr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食用鳥卵​​（詳細不明）</a:t>
            </a:r>
            <a:endParaRPr kumimoji="1" lang="en-US" altLang="ja-JP" sz="600" dirty="0">
              <a:highlight>
                <a:srgbClr val="FFFF00"/>
              </a:highlight>
              <a:latin typeface="Meiryo UI"/>
            </a:endParaRPr>
          </a:p>
          <a:p>
            <a:pPr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いか類（その他）</a:t>
            </a:r>
            <a:endParaRPr kumimoji="1" lang="en-US" altLang="ja-JP" sz="600" dirty="0">
              <a:highlight>
                <a:srgbClr val="FFFF00"/>
              </a:highlight>
              <a:latin typeface="Meiryo UI"/>
            </a:endParaRPr>
          </a:p>
          <a:p>
            <a:pPr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いか類（詳細不明）</a:t>
            </a:r>
            <a:endParaRPr kumimoji="1" lang="en-US" altLang="ja-JP" sz="600" dirty="0">
              <a:highlight>
                <a:srgbClr val="FFFF00"/>
              </a:highlight>
              <a:latin typeface="Meiryo UI"/>
            </a:endParaRPr>
          </a:p>
          <a:p>
            <a:pPr lvl="0" fontAlgn="base">
              <a:spcBef>
                <a:spcPct val="20000"/>
              </a:spcBef>
              <a:spcAft>
                <a:spcPct val="0"/>
              </a:spcAft>
              <a:defRPr/>
            </a:pPr>
            <a:endParaRPr kumimoji="1" lang="en-US" altLang="ja-JP" sz="600" dirty="0">
              <a:latin typeface="Meiryo UI"/>
            </a:endParaRPr>
          </a:p>
          <a:p>
            <a:pPr lvl="0" fontAlgn="base">
              <a:spcBef>
                <a:spcPct val="20000"/>
              </a:spcBef>
              <a:spcAft>
                <a:spcPct val="0"/>
              </a:spcAft>
              <a:defRPr/>
            </a:pPr>
            <a:endParaRPr kumimoji="1" lang="en-US" altLang="ja-JP" sz="600" i="0" u="none" strike="noStrike" kern="1200" cap="none" spc="0" normalizeH="0" baseline="0" noProof="0" dirty="0">
              <a:ln>
                <a:noFill/>
              </a:ln>
              <a:effectLst/>
              <a:uLnTx/>
              <a:uFillTx/>
              <a:latin typeface="Meiryo UI"/>
              <a:ea typeface="Meiryo UI"/>
              <a:cs typeface="+mn-cs"/>
            </a:endParaRPr>
          </a:p>
          <a:p>
            <a:pPr marL="0" marR="0" lvl="0" indent="0" defTabSz="457200" rtl="0" eaLnBrk="1" fontAlgn="base" latinLnBrk="0" hangingPunct="1">
              <a:lnSpc>
                <a:spcPct val="100000"/>
              </a:lnSpc>
              <a:spcBef>
                <a:spcPct val="20000"/>
              </a:spcBef>
              <a:spcAft>
                <a:spcPct val="0"/>
              </a:spcAft>
              <a:buClrTx/>
              <a:buSzTx/>
              <a:buFontTx/>
              <a:buNone/>
              <a:tabLst/>
              <a:defRPr/>
            </a:pPr>
            <a:endParaRPr kumimoji="1" lang="ja-JP" altLang="en-US" sz="600" i="0" u="none" strike="noStrike" kern="1200" cap="none" spc="0" normalizeH="0" baseline="0" noProof="0" dirty="0">
              <a:ln>
                <a:noFill/>
              </a:ln>
              <a:effectLst/>
              <a:uLnTx/>
              <a:uFillTx/>
              <a:latin typeface="Meiryo UI"/>
              <a:ea typeface="Meiryo UI"/>
              <a:cs typeface="+mn-cs"/>
            </a:endParaRPr>
          </a:p>
        </p:txBody>
      </p:sp>
      <p:graphicFrame>
        <p:nvGraphicFramePr>
          <p:cNvPr id="32" name="表 31">
            <a:extLst>
              <a:ext uri="{FF2B5EF4-FFF2-40B4-BE49-F238E27FC236}">
                <a16:creationId xmlns:a16="http://schemas.microsoft.com/office/drawing/2014/main" id="{F3BBB89E-33F2-FCCC-F87A-7050881086E4}"/>
              </a:ext>
            </a:extLst>
          </p:cNvPr>
          <p:cNvGraphicFramePr>
            <a:graphicFrameLocks noGrp="1"/>
          </p:cNvGraphicFramePr>
          <p:nvPr>
            <p:extLst>
              <p:ext uri="{D42A27DB-BD31-4B8C-83A1-F6EECF244321}">
                <p14:modId xmlns:p14="http://schemas.microsoft.com/office/powerpoint/2010/main" val="1188115599"/>
              </p:ext>
            </p:extLst>
          </p:nvPr>
        </p:nvGraphicFramePr>
        <p:xfrm>
          <a:off x="5585952" y="5291310"/>
          <a:ext cx="3512036" cy="349940"/>
        </p:xfrm>
        <a:graphic>
          <a:graphicData uri="http://schemas.openxmlformats.org/drawingml/2006/table">
            <a:tbl>
              <a:tblPr/>
              <a:tblGrid>
                <a:gridCol w="595907">
                  <a:extLst>
                    <a:ext uri="{9D8B030D-6E8A-4147-A177-3AD203B41FA5}">
                      <a16:colId xmlns:a16="http://schemas.microsoft.com/office/drawing/2014/main" val="4058772077"/>
                    </a:ext>
                  </a:extLst>
                </a:gridCol>
                <a:gridCol w="669375">
                  <a:extLst>
                    <a:ext uri="{9D8B030D-6E8A-4147-A177-3AD203B41FA5}">
                      <a16:colId xmlns:a16="http://schemas.microsoft.com/office/drawing/2014/main" val="154882630"/>
                    </a:ext>
                  </a:extLst>
                </a:gridCol>
                <a:gridCol w="748918">
                  <a:extLst>
                    <a:ext uri="{9D8B030D-6E8A-4147-A177-3AD203B41FA5}">
                      <a16:colId xmlns:a16="http://schemas.microsoft.com/office/drawing/2014/main" val="227139091"/>
                    </a:ext>
                  </a:extLst>
                </a:gridCol>
                <a:gridCol w="748918">
                  <a:extLst>
                    <a:ext uri="{9D8B030D-6E8A-4147-A177-3AD203B41FA5}">
                      <a16:colId xmlns:a16="http://schemas.microsoft.com/office/drawing/2014/main" val="892848932"/>
                    </a:ext>
                  </a:extLst>
                </a:gridCol>
                <a:gridCol w="748918">
                  <a:extLst>
                    <a:ext uri="{9D8B030D-6E8A-4147-A177-3AD203B41FA5}">
                      <a16:colId xmlns:a16="http://schemas.microsoft.com/office/drawing/2014/main" val="420957508"/>
                    </a:ext>
                  </a:extLst>
                </a:gridCol>
              </a:tblGrid>
              <a:tr h="176190">
                <a:tc>
                  <a:txBody>
                    <a:bodyPr/>
                    <a:lstStyle/>
                    <a:p>
                      <a:pPr algn="ctr" fontAlgn="ctr">
                        <a:buNone/>
                      </a:pPr>
                      <a:r>
                        <a:rPr lang="ja-JP" altLang="en-US" sz="6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dirty="0">
                          <a:solidFill>
                            <a:srgbClr val="000000"/>
                          </a:solidFill>
                          <a:effectLst/>
                          <a:latin typeface="+mj-ea"/>
                          <a:ea typeface="+mj-ea"/>
                        </a:rPr>
                        <a:t>本番環境</a:t>
                      </a:r>
                      <a:br>
                        <a:rPr lang="en-US" altLang="ja-JP" sz="600" b="0" i="0" u="none" strike="noStrike" dirty="0">
                          <a:solidFill>
                            <a:srgbClr val="000000"/>
                          </a:solidFill>
                          <a:effectLst/>
                          <a:latin typeface="+mj-ea"/>
                          <a:ea typeface="+mj-ea"/>
                        </a:rPr>
                      </a:br>
                      <a:r>
                        <a:rPr lang="ja-JP" altLang="en-US" sz="600" b="0" i="0" u="none" strike="noStrike" dirty="0">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600" b="0" i="0" u="none" strike="noStrike" kern="1200" dirty="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dirty="0">
                          <a:solidFill>
                            <a:srgbClr val="000000"/>
                          </a:solidFill>
                          <a:effectLst/>
                          <a:latin typeface="+mj-ea"/>
                          <a:ea typeface="+mn-ea"/>
                          <a:cs typeface="+mn-cs"/>
                        </a:rPr>
                        <a:t>反映日</a:t>
                      </a:r>
                      <a:endParaRPr lang="ja-JP" altLang="en-US" sz="600" b="0" i="0" u="none" strike="noStrike" dirty="0">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600" b="0" i="0" u="none" strike="noStrike" kern="120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57535">
                <a:tc>
                  <a:txBody>
                    <a:bodyPr/>
                    <a:lstStyle/>
                    <a:p>
                      <a:pPr algn="ctr" fontAlgn="ctr">
                        <a:buNone/>
                      </a:pPr>
                      <a:r>
                        <a:rPr lang="en-US" altLang="ja-JP" sz="600" b="0" i="0" u="none" strike="noStrike" dirty="0">
                          <a:solidFill>
                            <a:srgbClr val="000000"/>
                          </a:solidFill>
                          <a:effectLst/>
                          <a:highlight>
                            <a:srgbClr val="FFFF00"/>
                          </a:highlight>
                          <a:latin typeface="+mj-ea"/>
                          <a:ea typeface="+mj-ea"/>
                        </a:rPr>
                        <a:t>20260925</a:t>
                      </a:r>
                      <a:endParaRPr lang="ja-JP" altLang="en-US" sz="600" b="0" i="0" u="none" strike="noStrike" dirty="0">
                        <a:solidFill>
                          <a:srgbClr val="000000"/>
                        </a:solidFill>
                        <a:effectLst/>
                        <a:highlight>
                          <a:srgbClr val="FFFF00"/>
                        </a:highligh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2026/09/29</a:t>
                      </a:r>
                      <a:endParaRPr lang="ja-JP" altLang="en-US" sz="600" b="0" i="0" u="none" strike="noStrike" dirty="0">
                        <a:solidFill>
                          <a:srgbClr val="000000"/>
                        </a:solidFill>
                        <a:effectLst/>
                        <a:highlight>
                          <a:srgbClr val="FFFF00"/>
                        </a:highligh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2026/10/XX</a:t>
                      </a:r>
                      <a:endParaRPr lang="ja-JP" altLang="en-US" sz="600" b="0" i="0" u="none" strike="noStrike" dirty="0">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2026/10/XX</a:t>
                      </a:r>
                      <a:endParaRPr lang="ja-JP" altLang="en-US" sz="600" b="0" i="0" u="none" strike="noStrike" dirty="0">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2026/10/XX</a:t>
                      </a:r>
                      <a:endParaRPr lang="ja-JP" altLang="en-US" sz="600" b="0" i="0" u="none" strike="noStrike" dirty="0">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33" name="四角形: 角を丸くする 32">
            <a:extLst>
              <a:ext uri="{FF2B5EF4-FFF2-40B4-BE49-F238E27FC236}">
                <a16:creationId xmlns:a16="http://schemas.microsoft.com/office/drawing/2014/main" id="{AA826694-2B02-1D51-F509-C989B2C61494}"/>
              </a:ext>
            </a:extLst>
          </p:cNvPr>
          <p:cNvSpPr/>
          <p:nvPr/>
        </p:nvSpPr>
        <p:spPr>
          <a:xfrm>
            <a:off x="7761221" y="1579892"/>
            <a:ext cx="1925838" cy="656505"/>
          </a:xfrm>
          <a:prstGeom prst="roundRect">
            <a:avLst/>
          </a:prstGeom>
          <a:solidFill>
            <a:schemeClr val="accent2">
              <a:lumMod val="20000"/>
              <a:lumOff val="80000"/>
            </a:schemeClr>
          </a:solidFill>
          <a:ln>
            <a:noFill/>
            <a:prstDash val="dash"/>
          </a:ln>
        </p:spPr>
        <p:txBody>
          <a:bodyPr wrap="none" lIns="36000" tIns="108000" rIns="36000" bIns="36000" rtlCol="0" anchor="ctr">
            <a:noAutofit/>
          </a:bodyP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1050" b="0" i="0" u="sng" strike="noStrike" kern="1200" cap="none" spc="0" normalizeH="0" baseline="0" noProof="0" dirty="0">
                <a:ln>
                  <a:noFill/>
                </a:ln>
                <a:solidFill>
                  <a:prstClr val="black"/>
                </a:solidFill>
                <a:effectLst/>
                <a:uLnTx/>
                <a:uFillTx/>
                <a:latin typeface="Meiryo UI"/>
                <a:ea typeface="Meiryo UI"/>
                <a:cs typeface="+mn-cs"/>
              </a:rPr>
              <a:t>基金担当者様</a:t>
            </a:r>
            <a:endParaRPr kumimoji="1" lang="en-US" altLang="ja-JP" sz="105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2026</a:t>
            </a:r>
            <a:r>
              <a:rPr kumimoji="1" lang="ja-JP" altLang="en-US" sz="1050" b="0" i="0" u="none" strike="noStrike" kern="1200" cap="none" spc="0" normalizeH="0" baseline="0" noProof="0" dirty="0">
                <a:ln>
                  <a:noFill/>
                </a:ln>
                <a:solidFill>
                  <a:prstClr val="black"/>
                </a:solidFill>
                <a:effectLst/>
                <a:uLnTx/>
                <a:uFillTx/>
                <a:latin typeface="Meiryo UI"/>
                <a:ea typeface="Meiryo UI"/>
                <a:cs typeface="+mn-cs"/>
              </a:rPr>
              <a:t>年</a:t>
            </a:r>
            <a:r>
              <a:rPr kumimoji="1" lang="en-US" altLang="ja-JP" sz="1050" dirty="0">
                <a:solidFill>
                  <a:prstClr val="black"/>
                </a:solidFill>
                <a:latin typeface="Meiryo UI"/>
                <a:ea typeface="Meiryo UI"/>
              </a:rPr>
              <a:t>10</a:t>
            </a:r>
            <a:r>
              <a:rPr kumimoji="1" lang="ja-JP" altLang="en-US" sz="1050" b="0" i="0" u="none" strike="noStrike" kern="1200" cap="none" spc="0" normalizeH="0" baseline="0" noProof="0" dirty="0">
                <a:ln>
                  <a:noFill/>
                </a:ln>
                <a:solidFill>
                  <a:prstClr val="black"/>
                </a:solidFill>
                <a:effectLst/>
                <a:uLnTx/>
                <a:uFillTx/>
                <a:latin typeface="Meiryo UI"/>
                <a:ea typeface="Meiryo UI"/>
                <a:cs typeface="+mn-cs"/>
              </a:rPr>
              <a:t>月の更新では</a:t>
            </a:r>
            <a:b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1050" b="0" i="0" u="none" strike="noStrike" kern="1200" cap="none" spc="0" normalizeH="0" baseline="0" noProof="0" dirty="0">
                <a:ln>
                  <a:noFill/>
                </a:ln>
                <a:solidFill>
                  <a:prstClr val="black"/>
                </a:solidFill>
                <a:effectLst/>
                <a:uLnTx/>
                <a:uFillTx/>
                <a:latin typeface="Meiryo UI"/>
                <a:ea typeface="Meiryo UI"/>
                <a:cs typeface="+mn-cs"/>
              </a:rPr>
              <a:t>こちらのレイアウトに更新ください。</a:t>
            </a:r>
          </a:p>
        </p:txBody>
      </p:sp>
      <p:pic>
        <p:nvPicPr>
          <p:cNvPr id="101" name="図 100">
            <a:extLst>
              <a:ext uri="{FF2B5EF4-FFF2-40B4-BE49-F238E27FC236}">
                <a16:creationId xmlns:a16="http://schemas.microsoft.com/office/drawing/2014/main" id="{FFBC44E1-216C-7EBE-0307-7464D3971133}"/>
              </a:ext>
            </a:extLst>
          </p:cNvPr>
          <p:cNvPicPr>
            <a:picLocks noChangeAspect="1"/>
          </p:cNvPicPr>
          <p:nvPr/>
        </p:nvPicPr>
        <p:blipFill>
          <a:blip r:embed="rId6"/>
          <a:srcRect t="91998" b="1648"/>
          <a:stretch>
            <a:fillRect/>
          </a:stretch>
        </p:blipFill>
        <p:spPr>
          <a:xfrm>
            <a:off x="5253936" y="8225038"/>
            <a:ext cx="4234676" cy="209249"/>
          </a:xfrm>
          <a:prstGeom prst="rect">
            <a:avLst/>
          </a:prstGeom>
        </p:spPr>
      </p:pic>
      <p:graphicFrame>
        <p:nvGraphicFramePr>
          <p:cNvPr id="105" name="表 104">
            <a:extLst>
              <a:ext uri="{FF2B5EF4-FFF2-40B4-BE49-F238E27FC236}">
                <a16:creationId xmlns:a16="http://schemas.microsoft.com/office/drawing/2014/main" id="{026E4A06-BCB4-E8E7-A7ED-EBB8BDFE1E13}"/>
              </a:ext>
            </a:extLst>
          </p:cNvPr>
          <p:cNvGraphicFramePr>
            <a:graphicFrameLocks noGrp="1"/>
          </p:cNvGraphicFramePr>
          <p:nvPr>
            <p:extLst>
              <p:ext uri="{D42A27DB-BD31-4B8C-83A1-F6EECF244321}">
                <p14:modId xmlns:p14="http://schemas.microsoft.com/office/powerpoint/2010/main" val="2383546386"/>
              </p:ext>
            </p:extLst>
          </p:nvPr>
        </p:nvGraphicFramePr>
        <p:xfrm>
          <a:off x="5445697" y="7755286"/>
          <a:ext cx="3710008" cy="491164"/>
        </p:xfrm>
        <a:graphic>
          <a:graphicData uri="http://schemas.openxmlformats.org/drawingml/2006/table">
            <a:tbl>
              <a:tblPr/>
              <a:tblGrid>
                <a:gridCol w="1060002">
                  <a:extLst>
                    <a:ext uri="{9D8B030D-6E8A-4147-A177-3AD203B41FA5}">
                      <a16:colId xmlns:a16="http://schemas.microsoft.com/office/drawing/2014/main" val="2741535545"/>
                    </a:ext>
                  </a:extLst>
                </a:gridCol>
                <a:gridCol w="2650006">
                  <a:extLst>
                    <a:ext uri="{9D8B030D-6E8A-4147-A177-3AD203B41FA5}">
                      <a16:colId xmlns:a16="http://schemas.microsoft.com/office/drawing/2014/main" val="2597624301"/>
                    </a:ext>
                  </a:extLst>
                </a:gridCol>
              </a:tblGrid>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公開日</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2336640960"/>
                  </a:ext>
                </a:extLst>
              </a:tr>
              <a:tr h="122791">
                <a:tc>
                  <a:txBody>
                    <a:bodyPr/>
                    <a:lstStyle/>
                    <a:p>
                      <a:pPr algn="ctr" fontAlgn="ctr">
                        <a:buNone/>
                      </a:pPr>
                      <a:r>
                        <a:rPr lang="en-US" altLang="ja-JP" sz="600" b="0" i="0" u="none" strike="noStrike" dirty="0">
                          <a:solidFill>
                            <a:srgbClr val="000000"/>
                          </a:solidFill>
                          <a:effectLst/>
                          <a:highlight>
                            <a:srgbClr val="FFFF00"/>
                          </a:highlight>
                          <a:latin typeface="Meiryo UI" panose="020B0604030504040204" pitchFamily="50" charset="-128"/>
                          <a:ea typeface="Meiryo UI" panose="020B0604030504040204" pitchFamily="50" charset="-128"/>
                        </a:rPr>
                        <a:t>20260531</a:t>
                      </a:r>
                      <a:endParaRPr lang="ja-JP" sz="600" b="0" i="0" u="none" strike="noStrike" dirty="0">
                        <a:solidFill>
                          <a:srgbClr val="000000"/>
                        </a:solidFill>
                        <a:effectLst/>
                        <a:highlight>
                          <a:srgbClr val="FFFF00"/>
                        </a:highlight>
                        <a:latin typeface="Meiryo UI" panose="020B0604030504040204" pitchFamily="50" charset="-128"/>
                        <a:ea typeface="Meiryo UI" panose="020B0604030504040204"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600" b="0" i="0" u="none" strike="noStrike" dirty="0">
                          <a:solidFill>
                            <a:srgbClr val="000000"/>
                          </a:solidFill>
                          <a:effectLst/>
                          <a:highlight>
                            <a:srgbClr val="FFFF00"/>
                          </a:highlight>
                          <a:latin typeface="Meiryo UI" panose="020B0604030504040204" pitchFamily="50" charset="-128"/>
                          <a:ea typeface="Meiryo UI" panose="020B0604030504040204" pitchFamily="50" charset="-128"/>
                        </a:rPr>
                        <a:t>20260823</a:t>
                      </a:r>
                      <a:endParaRPr lang="ja-JP" sz="600" b="0" i="0" u="none" strike="noStrike" dirty="0">
                        <a:solidFill>
                          <a:srgbClr val="000000"/>
                        </a:solidFill>
                        <a:effectLst/>
                        <a:highlight>
                          <a:srgbClr val="FFFF00"/>
                        </a:highlight>
                        <a:latin typeface="Meiryo UI" panose="020B0604030504040204" pitchFamily="50" charset="-128"/>
                        <a:ea typeface="Meiryo UI" panose="020B0604030504040204"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8271639"/>
                  </a:ext>
                </a:extLst>
              </a:tr>
              <a:tr h="122791">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20250401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20250603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8799979"/>
                  </a:ext>
                </a:extLst>
              </a:tr>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20240709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20250207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4982346"/>
                  </a:ext>
                </a:extLst>
              </a:tr>
            </a:tbl>
          </a:graphicData>
        </a:graphic>
      </p:graphicFrame>
      <p:grpSp>
        <p:nvGrpSpPr>
          <p:cNvPr id="9" name="グループ化 8">
            <a:extLst>
              <a:ext uri="{FF2B5EF4-FFF2-40B4-BE49-F238E27FC236}">
                <a16:creationId xmlns:a16="http://schemas.microsoft.com/office/drawing/2014/main" id="{7378CF95-6D3A-C2A3-D61D-045CEF8371BC}"/>
              </a:ext>
            </a:extLst>
          </p:cNvPr>
          <p:cNvGrpSpPr/>
          <p:nvPr/>
        </p:nvGrpSpPr>
        <p:grpSpPr>
          <a:xfrm>
            <a:off x="5504803" y="7435350"/>
            <a:ext cx="3320193" cy="258145"/>
            <a:chOff x="8168173" y="4422050"/>
            <a:chExt cx="2743961" cy="213343"/>
          </a:xfrm>
        </p:grpSpPr>
        <p:pic>
          <p:nvPicPr>
            <p:cNvPr id="11" name="図 10">
              <a:extLst>
                <a:ext uri="{FF2B5EF4-FFF2-40B4-BE49-F238E27FC236}">
                  <a16:creationId xmlns:a16="http://schemas.microsoft.com/office/drawing/2014/main" id="{ACBA434E-9CCE-419A-9F8B-A9FE37E9B425}"/>
                </a:ext>
              </a:extLst>
            </p:cNvPr>
            <p:cNvPicPr>
              <a:picLocks noChangeAspect="1"/>
            </p:cNvPicPr>
            <p:nvPr/>
          </p:nvPicPr>
          <p:blipFill>
            <a:blip r:embed="rId7"/>
            <a:srcRect l="1910" t="81326" r="2535" b="8895"/>
            <a:stretch>
              <a:fillRect/>
            </a:stretch>
          </p:blipFill>
          <p:spPr>
            <a:xfrm>
              <a:off x="8168173" y="4422050"/>
              <a:ext cx="2743961" cy="213343"/>
            </a:xfrm>
            <a:prstGeom prst="rect">
              <a:avLst/>
            </a:prstGeom>
          </p:spPr>
        </p:pic>
        <p:sp>
          <p:nvSpPr>
            <p:cNvPr id="19" name="正方形/長方形 18">
              <a:extLst>
                <a:ext uri="{FF2B5EF4-FFF2-40B4-BE49-F238E27FC236}">
                  <a16:creationId xmlns:a16="http://schemas.microsoft.com/office/drawing/2014/main" id="{7DDA7711-4A80-8139-349B-AE9287B1D0A9}"/>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令和</a:t>
              </a:r>
              <a:r>
                <a:rPr kumimoji="1" lang="en-US" altLang="ja-JP" sz="600" b="1" i="0" u="none" strike="noStrike" kern="1200" cap="none" spc="0" normalizeH="0" baseline="0" noProof="0" dirty="0">
                  <a:ln>
                    <a:noFill/>
                  </a:ln>
                  <a:solidFill>
                    <a:prstClr val="black"/>
                  </a:solidFill>
                  <a:effectLst/>
                  <a:uLnTx/>
                  <a:uFillTx/>
                  <a:latin typeface="Meiryo UI"/>
                  <a:ea typeface="Meiryo UI"/>
                  <a:cs typeface="+mn-cs"/>
                </a:rPr>
                <a:t>8</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年</a:t>
              </a:r>
              <a:r>
                <a:rPr kumimoji="1" lang="en-US" altLang="ja-JP" sz="600" b="1" dirty="0">
                  <a:solidFill>
                    <a:prstClr val="black"/>
                  </a:solidFill>
                  <a:latin typeface="Meiryo UI"/>
                  <a:ea typeface="Meiryo UI"/>
                </a:rPr>
                <a:t>9</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月</a:t>
              </a:r>
              <a:r>
                <a:rPr kumimoji="1" lang="en-US" altLang="ja-JP" sz="600" b="1" i="0" u="none" strike="noStrike" kern="1200" cap="none" spc="0" normalizeH="0" baseline="0" noProof="0" dirty="0">
                  <a:ln>
                    <a:noFill/>
                  </a:ln>
                  <a:solidFill>
                    <a:prstClr val="black"/>
                  </a:solidFill>
                  <a:effectLst/>
                  <a:uLnTx/>
                  <a:uFillTx/>
                  <a:latin typeface="Meiryo UI"/>
                  <a:ea typeface="Meiryo UI"/>
                  <a:cs typeface="+mn-cs"/>
                </a:rPr>
                <a:t>27</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日まで適用のマスタのダウンロードリンク</a:t>
              </a:r>
            </a:p>
          </p:txBody>
        </p:sp>
      </p:grpSp>
      <p:pic>
        <p:nvPicPr>
          <p:cNvPr id="3" name="図 19">
            <a:extLst>
              <a:ext uri="{FF2B5EF4-FFF2-40B4-BE49-F238E27FC236}">
                <a16:creationId xmlns:a16="http://schemas.microsoft.com/office/drawing/2014/main" id="{C6820C8C-CC38-688F-4681-3048F367BAAA}"/>
              </a:ext>
            </a:extLst>
          </p:cNvPr>
          <p:cNvPicPr preferRelativeResize="0">
            <a:picLocks/>
          </p:cNvPicPr>
          <p:nvPr/>
        </p:nvPicPr>
        <p:blipFill>
          <a:blip r:embed="rId3"/>
          <a:srcRect l="2946" t="103836" r="-2946" b="-15325"/>
          <a:stretch>
            <a:fillRect/>
          </a:stretch>
        </p:blipFill>
        <p:spPr>
          <a:xfrm>
            <a:off x="182025" y="2802139"/>
            <a:ext cx="4300396" cy="5535950"/>
          </a:xfrm>
          <a:prstGeom prst="rect">
            <a:avLst/>
          </a:prstGeom>
          <a:ln w="19050">
            <a:solidFill>
              <a:schemeClr val="bg1">
                <a:lumMod val="85000"/>
              </a:schemeClr>
            </a:solidFill>
          </a:ln>
        </p:spPr>
      </p:pic>
      <p:sp>
        <p:nvSpPr>
          <p:cNvPr id="8" name="正方形/長方形 7">
            <a:extLst>
              <a:ext uri="{FF2B5EF4-FFF2-40B4-BE49-F238E27FC236}">
                <a16:creationId xmlns:a16="http://schemas.microsoft.com/office/drawing/2014/main" id="{C785EFA8-AC02-B79E-814B-CFDDA1CBB488}"/>
              </a:ext>
            </a:extLst>
          </p:cNvPr>
          <p:cNvSpPr/>
          <p:nvPr/>
        </p:nvSpPr>
        <p:spPr>
          <a:xfrm>
            <a:off x="1266292" y="2258519"/>
            <a:ext cx="1992079" cy="366467"/>
          </a:xfrm>
          <a:prstGeom prst="rect">
            <a:avLst/>
          </a:prstGeom>
          <a:solidFill>
            <a:schemeClr val="bg1"/>
          </a:solidFill>
          <a:ln>
            <a:noFill/>
          </a:ln>
        </p:spPr>
        <p:txBody>
          <a:bodyPr lIns="0" rIns="0" rtlCol="0" anchor="t" anchorCtr="0"/>
          <a:lstStyle/>
          <a:p>
            <a:pPr lvl="0" algn="ctr" fontAlgn="base">
              <a:spcBef>
                <a:spcPct val="20000"/>
              </a:spcBef>
              <a:spcAft>
                <a:spcPct val="0"/>
              </a:spcAft>
              <a:defRPr/>
            </a:pPr>
            <a:r>
              <a:rPr kumimoji="1" lang="ja-JP" altLang="en-US" sz="900" b="0" i="0" u="sng" strike="noStrike" kern="1200" cap="none" spc="0" normalizeH="0" baseline="0" noProof="0" dirty="0">
                <a:ln>
                  <a:noFill/>
                </a:ln>
                <a:solidFill>
                  <a:prstClr val="black"/>
                </a:solidFill>
                <a:effectLst/>
                <a:uLnTx/>
                <a:uFillTx/>
                <a:latin typeface="Meiryo UI"/>
                <a:ea typeface="Meiryo UI"/>
                <a:cs typeface="+mn-cs"/>
              </a:rPr>
              <a:t>＜更新案</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en-US" altLang="ja-JP" sz="900" b="1" i="0" u="sng" strike="noStrike" kern="1200" cap="none" spc="0" normalizeH="0" baseline="0" noProof="0" dirty="0">
                <a:ln>
                  <a:noFill/>
                </a:ln>
                <a:solidFill>
                  <a:prstClr val="black"/>
                </a:solidFill>
                <a:effectLst/>
                <a:uLnTx/>
                <a:uFillTx/>
                <a:latin typeface="Meiryo UI"/>
                <a:ea typeface="Meiryo UI"/>
                <a:cs typeface="+mn-cs"/>
              </a:rPr>
              <a:t>202609</a:t>
            </a:r>
            <a:r>
              <a:rPr kumimoji="1" lang="ja-JP" altLang="en-US" sz="900" b="1" u="sng" dirty="0">
                <a:solidFill>
                  <a:prstClr val="black"/>
                </a:solidFill>
                <a:latin typeface="Meiryo UI"/>
              </a:rPr>
              <a:t>のマスタ公開以降</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dirty="0">
                <a:ln>
                  <a:noFill/>
                </a:ln>
                <a:solidFill>
                  <a:prstClr val="black"/>
                </a:solidFill>
                <a:effectLst/>
                <a:uLnTx/>
                <a:uFillTx/>
                <a:latin typeface="Meiryo UI"/>
                <a:ea typeface="Meiryo UI"/>
                <a:cs typeface="+mn-cs"/>
              </a:rPr>
              <a:t>＞</a:t>
            </a:r>
            <a:endParaRPr kumimoji="1" lang="en-US" altLang="ja-JP" sz="9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eiryo UI"/>
                <a:cs typeface="+mn-cs"/>
              </a:rPr>
              <a:t>アコーディオン開</a:t>
            </a: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900" b="0" i="0" u="none" strike="noStrike" kern="1200" cap="none" spc="0" normalizeH="0" baseline="0" noProof="0" dirty="0">
              <a:ln>
                <a:noFill/>
              </a:ln>
              <a:solidFill>
                <a:prstClr val="black"/>
              </a:solidFill>
              <a:effectLst/>
              <a:uLnTx/>
              <a:uFillTx/>
              <a:latin typeface="Meiryo UI"/>
              <a:ea typeface="Meiryo UI"/>
              <a:cs typeface="+mn-cs"/>
            </a:endParaRPr>
          </a:p>
        </p:txBody>
      </p:sp>
      <p:pic>
        <p:nvPicPr>
          <p:cNvPr id="22" name="図 21">
            <a:extLst>
              <a:ext uri="{FF2B5EF4-FFF2-40B4-BE49-F238E27FC236}">
                <a16:creationId xmlns:a16="http://schemas.microsoft.com/office/drawing/2014/main" id="{235A3328-8926-32C5-BD74-155EBF720B31}"/>
              </a:ext>
            </a:extLst>
          </p:cNvPr>
          <p:cNvPicPr>
            <a:picLocks noChangeAspect="1"/>
          </p:cNvPicPr>
          <p:nvPr/>
        </p:nvPicPr>
        <p:blipFill>
          <a:blip r:embed="rId4"/>
          <a:stretch>
            <a:fillRect/>
          </a:stretch>
        </p:blipFill>
        <p:spPr>
          <a:xfrm>
            <a:off x="147137" y="2772486"/>
            <a:ext cx="4317279" cy="1620406"/>
          </a:xfrm>
          <a:prstGeom prst="rect">
            <a:avLst/>
          </a:prstGeom>
        </p:spPr>
      </p:pic>
      <p:sp>
        <p:nvSpPr>
          <p:cNvPr id="23" name="正方形/長方形 22">
            <a:extLst>
              <a:ext uri="{FF2B5EF4-FFF2-40B4-BE49-F238E27FC236}">
                <a16:creationId xmlns:a16="http://schemas.microsoft.com/office/drawing/2014/main" id="{FE708FA0-C854-7C50-FBF2-02D5B9760A66}"/>
              </a:ext>
            </a:extLst>
          </p:cNvPr>
          <p:cNvSpPr/>
          <p:nvPr/>
        </p:nvSpPr>
        <p:spPr>
          <a:xfrm>
            <a:off x="319274" y="4414343"/>
            <a:ext cx="3725032" cy="638071"/>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600" dirty="0">
                <a:solidFill>
                  <a:prstClr val="black"/>
                </a:solidFill>
                <a:latin typeface="Meiryo UI"/>
              </a:rPr>
              <a:t>J-FAGY</a:t>
            </a:r>
            <a:r>
              <a:rPr kumimoji="1" lang="ja-JP" altLang="en-US" sz="600" dirty="0">
                <a:solidFill>
                  <a:prstClr val="black"/>
                </a:solidFill>
                <a:latin typeface="Meiryo UI"/>
              </a:rPr>
              <a:t>アレルゲンコードマスタは、</a:t>
            </a:r>
            <a:r>
              <a:rPr kumimoji="1" lang="en-US" altLang="ja-JP" sz="600" dirty="0">
                <a:solidFill>
                  <a:prstClr val="black"/>
                </a:solidFill>
                <a:latin typeface="Meiryo UI"/>
              </a:rPr>
              <a:t>20260531</a:t>
            </a:r>
            <a:r>
              <a:rPr kumimoji="1" lang="ja-JP" altLang="en-US" sz="600" dirty="0">
                <a:solidFill>
                  <a:prstClr val="black"/>
                </a:solidFill>
                <a:latin typeface="Meiryo UI"/>
              </a:rPr>
              <a:t>版への更新に際し、一部コードの</a:t>
            </a:r>
            <a:r>
              <a:rPr lang="ja-JP" altLang="en-US" sz="600" dirty="0">
                <a:solidFill>
                  <a:srgbClr val="000000"/>
                </a:solidFill>
                <a:latin typeface="Meiryo UI" panose="020B0604030504040204" pitchFamily="50" charset="-128"/>
                <a:ea typeface="Meiryo UI" panose="020B0604030504040204" pitchFamily="50" charset="-128"/>
              </a:rPr>
              <a:t>日本語表記</a:t>
            </a:r>
            <a:r>
              <a:rPr lang="en-US" altLang="ja-JP" sz="600" dirty="0">
                <a:solidFill>
                  <a:srgbClr val="000000"/>
                </a:solidFill>
                <a:latin typeface="Meiryo UI" panose="020B0604030504040204" pitchFamily="50" charset="-128"/>
                <a:ea typeface="Meiryo UI" panose="020B0604030504040204" pitchFamily="50" charset="-128"/>
              </a:rPr>
              <a:t>(</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solidFill>
                  <a:prstClr val="black"/>
                </a:solidFill>
                <a:latin typeface="Meiryo UI"/>
              </a:rPr>
              <a:t>の見直しを実施いたしました。そのため、</a:t>
            </a:r>
            <a:r>
              <a:rPr kumimoji="1" lang="en-US" altLang="ja-JP" sz="600" dirty="0">
                <a:solidFill>
                  <a:prstClr val="black"/>
                </a:solidFill>
                <a:latin typeface="Meiryo UI"/>
              </a:rPr>
              <a:t>20250401</a:t>
            </a:r>
            <a:r>
              <a:rPr kumimoji="1" lang="ja-JP" altLang="en-US" sz="600" dirty="0">
                <a:solidFill>
                  <a:prstClr val="black"/>
                </a:solidFill>
                <a:latin typeface="Meiryo UI"/>
              </a:rPr>
              <a:t>以前の版を用いて登録されている医療機関におかれましては、</a:t>
            </a:r>
            <a:r>
              <a:rPr kumimoji="1" lang="en-US" altLang="ja-JP" sz="600" dirty="0">
                <a:solidFill>
                  <a:prstClr val="black"/>
                </a:solidFill>
                <a:latin typeface="Meiryo UI"/>
              </a:rPr>
              <a:t>20260531</a:t>
            </a:r>
            <a:r>
              <a:rPr kumimoji="1" lang="ja-JP" altLang="en-US" sz="600" dirty="0">
                <a:solidFill>
                  <a:prstClr val="black"/>
                </a:solidFill>
                <a:latin typeface="Meiryo UI"/>
              </a:rPr>
              <a:t>版への移行をお願いいたします。</a:t>
            </a:r>
            <a:endParaRPr kumimoji="1" lang="en-US" altLang="ja-JP" sz="600" dirty="0">
              <a:solidFill>
                <a:prstClr val="black"/>
              </a:solidFill>
              <a:latin typeface="Meiryo UI"/>
            </a:endParaRPr>
          </a:p>
          <a:p>
            <a:pPr fontAlgn="base">
              <a:spcBef>
                <a:spcPct val="20000"/>
              </a:spcBef>
              <a:spcAft>
                <a:spcPct val="0"/>
              </a:spcAft>
              <a:defRPr/>
            </a:pPr>
            <a:r>
              <a:rPr kumimoji="1" lang="en-US" altLang="ja-JP" sz="600" dirty="0">
                <a:solidFill>
                  <a:prstClr val="black"/>
                </a:solidFill>
                <a:latin typeface="Meiryo UI"/>
              </a:rPr>
              <a:t>※</a:t>
            </a:r>
            <a:r>
              <a:rPr kumimoji="1" lang="en-US" altLang="ja-JP" sz="600" dirty="0">
                <a:solidFill>
                  <a:srgbClr val="000000"/>
                </a:solidFill>
                <a:latin typeface="Meiryo UI" panose="020B0604030504040204" pitchFamily="50" charset="-128"/>
                <a:ea typeface="Meiryo UI" panose="020B0604030504040204" pitchFamily="50" charset="-128"/>
              </a:rPr>
              <a:t> </a:t>
            </a:r>
            <a:r>
              <a:rPr kumimoji="1" lang="ja-JP" altLang="en-US" sz="600" dirty="0">
                <a:solidFill>
                  <a:srgbClr val="000000"/>
                </a:solidFill>
                <a:latin typeface="Meiryo UI" panose="020B0604030504040204" pitchFamily="50" charset="-128"/>
                <a:ea typeface="Meiryo UI" panose="020B0604030504040204" pitchFamily="50" charset="-128"/>
              </a:rPr>
              <a:t>日本語表記</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solidFill>
                  <a:prstClr val="black"/>
                </a:solidFill>
                <a:latin typeface="Meiryo UI"/>
              </a:rPr>
              <a:t>の変更は、消費者庁が定める特定原材料等の表記に</a:t>
            </a:r>
            <a:r>
              <a:rPr kumimoji="1" lang="en-US" altLang="ja-JP" sz="600" dirty="0">
                <a:solidFill>
                  <a:prstClr val="black"/>
                </a:solidFill>
                <a:latin typeface="Meiryo UI"/>
              </a:rPr>
              <a:t>J-FAGY</a:t>
            </a:r>
            <a:r>
              <a:rPr kumimoji="1" lang="ja-JP" altLang="en-US" sz="600" dirty="0">
                <a:solidFill>
                  <a:prstClr val="black"/>
                </a:solidFill>
                <a:latin typeface="Meiryo UI"/>
              </a:rPr>
              <a:t>コードの表記を合わせることを目的としています。</a:t>
            </a:r>
            <a:endParaRPr kumimoji="1" lang="en-US" altLang="ja-JP" sz="600" dirty="0">
              <a:solidFill>
                <a:prstClr val="black"/>
              </a:solidFill>
              <a:latin typeface="Meiryo UI"/>
            </a:endParaRPr>
          </a:p>
        </p:txBody>
      </p:sp>
      <p:pic>
        <p:nvPicPr>
          <p:cNvPr id="24" name="図 23">
            <a:extLst>
              <a:ext uri="{FF2B5EF4-FFF2-40B4-BE49-F238E27FC236}">
                <a16:creationId xmlns:a16="http://schemas.microsoft.com/office/drawing/2014/main" id="{65EEC868-59B3-1F17-C8CD-FA8D7CA98B59}"/>
              </a:ext>
            </a:extLst>
          </p:cNvPr>
          <p:cNvPicPr>
            <a:picLocks noChangeAspect="1"/>
          </p:cNvPicPr>
          <p:nvPr/>
        </p:nvPicPr>
        <p:blipFill>
          <a:blip r:embed="rId5"/>
          <a:srcRect b="74573"/>
          <a:stretch>
            <a:fillRect/>
          </a:stretch>
        </p:blipFill>
        <p:spPr>
          <a:xfrm>
            <a:off x="409503" y="5111110"/>
            <a:ext cx="3837337" cy="130290"/>
          </a:xfrm>
          <a:prstGeom prst="rect">
            <a:avLst/>
          </a:prstGeom>
        </p:spPr>
      </p:pic>
      <p:sp>
        <p:nvSpPr>
          <p:cNvPr id="25" name="正方形/長方形 24">
            <a:extLst>
              <a:ext uri="{FF2B5EF4-FFF2-40B4-BE49-F238E27FC236}">
                <a16:creationId xmlns:a16="http://schemas.microsoft.com/office/drawing/2014/main" id="{593B4DD8-58BB-9C2A-A58D-40065B71580E}"/>
              </a:ext>
            </a:extLst>
          </p:cNvPr>
          <p:cNvSpPr/>
          <p:nvPr/>
        </p:nvSpPr>
        <p:spPr>
          <a:xfrm>
            <a:off x="315777" y="5690733"/>
            <a:ext cx="3893627" cy="1330759"/>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600" b="1" dirty="0">
                <a:solidFill>
                  <a:srgbClr val="FF0000"/>
                </a:solidFill>
                <a:latin typeface="Meiryo UI"/>
                <a:ea typeface="Meiryo UI"/>
              </a:rPr>
              <a:t>【</a:t>
            </a:r>
            <a:r>
              <a:rPr kumimoji="1" lang="ja-JP" altLang="en-US" sz="600" b="1" dirty="0">
                <a:solidFill>
                  <a:srgbClr val="FF0000"/>
                </a:solidFill>
                <a:latin typeface="Meiryo UI"/>
                <a:ea typeface="Meiryo UI"/>
              </a:rPr>
              <a:t>ご留意事項</a:t>
            </a:r>
            <a:r>
              <a:rPr kumimoji="1" lang="en-US" altLang="ja-JP" sz="600" b="1" dirty="0">
                <a:solidFill>
                  <a:srgbClr val="FF0000"/>
                </a:solidFill>
                <a:latin typeface="Meiryo UI"/>
                <a:ea typeface="Meiryo UI"/>
              </a:rPr>
              <a:t>】</a:t>
            </a:r>
          </a:p>
          <a:p>
            <a:pPr lvl="0" fontAlgn="base">
              <a:spcBef>
                <a:spcPct val="20000"/>
              </a:spcBef>
              <a:spcAft>
                <a:spcPct val="0"/>
              </a:spcAft>
              <a:defRPr/>
            </a:pPr>
            <a:r>
              <a:rPr kumimoji="1" lang="en-US" altLang="ja-JP" sz="600" dirty="0">
                <a:latin typeface="Meiryo UI"/>
                <a:ea typeface="Meiryo UI"/>
              </a:rPr>
              <a:t>2026</a:t>
            </a:r>
            <a:r>
              <a:rPr kumimoji="1" lang="ja-JP" altLang="en-US" sz="600" dirty="0">
                <a:latin typeface="Meiryo UI"/>
                <a:ea typeface="Meiryo UI"/>
              </a:rPr>
              <a:t>年</a:t>
            </a:r>
            <a:r>
              <a:rPr kumimoji="1" lang="en-US" altLang="ja-JP" sz="600" i="0" u="none" strike="noStrike" kern="1200" cap="none" spc="0" normalizeH="0" baseline="0" noProof="0" dirty="0">
                <a:ln>
                  <a:noFill/>
                </a:ln>
                <a:effectLst/>
                <a:uLnTx/>
                <a:uFillTx/>
                <a:latin typeface="Meiryo UI"/>
                <a:ea typeface="Meiryo UI"/>
                <a:cs typeface="+mn-cs"/>
              </a:rPr>
              <a:t>9</a:t>
            </a:r>
            <a:r>
              <a:rPr kumimoji="1" lang="ja-JP" altLang="en-US" sz="600" i="0" u="none" strike="noStrike" kern="1200" cap="none" spc="0" normalizeH="0" baseline="0" noProof="0" dirty="0">
                <a:ln>
                  <a:noFill/>
                </a:ln>
                <a:effectLst/>
                <a:uLnTx/>
                <a:uFillTx/>
                <a:latin typeface="Meiryo UI"/>
                <a:ea typeface="Meiryo UI"/>
                <a:cs typeface="+mn-cs"/>
              </a:rPr>
              <a:t>月</a:t>
            </a:r>
            <a:r>
              <a:rPr kumimoji="1" lang="en-US" altLang="ja-JP" sz="600" i="0" u="none" strike="noStrike" kern="1200" cap="none" spc="0" normalizeH="0" baseline="0" noProof="0" dirty="0">
                <a:ln>
                  <a:noFill/>
                </a:ln>
                <a:effectLst/>
                <a:uLnTx/>
                <a:uFillTx/>
                <a:latin typeface="Meiryo UI"/>
                <a:ea typeface="Meiryo UI"/>
                <a:cs typeface="+mn-cs"/>
              </a:rPr>
              <a:t>28</a:t>
            </a:r>
            <a:r>
              <a:rPr kumimoji="1" lang="ja-JP" altLang="en-US" sz="600" i="0" u="none" strike="noStrike" kern="1200" cap="none" spc="0" normalizeH="0" baseline="0" noProof="0" dirty="0">
                <a:ln>
                  <a:noFill/>
                </a:ln>
                <a:effectLst/>
                <a:uLnTx/>
                <a:uFillTx/>
                <a:latin typeface="Meiryo UI"/>
                <a:ea typeface="Meiryo UI"/>
                <a:cs typeface="+mn-cs"/>
              </a:rPr>
              <a:t>日以降は、</a:t>
            </a:r>
            <a:r>
              <a:rPr kumimoji="1" lang="en-US" altLang="ja-JP" sz="600" dirty="0">
                <a:latin typeface="Meiryo UI"/>
                <a:ea typeface="Meiryo UI"/>
              </a:rPr>
              <a:t>20250401</a:t>
            </a:r>
            <a:r>
              <a:rPr kumimoji="1" lang="ja-JP" altLang="en-US" sz="600" i="0" u="none" strike="noStrike" kern="1200" cap="none" spc="0" normalizeH="0" baseline="0" noProof="0" dirty="0">
                <a:ln>
                  <a:noFill/>
                </a:ln>
                <a:effectLst/>
                <a:uLnTx/>
                <a:uFillTx/>
                <a:latin typeface="Meiryo UI"/>
                <a:ea typeface="Meiryo UI"/>
                <a:cs typeface="+mn-cs"/>
              </a:rPr>
              <a:t>版に記載されていた次の</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dirty="0">
                <a:ln>
                  <a:noFill/>
                </a:ln>
                <a:effectLst/>
                <a:uLnTx/>
                <a:uFillTx/>
                <a:latin typeface="Meiryo UI"/>
                <a:ea typeface="Meiryo UI"/>
                <a:cs typeface="+mn-cs"/>
              </a:rPr>
              <a:t>の</a:t>
            </a:r>
            <a:r>
              <a:rPr kumimoji="1" lang="en-US" altLang="ja-JP" sz="600" i="0" u="none" strike="noStrike" kern="1200" cap="none" spc="0" normalizeH="0" baseline="0" noProof="0" dirty="0">
                <a:ln>
                  <a:noFill/>
                </a:ln>
                <a:effectLst/>
                <a:uLnTx/>
                <a:uFillTx/>
                <a:latin typeface="Meiryo UI"/>
                <a:ea typeface="Meiryo UI"/>
                <a:cs typeface="+mn-cs"/>
              </a:rPr>
              <a:t>J-FAGY</a:t>
            </a:r>
            <a:r>
              <a:rPr kumimoji="1" lang="ja-JP" altLang="en-US" sz="600" i="0" u="none" strike="noStrike" kern="1200" cap="none" spc="0" normalizeH="0" baseline="0" noProof="0" dirty="0">
                <a:ln>
                  <a:noFill/>
                </a:ln>
                <a:effectLst/>
                <a:uLnTx/>
                <a:uFillTx/>
                <a:latin typeface="Meiryo UI"/>
                <a:ea typeface="Meiryo UI"/>
                <a:cs typeface="+mn-cs"/>
              </a:rPr>
              <a:t>コードが</a:t>
            </a:r>
            <a:r>
              <a:rPr kumimoji="1" lang="ja-JP" altLang="en-US" sz="600" dirty="0">
                <a:latin typeface="Meiryo UI"/>
                <a:ea typeface="Meiryo UI"/>
              </a:rPr>
              <a:t>変更となったため</a:t>
            </a:r>
            <a:r>
              <a:rPr kumimoji="1" lang="ja-JP" altLang="en-US" sz="600" i="0" u="none" strike="noStrike" kern="1200" cap="none" spc="0" normalizeH="0" baseline="0" noProof="0" dirty="0">
                <a:ln>
                  <a:noFill/>
                </a:ln>
                <a:effectLst/>
                <a:uLnTx/>
                <a:uFillTx/>
                <a:latin typeface="Meiryo UI"/>
                <a:ea typeface="Meiryo UI"/>
                <a:cs typeface="+mn-cs"/>
              </a:rPr>
              <a:t>、電子カルテ情報共有サービスに登録できなくなりました。</a:t>
            </a:r>
            <a:endParaRPr kumimoji="1" lang="en-US" altLang="ja-JP" sz="600" i="0" u="none" strike="noStrike" kern="1200" cap="none" spc="0" normalizeH="0" baseline="0" noProof="0" dirty="0">
              <a:ln>
                <a:noFill/>
              </a:ln>
              <a:effectLst/>
              <a:uLnTx/>
              <a:uFillTx/>
              <a:latin typeface="Meiryo UI"/>
              <a:ea typeface="Meiryo UI"/>
              <a:cs typeface="+mn-cs"/>
            </a:endParaRPr>
          </a:p>
          <a:p>
            <a:pPr lvl="0" fontAlgn="base">
              <a:spcBef>
                <a:spcPct val="20000"/>
              </a:spcBef>
              <a:spcAft>
                <a:spcPct val="0"/>
              </a:spcAft>
              <a:defRPr/>
            </a:pPr>
            <a:r>
              <a:rPr kumimoji="1" lang="ja-JP" altLang="en-US" sz="600" i="0" u="none" strike="noStrike" kern="1200" cap="none" spc="0" normalizeH="0" baseline="0" noProof="0" dirty="0">
                <a:ln>
                  <a:noFill/>
                </a:ln>
                <a:effectLst/>
                <a:uLnTx/>
                <a:uFillTx/>
                <a:latin typeface="Meiryo UI"/>
                <a:ea typeface="Meiryo UI"/>
                <a:cs typeface="+mn-cs"/>
              </a:rPr>
              <a:t>新しい</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dirty="0">
                <a:ln>
                  <a:noFill/>
                </a:ln>
                <a:effectLst/>
                <a:uLnTx/>
                <a:uFillTx/>
                <a:latin typeface="Meiryo UI"/>
                <a:ea typeface="Meiryo UI"/>
                <a:cs typeface="+mn-cs"/>
              </a:rPr>
              <a:t>の詳細につきましては、</a:t>
            </a:r>
            <a:r>
              <a:rPr kumimoji="1" lang="en-US" altLang="ja-JP" sz="600" i="0" u="none" strike="noStrike" kern="1200" cap="none" spc="0" normalizeH="0" baseline="0" noProof="0" dirty="0">
                <a:ln>
                  <a:noFill/>
                </a:ln>
                <a:effectLst/>
                <a:uLnTx/>
                <a:uFillTx/>
                <a:latin typeface="Meiryo UI"/>
                <a:ea typeface="Meiryo UI"/>
                <a:cs typeface="+mn-cs"/>
              </a:rPr>
              <a:t>20260531</a:t>
            </a:r>
            <a:r>
              <a:rPr kumimoji="1" lang="ja-JP" altLang="en-US" sz="600" i="0" u="none" strike="noStrike" kern="1200" cap="none" spc="0" normalizeH="0" baseline="0" noProof="0" dirty="0">
                <a:ln>
                  <a:noFill/>
                </a:ln>
                <a:effectLst/>
                <a:uLnTx/>
                <a:uFillTx/>
                <a:latin typeface="Meiryo UI"/>
                <a:ea typeface="Meiryo UI"/>
                <a:cs typeface="+mn-cs"/>
              </a:rPr>
              <a:t>版を</a:t>
            </a:r>
            <a:r>
              <a:rPr kumimoji="1" lang="ja-JP" altLang="en-US" sz="600" dirty="0">
                <a:solidFill>
                  <a:prstClr val="black"/>
                </a:solidFill>
                <a:latin typeface="Meiryo UI (Body)"/>
              </a:rPr>
              <a:t>ご確認ください。</a:t>
            </a:r>
            <a:endParaRPr kumimoji="1" lang="en-US" altLang="ja-JP" sz="600" dirty="0">
              <a:solidFill>
                <a:prstClr val="black"/>
              </a:solidFill>
              <a:latin typeface="Meiryo UI (Body)"/>
            </a:endParaRPr>
          </a:p>
          <a:p>
            <a:pPr lvl="0" fontAlgn="base">
              <a:spcBef>
                <a:spcPct val="20000"/>
              </a:spcBef>
              <a:spcAft>
                <a:spcPct val="0"/>
              </a:spcAft>
              <a:defRPr/>
            </a:pPr>
            <a:r>
              <a:rPr kumimoji="1" lang="ja-JP" altLang="en-US" sz="600" dirty="0">
                <a:latin typeface="Meiryo UI"/>
                <a:ea typeface="Meiryo UI"/>
              </a:rPr>
              <a:t>　</a:t>
            </a:r>
            <a:r>
              <a:rPr kumimoji="1" lang="en-US" altLang="ja-JP" sz="600" dirty="0">
                <a:latin typeface="Meiryo UI"/>
                <a:ea typeface="Meiryo UI"/>
              </a:rPr>
              <a:t>-</a:t>
            </a:r>
            <a:r>
              <a:rPr kumimoji="1" lang="ja-JP" altLang="en-US" sz="600" dirty="0">
                <a:latin typeface="Meiryo UI"/>
                <a:ea typeface="Meiryo UI"/>
              </a:rPr>
              <a:t>食用鳥卵</a:t>
            </a:r>
            <a:endParaRPr kumimoji="1" lang="en-US" altLang="ja-JP" sz="600" dirty="0">
              <a:latin typeface="Meiryo UI"/>
              <a:ea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落花生</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いか類</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マカデミアナッツ</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やまのいも</a:t>
            </a:r>
            <a:endParaRPr kumimoji="1" lang="en-US" altLang="ja-JP" sz="600" i="0" u="none" strike="noStrike" kern="1200" cap="none" spc="0" normalizeH="0" baseline="0" noProof="0" dirty="0">
              <a:ln>
                <a:noFill/>
              </a:ln>
              <a:effectLst/>
              <a:uLnTx/>
              <a:uFillTx/>
              <a:latin typeface="Meiryo UI"/>
              <a:ea typeface="Meiryo UI"/>
              <a:cs typeface="+mn-cs"/>
            </a:endParaRPr>
          </a:p>
          <a:p>
            <a:pPr marL="0" marR="0" lvl="0" indent="0" defTabSz="457200" rtl="0" eaLnBrk="1" fontAlgn="base" latinLnBrk="0" hangingPunct="1">
              <a:lnSpc>
                <a:spcPct val="100000"/>
              </a:lnSpc>
              <a:spcBef>
                <a:spcPct val="20000"/>
              </a:spcBef>
              <a:spcAft>
                <a:spcPct val="0"/>
              </a:spcAft>
              <a:buClrTx/>
              <a:buSzTx/>
              <a:buFontTx/>
              <a:buNone/>
              <a:tabLst/>
              <a:defRPr/>
            </a:pPr>
            <a:endParaRPr kumimoji="1" lang="ja-JP" altLang="en-US" sz="600" i="0" u="none" strike="noStrike" kern="1200" cap="none" spc="0" normalizeH="0" baseline="0" noProof="0" dirty="0">
              <a:ln>
                <a:noFill/>
              </a:ln>
              <a:effectLst/>
              <a:uLnTx/>
              <a:uFillTx/>
              <a:latin typeface="Meiryo UI"/>
              <a:ea typeface="Meiryo UI"/>
              <a:cs typeface="+mn-cs"/>
            </a:endParaRPr>
          </a:p>
        </p:txBody>
      </p:sp>
      <p:graphicFrame>
        <p:nvGraphicFramePr>
          <p:cNvPr id="27" name="表 26">
            <a:extLst>
              <a:ext uri="{FF2B5EF4-FFF2-40B4-BE49-F238E27FC236}">
                <a16:creationId xmlns:a16="http://schemas.microsoft.com/office/drawing/2014/main" id="{7365F3D7-DC1F-0A67-7631-6CBA0AE444C3}"/>
              </a:ext>
            </a:extLst>
          </p:cNvPr>
          <p:cNvGraphicFramePr>
            <a:graphicFrameLocks noGrp="1"/>
          </p:cNvGraphicFramePr>
          <p:nvPr>
            <p:extLst>
              <p:ext uri="{D42A27DB-BD31-4B8C-83A1-F6EECF244321}">
                <p14:modId xmlns:p14="http://schemas.microsoft.com/office/powerpoint/2010/main" val="1990631694"/>
              </p:ext>
            </p:extLst>
          </p:nvPr>
        </p:nvGraphicFramePr>
        <p:xfrm>
          <a:off x="549758" y="5291310"/>
          <a:ext cx="3512036" cy="349940"/>
        </p:xfrm>
        <a:graphic>
          <a:graphicData uri="http://schemas.openxmlformats.org/drawingml/2006/table">
            <a:tbl>
              <a:tblPr/>
              <a:tblGrid>
                <a:gridCol w="595907">
                  <a:extLst>
                    <a:ext uri="{9D8B030D-6E8A-4147-A177-3AD203B41FA5}">
                      <a16:colId xmlns:a16="http://schemas.microsoft.com/office/drawing/2014/main" val="4058772077"/>
                    </a:ext>
                  </a:extLst>
                </a:gridCol>
                <a:gridCol w="669375">
                  <a:extLst>
                    <a:ext uri="{9D8B030D-6E8A-4147-A177-3AD203B41FA5}">
                      <a16:colId xmlns:a16="http://schemas.microsoft.com/office/drawing/2014/main" val="154882630"/>
                    </a:ext>
                  </a:extLst>
                </a:gridCol>
                <a:gridCol w="748918">
                  <a:extLst>
                    <a:ext uri="{9D8B030D-6E8A-4147-A177-3AD203B41FA5}">
                      <a16:colId xmlns:a16="http://schemas.microsoft.com/office/drawing/2014/main" val="227139091"/>
                    </a:ext>
                  </a:extLst>
                </a:gridCol>
                <a:gridCol w="748918">
                  <a:extLst>
                    <a:ext uri="{9D8B030D-6E8A-4147-A177-3AD203B41FA5}">
                      <a16:colId xmlns:a16="http://schemas.microsoft.com/office/drawing/2014/main" val="892848932"/>
                    </a:ext>
                  </a:extLst>
                </a:gridCol>
                <a:gridCol w="748918">
                  <a:extLst>
                    <a:ext uri="{9D8B030D-6E8A-4147-A177-3AD203B41FA5}">
                      <a16:colId xmlns:a16="http://schemas.microsoft.com/office/drawing/2014/main" val="420957508"/>
                    </a:ext>
                  </a:extLst>
                </a:gridCol>
              </a:tblGrid>
              <a:tr h="176190">
                <a:tc>
                  <a:txBody>
                    <a:bodyPr/>
                    <a:lstStyle/>
                    <a:p>
                      <a:pPr algn="ctr" fontAlgn="ctr">
                        <a:buNone/>
                      </a:pPr>
                      <a:r>
                        <a:rPr lang="ja-JP" altLang="en-US" sz="6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本番環境</a:t>
                      </a:r>
                      <a:br>
                        <a:rPr lang="en-US" altLang="ja-JP" sz="600" b="0" i="0" u="none" strike="noStrike" dirty="0">
                          <a:solidFill>
                            <a:srgbClr val="000000"/>
                          </a:solidFill>
                          <a:effectLst/>
                          <a:latin typeface="+mj-ea"/>
                          <a:ea typeface="+mj-ea"/>
                        </a:rPr>
                      </a:br>
                      <a:r>
                        <a:rPr lang="ja-JP" altLang="en-US" sz="6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600" b="0" i="0" u="none" strike="noStrike" kern="1200" dirty="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dirty="0">
                          <a:solidFill>
                            <a:srgbClr val="000000"/>
                          </a:solidFill>
                          <a:effectLst/>
                          <a:latin typeface="+mj-ea"/>
                          <a:ea typeface="+mn-ea"/>
                          <a:cs typeface="+mn-cs"/>
                        </a:rPr>
                        <a:t>反映日</a:t>
                      </a:r>
                      <a:endParaRPr lang="ja-JP" altLang="en-US" sz="600" b="0" i="0" u="none" strike="noStrike" dirty="0">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600" b="0" i="0" u="none" strike="noStrike" kern="120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57535">
                <a:tc>
                  <a:txBody>
                    <a:bodyPr/>
                    <a:lstStyle/>
                    <a:p>
                      <a:pPr algn="ctr" fontAlgn="ctr">
                        <a:buNone/>
                      </a:pPr>
                      <a:r>
                        <a:rPr lang="en-US" altLang="ja-JP" sz="600" b="0" i="0" u="none" strike="noStrike" dirty="0">
                          <a:solidFill>
                            <a:srgbClr val="000000"/>
                          </a:solidFill>
                          <a:effectLst/>
                          <a:latin typeface="+mj-ea"/>
                          <a:ea typeface="+mj-ea"/>
                        </a:rPr>
                        <a:t>20260531</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2026/05/31</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2026/9/28</a:t>
                      </a:r>
                      <a:endParaRPr lang="ja-JP" altLang="en-US" sz="600" b="0" i="0" u="none" strike="noStrike" dirty="0">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2026/9/24</a:t>
                      </a:r>
                      <a:endParaRPr lang="ja-JP" altLang="en-US" sz="6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2026/08/13</a:t>
                      </a:r>
                      <a:endParaRPr lang="ja-JP" altLang="en-US" sz="600" b="0" i="0" u="none" strike="noStrike" dirty="0">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pic>
        <p:nvPicPr>
          <p:cNvPr id="29" name="図 28">
            <a:extLst>
              <a:ext uri="{FF2B5EF4-FFF2-40B4-BE49-F238E27FC236}">
                <a16:creationId xmlns:a16="http://schemas.microsoft.com/office/drawing/2014/main" id="{89A90599-E9E6-D53B-3629-CE8E3B0F197A}"/>
              </a:ext>
            </a:extLst>
          </p:cNvPr>
          <p:cNvPicPr>
            <a:picLocks noChangeAspect="1"/>
          </p:cNvPicPr>
          <p:nvPr/>
        </p:nvPicPr>
        <p:blipFill>
          <a:blip r:embed="rId6"/>
          <a:srcRect t="91998" b="1648"/>
          <a:stretch>
            <a:fillRect/>
          </a:stretch>
        </p:blipFill>
        <p:spPr>
          <a:xfrm>
            <a:off x="217742" y="8000868"/>
            <a:ext cx="4234676" cy="209249"/>
          </a:xfrm>
          <a:prstGeom prst="rect">
            <a:avLst/>
          </a:prstGeom>
        </p:spPr>
      </p:pic>
      <p:graphicFrame>
        <p:nvGraphicFramePr>
          <p:cNvPr id="31" name="表 30">
            <a:extLst>
              <a:ext uri="{FF2B5EF4-FFF2-40B4-BE49-F238E27FC236}">
                <a16:creationId xmlns:a16="http://schemas.microsoft.com/office/drawing/2014/main" id="{9FC5E3FD-127F-F023-DFAE-AE8DA854C1AB}"/>
              </a:ext>
            </a:extLst>
          </p:cNvPr>
          <p:cNvGraphicFramePr>
            <a:graphicFrameLocks noGrp="1"/>
          </p:cNvGraphicFramePr>
          <p:nvPr>
            <p:extLst>
              <p:ext uri="{D42A27DB-BD31-4B8C-83A1-F6EECF244321}">
                <p14:modId xmlns:p14="http://schemas.microsoft.com/office/powerpoint/2010/main" val="3355623016"/>
              </p:ext>
            </p:extLst>
          </p:nvPr>
        </p:nvGraphicFramePr>
        <p:xfrm>
          <a:off x="409503" y="7531116"/>
          <a:ext cx="3710008" cy="368373"/>
        </p:xfrm>
        <a:graphic>
          <a:graphicData uri="http://schemas.openxmlformats.org/drawingml/2006/table">
            <a:tbl>
              <a:tblPr/>
              <a:tblGrid>
                <a:gridCol w="1060002">
                  <a:extLst>
                    <a:ext uri="{9D8B030D-6E8A-4147-A177-3AD203B41FA5}">
                      <a16:colId xmlns:a16="http://schemas.microsoft.com/office/drawing/2014/main" val="2741535545"/>
                    </a:ext>
                  </a:extLst>
                </a:gridCol>
                <a:gridCol w="2650006">
                  <a:extLst>
                    <a:ext uri="{9D8B030D-6E8A-4147-A177-3AD203B41FA5}">
                      <a16:colId xmlns:a16="http://schemas.microsoft.com/office/drawing/2014/main" val="2597624301"/>
                    </a:ext>
                  </a:extLst>
                </a:gridCol>
              </a:tblGrid>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公開日</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2336640960"/>
                  </a:ext>
                </a:extLst>
              </a:tr>
              <a:tr h="122791">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20250401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20250603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8799979"/>
                  </a:ext>
                </a:extLst>
              </a:tr>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20240709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20250207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4982346"/>
                  </a:ext>
                </a:extLst>
              </a:tr>
            </a:tbl>
          </a:graphicData>
        </a:graphic>
      </p:graphicFrame>
      <p:grpSp>
        <p:nvGrpSpPr>
          <p:cNvPr id="34" name="グループ化 33">
            <a:extLst>
              <a:ext uri="{FF2B5EF4-FFF2-40B4-BE49-F238E27FC236}">
                <a16:creationId xmlns:a16="http://schemas.microsoft.com/office/drawing/2014/main" id="{0713336A-A835-39DE-092B-BF1A315126DB}"/>
              </a:ext>
            </a:extLst>
          </p:cNvPr>
          <p:cNvGrpSpPr/>
          <p:nvPr/>
        </p:nvGrpSpPr>
        <p:grpSpPr>
          <a:xfrm>
            <a:off x="468609" y="7211180"/>
            <a:ext cx="3320193" cy="258145"/>
            <a:chOff x="8168173" y="4422050"/>
            <a:chExt cx="2743961" cy="213343"/>
          </a:xfrm>
        </p:grpSpPr>
        <p:pic>
          <p:nvPicPr>
            <p:cNvPr id="35" name="図 34">
              <a:extLst>
                <a:ext uri="{FF2B5EF4-FFF2-40B4-BE49-F238E27FC236}">
                  <a16:creationId xmlns:a16="http://schemas.microsoft.com/office/drawing/2014/main" id="{DAE98181-7E36-FA6D-8130-7DBCCDC54FE8}"/>
                </a:ext>
              </a:extLst>
            </p:cNvPr>
            <p:cNvPicPr>
              <a:picLocks noChangeAspect="1"/>
            </p:cNvPicPr>
            <p:nvPr/>
          </p:nvPicPr>
          <p:blipFill>
            <a:blip r:embed="rId7"/>
            <a:srcRect l="1910" t="81326" r="2535" b="8895"/>
            <a:stretch>
              <a:fillRect/>
            </a:stretch>
          </p:blipFill>
          <p:spPr>
            <a:xfrm>
              <a:off x="8168173" y="4422050"/>
              <a:ext cx="2743961" cy="213343"/>
            </a:xfrm>
            <a:prstGeom prst="rect">
              <a:avLst/>
            </a:prstGeom>
          </p:spPr>
        </p:pic>
        <p:sp>
          <p:nvSpPr>
            <p:cNvPr id="37" name="正方形/長方形 36">
              <a:extLst>
                <a:ext uri="{FF2B5EF4-FFF2-40B4-BE49-F238E27FC236}">
                  <a16:creationId xmlns:a16="http://schemas.microsoft.com/office/drawing/2014/main" id="{5F7A7CA4-2B3F-A862-133C-D3AF09E44326}"/>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令和</a:t>
              </a:r>
              <a:r>
                <a:rPr kumimoji="1" lang="en-US" altLang="ja-JP" sz="600" b="1" i="0" u="none" strike="noStrike" kern="1200" cap="none" spc="0" normalizeH="0" baseline="0" noProof="0" dirty="0">
                  <a:ln>
                    <a:noFill/>
                  </a:ln>
                  <a:solidFill>
                    <a:prstClr val="black"/>
                  </a:solidFill>
                  <a:effectLst/>
                  <a:uLnTx/>
                  <a:uFillTx/>
                  <a:latin typeface="Meiryo UI"/>
                  <a:ea typeface="Meiryo UI"/>
                  <a:cs typeface="+mn-cs"/>
                </a:rPr>
                <a:t>8</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年</a:t>
              </a:r>
              <a:r>
                <a:rPr kumimoji="1" lang="en-US" altLang="ja-JP" sz="600" b="1" dirty="0">
                  <a:solidFill>
                    <a:prstClr val="black"/>
                  </a:solidFill>
                  <a:latin typeface="Meiryo UI"/>
                  <a:ea typeface="Meiryo UI"/>
                </a:rPr>
                <a:t>9</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月</a:t>
              </a:r>
              <a:r>
                <a:rPr kumimoji="1" lang="en-US" altLang="ja-JP" sz="600" b="1" i="0" u="none" strike="noStrike" kern="1200" cap="none" spc="0" normalizeH="0" baseline="0" noProof="0" dirty="0">
                  <a:ln>
                    <a:noFill/>
                  </a:ln>
                  <a:solidFill>
                    <a:prstClr val="black"/>
                  </a:solidFill>
                  <a:effectLst/>
                  <a:uLnTx/>
                  <a:uFillTx/>
                  <a:latin typeface="Meiryo UI"/>
                  <a:ea typeface="Meiryo UI"/>
                  <a:cs typeface="+mn-cs"/>
                </a:rPr>
                <a:t>27</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日まで適用のマスタのダウンロードリンク</a:t>
              </a:r>
            </a:p>
          </p:txBody>
        </p:sp>
      </p:grpSp>
      <p:sp>
        <p:nvSpPr>
          <p:cNvPr id="40" name="左中かっこ 39">
            <a:extLst>
              <a:ext uri="{FF2B5EF4-FFF2-40B4-BE49-F238E27FC236}">
                <a16:creationId xmlns:a16="http://schemas.microsoft.com/office/drawing/2014/main" id="{34509D7A-955A-B247-B4B6-23E47F5765BC}"/>
              </a:ext>
            </a:extLst>
          </p:cNvPr>
          <p:cNvSpPr/>
          <p:nvPr/>
        </p:nvSpPr>
        <p:spPr bwMode="auto">
          <a:xfrm>
            <a:off x="-30258" y="7527970"/>
            <a:ext cx="183244" cy="494309"/>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43" name="左中かっこ 42">
            <a:extLst>
              <a:ext uri="{FF2B5EF4-FFF2-40B4-BE49-F238E27FC236}">
                <a16:creationId xmlns:a16="http://schemas.microsoft.com/office/drawing/2014/main" id="{77AAD412-D2F9-8909-5BF3-8D1C272E7318}"/>
              </a:ext>
            </a:extLst>
          </p:cNvPr>
          <p:cNvSpPr/>
          <p:nvPr/>
        </p:nvSpPr>
        <p:spPr bwMode="auto">
          <a:xfrm>
            <a:off x="4925495" y="7755286"/>
            <a:ext cx="183244" cy="494309"/>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Tree>
    <p:extLst>
      <p:ext uri="{BB962C8B-B14F-4D97-AF65-F5344CB8AC3E}">
        <p14:creationId xmlns:p14="http://schemas.microsoft.com/office/powerpoint/2010/main" val="662102260"/>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518E5-E9C8-039D-27C8-70808DC25067}"/>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E27672E4-7813-BD89-32F1-8274E6F82157}"/>
              </a:ext>
            </a:extLst>
          </p:cNvPr>
          <p:cNvSpPr/>
          <p:nvPr/>
        </p:nvSpPr>
        <p:spPr>
          <a:xfrm>
            <a:off x="0" y="6639378"/>
            <a:ext cx="9906000" cy="2912651"/>
          </a:xfrm>
          <a:prstGeom prst="rect">
            <a:avLst/>
          </a:prstGeom>
          <a:solidFill>
            <a:schemeClr val="bg1"/>
          </a:solidFill>
          <a:ln>
            <a:noFill/>
          </a:ln>
        </p:spPr>
        <p:txBody>
          <a:bodyPr rtlCol="0" anchor="ctr"/>
          <a:lstStyle/>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a:ln>
                <a:noFill/>
              </a:ln>
              <a:solidFill>
                <a:prstClr val="black"/>
              </a:solidFill>
              <a:effectLst/>
              <a:uLnTx/>
              <a:uFillTx/>
              <a:latin typeface="Meiryo UI"/>
              <a:ea typeface="Meiryo UI"/>
              <a:cs typeface="+mn-cs"/>
            </a:endParaRPr>
          </a:p>
        </p:txBody>
      </p:sp>
      <p:pic>
        <p:nvPicPr>
          <p:cNvPr id="12" name="図 19">
            <a:extLst>
              <a:ext uri="{FF2B5EF4-FFF2-40B4-BE49-F238E27FC236}">
                <a16:creationId xmlns:a16="http://schemas.microsoft.com/office/drawing/2014/main" id="{0FE5B8EB-84F2-1862-5F79-988AE4CE2717}"/>
              </a:ext>
            </a:extLst>
          </p:cNvPr>
          <p:cNvPicPr preferRelativeResize="0">
            <a:picLocks/>
          </p:cNvPicPr>
          <p:nvPr/>
        </p:nvPicPr>
        <p:blipFill>
          <a:blip r:embed="rId2"/>
          <a:srcRect l="2946" t="103836" r="-2946" b="-15325"/>
          <a:stretch>
            <a:fillRect/>
          </a:stretch>
        </p:blipFill>
        <p:spPr>
          <a:xfrm>
            <a:off x="5218219" y="2802138"/>
            <a:ext cx="4300396" cy="6676213"/>
          </a:xfrm>
          <a:prstGeom prst="rect">
            <a:avLst/>
          </a:prstGeom>
          <a:ln w="19050">
            <a:solidFill>
              <a:schemeClr val="bg1">
                <a:lumMod val="85000"/>
              </a:schemeClr>
            </a:solidFill>
          </a:ln>
        </p:spPr>
      </p:pic>
      <p:sp>
        <p:nvSpPr>
          <p:cNvPr id="2" name="タイトル 1">
            <a:extLst>
              <a:ext uri="{FF2B5EF4-FFF2-40B4-BE49-F238E27FC236}">
                <a16:creationId xmlns:a16="http://schemas.microsoft.com/office/drawing/2014/main" id="{CA31DC32-77EE-49BD-AC92-552D6872C2C2}"/>
              </a:ext>
            </a:extLst>
          </p:cNvPr>
          <p:cNvSpPr>
            <a:spLocks noGrp="1"/>
          </p:cNvSpPr>
          <p:nvPr>
            <p:ph type="title"/>
          </p:nvPr>
        </p:nvSpPr>
        <p:spPr>
          <a:xfrm>
            <a:off x="506999" y="116696"/>
            <a:ext cx="9086317" cy="576000"/>
          </a:xfrm>
        </p:spPr>
        <p:txBody>
          <a:bodyPr/>
          <a:lstStyle/>
          <a:p>
            <a:r>
              <a:rPr kumimoji="1" lang="ja-JP" altLang="en-US"/>
              <a:t>ポータルサイト更新依頼</a:t>
            </a:r>
            <a:br>
              <a:rPr kumimoji="1" lang="en-US" altLang="ja-JP" dirty="0"/>
            </a:br>
            <a:r>
              <a:rPr kumimoji="1" lang="ja-JP" altLang="en-US"/>
              <a:t>　各マスタページの具体的な公開イメージ</a:t>
            </a:r>
            <a:r>
              <a:rPr kumimoji="1" lang="en-US" altLang="ja-JP" dirty="0"/>
              <a:t> – J-FAGY</a:t>
            </a:r>
            <a:r>
              <a:rPr kumimoji="1" lang="ja-JP" altLang="en-US"/>
              <a:t>アレルゲンコードマスタ</a:t>
            </a:r>
          </a:p>
        </p:txBody>
      </p:sp>
      <p:sp>
        <p:nvSpPr>
          <p:cNvPr id="4" name="四角形: 角を丸くする 3">
            <a:extLst>
              <a:ext uri="{FF2B5EF4-FFF2-40B4-BE49-F238E27FC236}">
                <a16:creationId xmlns:a16="http://schemas.microsoft.com/office/drawing/2014/main" id="{EDE6268D-6F18-F5EF-77DD-9E20EA0DE169}"/>
              </a:ext>
            </a:extLst>
          </p:cNvPr>
          <p:cNvSpPr/>
          <p:nvPr/>
        </p:nvSpPr>
        <p:spPr>
          <a:xfrm>
            <a:off x="506999" y="910928"/>
            <a:ext cx="2803761" cy="392939"/>
          </a:xfrm>
          <a:prstGeom prst="roundRect">
            <a:avLst/>
          </a:prstGeom>
          <a:solidFill>
            <a:srgbClr val="1F497D"/>
          </a:solidFill>
          <a:ln w="9525" cap="flat" cmpd="sng" algn="ctr">
            <a:no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公開イメージ</a:t>
            </a:r>
            <a:b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記事番号</a:t>
            </a: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KB0012085</a:t>
            </a:r>
            <a:endPar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 name="正方形/長方形 5">
            <a:extLst>
              <a:ext uri="{FF2B5EF4-FFF2-40B4-BE49-F238E27FC236}">
                <a16:creationId xmlns:a16="http://schemas.microsoft.com/office/drawing/2014/main" id="{6B61E35A-84B8-806F-7D10-6E5C962D2A72}"/>
              </a:ext>
            </a:extLst>
          </p:cNvPr>
          <p:cNvSpPr/>
          <p:nvPr/>
        </p:nvSpPr>
        <p:spPr>
          <a:xfrm>
            <a:off x="654475" y="1367170"/>
            <a:ext cx="8303258" cy="519524"/>
          </a:xfrm>
          <a:prstGeom prst="rect">
            <a:avLst/>
          </a:prstGeom>
          <a:solidFill>
            <a:schemeClr val="bg1"/>
          </a:solidFill>
          <a:ln>
            <a:noFill/>
          </a:ln>
        </p:spPr>
        <p:txBody>
          <a:bodyPr lIns="0" rIns="0" rtlCol="0" anchor="t" anchorCtr="0"/>
          <a:lstStyle/>
          <a:p>
            <a:pPr fontAlgn="base">
              <a:spcBef>
                <a:spcPct val="20000"/>
              </a:spcBef>
              <a:spcAft>
                <a:spcPct val="0"/>
              </a:spcAft>
              <a:defRPr/>
            </a:pPr>
            <a:r>
              <a:rPr kumimoji="1" lang="ja-JP" altLang="en-US" sz="1100">
                <a:solidFill>
                  <a:prstClr val="black"/>
                </a:solidFill>
                <a:latin typeface="Meiryo UI"/>
              </a:rPr>
              <a:t>●</a:t>
            </a:r>
            <a:r>
              <a:rPr kumimoji="1" lang="en-US" altLang="ja-JP" sz="1100" dirty="0">
                <a:solidFill>
                  <a:prstClr val="black"/>
                </a:solidFill>
                <a:latin typeface="Meiryo UI"/>
              </a:rPr>
              <a:t>J-FAGY</a:t>
            </a:r>
            <a:r>
              <a:rPr kumimoji="1" lang="ja-JP" altLang="en-US" sz="1100">
                <a:solidFill>
                  <a:prstClr val="black"/>
                </a:solidFill>
                <a:latin typeface="Meiryo UI"/>
              </a:rPr>
              <a:t>アレルゲンコードマスタは、以下の更新イメージのように、</a:t>
            </a:r>
            <a:r>
              <a:rPr kumimoji="1" lang="ja-JP" altLang="en-US" sz="1100" u="sng">
                <a:solidFill>
                  <a:prstClr val="black"/>
                </a:solidFill>
                <a:latin typeface="Meiryo UI"/>
              </a:rPr>
              <a:t>新レイアウトの変更点の追記</a:t>
            </a:r>
            <a:r>
              <a:rPr kumimoji="1" lang="ja-JP" altLang="en-US" sz="1100">
                <a:solidFill>
                  <a:prstClr val="black"/>
                </a:solidFill>
                <a:latin typeface="Meiryo UI"/>
              </a:rPr>
              <a:t>を更新ください。</a:t>
            </a:r>
            <a:endParaRPr kumimoji="1" lang="en-US" altLang="ja-JP" sz="1100" dirty="0">
              <a:solidFill>
                <a:prstClr val="black"/>
              </a:solidFill>
              <a:latin typeface="Meiryo UI"/>
            </a:endParaRPr>
          </a:p>
        </p:txBody>
      </p:sp>
      <p:sp>
        <p:nvSpPr>
          <p:cNvPr id="5" name="正方形/長方形 4">
            <a:extLst>
              <a:ext uri="{FF2B5EF4-FFF2-40B4-BE49-F238E27FC236}">
                <a16:creationId xmlns:a16="http://schemas.microsoft.com/office/drawing/2014/main" id="{3C3078AA-0CCE-9AA5-9B3F-2DF213A621A9}"/>
              </a:ext>
            </a:extLst>
          </p:cNvPr>
          <p:cNvSpPr/>
          <p:nvPr/>
        </p:nvSpPr>
        <p:spPr>
          <a:xfrm>
            <a:off x="6302486" y="2258519"/>
            <a:ext cx="1992079" cy="366467"/>
          </a:xfrm>
          <a:prstGeom prst="rect">
            <a:avLst/>
          </a:prstGeom>
          <a:solidFill>
            <a:schemeClr val="bg1"/>
          </a:solidFill>
          <a:ln>
            <a:noFill/>
          </a:ln>
        </p:spPr>
        <p:txBody>
          <a:bodyPr lIns="0" rIns="0" rtlCol="0" anchor="t" anchorCtr="0"/>
          <a:lstStyle/>
          <a:p>
            <a:pPr lvl="0" algn="ctr" fontAlgn="base">
              <a:spcBef>
                <a:spcPct val="20000"/>
              </a:spcBef>
              <a:spcAft>
                <a:spcPct val="0"/>
              </a:spcAft>
              <a:defRPr/>
            </a:pPr>
            <a:r>
              <a:rPr kumimoji="1" lang="ja-JP" altLang="en-US" sz="900" b="0" i="0" u="sng" strike="noStrike" kern="1200" cap="none" spc="0" normalizeH="0" baseline="0" noProof="0" dirty="0">
                <a:ln>
                  <a:noFill/>
                </a:ln>
                <a:solidFill>
                  <a:prstClr val="black"/>
                </a:solidFill>
                <a:effectLst/>
                <a:uLnTx/>
                <a:uFillTx/>
                <a:latin typeface="Meiryo UI"/>
                <a:ea typeface="Meiryo UI"/>
                <a:cs typeface="+mn-cs"/>
              </a:rPr>
              <a:t>＜更新案</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en-US" altLang="ja-JP" sz="900" b="1" i="0" u="sng" strike="noStrike" kern="1200" cap="none" spc="0" normalizeH="0" baseline="0" noProof="0" dirty="0">
                <a:ln>
                  <a:noFill/>
                </a:ln>
                <a:solidFill>
                  <a:prstClr val="black"/>
                </a:solidFill>
                <a:effectLst/>
                <a:uLnTx/>
                <a:uFillTx/>
                <a:latin typeface="Meiryo UI"/>
                <a:ea typeface="Meiryo UI"/>
                <a:cs typeface="+mn-cs"/>
              </a:rPr>
              <a:t>202610</a:t>
            </a:r>
            <a:r>
              <a:rPr kumimoji="1" lang="ja-JP" altLang="en-US" sz="900" b="1" u="sng" dirty="0">
                <a:solidFill>
                  <a:prstClr val="black"/>
                </a:solidFill>
                <a:latin typeface="Meiryo UI"/>
              </a:rPr>
              <a:t>のマスタ公開以降</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dirty="0">
                <a:ln>
                  <a:noFill/>
                </a:ln>
                <a:solidFill>
                  <a:prstClr val="black"/>
                </a:solidFill>
                <a:effectLst/>
                <a:uLnTx/>
                <a:uFillTx/>
                <a:latin typeface="Meiryo UI"/>
                <a:ea typeface="Meiryo UI"/>
                <a:cs typeface="+mn-cs"/>
              </a:rPr>
              <a:t>＞</a:t>
            </a:r>
            <a:endParaRPr kumimoji="1" lang="en-US" altLang="ja-JP" sz="9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eiryo UI"/>
                <a:cs typeface="+mn-cs"/>
              </a:rPr>
              <a:t>アコーディオン開</a:t>
            </a: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900" b="0" i="0" u="none" strike="noStrike" kern="1200" cap="none" spc="0" normalizeH="0" baseline="0" noProof="0" dirty="0">
              <a:ln>
                <a:noFill/>
              </a:ln>
              <a:solidFill>
                <a:prstClr val="black"/>
              </a:solidFill>
              <a:effectLst/>
              <a:uLnTx/>
              <a:uFillTx/>
              <a:latin typeface="Meiryo UI"/>
              <a:ea typeface="Meiryo UI"/>
              <a:cs typeface="+mn-cs"/>
            </a:endParaRPr>
          </a:p>
        </p:txBody>
      </p:sp>
      <p:cxnSp>
        <p:nvCxnSpPr>
          <p:cNvPr id="14" name="直線コネクタ 13">
            <a:extLst>
              <a:ext uri="{FF2B5EF4-FFF2-40B4-BE49-F238E27FC236}">
                <a16:creationId xmlns:a16="http://schemas.microsoft.com/office/drawing/2014/main" id="{66EFDB8E-53BA-30CE-D86B-0D13077473FC}"/>
              </a:ext>
            </a:extLst>
          </p:cNvPr>
          <p:cNvCxnSpPr>
            <a:cxnSpLocks/>
          </p:cNvCxnSpPr>
          <p:nvPr/>
        </p:nvCxnSpPr>
        <p:spPr bwMode="auto">
          <a:xfrm>
            <a:off x="4843529" y="1913205"/>
            <a:ext cx="0" cy="8095971"/>
          </a:xfrm>
          <a:prstGeom prst="line">
            <a:avLst/>
          </a:prstGeom>
          <a:solidFill>
            <a:schemeClr val="bg1"/>
          </a:solidFill>
          <a:ln w="9525" cap="flat" cmpd="sng" algn="ctr">
            <a:solidFill>
              <a:schemeClr val="bg1">
                <a:lumMod val="65000"/>
              </a:schemeClr>
            </a:solidFill>
            <a:prstDash val="lgDash"/>
            <a:round/>
            <a:headEnd type="none" w="med" len="med"/>
            <a:tailEnd type="none" w="med" len="med"/>
          </a:ln>
          <a:effectLst/>
        </p:spPr>
      </p:cxnSp>
      <p:sp>
        <p:nvSpPr>
          <p:cNvPr id="16" name="正方形/長方形 15">
            <a:extLst>
              <a:ext uri="{FF2B5EF4-FFF2-40B4-BE49-F238E27FC236}">
                <a16:creationId xmlns:a16="http://schemas.microsoft.com/office/drawing/2014/main" id="{3309DC30-91A8-2212-FC08-1B72FE5B0D67}"/>
              </a:ext>
            </a:extLst>
          </p:cNvPr>
          <p:cNvSpPr/>
          <p:nvPr/>
        </p:nvSpPr>
        <p:spPr>
          <a:xfrm>
            <a:off x="5148680" y="2176406"/>
            <a:ext cx="4431372" cy="7412094"/>
          </a:xfrm>
          <a:prstGeom prst="rect">
            <a:avLst/>
          </a:prstGeom>
          <a:noFill/>
          <a:ln w="19050">
            <a:solidFill>
              <a:srgbClr val="FF0000"/>
            </a:solidFill>
            <a:prstDash val="solid"/>
          </a:ln>
        </p:spPr>
        <p:txBody>
          <a:bodyPr wrap="none" lIns="36000" tIns="108000" rIns="36000" bIns="3600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050" b="0" i="0" u="none" strike="noStrike" kern="0" cap="none" spc="0" normalizeH="0" baseline="0" noProof="0">
              <a:ln>
                <a:noFill/>
              </a:ln>
              <a:solidFill>
                <a:prstClr val="black"/>
              </a:solidFill>
              <a:effectLst/>
              <a:uLnTx/>
              <a:uFillTx/>
              <a:latin typeface="Meiryo UI"/>
              <a:ea typeface="Meiryo UI"/>
              <a:cs typeface="Arial" charset="0"/>
            </a:endParaRPr>
          </a:p>
        </p:txBody>
      </p:sp>
      <p:pic>
        <p:nvPicPr>
          <p:cNvPr id="20" name="図 19">
            <a:extLst>
              <a:ext uri="{FF2B5EF4-FFF2-40B4-BE49-F238E27FC236}">
                <a16:creationId xmlns:a16="http://schemas.microsoft.com/office/drawing/2014/main" id="{B2268C2F-ACE1-7125-F5FA-0AE34741AC6D}"/>
              </a:ext>
            </a:extLst>
          </p:cNvPr>
          <p:cNvPicPr>
            <a:picLocks noChangeAspect="1"/>
          </p:cNvPicPr>
          <p:nvPr/>
        </p:nvPicPr>
        <p:blipFill>
          <a:blip r:embed="rId3"/>
          <a:stretch>
            <a:fillRect/>
          </a:stretch>
        </p:blipFill>
        <p:spPr>
          <a:xfrm>
            <a:off x="5183331" y="2772486"/>
            <a:ext cx="4317279" cy="1620406"/>
          </a:xfrm>
          <a:prstGeom prst="rect">
            <a:avLst/>
          </a:prstGeom>
        </p:spPr>
      </p:pic>
      <p:sp>
        <p:nvSpPr>
          <p:cNvPr id="17" name="正方形/長方形 16">
            <a:extLst>
              <a:ext uri="{FF2B5EF4-FFF2-40B4-BE49-F238E27FC236}">
                <a16:creationId xmlns:a16="http://schemas.microsoft.com/office/drawing/2014/main" id="{47EF6A54-1A87-F04E-5522-65F3A29F10D9}"/>
              </a:ext>
            </a:extLst>
          </p:cNvPr>
          <p:cNvSpPr/>
          <p:nvPr/>
        </p:nvSpPr>
        <p:spPr>
          <a:xfrm>
            <a:off x="5355468" y="4414343"/>
            <a:ext cx="3725032" cy="638071"/>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600" dirty="0">
                <a:solidFill>
                  <a:prstClr val="black"/>
                </a:solidFill>
                <a:latin typeface="Meiryo UI"/>
              </a:rPr>
              <a:t>J-FAGY</a:t>
            </a:r>
            <a:r>
              <a:rPr kumimoji="1" lang="ja-JP" altLang="en-US" sz="600" dirty="0">
                <a:solidFill>
                  <a:prstClr val="black"/>
                </a:solidFill>
                <a:latin typeface="Meiryo UI"/>
              </a:rPr>
              <a:t>アレルゲンコードマスタは、</a:t>
            </a:r>
            <a:r>
              <a:rPr kumimoji="1" lang="en-US" altLang="ja-JP" sz="600" dirty="0">
                <a:solidFill>
                  <a:prstClr val="black"/>
                </a:solidFill>
                <a:highlight>
                  <a:srgbClr val="FFFF00"/>
                </a:highlight>
                <a:latin typeface="Meiryo UI"/>
              </a:rPr>
              <a:t>20260925</a:t>
            </a:r>
            <a:r>
              <a:rPr kumimoji="1" lang="ja-JP" altLang="en-US" sz="600" dirty="0">
                <a:solidFill>
                  <a:prstClr val="black"/>
                </a:solidFill>
                <a:highlight>
                  <a:srgbClr val="FFFF00"/>
                </a:highlight>
                <a:latin typeface="Meiryo UI"/>
              </a:rPr>
              <a:t>版の公開</a:t>
            </a:r>
            <a:r>
              <a:rPr kumimoji="1" lang="ja-JP" altLang="en-US" sz="600" dirty="0">
                <a:solidFill>
                  <a:prstClr val="black"/>
                </a:solidFill>
                <a:latin typeface="Meiryo UI"/>
              </a:rPr>
              <a:t>に際し、一部コードの</a:t>
            </a:r>
            <a:r>
              <a:rPr lang="ja-JP" altLang="en-US" sz="600" dirty="0">
                <a:solidFill>
                  <a:srgbClr val="000000"/>
                </a:solidFill>
                <a:latin typeface="Meiryo UI" panose="020B0604030504040204" pitchFamily="50" charset="-128"/>
                <a:ea typeface="Meiryo UI" panose="020B0604030504040204" pitchFamily="50" charset="-128"/>
              </a:rPr>
              <a:t>日本語表記</a:t>
            </a:r>
            <a:r>
              <a:rPr lang="en-US" altLang="ja-JP" sz="600" dirty="0">
                <a:solidFill>
                  <a:srgbClr val="000000"/>
                </a:solidFill>
                <a:latin typeface="Meiryo UI" panose="020B0604030504040204" pitchFamily="50" charset="-128"/>
                <a:ea typeface="Meiryo UI" panose="020B0604030504040204" pitchFamily="50" charset="-128"/>
              </a:rPr>
              <a:t>(</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solidFill>
                  <a:prstClr val="black"/>
                </a:solidFill>
                <a:latin typeface="Meiryo UI"/>
              </a:rPr>
              <a:t>の見直しを実施いたしました。そのため、</a:t>
            </a:r>
            <a:r>
              <a:rPr kumimoji="1" lang="en-US" altLang="ja-JP" sz="600">
                <a:solidFill>
                  <a:prstClr val="black"/>
                </a:solidFill>
                <a:highlight>
                  <a:srgbClr val="FFFF00"/>
                </a:highlight>
                <a:latin typeface="Meiryo UI"/>
              </a:rPr>
              <a:t>20260531</a:t>
            </a:r>
            <a:r>
              <a:rPr kumimoji="1" lang="ja-JP" altLang="en-US" sz="600" dirty="0">
                <a:solidFill>
                  <a:prstClr val="black"/>
                </a:solidFill>
                <a:latin typeface="Meiryo UI"/>
              </a:rPr>
              <a:t>以前の版を用いて登録されている医療機関におかれましては、</a:t>
            </a:r>
            <a:r>
              <a:rPr kumimoji="1" lang="en-US" altLang="ja-JP" sz="600" dirty="0">
                <a:solidFill>
                  <a:prstClr val="black"/>
                </a:solidFill>
                <a:highlight>
                  <a:srgbClr val="FFFF00"/>
                </a:highlight>
                <a:latin typeface="Meiryo UI"/>
              </a:rPr>
              <a:t>20260925</a:t>
            </a:r>
            <a:r>
              <a:rPr kumimoji="1" lang="ja-JP" altLang="en-US" sz="600" dirty="0">
                <a:solidFill>
                  <a:prstClr val="black"/>
                </a:solidFill>
                <a:highlight>
                  <a:srgbClr val="FFFF00"/>
                </a:highlight>
                <a:latin typeface="Meiryo UI"/>
              </a:rPr>
              <a:t>版</a:t>
            </a:r>
            <a:r>
              <a:rPr kumimoji="1" lang="ja-JP" altLang="en-US" sz="600" dirty="0">
                <a:solidFill>
                  <a:prstClr val="black"/>
                </a:solidFill>
                <a:latin typeface="Meiryo UI"/>
              </a:rPr>
              <a:t>への移行をお願いいたします。</a:t>
            </a:r>
            <a:endParaRPr kumimoji="1" lang="en-US" altLang="ja-JP" sz="600" dirty="0">
              <a:solidFill>
                <a:prstClr val="black"/>
              </a:solidFill>
              <a:latin typeface="Meiryo UI"/>
            </a:endParaRPr>
          </a:p>
          <a:p>
            <a:pPr fontAlgn="base">
              <a:spcBef>
                <a:spcPct val="20000"/>
              </a:spcBef>
              <a:spcAft>
                <a:spcPct val="0"/>
              </a:spcAft>
              <a:defRPr/>
            </a:pPr>
            <a:r>
              <a:rPr kumimoji="1" lang="en-US" altLang="ja-JP" sz="600" dirty="0">
                <a:solidFill>
                  <a:prstClr val="black"/>
                </a:solidFill>
                <a:latin typeface="Meiryo UI"/>
              </a:rPr>
              <a:t>※</a:t>
            </a:r>
            <a:r>
              <a:rPr kumimoji="1" lang="en-US" altLang="ja-JP" sz="600" dirty="0">
                <a:solidFill>
                  <a:srgbClr val="000000"/>
                </a:solidFill>
                <a:latin typeface="Meiryo UI" panose="020B0604030504040204" pitchFamily="50" charset="-128"/>
                <a:ea typeface="Meiryo UI" panose="020B0604030504040204" pitchFamily="50" charset="-128"/>
              </a:rPr>
              <a:t> </a:t>
            </a:r>
            <a:r>
              <a:rPr kumimoji="1" lang="ja-JP" altLang="en-US" sz="600" dirty="0">
                <a:solidFill>
                  <a:srgbClr val="000000"/>
                </a:solidFill>
                <a:latin typeface="Meiryo UI" panose="020B0604030504040204" pitchFamily="50" charset="-128"/>
                <a:ea typeface="Meiryo UI" panose="020B0604030504040204" pitchFamily="50" charset="-128"/>
              </a:rPr>
              <a:t>日本語表記</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solidFill>
                  <a:prstClr val="black"/>
                </a:solidFill>
                <a:latin typeface="Meiryo UI"/>
              </a:rPr>
              <a:t>の変更は、消費者庁が定める特定原材料等の表記に</a:t>
            </a:r>
            <a:r>
              <a:rPr kumimoji="1" lang="en-US" altLang="ja-JP" sz="600" dirty="0">
                <a:solidFill>
                  <a:prstClr val="black"/>
                </a:solidFill>
                <a:latin typeface="Meiryo UI"/>
              </a:rPr>
              <a:t>J-FAGY</a:t>
            </a:r>
            <a:r>
              <a:rPr kumimoji="1" lang="ja-JP" altLang="en-US" sz="600" dirty="0">
                <a:solidFill>
                  <a:prstClr val="black"/>
                </a:solidFill>
                <a:latin typeface="Meiryo UI"/>
              </a:rPr>
              <a:t>コードの表記を合わせることを目的としています。</a:t>
            </a:r>
            <a:endParaRPr kumimoji="1" lang="en-US" altLang="ja-JP" sz="600" dirty="0">
              <a:solidFill>
                <a:prstClr val="black"/>
              </a:solidFill>
              <a:latin typeface="Meiryo UI"/>
            </a:endParaRPr>
          </a:p>
        </p:txBody>
      </p:sp>
      <p:pic>
        <p:nvPicPr>
          <p:cNvPr id="26" name="図 25">
            <a:extLst>
              <a:ext uri="{FF2B5EF4-FFF2-40B4-BE49-F238E27FC236}">
                <a16:creationId xmlns:a16="http://schemas.microsoft.com/office/drawing/2014/main" id="{692790BE-665B-B6F2-E592-E538EAF2E204}"/>
              </a:ext>
            </a:extLst>
          </p:cNvPr>
          <p:cNvPicPr>
            <a:picLocks noChangeAspect="1"/>
          </p:cNvPicPr>
          <p:nvPr/>
        </p:nvPicPr>
        <p:blipFill>
          <a:blip r:embed="rId4"/>
          <a:srcRect b="74573"/>
          <a:stretch>
            <a:fillRect/>
          </a:stretch>
        </p:blipFill>
        <p:spPr>
          <a:xfrm>
            <a:off x="5445697" y="5111110"/>
            <a:ext cx="3837337" cy="130290"/>
          </a:xfrm>
          <a:prstGeom prst="rect">
            <a:avLst/>
          </a:prstGeom>
        </p:spPr>
      </p:pic>
      <p:sp>
        <p:nvSpPr>
          <p:cNvPr id="30" name="正方形/長方形 29">
            <a:extLst>
              <a:ext uri="{FF2B5EF4-FFF2-40B4-BE49-F238E27FC236}">
                <a16:creationId xmlns:a16="http://schemas.microsoft.com/office/drawing/2014/main" id="{4E57B160-1206-565B-8CFC-6FFDE167A41E}"/>
              </a:ext>
            </a:extLst>
          </p:cNvPr>
          <p:cNvSpPr/>
          <p:nvPr/>
        </p:nvSpPr>
        <p:spPr>
          <a:xfrm>
            <a:off x="5351971" y="5690733"/>
            <a:ext cx="3893627" cy="2583877"/>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600" b="1" dirty="0">
                <a:solidFill>
                  <a:srgbClr val="FF0000"/>
                </a:solidFill>
                <a:latin typeface="Meiryo UI"/>
                <a:ea typeface="Meiryo UI"/>
              </a:rPr>
              <a:t>【</a:t>
            </a:r>
            <a:r>
              <a:rPr kumimoji="1" lang="ja-JP" altLang="en-US" sz="600" b="1" dirty="0">
                <a:solidFill>
                  <a:srgbClr val="FF0000"/>
                </a:solidFill>
                <a:latin typeface="Meiryo UI"/>
                <a:ea typeface="Meiryo UI"/>
              </a:rPr>
              <a:t>ご留意事項</a:t>
            </a:r>
            <a:r>
              <a:rPr kumimoji="1" lang="en-US" altLang="ja-JP" sz="600" b="1" dirty="0">
                <a:solidFill>
                  <a:srgbClr val="FF0000"/>
                </a:solidFill>
                <a:latin typeface="Meiryo UI"/>
                <a:ea typeface="Meiryo UI"/>
              </a:rPr>
              <a:t>】</a:t>
            </a:r>
          </a:p>
          <a:p>
            <a:pPr lvl="0" fontAlgn="base">
              <a:spcBef>
                <a:spcPct val="20000"/>
              </a:spcBef>
              <a:spcAft>
                <a:spcPct val="0"/>
              </a:spcAft>
              <a:defRPr/>
            </a:pPr>
            <a:r>
              <a:rPr kumimoji="1" lang="en-US" altLang="ja-JP" sz="600">
                <a:highlight>
                  <a:srgbClr val="FFFF00"/>
                </a:highlight>
                <a:latin typeface="Meiryo UI"/>
                <a:ea typeface="Meiryo UI"/>
              </a:rPr>
              <a:t>①2026</a:t>
            </a:r>
            <a:r>
              <a:rPr kumimoji="1" lang="ja-JP" altLang="en-US" sz="600" dirty="0">
                <a:highlight>
                  <a:srgbClr val="FFFF00"/>
                </a:highlight>
                <a:latin typeface="Meiryo UI"/>
                <a:ea typeface="Meiryo UI"/>
              </a:rPr>
              <a:t>年</a:t>
            </a:r>
            <a:r>
              <a:rPr kumimoji="1" lang="en-US" altLang="ja-JP" sz="600" dirty="0">
                <a:highlight>
                  <a:srgbClr val="FFFF00"/>
                </a:highlight>
                <a:latin typeface="Meiryo UI"/>
                <a:ea typeface="Meiryo UI"/>
              </a:rPr>
              <a:t>10</a:t>
            </a:r>
            <a:r>
              <a:rPr kumimoji="1" lang="ja-JP" altLang="en-US" sz="600" i="0" u="none" strike="noStrike" kern="1200" cap="none" spc="0" normalizeH="0" baseline="0" noProof="0" dirty="0">
                <a:ln>
                  <a:noFill/>
                </a:ln>
                <a:effectLst/>
                <a:highlight>
                  <a:srgbClr val="FFFF00"/>
                </a:highlight>
                <a:uLnTx/>
                <a:uFillTx/>
                <a:latin typeface="Meiryo UI"/>
                <a:ea typeface="Meiryo UI"/>
                <a:cs typeface="+mn-cs"/>
              </a:rPr>
              <a:t>月</a:t>
            </a:r>
            <a:r>
              <a:rPr kumimoji="1" lang="en-US" altLang="ja-JP" sz="600" dirty="0">
                <a:highlight>
                  <a:srgbClr val="FFFF00"/>
                </a:highlight>
                <a:latin typeface="Meiryo UI"/>
                <a:ea typeface="Meiryo UI"/>
              </a:rPr>
              <a:t>XX</a:t>
            </a:r>
            <a:r>
              <a:rPr kumimoji="1" lang="ja-JP" altLang="en-US" sz="600" i="0" u="none" strike="noStrike" kern="1200" cap="none" spc="0" normalizeH="0" baseline="0" noProof="0" dirty="0">
                <a:ln>
                  <a:noFill/>
                </a:ln>
                <a:effectLst/>
                <a:highlight>
                  <a:srgbClr val="FFFF00"/>
                </a:highlight>
                <a:uLnTx/>
                <a:uFillTx/>
                <a:latin typeface="Meiryo UI"/>
                <a:ea typeface="Meiryo UI"/>
                <a:cs typeface="+mn-cs"/>
              </a:rPr>
              <a:t>日</a:t>
            </a:r>
            <a:r>
              <a:rPr kumimoji="1" lang="ja-JP" altLang="en-US" sz="600" i="0" u="none" strike="noStrike" kern="1200" cap="none" spc="0" normalizeH="0" baseline="0" noProof="0" dirty="0">
                <a:ln>
                  <a:noFill/>
                </a:ln>
                <a:effectLst/>
                <a:uLnTx/>
                <a:uFillTx/>
                <a:latin typeface="Meiryo UI"/>
                <a:ea typeface="Meiryo UI"/>
                <a:cs typeface="+mn-cs"/>
              </a:rPr>
              <a:t>以降は、</a:t>
            </a:r>
            <a:r>
              <a:rPr kumimoji="1" lang="en-US" altLang="ja-JP" sz="600" dirty="0">
                <a:highlight>
                  <a:srgbClr val="FFFF00"/>
                </a:highlight>
                <a:latin typeface="Meiryo UI"/>
                <a:ea typeface="Meiryo UI"/>
              </a:rPr>
              <a:t>20260531</a:t>
            </a:r>
            <a:r>
              <a:rPr kumimoji="1" lang="ja-JP" altLang="en-US" sz="600" i="0" u="none" strike="noStrike" kern="1200" cap="none" spc="0" normalizeH="0" baseline="0" noProof="0" dirty="0">
                <a:ln>
                  <a:noFill/>
                </a:ln>
                <a:effectLst/>
                <a:highlight>
                  <a:srgbClr val="FFFF00"/>
                </a:highlight>
                <a:uLnTx/>
                <a:uFillTx/>
                <a:latin typeface="Meiryo UI"/>
                <a:ea typeface="Meiryo UI"/>
                <a:cs typeface="+mn-cs"/>
              </a:rPr>
              <a:t>版</a:t>
            </a:r>
            <a:r>
              <a:rPr kumimoji="1" lang="ja-JP" altLang="en-US" sz="600" i="0" u="none" strike="noStrike" kern="1200" cap="none" spc="0" normalizeH="0" baseline="0" noProof="0" dirty="0">
                <a:ln>
                  <a:noFill/>
                </a:ln>
                <a:effectLst/>
                <a:uLnTx/>
                <a:uFillTx/>
                <a:latin typeface="Meiryo UI"/>
                <a:ea typeface="Meiryo UI"/>
                <a:cs typeface="+mn-cs"/>
              </a:rPr>
              <a:t>に記載されていた次の</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dirty="0">
                <a:ln>
                  <a:noFill/>
                </a:ln>
                <a:effectLst/>
                <a:uLnTx/>
                <a:uFillTx/>
                <a:latin typeface="Meiryo UI"/>
                <a:ea typeface="Meiryo UI"/>
                <a:cs typeface="+mn-cs"/>
              </a:rPr>
              <a:t>の</a:t>
            </a:r>
            <a:r>
              <a:rPr kumimoji="1" lang="en-US" altLang="ja-JP" sz="600" i="0" u="none" strike="noStrike" kern="1200" cap="none" spc="0" normalizeH="0" baseline="0" noProof="0" dirty="0">
                <a:ln>
                  <a:noFill/>
                </a:ln>
                <a:effectLst/>
                <a:uLnTx/>
                <a:uFillTx/>
                <a:latin typeface="Meiryo UI"/>
                <a:ea typeface="Meiryo UI"/>
                <a:cs typeface="+mn-cs"/>
              </a:rPr>
              <a:t>J-FAGY</a:t>
            </a:r>
            <a:r>
              <a:rPr kumimoji="1" lang="ja-JP" altLang="en-US" sz="600" i="0" u="none" strike="noStrike" kern="1200" cap="none" spc="0" normalizeH="0" baseline="0" noProof="0" dirty="0">
                <a:ln>
                  <a:noFill/>
                </a:ln>
                <a:effectLst/>
                <a:uLnTx/>
                <a:uFillTx/>
                <a:latin typeface="Meiryo UI"/>
                <a:ea typeface="Meiryo UI"/>
                <a:cs typeface="+mn-cs"/>
              </a:rPr>
              <a:t>コードが</a:t>
            </a:r>
            <a:r>
              <a:rPr kumimoji="1" lang="ja-JP" altLang="en-US" sz="600" dirty="0">
                <a:highlight>
                  <a:srgbClr val="FFFF00"/>
                </a:highlight>
                <a:latin typeface="Meiryo UI"/>
                <a:ea typeface="Meiryo UI"/>
              </a:rPr>
              <a:t>変更となりました。</a:t>
            </a:r>
            <a:endParaRPr kumimoji="1" lang="en-US" altLang="ja-JP" sz="600" i="0" u="none" strike="noStrike" kern="1200" cap="none" spc="0" normalizeH="0" baseline="0" noProof="0" dirty="0">
              <a:ln>
                <a:noFill/>
              </a:ln>
              <a:effectLst/>
              <a:highlight>
                <a:srgbClr val="FFFF00"/>
              </a:highlight>
              <a:uLnTx/>
              <a:uFillTx/>
              <a:latin typeface="Meiryo UI"/>
              <a:ea typeface="Meiryo UI"/>
              <a:cs typeface="+mn-cs"/>
            </a:endParaRPr>
          </a:p>
          <a:p>
            <a:pPr lvl="0" fontAlgn="base">
              <a:spcBef>
                <a:spcPct val="20000"/>
              </a:spcBef>
              <a:spcAft>
                <a:spcPct val="0"/>
              </a:spcAft>
              <a:defRPr/>
            </a:pPr>
            <a:r>
              <a:rPr kumimoji="1" lang="ja-JP" altLang="en-US" sz="600" i="0" u="none" strike="noStrike" kern="1200" cap="none" spc="0" normalizeH="0" baseline="0" noProof="0" dirty="0">
                <a:ln>
                  <a:noFill/>
                </a:ln>
                <a:effectLst/>
                <a:uLnTx/>
                <a:uFillTx/>
                <a:latin typeface="Meiryo UI"/>
                <a:ea typeface="Meiryo UI"/>
                <a:cs typeface="+mn-cs"/>
              </a:rPr>
              <a:t>新しい</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dirty="0">
                <a:ln>
                  <a:noFill/>
                </a:ln>
                <a:effectLst/>
                <a:uLnTx/>
                <a:uFillTx/>
                <a:latin typeface="Meiryo UI"/>
                <a:ea typeface="Meiryo UI"/>
                <a:cs typeface="+mn-cs"/>
              </a:rPr>
              <a:t>の詳細につきましては、</a:t>
            </a:r>
            <a:r>
              <a:rPr kumimoji="1" lang="en-US" altLang="ja-JP" sz="600" i="0" u="none" strike="noStrike" kern="1200" cap="none" spc="0" normalizeH="0" baseline="0" noProof="0" dirty="0">
                <a:ln>
                  <a:noFill/>
                </a:ln>
                <a:effectLst/>
                <a:highlight>
                  <a:srgbClr val="FFFF00"/>
                </a:highlight>
                <a:uLnTx/>
                <a:uFillTx/>
                <a:latin typeface="Meiryo UI"/>
                <a:ea typeface="Meiryo UI"/>
                <a:cs typeface="+mn-cs"/>
              </a:rPr>
              <a:t>20260925</a:t>
            </a:r>
            <a:r>
              <a:rPr kumimoji="1" lang="ja-JP" altLang="en-US" sz="600" i="0" u="none" strike="noStrike" kern="1200" cap="none" spc="0" normalizeH="0" baseline="0" noProof="0" dirty="0">
                <a:ln>
                  <a:noFill/>
                </a:ln>
                <a:effectLst/>
                <a:highlight>
                  <a:srgbClr val="FFFF00"/>
                </a:highlight>
                <a:uLnTx/>
                <a:uFillTx/>
                <a:latin typeface="Meiryo UI"/>
                <a:ea typeface="Meiryo UI"/>
                <a:cs typeface="+mn-cs"/>
              </a:rPr>
              <a:t>版</a:t>
            </a:r>
            <a:r>
              <a:rPr kumimoji="1" lang="ja-JP" altLang="en-US" sz="600" i="0" u="none" strike="noStrike" kern="1200" cap="none" spc="0" normalizeH="0" baseline="0" noProof="0" dirty="0">
                <a:ln>
                  <a:noFill/>
                </a:ln>
                <a:effectLst/>
                <a:uLnTx/>
                <a:uFillTx/>
                <a:latin typeface="Meiryo UI"/>
                <a:ea typeface="Meiryo UI"/>
                <a:cs typeface="+mn-cs"/>
              </a:rPr>
              <a:t>を</a:t>
            </a:r>
            <a:r>
              <a:rPr kumimoji="1" lang="ja-JP" altLang="en-US" sz="600" dirty="0">
                <a:solidFill>
                  <a:prstClr val="black"/>
                </a:solidFill>
                <a:latin typeface="Meiryo UI (Body)"/>
              </a:rPr>
              <a:t>ご確認ください。</a:t>
            </a:r>
            <a:endParaRPr kumimoji="1" lang="en-US" altLang="ja-JP" sz="600" dirty="0">
              <a:solidFill>
                <a:prstClr val="black"/>
              </a:solidFill>
              <a:latin typeface="Meiryo UI (Body)"/>
            </a:endParaRPr>
          </a:p>
          <a:p>
            <a:pPr lvl="0" fontAlgn="base">
              <a:spcBef>
                <a:spcPct val="20000"/>
              </a:spcBef>
              <a:spcAft>
                <a:spcPct val="0"/>
              </a:spcAft>
              <a:defRPr/>
            </a:pPr>
            <a:r>
              <a:rPr kumimoji="1" lang="ja-JP" altLang="en-US" sz="600" dirty="0">
                <a:highlight>
                  <a:srgbClr val="FFFF00"/>
                </a:highlight>
                <a:latin typeface="Meiryo UI"/>
                <a:ea typeface="Meiryo UI"/>
              </a:rPr>
              <a:t>　</a:t>
            </a:r>
            <a:r>
              <a:rPr kumimoji="1" lang="en-US" altLang="ja-JP" sz="600" dirty="0">
                <a:highlight>
                  <a:srgbClr val="FFFF00"/>
                </a:highlight>
                <a:latin typeface="Meiryo UI"/>
                <a:ea typeface="Meiryo UI"/>
              </a:rPr>
              <a:t>-</a:t>
            </a:r>
            <a:r>
              <a:rPr kumimoji="1" lang="ja-JP" altLang="en-US" sz="600" dirty="0">
                <a:highlight>
                  <a:srgbClr val="FFFF00"/>
                </a:highlight>
                <a:latin typeface="Meiryo UI"/>
                <a:ea typeface="Meiryo UI"/>
              </a:rPr>
              <a:t>大福</a:t>
            </a:r>
            <a:endParaRPr kumimoji="1" lang="en-US" altLang="ja-JP" sz="600" dirty="0">
              <a:highlight>
                <a:srgbClr val="FFFF00"/>
              </a:highlight>
              <a:latin typeface="Meiryo UI"/>
              <a:ea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果実</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果実（その他）​</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zh-TW" altLang="en-US" sz="600" dirty="0">
                <a:highlight>
                  <a:srgbClr val="FFFF00"/>
                </a:highlight>
                <a:latin typeface="Meiryo UI"/>
              </a:rPr>
              <a:t>果実（詳細不明）​</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麦芽，麦芽抽出物及び麦芽シロップ​</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麦芽，麦芽抽出物及び麦芽シロップ（その他）</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麦芽，麦芽抽出物及び麦芽シロップ​​（詳細不明）</a:t>
            </a:r>
            <a:endParaRPr kumimoji="1" lang="en-US" altLang="ja-JP" sz="600" dirty="0">
              <a:highlight>
                <a:srgbClr val="FFFF00"/>
              </a:highlight>
              <a:latin typeface="Meiryo UI"/>
            </a:endParaRPr>
          </a:p>
          <a:p>
            <a:pPr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食用鳥卵（その他）</a:t>
            </a:r>
            <a:endParaRPr kumimoji="1" lang="en-US" altLang="ja-JP" sz="600" dirty="0">
              <a:highlight>
                <a:srgbClr val="FFFF00"/>
              </a:highlight>
              <a:latin typeface="Meiryo UI"/>
            </a:endParaRPr>
          </a:p>
          <a:p>
            <a:pPr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食用鳥卵​​（詳細不明）</a:t>
            </a:r>
            <a:endParaRPr kumimoji="1" lang="en-US" altLang="ja-JP" sz="600" dirty="0">
              <a:highlight>
                <a:srgbClr val="FFFF00"/>
              </a:highlight>
              <a:latin typeface="Meiryo UI"/>
            </a:endParaRPr>
          </a:p>
          <a:p>
            <a:pPr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いか類（その他）</a:t>
            </a:r>
            <a:endParaRPr kumimoji="1" lang="en-US" altLang="ja-JP" sz="600" dirty="0">
              <a:highlight>
                <a:srgbClr val="FFFF00"/>
              </a:highlight>
              <a:latin typeface="Meiryo UI"/>
            </a:endParaRPr>
          </a:p>
          <a:p>
            <a:pPr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いか類（詳細不明）</a:t>
            </a:r>
            <a:endParaRPr kumimoji="1" lang="en-US" altLang="ja-JP" sz="600" dirty="0">
              <a:highlight>
                <a:srgbClr val="FFFF00"/>
              </a:highlight>
              <a:latin typeface="Meiryo UI"/>
            </a:endParaRPr>
          </a:p>
          <a:p>
            <a:pPr lvl="0" fontAlgn="base">
              <a:spcBef>
                <a:spcPct val="20000"/>
              </a:spcBef>
              <a:spcAft>
                <a:spcPct val="0"/>
              </a:spcAft>
              <a:defRPr/>
            </a:pPr>
            <a:endParaRPr kumimoji="1" lang="ja-JP" altLang="en-US" sz="600">
              <a:latin typeface="Meiryo UI"/>
            </a:endParaRPr>
          </a:p>
          <a:p>
            <a:pPr lvl="0" fontAlgn="base">
              <a:spcBef>
                <a:spcPct val="20000"/>
              </a:spcBef>
              <a:spcAft>
                <a:spcPct val="0"/>
              </a:spcAft>
              <a:defRPr/>
            </a:pPr>
            <a:r>
              <a:rPr kumimoji="1" lang="ja-JP" altLang="en-US" sz="600">
                <a:latin typeface="Meiryo UI"/>
              </a:rPr>
              <a:t>②</a:t>
            </a:r>
            <a:r>
              <a:rPr kumimoji="1" lang="en-US" altLang="ja-JP" sz="600">
                <a:latin typeface="Meiryo UI"/>
              </a:rPr>
              <a:t>2026</a:t>
            </a:r>
            <a:r>
              <a:rPr kumimoji="1" lang="ja-JP" altLang="en-US" sz="600">
                <a:latin typeface="Meiryo UI"/>
              </a:rPr>
              <a:t>年</a:t>
            </a:r>
            <a:r>
              <a:rPr kumimoji="1" lang="en-US" altLang="ja-JP" sz="600">
                <a:latin typeface="Meiryo UI"/>
              </a:rPr>
              <a:t>9</a:t>
            </a:r>
            <a:r>
              <a:rPr kumimoji="1" lang="ja-JP" altLang="en-US" sz="600">
                <a:latin typeface="Meiryo UI"/>
              </a:rPr>
              <a:t>月</a:t>
            </a:r>
            <a:r>
              <a:rPr kumimoji="1" lang="en-US" altLang="ja-JP" sz="600">
                <a:latin typeface="Meiryo UI"/>
              </a:rPr>
              <a:t>28</a:t>
            </a:r>
            <a:r>
              <a:rPr kumimoji="1" lang="ja-JP" altLang="en-US" sz="600">
                <a:latin typeface="Meiryo UI"/>
              </a:rPr>
              <a:t>日以降は、</a:t>
            </a:r>
            <a:r>
              <a:rPr kumimoji="1" lang="en-US" altLang="ja-JP" sz="600">
                <a:latin typeface="Meiryo UI"/>
              </a:rPr>
              <a:t>20250401</a:t>
            </a:r>
            <a:r>
              <a:rPr kumimoji="1" lang="ja-JP" altLang="en-US" sz="600">
                <a:latin typeface="Meiryo UI"/>
              </a:rPr>
              <a:t>版に記載されていた次の</a:t>
            </a:r>
            <a:r>
              <a:rPr kumimoji="1" lang="en-US" altLang="ja-JP" sz="600">
                <a:latin typeface="Meiryo UI"/>
              </a:rPr>
              <a:t>JPTERM</a:t>
            </a:r>
            <a:r>
              <a:rPr kumimoji="1" lang="ja-JP" altLang="en-US" sz="600">
                <a:latin typeface="Meiryo UI"/>
              </a:rPr>
              <a:t>の</a:t>
            </a:r>
            <a:r>
              <a:rPr kumimoji="1" lang="en-US" altLang="ja-JP" sz="600">
                <a:latin typeface="Meiryo UI"/>
              </a:rPr>
              <a:t>J-FAGY</a:t>
            </a:r>
            <a:r>
              <a:rPr kumimoji="1" lang="ja-JP" altLang="en-US" sz="600">
                <a:latin typeface="Meiryo UI"/>
              </a:rPr>
              <a:t>コードが変更となったため、電子カルテ情報共有サービスに登録できなくなりました。</a:t>
            </a:r>
          </a:p>
          <a:p>
            <a:pPr lvl="0" fontAlgn="base">
              <a:spcBef>
                <a:spcPct val="20000"/>
              </a:spcBef>
              <a:spcAft>
                <a:spcPct val="0"/>
              </a:spcAft>
              <a:defRPr/>
            </a:pPr>
            <a:r>
              <a:rPr kumimoji="1" lang="ja-JP" altLang="en-US" sz="600">
                <a:latin typeface="Meiryo UI"/>
              </a:rPr>
              <a:t>新しい</a:t>
            </a:r>
            <a:r>
              <a:rPr kumimoji="1" lang="en-US" altLang="ja-JP" sz="600">
                <a:latin typeface="Meiryo UI"/>
              </a:rPr>
              <a:t>JPTERM</a:t>
            </a:r>
            <a:r>
              <a:rPr kumimoji="1" lang="ja-JP" altLang="en-US" sz="600">
                <a:latin typeface="Meiryo UI"/>
              </a:rPr>
              <a:t>の詳細につきましては、</a:t>
            </a:r>
            <a:r>
              <a:rPr kumimoji="1" lang="en-US" altLang="ja-JP" sz="600">
                <a:latin typeface="Meiryo UI"/>
              </a:rPr>
              <a:t>20260531</a:t>
            </a:r>
            <a:r>
              <a:rPr kumimoji="1" lang="ja-JP" altLang="en-US" sz="600">
                <a:latin typeface="Meiryo UI"/>
              </a:rPr>
              <a:t>版以降の版をご確認ください。</a:t>
            </a:r>
          </a:p>
          <a:p>
            <a:pPr lvl="0" fontAlgn="base">
              <a:spcBef>
                <a:spcPct val="20000"/>
              </a:spcBef>
              <a:spcAft>
                <a:spcPct val="0"/>
              </a:spcAft>
              <a:defRPr/>
            </a:pPr>
            <a:r>
              <a:rPr kumimoji="1" lang="ja-JP" altLang="en-US" sz="600">
                <a:latin typeface="Meiryo UI"/>
              </a:rPr>
              <a:t>　</a:t>
            </a:r>
            <a:r>
              <a:rPr kumimoji="1" lang="en-US" altLang="ja-JP" sz="600">
                <a:latin typeface="Meiryo UI"/>
              </a:rPr>
              <a:t>-</a:t>
            </a:r>
            <a:r>
              <a:rPr kumimoji="1" lang="ja-JP" altLang="en-US" sz="600">
                <a:latin typeface="Meiryo UI"/>
              </a:rPr>
              <a:t>食用鳥卵</a:t>
            </a:r>
          </a:p>
          <a:p>
            <a:pPr lvl="0" fontAlgn="base">
              <a:spcBef>
                <a:spcPct val="20000"/>
              </a:spcBef>
              <a:spcAft>
                <a:spcPct val="0"/>
              </a:spcAft>
              <a:defRPr/>
            </a:pPr>
            <a:r>
              <a:rPr kumimoji="1" lang="ja-JP" altLang="en-US" sz="600">
                <a:latin typeface="Meiryo UI"/>
              </a:rPr>
              <a:t>　</a:t>
            </a:r>
            <a:r>
              <a:rPr kumimoji="1" lang="en-US" altLang="ja-JP" sz="600">
                <a:latin typeface="Meiryo UI"/>
              </a:rPr>
              <a:t>-</a:t>
            </a:r>
            <a:r>
              <a:rPr kumimoji="1" lang="ja-JP" altLang="en-US" sz="600">
                <a:latin typeface="Meiryo UI"/>
              </a:rPr>
              <a:t>落花生</a:t>
            </a:r>
          </a:p>
          <a:p>
            <a:pPr lvl="0" fontAlgn="base">
              <a:spcBef>
                <a:spcPct val="20000"/>
              </a:spcBef>
              <a:spcAft>
                <a:spcPct val="0"/>
              </a:spcAft>
              <a:defRPr/>
            </a:pPr>
            <a:r>
              <a:rPr kumimoji="1" lang="ja-JP" altLang="en-US" sz="600">
                <a:latin typeface="Meiryo UI"/>
              </a:rPr>
              <a:t>　</a:t>
            </a:r>
            <a:r>
              <a:rPr kumimoji="1" lang="en-US" altLang="ja-JP" sz="600">
                <a:latin typeface="Meiryo UI"/>
              </a:rPr>
              <a:t>-</a:t>
            </a:r>
            <a:r>
              <a:rPr kumimoji="1" lang="ja-JP" altLang="en-US" sz="600">
                <a:latin typeface="Meiryo UI"/>
              </a:rPr>
              <a:t>いか類</a:t>
            </a:r>
          </a:p>
          <a:p>
            <a:pPr lvl="0" fontAlgn="base">
              <a:spcBef>
                <a:spcPct val="20000"/>
              </a:spcBef>
              <a:spcAft>
                <a:spcPct val="0"/>
              </a:spcAft>
              <a:defRPr/>
            </a:pPr>
            <a:r>
              <a:rPr kumimoji="1" lang="ja-JP" altLang="en-US" sz="600">
                <a:latin typeface="Meiryo UI"/>
              </a:rPr>
              <a:t>　</a:t>
            </a:r>
            <a:r>
              <a:rPr kumimoji="1" lang="en-US" altLang="ja-JP" sz="600">
                <a:latin typeface="Meiryo UI"/>
              </a:rPr>
              <a:t>-</a:t>
            </a:r>
            <a:r>
              <a:rPr kumimoji="1" lang="ja-JP" altLang="en-US" sz="600">
                <a:latin typeface="Meiryo UI"/>
              </a:rPr>
              <a:t>マカデミアナッツ</a:t>
            </a:r>
          </a:p>
          <a:p>
            <a:pPr lvl="0" fontAlgn="base">
              <a:spcBef>
                <a:spcPct val="20000"/>
              </a:spcBef>
              <a:spcAft>
                <a:spcPct val="0"/>
              </a:spcAft>
              <a:defRPr/>
            </a:pPr>
            <a:r>
              <a:rPr kumimoji="1" lang="ja-JP" altLang="en-US" sz="600">
                <a:latin typeface="Meiryo UI"/>
              </a:rPr>
              <a:t>　</a:t>
            </a:r>
            <a:r>
              <a:rPr kumimoji="1" lang="en-US" altLang="ja-JP" sz="600">
                <a:latin typeface="Meiryo UI"/>
              </a:rPr>
              <a:t>-</a:t>
            </a:r>
            <a:r>
              <a:rPr kumimoji="1" lang="ja-JP" altLang="en-US" sz="600">
                <a:latin typeface="Meiryo UI"/>
              </a:rPr>
              <a:t>やまのいも</a:t>
            </a:r>
            <a:endParaRPr kumimoji="1" lang="ja-JP" altLang="en-US" sz="600" i="0" u="none" strike="noStrike" kern="1200" cap="none" spc="0" normalizeH="0" baseline="0" noProof="0" dirty="0">
              <a:ln>
                <a:noFill/>
              </a:ln>
              <a:effectLst/>
              <a:uLnTx/>
              <a:uFillTx/>
              <a:latin typeface="Meiryo UI"/>
              <a:ea typeface="Meiryo UI"/>
              <a:cs typeface="+mn-cs"/>
            </a:endParaRPr>
          </a:p>
        </p:txBody>
      </p:sp>
      <p:graphicFrame>
        <p:nvGraphicFramePr>
          <p:cNvPr id="32" name="表 31">
            <a:extLst>
              <a:ext uri="{FF2B5EF4-FFF2-40B4-BE49-F238E27FC236}">
                <a16:creationId xmlns:a16="http://schemas.microsoft.com/office/drawing/2014/main" id="{F3BBB89E-33F2-FCCC-F87A-7050881086E4}"/>
              </a:ext>
            </a:extLst>
          </p:cNvPr>
          <p:cNvGraphicFramePr>
            <a:graphicFrameLocks noGrp="1"/>
          </p:cNvGraphicFramePr>
          <p:nvPr>
            <p:extLst>
              <p:ext uri="{D42A27DB-BD31-4B8C-83A1-F6EECF244321}">
                <p14:modId xmlns:p14="http://schemas.microsoft.com/office/powerpoint/2010/main" val="1188115599"/>
              </p:ext>
            </p:extLst>
          </p:nvPr>
        </p:nvGraphicFramePr>
        <p:xfrm>
          <a:off x="5585952" y="5291310"/>
          <a:ext cx="3512036" cy="349940"/>
        </p:xfrm>
        <a:graphic>
          <a:graphicData uri="http://schemas.openxmlformats.org/drawingml/2006/table">
            <a:tbl>
              <a:tblPr/>
              <a:tblGrid>
                <a:gridCol w="595907">
                  <a:extLst>
                    <a:ext uri="{9D8B030D-6E8A-4147-A177-3AD203B41FA5}">
                      <a16:colId xmlns:a16="http://schemas.microsoft.com/office/drawing/2014/main" val="4058772077"/>
                    </a:ext>
                  </a:extLst>
                </a:gridCol>
                <a:gridCol w="669375">
                  <a:extLst>
                    <a:ext uri="{9D8B030D-6E8A-4147-A177-3AD203B41FA5}">
                      <a16:colId xmlns:a16="http://schemas.microsoft.com/office/drawing/2014/main" val="154882630"/>
                    </a:ext>
                  </a:extLst>
                </a:gridCol>
                <a:gridCol w="748918">
                  <a:extLst>
                    <a:ext uri="{9D8B030D-6E8A-4147-A177-3AD203B41FA5}">
                      <a16:colId xmlns:a16="http://schemas.microsoft.com/office/drawing/2014/main" val="227139091"/>
                    </a:ext>
                  </a:extLst>
                </a:gridCol>
                <a:gridCol w="748918">
                  <a:extLst>
                    <a:ext uri="{9D8B030D-6E8A-4147-A177-3AD203B41FA5}">
                      <a16:colId xmlns:a16="http://schemas.microsoft.com/office/drawing/2014/main" val="892848932"/>
                    </a:ext>
                  </a:extLst>
                </a:gridCol>
                <a:gridCol w="748918">
                  <a:extLst>
                    <a:ext uri="{9D8B030D-6E8A-4147-A177-3AD203B41FA5}">
                      <a16:colId xmlns:a16="http://schemas.microsoft.com/office/drawing/2014/main" val="420957508"/>
                    </a:ext>
                  </a:extLst>
                </a:gridCol>
              </a:tblGrid>
              <a:tr h="176190">
                <a:tc>
                  <a:txBody>
                    <a:bodyPr/>
                    <a:lstStyle/>
                    <a:p>
                      <a:pPr algn="ctr" fontAlgn="ctr">
                        <a:buNone/>
                      </a:pPr>
                      <a:r>
                        <a:rPr lang="ja-JP" altLang="en-US" sz="6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dirty="0">
                          <a:solidFill>
                            <a:srgbClr val="000000"/>
                          </a:solidFill>
                          <a:effectLst/>
                          <a:latin typeface="+mj-ea"/>
                          <a:ea typeface="+mj-ea"/>
                        </a:rPr>
                        <a:t>本番環境</a:t>
                      </a:r>
                      <a:br>
                        <a:rPr lang="en-US" altLang="ja-JP" sz="600" b="0" i="0" u="none" strike="noStrike" dirty="0">
                          <a:solidFill>
                            <a:srgbClr val="000000"/>
                          </a:solidFill>
                          <a:effectLst/>
                          <a:latin typeface="+mj-ea"/>
                          <a:ea typeface="+mj-ea"/>
                        </a:rPr>
                      </a:br>
                      <a:r>
                        <a:rPr lang="ja-JP" altLang="en-US" sz="600" b="0" i="0" u="none" strike="noStrike" dirty="0">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600" b="0" i="0" u="none" strike="noStrike" kern="1200" dirty="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dirty="0">
                          <a:solidFill>
                            <a:srgbClr val="000000"/>
                          </a:solidFill>
                          <a:effectLst/>
                          <a:latin typeface="+mj-ea"/>
                          <a:ea typeface="+mn-ea"/>
                          <a:cs typeface="+mn-cs"/>
                        </a:rPr>
                        <a:t>反映日</a:t>
                      </a:r>
                      <a:endParaRPr lang="ja-JP" altLang="en-US" sz="600" b="0" i="0" u="none" strike="noStrike" dirty="0">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600" b="0" i="0" u="none" strike="noStrike" kern="120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57535">
                <a:tc>
                  <a:txBody>
                    <a:bodyPr/>
                    <a:lstStyle/>
                    <a:p>
                      <a:pPr algn="ctr" fontAlgn="ctr">
                        <a:buNone/>
                      </a:pPr>
                      <a:r>
                        <a:rPr lang="en-US" altLang="ja-JP" sz="600" b="0" i="0" u="none" strike="noStrike" dirty="0">
                          <a:solidFill>
                            <a:srgbClr val="000000"/>
                          </a:solidFill>
                          <a:effectLst/>
                          <a:highlight>
                            <a:srgbClr val="FFFF00"/>
                          </a:highlight>
                          <a:latin typeface="+mj-ea"/>
                          <a:ea typeface="+mj-ea"/>
                        </a:rPr>
                        <a:t>20260925</a:t>
                      </a:r>
                      <a:endParaRPr lang="ja-JP" altLang="en-US" sz="600" b="0" i="0" u="none" strike="noStrike" dirty="0">
                        <a:solidFill>
                          <a:srgbClr val="000000"/>
                        </a:solidFill>
                        <a:effectLst/>
                        <a:highlight>
                          <a:srgbClr val="FFFF00"/>
                        </a:highligh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2026/09/29</a:t>
                      </a:r>
                      <a:endParaRPr lang="ja-JP" altLang="en-US" sz="600" b="0" i="0" u="none" strike="noStrike" dirty="0">
                        <a:solidFill>
                          <a:srgbClr val="000000"/>
                        </a:solidFill>
                        <a:effectLst/>
                        <a:highlight>
                          <a:srgbClr val="FFFF00"/>
                        </a:highligh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2026/10/XX</a:t>
                      </a:r>
                      <a:endParaRPr lang="ja-JP" altLang="en-US" sz="600" b="0" i="0" u="none" strike="noStrike" dirty="0">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2026/10/XX</a:t>
                      </a:r>
                      <a:endParaRPr lang="ja-JP" altLang="en-US" sz="600" b="0" i="0" u="none" strike="noStrike" dirty="0">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2026/10/XX</a:t>
                      </a:r>
                      <a:endParaRPr lang="ja-JP" altLang="en-US" sz="600" b="0" i="0" u="none" strike="noStrike" dirty="0">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33" name="四角形: 角を丸くする 32">
            <a:extLst>
              <a:ext uri="{FF2B5EF4-FFF2-40B4-BE49-F238E27FC236}">
                <a16:creationId xmlns:a16="http://schemas.microsoft.com/office/drawing/2014/main" id="{AA826694-2B02-1D51-F509-C989B2C61494}"/>
              </a:ext>
            </a:extLst>
          </p:cNvPr>
          <p:cNvSpPr/>
          <p:nvPr/>
        </p:nvSpPr>
        <p:spPr>
          <a:xfrm>
            <a:off x="7761221" y="1579892"/>
            <a:ext cx="1925838" cy="656505"/>
          </a:xfrm>
          <a:prstGeom prst="roundRect">
            <a:avLst/>
          </a:prstGeom>
          <a:solidFill>
            <a:schemeClr val="accent2">
              <a:lumMod val="20000"/>
              <a:lumOff val="80000"/>
            </a:schemeClr>
          </a:solidFill>
          <a:ln>
            <a:noFill/>
            <a:prstDash val="dash"/>
          </a:ln>
        </p:spPr>
        <p:txBody>
          <a:bodyPr wrap="none" lIns="36000" tIns="108000" rIns="36000" bIns="36000" rtlCol="0" anchor="ctr">
            <a:noAutofit/>
          </a:bodyP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1050" b="0" i="0" u="sng" strike="noStrike" kern="1200" cap="none" spc="0" normalizeH="0" baseline="0" noProof="0" dirty="0">
                <a:ln>
                  <a:noFill/>
                </a:ln>
                <a:solidFill>
                  <a:prstClr val="black"/>
                </a:solidFill>
                <a:effectLst/>
                <a:uLnTx/>
                <a:uFillTx/>
                <a:latin typeface="Meiryo UI"/>
                <a:ea typeface="Meiryo UI"/>
                <a:cs typeface="+mn-cs"/>
              </a:rPr>
              <a:t>基金担当者様</a:t>
            </a:r>
            <a:endParaRPr kumimoji="1" lang="en-US" altLang="ja-JP" sz="105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2026</a:t>
            </a:r>
            <a:r>
              <a:rPr kumimoji="1" lang="ja-JP" altLang="en-US" sz="1050" b="0" i="0" u="none" strike="noStrike" kern="1200" cap="none" spc="0" normalizeH="0" baseline="0" noProof="0" dirty="0">
                <a:ln>
                  <a:noFill/>
                </a:ln>
                <a:solidFill>
                  <a:prstClr val="black"/>
                </a:solidFill>
                <a:effectLst/>
                <a:uLnTx/>
                <a:uFillTx/>
                <a:latin typeface="Meiryo UI"/>
                <a:ea typeface="Meiryo UI"/>
                <a:cs typeface="+mn-cs"/>
              </a:rPr>
              <a:t>年</a:t>
            </a:r>
            <a:r>
              <a:rPr kumimoji="1" lang="en-US" altLang="ja-JP" sz="1050" dirty="0">
                <a:solidFill>
                  <a:prstClr val="black"/>
                </a:solidFill>
                <a:latin typeface="Meiryo UI"/>
                <a:ea typeface="Meiryo UI"/>
              </a:rPr>
              <a:t>10</a:t>
            </a:r>
            <a:r>
              <a:rPr kumimoji="1" lang="ja-JP" altLang="en-US" sz="1050" b="0" i="0" u="none" strike="noStrike" kern="1200" cap="none" spc="0" normalizeH="0" baseline="0" noProof="0" dirty="0">
                <a:ln>
                  <a:noFill/>
                </a:ln>
                <a:solidFill>
                  <a:prstClr val="black"/>
                </a:solidFill>
                <a:effectLst/>
                <a:uLnTx/>
                <a:uFillTx/>
                <a:latin typeface="Meiryo UI"/>
                <a:ea typeface="Meiryo UI"/>
                <a:cs typeface="+mn-cs"/>
              </a:rPr>
              <a:t>月の更新では</a:t>
            </a:r>
            <a:b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1050" b="0" i="0" u="none" strike="noStrike" kern="1200" cap="none" spc="0" normalizeH="0" baseline="0" noProof="0" dirty="0">
                <a:ln>
                  <a:noFill/>
                </a:ln>
                <a:solidFill>
                  <a:prstClr val="black"/>
                </a:solidFill>
                <a:effectLst/>
                <a:uLnTx/>
                <a:uFillTx/>
                <a:latin typeface="Meiryo UI"/>
                <a:ea typeface="Meiryo UI"/>
                <a:cs typeface="+mn-cs"/>
              </a:rPr>
              <a:t>こちらのレイアウトに更新ください。</a:t>
            </a:r>
          </a:p>
        </p:txBody>
      </p:sp>
      <p:pic>
        <p:nvPicPr>
          <p:cNvPr id="101" name="図 100">
            <a:extLst>
              <a:ext uri="{FF2B5EF4-FFF2-40B4-BE49-F238E27FC236}">
                <a16:creationId xmlns:a16="http://schemas.microsoft.com/office/drawing/2014/main" id="{FFBC44E1-216C-7EBE-0307-7464D3971133}"/>
              </a:ext>
            </a:extLst>
          </p:cNvPr>
          <p:cNvPicPr>
            <a:picLocks noChangeAspect="1"/>
          </p:cNvPicPr>
          <p:nvPr/>
        </p:nvPicPr>
        <p:blipFill>
          <a:blip r:embed="rId5"/>
          <a:srcRect t="91998" b="1648"/>
          <a:stretch>
            <a:fillRect/>
          </a:stretch>
        </p:blipFill>
        <p:spPr>
          <a:xfrm>
            <a:off x="5253936" y="9088638"/>
            <a:ext cx="4234676" cy="209249"/>
          </a:xfrm>
          <a:prstGeom prst="rect">
            <a:avLst/>
          </a:prstGeom>
        </p:spPr>
      </p:pic>
      <p:graphicFrame>
        <p:nvGraphicFramePr>
          <p:cNvPr id="105" name="表 104">
            <a:extLst>
              <a:ext uri="{FF2B5EF4-FFF2-40B4-BE49-F238E27FC236}">
                <a16:creationId xmlns:a16="http://schemas.microsoft.com/office/drawing/2014/main" id="{026E4A06-BCB4-E8E7-A7ED-EBB8BDFE1E13}"/>
              </a:ext>
            </a:extLst>
          </p:cNvPr>
          <p:cNvGraphicFramePr>
            <a:graphicFrameLocks noGrp="1"/>
          </p:cNvGraphicFramePr>
          <p:nvPr>
            <p:extLst>
              <p:ext uri="{D42A27DB-BD31-4B8C-83A1-F6EECF244321}">
                <p14:modId xmlns:p14="http://schemas.microsoft.com/office/powerpoint/2010/main" val="819119874"/>
              </p:ext>
            </p:extLst>
          </p:nvPr>
        </p:nvGraphicFramePr>
        <p:xfrm>
          <a:off x="5445697" y="8618886"/>
          <a:ext cx="3710008" cy="491164"/>
        </p:xfrm>
        <a:graphic>
          <a:graphicData uri="http://schemas.openxmlformats.org/drawingml/2006/table">
            <a:tbl>
              <a:tblPr/>
              <a:tblGrid>
                <a:gridCol w="1060002">
                  <a:extLst>
                    <a:ext uri="{9D8B030D-6E8A-4147-A177-3AD203B41FA5}">
                      <a16:colId xmlns:a16="http://schemas.microsoft.com/office/drawing/2014/main" val="2741535545"/>
                    </a:ext>
                  </a:extLst>
                </a:gridCol>
                <a:gridCol w="2650006">
                  <a:extLst>
                    <a:ext uri="{9D8B030D-6E8A-4147-A177-3AD203B41FA5}">
                      <a16:colId xmlns:a16="http://schemas.microsoft.com/office/drawing/2014/main" val="2597624301"/>
                    </a:ext>
                  </a:extLst>
                </a:gridCol>
              </a:tblGrid>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公開日</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2336640960"/>
                  </a:ext>
                </a:extLst>
              </a:tr>
              <a:tr h="122791">
                <a:tc>
                  <a:txBody>
                    <a:bodyPr/>
                    <a:lstStyle/>
                    <a:p>
                      <a:pPr algn="ctr" fontAlgn="ctr">
                        <a:buNone/>
                      </a:pPr>
                      <a:r>
                        <a:rPr lang="en-US" altLang="ja-JP" sz="600" b="0" i="0" u="none" strike="noStrike" dirty="0">
                          <a:solidFill>
                            <a:srgbClr val="000000"/>
                          </a:solidFill>
                          <a:effectLst/>
                          <a:highlight>
                            <a:srgbClr val="FFFF00"/>
                          </a:highlight>
                          <a:latin typeface="Meiryo UI" panose="020B0604030504040204" pitchFamily="50" charset="-128"/>
                          <a:ea typeface="Meiryo UI" panose="020B0604030504040204" pitchFamily="50" charset="-128"/>
                        </a:rPr>
                        <a:t>20260531</a:t>
                      </a:r>
                      <a:endParaRPr lang="ja-JP" sz="600" b="0" i="0" u="none" strike="noStrike" dirty="0">
                        <a:solidFill>
                          <a:srgbClr val="000000"/>
                        </a:solidFill>
                        <a:effectLst/>
                        <a:highlight>
                          <a:srgbClr val="FFFF00"/>
                        </a:highlight>
                        <a:latin typeface="Meiryo UI" panose="020B0604030504040204" pitchFamily="50" charset="-128"/>
                        <a:ea typeface="Meiryo UI" panose="020B0604030504040204"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600" b="0" i="0" u="none" strike="noStrike" dirty="0">
                          <a:solidFill>
                            <a:srgbClr val="000000"/>
                          </a:solidFill>
                          <a:effectLst/>
                          <a:highlight>
                            <a:srgbClr val="FFFF00"/>
                          </a:highlight>
                          <a:latin typeface="Meiryo UI" panose="020B0604030504040204" pitchFamily="50" charset="-128"/>
                          <a:ea typeface="Meiryo UI" panose="020B0604030504040204" pitchFamily="50" charset="-128"/>
                        </a:rPr>
                        <a:t>20260823</a:t>
                      </a:r>
                      <a:endParaRPr lang="ja-JP" sz="600" b="0" i="0" u="none" strike="noStrike" dirty="0">
                        <a:solidFill>
                          <a:srgbClr val="000000"/>
                        </a:solidFill>
                        <a:effectLst/>
                        <a:highlight>
                          <a:srgbClr val="FFFF00"/>
                        </a:highlight>
                        <a:latin typeface="Meiryo UI" panose="020B0604030504040204" pitchFamily="50" charset="-128"/>
                        <a:ea typeface="Meiryo UI" panose="020B0604030504040204"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8271639"/>
                  </a:ext>
                </a:extLst>
              </a:tr>
              <a:tr h="122791">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20250401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20250603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8799979"/>
                  </a:ext>
                </a:extLst>
              </a:tr>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20240709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20250207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4982346"/>
                  </a:ext>
                </a:extLst>
              </a:tr>
            </a:tbl>
          </a:graphicData>
        </a:graphic>
      </p:graphicFrame>
      <p:grpSp>
        <p:nvGrpSpPr>
          <p:cNvPr id="9" name="グループ化 8">
            <a:extLst>
              <a:ext uri="{FF2B5EF4-FFF2-40B4-BE49-F238E27FC236}">
                <a16:creationId xmlns:a16="http://schemas.microsoft.com/office/drawing/2014/main" id="{7378CF95-6D3A-C2A3-D61D-045CEF8371BC}"/>
              </a:ext>
            </a:extLst>
          </p:cNvPr>
          <p:cNvGrpSpPr/>
          <p:nvPr/>
        </p:nvGrpSpPr>
        <p:grpSpPr>
          <a:xfrm>
            <a:off x="5504803" y="8298950"/>
            <a:ext cx="3320193" cy="258145"/>
            <a:chOff x="8168173" y="4422050"/>
            <a:chExt cx="2743961" cy="213343"/>
          </a:xfrm>
        </p:grpSpPr>
        <p:pic>
          <p:nvPicPr>
            <p:cNvPr id="11" name="図 10">
              <a:extLst>
                <a:ext uri="{FF2B5EF4-FFF2-40B4-BE49-F238E27FC236}">
                  <a16:creationId xmlns:a16="http://schemas.microsoft.com/office/drawing/2014/main" id="{ACBA434E-9CCE-419A-9F8B-A9FE37E9B425}"/>
                </a:ext>
              </a:extLst>
            </p:cNvPr>
            <p:cNvPicPr>
              <a:picLocks noChangeAspect="1"/>
            </p:cNvPicPr>
            <p:nvPr/>
          </p:nvPicPr>
          <p:blipFill>
            <a:blip r:embed="rId6"/>
            <a:srcRect l="1910" t="81326" r="2535" b="8895"/>
            <a:stretch>
              <a:fillRect/>
            </a:stretch>
          </p:blipFill>
          <p:spPr>
            <a:xfrm>
              <a:off x="8168173" y="4422050"/>
              <a:ext cx="2743961" cy="213343"/>
            </a:xfrm>
            <a:prstGeom prst="rect">
              <a:avLst/>
            </a:prstGeom>
          </p:spPr>
        </p:pic>
        <p:sp>
          <p:nvSpPr>
            <p:cNvPr id="19" name="正方形/長方形 18">
              <a:extLst>
                <a:ext uri="{FF2B5EF4-FFF2-40B4-BE49-F238E27FC236}">
                  <a16:creationId xmlns:a16="http://schemas.microsoft.com/office/drawing/2014/main" id="{7DDA7711-4A80-8139-349B-AE9287B1D0A9}"/>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令和</a:t>
              </a:r>
              <a:r>
                <a:rPr kumimoji="1" lang="en-US" altLang="ja-JP" sz="600" b="1" i="0" u="none" strike="noStrike" kern="1200" cap="none" spc="0" normalizeH="0" baseline="0" noProof="0" dirty="0">
                  <a:ln>
                    <a:noFill/>
                  </a:ln>
                  <a:solidFill>
                    <a:prstClr val="black"/>
                  </a:solidFill>
                  <a:effectLst/>
                  <a:uLnTx/>
                  <a:uFillTx/>
                  <a:latin typeface="Meiryo UI"/>
                  <a:ea typeface="Meiryo UI"/>
                  <a:cs typeface="+mn-cs"/>
                </a:rPr>
                <a:t>8</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年</a:t>
              </a:r>
              <a:r>
                <a:rPr kumimoji="1" lang="en-US" altLang="ja-JP" sz="600" b="1" dirty="0">
                  <a:solidFill>
                    <a:prstClr val="black"/>
                  </a:solidFill>
                  <a:latin typeface="Meiryo UI"/>
                  <a:ea typeface="Meiryo UI"/>
                </a:rPr>
                <a:t>9</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月</a:t>
              </a:r>
              <a:r>
                <a:rPr kumimoji="1" lang="en-US" altLang="ja-JP" sz="600" b="1" i="0" u="none" strike="noStrike" kern="1200" cap="none" spc="0" normalizeH="0" baseline="0" noProof="0" dirty="0">
                  <a:ln>
                    <a:noFill/>
                  </a:ln>
                  <a:solidFill>
                    <a:prstClr val="black"/>
                  </a:solidFill>
                  <a:effectLst/>
                  <a:uLnTx/>
                  <a:uFillTx/>
                  <a:latin typeface="Meiryo UI"/>
                  <a:ea typeface="Meiryo UI"/>
                  <a:cs typeface="+mn-cs"/>
                </a:rPr>
                <a:t>27</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日まで適用のマスタのダウンロードリンク</a:t>
              </a:r>
            </a:p>
          </p:txBody>
        </p:sp>
      </p:grpSp>
      <p:pic>
        <p:nvPicPr>
          <p:cNvPr id="3" name="図 19">
            <a:extLst>
              <a:ext uri="{FF2B5EF4-FFF2-40B4-BE49-F238E27FC236}">
                <a16:creationId xmlns:a16="http://schemas.microsoft.com/office/drawing/2014/main" id="{C6820C8C-CC38-688F-4681-3048F367BAAA}"/>
              </a:ext>
            </a:extLst>
          </p:cNvPr>
          <p:cNvPicPr preferRelativeResize="0">
            <a:picLocks/>
          </p:cNvPicPr>
          <p:nvPr/>
        </p:nvPicPr>
        <p:blipFill>
          <a:blip r:embed="rId2"/>
          <a:srcRect l="2946" t="103836" r="-2946" b="-15325"/>
          <a:stretch>
            <a:fillRect/>
          </a:stretch>
        </p:blipFill>
        <p:spPr>
          <a:xfrm>
            <a:off x="182025" y="2802139"/>
            <a:ext cx="4300396" cy="5535950"/>
          </a:xfrm>
          <a:prstGeom prst="rect">
            <a:avLst/>
          </a:prstGeom>
          <a:ln w="19050">
            <a:solidFill>
              <a:schemeClr val="bg1">
                <a:lumMod val="85000"/>
              </a:schemeClr>
            </a:solidFill>
          </a:ln>
        </p:spPr>
      </p:pic>
      <p:sp>
        <p:nvSpPr>
          <p:cNvPr id="8" name="正方形/長方形 7">
            <a:extLst>
              <a:ext uri="{FF2B5EF4-FFF2-40B4-BE49-F238E27FC236}">
                <a16:creationId xmlns:a16="http://schemas.microsoft.com/office/drawing/2014/main" id="{C785EFA8-AC02-B79E-814B-CFDDA1CBB488}"/>
              </a:ext>
            </a:extLst>
          </p:cNvPr>
          <p:cNvSpPr/>
          <p:nvPr/>
        </p:nvSpPr>
        <p:spPr>
          <a:xfrm>
            <a:off x="1266292" y="2258519"/>
            <a:ext cx="1992079" cy="366467"/>
          </a:xfrm>
          <a:prstGeom prst="rect">
            <a:avLst/>
          </a:prstGeom>
          <a:solidFill>
            <a:schemeClr val="bg1"/>
          </a:solidFill>
          <a:ln>
            <a:noFill/>
          </a:ln>
        </p:spPr>
        <p:txBody>
          <a:bodyPr lIns="0" rIns="0" rtlCol="0" anchor="t" anchorCtr="0"/>
          <a:lstStyle/>
          <a:p>
            <a:pPr lvl="0" algn="ctr" fontAlgn="base">
              <a:spcBef>
                <a:spcPct val="20000"/>
              </a:spcBef>
              <a:spcAft>
                <a:spcPct val="0"/>
              </a:spcAft>
              <a:defRPr/>
            </a:pPr>
            <a:r>
              <a:rPr kumimoji="1" lang="ja-JP" altLang="en-US" sz="900" b="0" i="0" u="sng" strike="noStrike" kern="1200" cap="none" spc="0" normalizeH="0" baseline="0" noProof="0" dirty="0">
                <a:ln>
                  <a:noFill/>
                </a:ln>
                <a:solidFill>
                  <a:prstClr val="black"/>
                </a:solidFill>
                <a:effectLst/>
                <a:uLnTx/>
                <a:uFillTx/>
                <a:latin typeface="Meiryo UI"/>
                <a:ea typeface="Meiryo UI"/>
                <a:cs typeface="+mn-cs"/>
              </a:rPr>
              <a:t>＜更新案</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en-US" altLang="ja-JP" sz="900" b="1" i="0" u="sng" strike="noStrike" kern="1200" cap="none" spc="0" normalizeH="0" baseline="0" noProof="0" dirty="0">
                <a:ln>
                  <a:noFill/>
                </a:ln>
                <a:solidFill>
                  <a:prstClr val="black"/>
                </a:solidFill>
                <a:effectLst/>
                <a:uLnTx/>
                <a:uFillTx/>
                <a:latin typeface="Meiryo UI"/>
                <a:ea typeface="Meiryo UI"/>
                <a:cs typeface="+mn-cs"/>
              </a:rPr>
              <a:t>202609</a:t>
            </a:r>
            <a:r>
              <a:rPr kumimoji="1" lang="ja-JP" altLang="en-US" sz="900" b="1" u="sng" dirty="0">
                <a:solidFill>
                  <a:prstClr val="black"/>
                </a:solidFill>
                <a:latin typeface="Meiryo UI"/>
              </a:rPr>
              <a:t>のマスタ公開以降</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dirty="0">
                <a:ln>
                  <a:noFill/>
                </a:ln>
                <a:solidFill>
                  <a:prstClr val="black"/>
                </a:solidFill>
                <a:effectLst/>
                <a:uLnTx/>
                <a:uFillTx/>
                <a:latin typeface="Meiryo UI"/>
                <a:ea typeface="Meiryo UI"/>
                <a:cs typeface="+mn-cs"/>
              </a:rPr>
              <a:t>＞</a:t>
            </a:r>
            <a:endParaRPr kumimoji="1" lang="en-US" altLang="ja-JP" sz="9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eiryo UI"/>
                <a:cs typeface="+mn-cs"/>
              </a:rPr>
              <a:t>アコーディオン開</a:t>
            </a: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900" b="0" i="0" u="none" strike="noStrike" kern="1200" cap="none" spc="0" normalizeH="0" baseline="0" noProof="0" dirty="0">
              <a:ln>
                <a:noFill/>
              </a:ln>
              <a:solidFill>
                <a:prstClr val="black"/>
              </a:solidFill>
              <a:effectLst/>
              <a:uLnTx/>
              <a:uFillTx/>
              <a:latin typeface="Meiryo UI"/>
              <a:ea typeface="Meiryo UI"/>
              <a:cs typeface="+mn-cs"/>
            </a:endParaRPr>
          </a:p>
        </p:txBody>
      </p:sp>
      <p:pic>
        <p:nvPicPr>
          <p:cNvPr id="22" name="図 21">
            <a:extLst>
              <a:ext uri="{FF2B5EF4-FFF2-40B4-BE49-F238E27FC236}">
                <a16:creationId xmlns:a16="http://schemas.microsoft.com/office/drawing/2014/main" id="{235A3328-8926-32C5-BD74-155EBF720B31}"/>
              </a:ext>
            </a:extLst>
          </p:cNvPr>
          <p:cNvPicPr>
            <a:picLocks noChangeAspect="1"/>
          </p:cNvPicPr>
          <p:nvPr/>
        </p:nvPicPr>
        <p:blipFill>
          <a:blip r:embed="rId3"/>
          <a:stretch>
            <a:fillRect/>
          </a:stretch>
        </p:blipFill>
        <p:spPr>
          <a:xfrm>
            <a:off x="147137" y="2772486"/>
            <a:ext cx="4317279" cy="1620406"/>
          </a:xfrm>
          <a:prstGeom prst="rect">
            <a:avLst/>
          </a:prstGeom>
        </p:spPr>
      </p:pic>
      <p:sp>
        <p:nvSpPr>
          <p:cNvPr id="23" name="正方形/長方形 22">
            <a:extLst>
              <a:ext uri="{FF2B5EF4-FFF2-40B4-BE49-F238E27FC236}">
                <a16:creationId xmlns:a16="http://schemas.microsoft.com/office/drawing/2014/main" id="{FE708FA0-C854-7C50-FBF2-02D5B9760A66}"/>
              </a:ext>
            </a:extLst>
          </p:cNvPr>
          <p:cNvSpPr/>
          <p:nvPr/>
        </p:nvSpPr>
        <p:spPr>
          <a:xfrm>
            <a:off x="319274" y="4414343"/>
            <a:ext cx="3725032" cy="638071"/>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600" dirty="0">
                <a:solidFill>
                  <a:prstClr val="black"/>
                </a:solidFill>
                <a:latin typeface="Meiryo UI"/>
              </a:rPr>
              <a:t>J-FAGY</a:t>
            </a:r>
            <a:r>
              <a:rPr kumimoji="1" lang="ja-JP" altLang="en-US" sz="600" dirty="0">
                <a:solidFill>
                  <a:prstClr val="black"/>
                </a:solidFill>
                <a:latin typeface="Meiryo UI"/>
              </a:rPr>
              <a:t>アレルゲンコードマスタは、</a:t>
            </a:r>
            <a:r>
              <a:rPr kumimoji="1" lang="en-US" altLang="ja-JP" sz="600" dirty="0">
                <a:solidFill>
                  <a:prstClr val="black"/>
                </a:solidFill>
                <a:latin typeface="Meiryo UI"/>
              </a:rPr>
              <a:t>20260531</a:t>
            </a:r>
            <a:r>
              <a:rPr kumimoji="1" lang="ja-JP" altLang="en-US" sz="600" dirty="0">
                <a:solidFill>
                  <a:prstClr val="black"/>
                </a:solidFill>
                <a:latin typeface="Meiryo UI"/>
              </a:rPr>
              <a:t>版への更新に際し、一部コードの</a:t>
            </a:r>
            <a:r>
              <a:rPr lang="ja-JP" altLang="en-US" sz="600" dirty="0">
                <a:solidFill>
                  <a:srgbClr val="000000"/>
                </a:solidFill>
                <a:latin typeface="Meiryo UI" panose="020B0604030504040204" pitchFamily="50" charset="-128"/>
                <a:ea typeface="Meiryo UI" panose="020B0604030504040204" pitchFamily="50" charset="-128"/>
              </a:rPr>
              <a:t>日本語表記</a:t>
            </a:r>
            <a:r>
              <a:rPr lang="en-US" altLang="ja-JP" sz="600" dirty="0">
                <a:solidFill>
                  <a:srgbClr val="000000"/>
                </a:solidFill>
                <a:latin typeface="Meiryo UI" panose="020B0604030504040204" pitchFamily="50" charset="-128"/>
                <a:ea typeface="Meiryo UI" panose="020B0604030504040204" pitchFamily="50" charset="-128"/>
              </a:rPr>
              <a:t>(</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solidFill>
                  <a:prstClr val="black"/>
                </a:solidFill>
                <a:latin typeface="Meiryo UI"/>
              </a:rPr>
              <a:t>の見直しを実施いたしました。そのため、</a:t>
            </a:r>
            <a:r>
              <a:rPr kumimoji="1" lang="en-US" altLang="ja-JP" sz="600" dirty="0">
                <a:solidFill>
                  <a:prstClr val="black"/>
                </a:solidFill>
                <a:latin typeface="Meiryo UI"/>
              </a:rPr>
              <a:t>20250401</a:t>
            </a:r>
            <a:r>
              <a:rPr kumimoji="1" lang="ja-JP" altLang="en-US" sz="600" dirty="0">
                <a:solidFill>
                  <a:prstClr val="black"/>
                </a:solidFill>
                <a:latin typeface="Meiryo UI"/>
              </a:rPr>
              <a:t>以前の版を用いて登録されている医療機関におかれましては、</a:t>
            </a:r>
            <a:r>
              <a:rPr kumimoji="1" lang="en-US" altLang="ja-JP" sz="600" dirty="0">
                <a:solidFill>
                  <a:prstClr val="black"/>
                </a:solidFill>
                <a:latin typeface="Meiryo UI"/>
              </a:rPr>
              <a:t>20260531</a:t>
            </a:r>
            <a:r>
              <a:rPr kumimoji="1" lang="ja-JP" altLang="en-US" sz="600" dirty="0">
                <a:solidFill>
                  <a:prstClr val="black"/>
                </a:solidFill>
                <a:latin typeface="Meiryo UI"/>
              </a:rPr>
              <a:t>版への移行をお願いいたします。</a:t>
            </a:r>
            <a:endParaRPr kumimoji="1" lang="en-US" altLang="ja-JP" sz="600" dirty="0">
              <a:solidFill>
                <a:prstClr val="black"/>
              </a:solidFill>
              <a:latin typeface="Meiryo UI"/>
            </a:endParaRPr>
          </a:p>
          <a:p>
            <a:pPr fontAlgn="base">
              <a:spcBef>
                <a:spcPct val="20000"/>
              </a:spcBef>
              <a:spcAft>
                <a:spcPct val="0"/>
              </a:spcAft>
              <a:defRPr/>
            </a:pPr>
            <a:r>
              <a:rPr kumimoji="1" lang="en-US" altLang="ja-JP" sz="600" dirty="0">
                <a:solidFill>
                  <a:prstClr val="black"/>
                </a:solidFill>
                <a:latin typeface="Meiryo UI"/>
              </a:rPr>
              <a:t>※</a:t>
            </a:r>
            <a:r>
              <a:rPr kumimoji="1" lang="en-US" altLang="ja-JP" sz="600" dirty="0">
                <a:solidFill>
                  <a:srgbClr val="000000"/>
                </a:solidFill>
                <a:latin typeface="Meiryo UI" panose="020B0604030504040204" pitchFamily="50" charset="-128"/>
                <a:ea typeface="Meiryo UI" panose="020B0604030504040204" pitchFamily="50" charset="-128"/>
              </a:rPr>
              <a:t> </a:t>
            </a:r>
            <a:r>
              <a:rPr kumimoji="1" lang="ja-JP" altLang="en-US" sz="600" dirty="0">
                <a:solidFill>
                  <a:srgbClr val="000000"/>
                </a:solidFill>
                <a:latin typeface="Meiryo UI" panose="020B0604030504040204" pitchFamily="50" charset="-128"/>
                <a:ea typeface="Meiryo UI" panose="020B0604030504040204" pitchFamily="50" charset="-128"/>
              </a:rPr>
              <a:t>日本語表記</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solidFill>
                  <a:prstClr val="black"/>
                </a:solidFill>
                <a:latin typeface="Meiryo UI"/>
              </a:rPr>
              <a:t>の変更は、消費者庁が定める特定原材料等の表記に</a:t>
            </a:r>
            <a:r>
              <a:rPr kumimoji="1" lang="en-US" altLang="ja-JP" sz="600" dirty="0">
                <a:solidFill>
                  <a:prstClr val="black"/>
                </a:solidFill>
                <a:latin typeface="Meiryo UI"/>
              </a:rPr>
              <a:t>J-FAGY</a:t>
            </a:r>
            <a:r>
              <a:rPr kumimoji="1" lang="ja-JP" altLang="en-US" sz="600" dirty="0">
                <a:solidFill>
                  <a:prstClr val="black"/>
                </a:solidFill>
                <a:latin typeface="Meiryo UI"/>
              </a:rPr>
              <a:t>コードの表記を合わせることを目的としています。</a:t>
            </a:r>
            <a:endParaRPr kumimoji="1" lang="en-US" altLang="ja-JP" sz="600" dirty="0">
              <a:solidFill>
                <a:prstClr val="black"/>
              </a:solidFill>
              <a:latin typeface="Meiryo UI"/>
            </a:endParaRPr>
          </a:p>
        </p:txBody>
      </p:sp>
      <p:pic>
        <p:nvPicPr>
          <p:cNvPr id="24" name="図 23">
            <a:extLst>
              <a:ext uri="{FF2B5EF4-FFF2-40B4-BE49-F238E27FC236}">
                <a16:creationId xmlns:a16="http://schemas.microsoft.com/office/drawing/2014/main" id="{65EEC868-59B3-1F17-C8CD-FA8D7CA98B59}"/>
              </a:ext>
            </a:extLst>
          </p:cNvPr>
          <p:cNvPicPr>
            <a:picLocks noChangeAspect="1"/>
          </p:cNvPicPr>
          <p:nvPr/>
        </p:nvPicPr>
        <p:blipFill>
          <a:blip r:embed="rId4"/>
          <a:srcRect b="74573"/>
          <a:stretch>
            <a:fillRect/>
          </a:stretch>
        </p:blipFill>
        <p:spPr>
          <a:xfrm>
            <a:off x="409503" y="5111110"/>
            <a:ext cx="3837337" cy="130290"/>
          </a:xfrm>
          <a:prstGeom prst="rect">
            <a:avLst/>
          </a:prstGeom>
        </p:spPr>
      </p:pic>
      <p:sp>
        <p:nvSpPr>
          <p:cNvPr id="25" name="正方形/長方形 24">
            <a:extLst>
              <a:ext uri="{FF2B5EF4-FFF2-40B4-BE49-F238E27FC236}">
                <a16:creationId xmlns:a16="http://schemas.microsoft.com/office/drawing/2014/main" id="{593B4DD8-58BB-9C2A-A58D-40065B71580E}"/>
              </a:ext>
            </a:extLst>
          </p:cNvPr>
          <p:cNvSpPr/>
          <p:nvPr/>
        </p:nvSpPr>
        <p:spPr>
          <a:xfrm>
            <a:off x="315777" y="5690733"/>
            <a:ext cx="3893627" cy="1330759"/>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600" b="1" dirty="0">
                <a:solidFill>
                  <a:srgbClr val="FF0000"/>
                </a:solidFill>
                <a:latin typeface="Meiryo UI"/>
                <a:ea typeface="Meiryo UI"/>
              </a:rPr>
              <a:t>【</a:t>
            </a:r>
            <a:r>
              <a:rPr kumimoji="1" lang="ja-JP" altLang="en-US" sz="600" b="1" dirty="0">
                <a:solidFill>
                  <a:srgbClr val="FF0000"/>
                </a:solidFill>
                <a:latin typeface="Meiryo UI"/>
                <a:ea typeface="Meiryo UI"/>
              </a:rPr>
              <a:t>ご留意事項</a:t>
            </a:r>
            <a:r>
              <a:rPr kumimoji="1" lang="en-US" altLang="ja-JP" sz="600" b="1" dirty="0">
                <a:solidFill>
                  <a:srgbClr val="FF0000"/>
                </a:solidFill>
                <a:latin typeface="Meiryo UI"/>
                <a:ea typeface="Meiryo UI"/>
              </a:rPr>
              <a:t>】</a:t>
            </a:r>
          </a:p>
          <a:p>
            <a:pPr lvl="0" fontAlgn="base">
              <a:spcBef>
                <a:spcPct val="20000"/>
              </a:spcBef>
              <a:spcAft>
                <a:spcPct val="0"/>
              </a:spcAft>
              <a:defRPr/>
            </a:pPr>
            <a:r>
              <a:rPr kumimoji="1" lang="en-US" altLang="ja-JP" sz="600" dirty="0">
                <a:latin typeface="Meiryo UI"/>
                <a:ea typeface="Meiryo UI"/>
              </a:rPr>
              <a:t>2026</a:t>
            </a:r>
            <a:r>
              <a:rPr kumimoji="1" lang="ja-JP" altLang="en-US" sz="600" dirty="0">
                <a:latin typeface="Meiryo UI"/>
                <a:ea typeface="Meiryo UI"/>
              </a:rPr>
              <a:t>年</a:t>
            </a:r>
            <a:r>
              <a:rPr kumimoji="1" lang="en-US" altLang="ja-JP" sz="600" i="0" u="none" strike="noStrike" kern="1200" cap="none" spc="0" normalizeH="0" baseline="0" noProof="0" dirty="0">
                <a:ln>
                  <a:noFill/>
                </a:ln>
                <a:effectLst/>
                <a:uLnTx/>
                <a:uFillTx/>
                <a:latin typeface="Meiryo UI"/>
                <a:ea typeface="Meiryo UI"/>
                <a:cs typeface="+mn-cs"/>
              </a:rPr>
              <a:t>9</a:t>
            </a:r>
            <a:r>
              <a:rPr kumimoji="1" lang="ja-JP" altLang="en-US" sz="600" i="0" u="none" strike="noStrike" kern="1200" cap="none" spc="0" normalizeH="0" baseline="0" noProof="0" dirty="0">
                <a:ln>
                  <a:noFill/>
                </a:ln>
                <a:effectLst/>
                <a:uLnTx/>
                <a:uFillTx/>
                <a:latin typeface="Meiryo UI"/>
                <a:ea typeface="Meiryo UI"/>
                <a:cs typeface="+mn-cs"/>
              </a:rPr>
              <a:t>月</a:t>
            </a:r>
            <a:r>
              <a:rPr kumimoji="1" lang="en-US" altLang="ja-JP" sz="600" i="0" u="none" strike="noStrike" kern="1200" cap="none" spc="0" normalizeH="0" baseline="0" noProof="0" dirty="0">
                <a:ln>
                  <a:noFill/>
                </a:ln>
                <a:effectLst/>
                <a:uLnTx/>
                <a:uFillTx/>
                <a:latin typeface="Meiryo UI"/>
                <a:ea typeface="Meiryo UI"/>
                <a:cs typeface="+mn-cs"/>
              </a:rPr>
              <a:t>28</a:t>
            </a:r>
            <a:r>
              <a:rPr kumimoji="1" lang="ja-JP" altLang="en-US" sz="600" i="0" u="none" strike="noStrike" kern="1200" cap="none" spc="0" normalizeH="0" baseline="0" noProof="0" dirty="0">
                <a:ln>
                  <a:noFill/>
                </a:ln>
                <a:effectLst/>
                <a:uLnTx/>
                <a:uFillTx/>
                <a:latin typeface="Meiryo UI"/>
                <a:ea typeface="Meiryo UI"/>
                <a:cs typeface="+mn-cs"/>
              </a:rPr>
              <a:t>日以降は、</a:t>
            </a:r>
            <a:r>
              <a:rPr kumimoji="1" lang="en-US" altLang="ja-JP" sz="600" dirty="0">
                <a:latin typeface="Meiryo UI"/>
                <a:ea typeface="Meiryo UI"/>
              </a:rPr>
              <a:t>20250401</a:t>
            </a:r>
            <a:r>
              <a:rPr kumimoji="1" lang="ja-JP" altLang="en-US" sz="600" i="0" u="none" strike="noStrike" kern="1200" cap="none" spc="0" normalizeH="0" baseline="0" noProof="0" dirty="0">
                <a:ln>
                  <a:noFill/>
                </a:ln>
                <a:effectLst/>
                <a:uLnTx/>
                <a:uFillTx/>
                <a:latin typeface="Meiryo UI"/>
                <a:ea typeface="Meiryo UI"/>
                <a:cs typeface="+mn-cs"/>
              </a:rPr>
              <a:t>版に記載されていた次の</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dirty="0">
                <a:ln>
                  <a:noFill/>
                </a:ln>
                <a:effectLst/>
                <a:uLnTx/>
                <a:uFillTx/>
                <a:latin typeface="Meiryo UI"/>
                <a:ea typeface="Meiryo UI"/>
                <a:cs typeface="+mn-cs"/>
              </a:rPr>
              <a:t>の</a:t>
            </a:r>
            <a:r>
              <a:rPr kumimoji="1" lang="en-US" altLang="ja-JP" sz="600" i="0" u="none" strike="noStrike" kern="1200" cap="none" spc="0" normalizeH="0" baseline="0" noProof="0" dirty="0">
                <a:ln>
                  <a:noFill/>
                </a:ln>
                <a:effectLst/>
                <a:uLnTx/>
                <a:uFillTx/>
                <a:latin typeface="Meiryo UI"/>
                <a:ea typeface="Meiryo UI"/>
                <a:cs typeface="+mn-cs"/>
              </a:rPr>
              <a:t>J-FAGY</a:t>
            </a:r>
            <a:r>
              <a:rPr kumimoji="1" lang="ja-JP" altLang="en-US" sz="600" i="0" u="none" strike="noStrike" kern="1200" cap="none" spc="0" normalizeH="0" baseline="0" noProof="0" dirty="0">
                <a:ln>
                  <a:noFill/>
                </a:ln>
                <a:effectLst/>
                <a:uLnTx/>
                <a:uFillTx/>
                <a:latin typeface="Meiryo UI"/>
                <a:ea typeface="Meiryo UI"/>
                <a:cs typeface="+mn-cs"/>
              </a:rPr>
              <a:t>コードが</a:t>
            </a:r>
            <a:r>
              <a:rPr kumimoji="1" lang="ja-JP" altLang="en-US" sz="600" dirty="0">
                <a:latin typeface="Meiryo UI"/>
                <a:ea typeface="Meiryo UI"/>
              </a:rPr>
              <a:t>変更となったため</a:t>
            </a:r>
            <a:r>
              <a:rPr kumimoji="1" lang="ja-JP" altLang="en-US" sz="600" i="0" u="none" strike="noStrike" kern="1200" cap="none" spc="0" normalizeH="0" baseline="0" noProof="0" dirty="0">
                <a:ln>
                  <a:noFill/>
                </a:ln>
                <a:effectLst/>
                <a:uLnTx/>
                <a:uFillTx/>
                <a:latin typeface="Meiryo UI"/>
                <a:ea typeface="Meiryo UI"/>
                <a:cs typeface="+mn-cs"/>
              </a:rPr>
              <a:t>、電子カルテ情報共有サービスに登録できなくなりました。</a:t>
            </a:r>
            <a:endParaRPr kumimoji="1" lang="en-US" altLang="ja-JP" sz="600" i="0" u="none" strike="noStrike" kern="1200" cap="none" spc="0" normalizeH="0" baseline="0" noProof="0" dirty="0">
              <a:ln>
                <a:noFill/>
              </a:ln>
              <a:effectLst/>
              <a:uLnTx/>
              <a:uFillTx/>
              <a:latin typeface="Meiryo UI"/>
              <a:ea typeface="Meiryo UI"/>
              <a:cs typeface="+mn-cs"/>
            </a:endParaRPr>
          </a:p>
          <a:p>
            <a:pPr lvl="0" fontAlgn="base">
              <a:spcBef>
                <a:spcPct val="20000"/>
              </a:spcBef>
              <a:spcAft>
                <a:spcPct val="0"/>
              </a:spcAft>
              <a:defRPr/>
            </a:pPr>
            <a:r>
              <a:rPr kumimoji="1" lang="ja-JP" altLang="en-US" sz="600" i="0" u="none" strike="noStrike" kern="1200" cap="none" spc="0" normalizeH="0" baseline="0" noProof="0" dirty="0">
                <a:ln>
                  <a:noFill/>
                </a:ln>
                <a:effectLst/>
                <a:uLnTx/>
                <a:uFillTx/>
                <a:latin typeface="Meiryo UI"/>
                <a:ea typeface="Meiryo UI"/>
                <a:cs typeface="+mn-cs"/>
              </a:rPr>
              <a:t>新しい</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dirty="0">
                <a:ln>
                  <a:noFill/>
                </a:ln>
                <a:effectLst/>
                <a:uLnTx/>
                <a:uFillTx/>
                <a:latin typeface="Meiryo UI"/>
                <a:ea typeface="Meiryo UI"/>
                <a:cs typeface="+mn-cs"/>
              </a:rPr>
              <a:t>の詳細につきましては、</a:t>
            </a:r>
            <a:r>
              <a:rPr kumimoji="1" lang="en-US" altLang="ja-JP" sz="600" i="0" u="none" strike="noStrike" kern="1200" cap="none" spc="0" normalizeH="0" baseline="0" noProof="0" dirty="0">
                <a:ln>
                  <a:noFill/>
                </a:ln>
                <a:effectLst/>
                <a:uLnTx/>
                <a:uFillTx/>
                <a:latin typeface="Meiryo UI"/>
                <a:ea typeface="Meiryo UI"/>
                <a:cs typeface="+mn-cs"/>
              </a:rPr>
              <a:t>20260531</a:t>
            </a:r>
            <a:r>
              <a:rPr kumimoji="1" lang="ja-JP" altLang="en-US" sz="600" i="0" u="none" strike="noStrike" kern="1200" cap="none" spc="0" normalizeH="0" baseline="0" noProof="0" dirty="0">
                <a:ln>
                  <a:noFill/>
                </a:ln>
                <a:effectLst/>
                <a:uLnTx/>
                <a:uFillTx/>
                <a:latin typeface="Meiryo UI"/>
                <a:ea typeface="Meiryo UI"/>
                <a:cs typeface="+mn-cs"/>
              </a:rPr>
              <a:t>版を</a:t>
            </a:r>
            <a:r>
              <a:rPr kumimoji="1" lang="ja-JP" altLang="en-US" sz="600" dirty="0">
                <a:solidFill>
                  <a:prstClr val="black"/>
                </a:solidFill>
                <a:latin typeface="Meiryo UI (Body)"/>
              </a:rPr>
              <a:t>ご確認ください。</a:t>
            </a:r>
            <a:endParaRPr kumimoji="1" lang="en-US" altLang="ja-JP" sz="600" dirty="0">
              <a:solidFill>
                <a:prstClr val="black"/>
              </a:solidFill>
              <a:latin typeface="Meiryo UI (Body)"/>
            </a:endParaRPr>
          </a:p>
          <a:p>
            <a:pPr lvl="0" fontAlgn="base">
              <a:spcBef>
                <a:spcPct val="20000"/>
              </a:spcBef>
              <a:spcAft>
                <a:spcPct val="0"/>
              </a:spcAft>
              <a:defRPr/>
            </a:pPr>
            <a:r>
              <a:rPr kumimoji="1" lang="ja-JP" altLang="en-US" sz="600" dirty="0">
                <a:latin typeface="Meiryo UI"/>
                <a:ea typeface="Meiryo UI"/>
              </a:rPr>
              <a:t>　</a:t>
            </a:r>
            <a:r>
              <a:rPr kumimoji="1" lang="en-US" altLang="ja-JP" sz="600" dirty="0">
                <a:latin typeface="Meiryo UI"/>
                <a:ea typeface="Meiryo UI"/>
              </a:rPr>
              <a:t>-</a:t>
            </a:r>
            <a:r>
              <a:rPr kumimoji="1" lang="ja-JP" altLang="en-US" sz="600" dirty="0">
                <a:latin typeface="Meiryo UI"/>
                <a:ea typeface="Meiryo UI"/>
              </a:rPr>
              <a:t>食用鳥卵</a:t>
            </a:r>
            <a:endParaRPr kumimoji="1" lang="en-US" altLang="ja-JP" sz="600" dirty="0">
              <a:latin typeface="Meiryo UI"/>
              <a:ea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落花生</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いか類</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マカデミアナッツ</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やまのいも</a:t>
            </a:r>
            <a:endParaRPr kumimoji="1" lang="en-US" altLang="ja-JP" sz="600" i="0" u="none" strike="noStrike" kern="1200" cap="none" spc="0" normalizeH="0" baseline="0" noProof="0" dirty="0">
              <a:ln>
                <a:noFill/>
              </a:ln>
              <a:effectLst/>
              <a:uLnTx/>
              <a:uFillTx/>
              <a:latin typeface="Meiryo UI"/>
              <a:ea typeface="Meiryo UI"/>
              <a:cs typeface="+mn-cs"/>
            </a:endParaRPr>
          </a:p>
          <a:p>
            <a:pPr marL="0" marR="0" lvl="0" indent="0" defTabSz="457200" rtl="0" eaLnBrk="1" fontAlgn="base" latinLnBrk="0" hangingPunct="1">
              <a:lnSpc>
                <a:spcPct val="100000"/>
              </a:lnSpc>
              <a:spcBef>
                <a:spcPct val="20000"/>
              </a:spcBef>
              <a:spcAft>
                <a:spcPct val="0"/>
              </a:spcAft>
              <a:buClrTx/>
              <a:buSzTx/>
              <a:buFontTx/>
              <a:buNone/>
              <a:tabLst/>
              <a:defRPr/>
            </a:pPr>
            <a:endParaRPr kumimoji="1" lang="ja-JP" altLang="en-US" sz="600" i="0" u="none" strike="noStrike" kern="1200" cap="none" spc="0" normalizeH="0" baseline="0" noProof="0" dirty="0">
              <a:ln>
                <a:noFill/>
              </a:ln>
              <a:effectLst/>
              <a:uLnTx/>
              <a:uFillTx/>
              <a:latin typeface="Meiryo UI"/>
              <a:ea typeface="Meiryo UI"/>
              <a:cs typeface="+mn-cs"/>
            </a:endParaRPr>
          </a:p>
        </p:txBody>
      </p:sp>
      <p:graphicFrame>
        <p:nvGraphicFramePr>
          <p:cNvPr id="27" name="表 26">
            <a:extLst>
              <a:ext uri="{FF2B5EF4-FFF2-40B4-BE49-F238E27FC236}">
                <a16:creationId xmlns:a16="http://schemas.microsoft.com/office/drawing/2014/main" id="{7365F3D7-DC1F-0A67-7631-6CBA0AE444C3}"/>
              </a:ext>
            </a:extLst>
          </p:cNvPr>
          <p:cNvGraphicFramePr>
            <a:graphicFrameLocks noGrp="1"/>
          </p:cNvGraphicFramePr>
          <p:nvPr>
            <p:extLst>
              <p:ext uri="{D42A27DB-BD31-4B8C-83A1-F6EECF244321}">
                <p14:modId xmlns:p14="http://schemas.microsoft.com/office/powerpoint/2010/main" val="1990631694"/>
              </p:ext>
            </p:extLst>
          </p:nvPr>
        </p:nvGraphicFramePr>
        <p:xfrm>
          <a:off x="549758" y="5291310"/>
          <a:ext cx="3512036" cy="349940"/>
        </p:xfrm>
        <a:graphic>
          <a:graphicData uri="http://schemas.openxmlformats.org/drawingml/2006/table">
            <a:tbl>
              <a:tblPr/>
              <a:tblGrid>
                <a:gridCol w="595907">
                  <a:extLst>
                    <a:ext uri="{9D8B030D-6E8A-4147-A177-3AD203B41FA5}">
                      <a16:colId xmlns:a16="http://schemas.microsoft.com/office/drawing/2014/main" val="4058772077"/>
                    </a:ext>
                  </a:extLst>
                </a:gridCol>
                <a:gridCol w="669375">
                  <a:extLst>
                    <a:ext uri="{9D8B030D-6E8A-4147-A177-3AD203B41FA5}">
                      <a16:colId xmlns:a16="http://schemas.microsoft.com/office/drawing/2014/main" val="154882630"/>
                    </a:ext>
                  </a:extLst>
                </a:gridCol>
                <a:gridCol w="748918">
                  <a:extLst>
                    <a:ext uri="{9D8B030D-6E8A-4147-A177-3AD203B41FA5}">
                      <a16:colId xmlns:a16="http://schemas.microsoft.com/office/drawing/2014/main" val="227139091"/>
                    </a:ext>
                  </a:extLst>
                </a:gridCol>
                <a:gridCol w="748918">
                  <a:extLst>
                    <a:ext uri="{9D8B030D-6E8A-4147-A177-3AD203B41FA5}">
                      <a16:colId xmlns:a16="http://schemas.microsoft.com/office/drawing/2014/main" val="892848932"/>
                    </a:ext>
                  </a:extLst>
                </a:gridCol>
                <a:gridCol w="748918">
                  <a:extLst>
                    <a:ext uri="{9D8B030D-6E8A-4147-A177-3AD203B41FA5}">
                      <a16:colId xmlns:a16="http://schemas.microsoft.com/office/drawing/2014/main" val="420957508"/>
                    </a:ext>
                  </a:extLst>
                </a:gridCol>
              </a:tblGrid>
              <a:tr h="176190">
                <a:tc>
                  <a:txBody>
                    <a:bodyPr/>
                    <a:lstStyle/>
                    <a:p>
                      <a:pPr algn="ctr" fontAlgn="ctr">
                        <a:buNone/>
                      </a:pPr>
                      <a:r>
                        <a:rPr lang="ja-JP" altLang="en-US" sz="6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本番環境</a:t>
                      </a:r>
                      <a:br>
                        <a:rPr lang="en-US" altLang="ja-JP" sz="600" b="0" i="0" u="none" strike="noStrike" dirty="0">
                          <a:solidFill>
                            <a:srgbClr val="000000"/>
                          </a:solidFill>
                          <a:effectLst/>
                          <a:latin typeface="+mj-ea"/>
                          <a:ea typeface="+mj-ea"/>
                        </a:rPr>
                      </a:br>
                      <a:r>
                        <a:rPr lang="ja-JP" altLang="en-US" sz="6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600" b="0" i="0" u="none" strike="noStrike" kern="1200" dirty="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dirty="0">
                          <a:solidFill>
                            <a:srgbClr val="000000"/>
                          </a:solidFill>
                          <a:effectLst/>
                          <a:latin typeface="+mj-ea"/>
                          <a:ea typeface="+mn-ea"/>
                          <a:cs typeface="+mn-cs"/>
                        </a:rPr>
                        <a:t>反映日</a:t>
                      </a:r>
                      <a:endParaRPr lang="ja-JP" altLang="en-US" sz="600" b="0" i="0" u="none" strike="noStrike" dirty="0">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600" b="0" i="0" u="none" strike="noStrike" kern="120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57535">
                <a:tc>
                  <a:txBody>
                    <a:bodyPr/>
                    <a:lstStyle/>
                    <a:p>
                      <a:pPr algn="ctr" fontAlgn="ctr">
                        <a:buNone/>
                      </a:pPr>
                      <a:r>
                        <a:rPr lang="en-US" altLang="ja-JP" sz="600" b="0" i="0" u="none" strike="noStrike" dirty="0">
                          <a:solidFill>
                            <a:srgbClr val="000000"/>
                          </a:solidFill>
                          <a:effectLst/>
                          <a:latin typeface="+mj-ea"/>
                          <a:ea typeface="+mj-ea"/>
                        </a:rPr>
                        <a:t>20260531</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2026/05/31</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2026/9/28</a:t>
                      </a:r>
                      <a:endParaRPr lang="ja-JP" altLang="en-US" sz="600" b="0" i="0" u="none" strike="noStrike" dirty="0">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2026/9/24</a:t>
                      </a:r>
                      <a:endParaRPr lang="ja-JP" altLang="en-US" sz="6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2026/08/13</a:t>
                      </a:r>
                      <a:endParaRPr lang="ja-JP" altLang="en-US" sz="600" b="0" i="0" u="none" strike="noStrike" dirty="0">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pic>
        <p:nvPicPr>
          <p:cNvPr id="29" name="図 28">
            <a:extLst>
              <a:ext uri="{FF2B5EF4-FFF2-40B4-BE49-F238E27FC236}">
                <a16:creationId xmlns:a16="http://schemas.microsoft.com/office/drawing/2014/main" id="{89A90599-E9E6-D53B-3629-CE8E3B0F197A}"/>
              </a:ext>
            </a:extLst>
          </p:cNvPr>
          <p:cNvPicPr>
            <a:picLocks noChangeAspect="1"/>
          </p:cNvPicPr>
          <p:nvPr/>
        </p:nvPicPr>
        <p:blipFill>
          <a:blip r:embed="rId5"/>
          <a:srcRect t="91998" b="1648"/>
          <a:stretch>
            <a:fillRect/>
          </a:stretch>
        </p:blipFill>
        <p:spPr>
          <a:xfrm>
            <a:off x="217742" y="8000868"/>
            <a:ext cx="4234676" cy="209249"/>
          </a:xfrm>
          <a:prstGeom prst="rect">
            <a:avLst/>
          </a:prstGeom>
        </p:spPr>
      </p:pic>
      <p:graphicFrame>
        <p:nvGraphicFramePr>
          <p:cNvPr id="31" name="表 30">
            <a:extLst>
              <a:ext uri="{FF2B5EF4-FFF2-40B4-BE49-F238E27FC236}">
                <a16:creationId xmlns:a16="http://schemas.microsoft.com/office/drawing/2014/main" id="{9FC5E3FD-127F-F023-DFAE-AE8DA854C1AB}"/>
              </a:ext>
            </a:extLst>
          </p:cNvPr>
          <p:cNvGraphicFramePr>
            <a:graphicFrameLocks noGrp="1"/>
          </p:cNvGraphicFramePr>
          <p:nvPr>
            <p:extLst>
              <p:ext uri="{D42A27DB-BD31-4B8C-83A1-F6EECF244321}">
                <p14:modId xmlns:p14="http://schemas.microsoft.com/office/powerpoint/2010/main" val="3355623016"/>
              </p:ext>
            </p:extLst>
          </p:nvPr>
        </p:nvGraphicFramePr>
        <p:xfrm>
          <a:off x="409503" y="7531116"/>
          <a:ext cx="3710008" cy="368373"/>
        </p:xfrm>
        <a:graphic>
          <a:graphicData uri="http://schemas.openxmlformats.org/drawingml/2006/table">
            <a:tbl>
              <a:tblPr/>
              <a:tblGrid>
                <a:gridCol w="1060002">
                  <a:extLst>
                    <a:ext uri="{9D8B030D-6E8A-4147-A177-3AD203B41FA5}">
                      <a16:colId xmlns:a16="http://schemas.microsoft.com/office/drawing/2014/main" val="2741535545"/>
                    </a:ext>
                  </a:extLst>
                </a:gridCol>
                <a:gridCol w="2650006">
                  <a:extLst>
                    <a:ext uri="{9D8B030D-6E8A-4147-A177-3AD203B41FA5}">
                      <a16:colId xmlns:a16="http://schemas.microsoft.com/office/drawing/2014/main" val="2597624301"/>
                    </a:ext>
                  </a:extLst>
                </a:gridCol>
              </a:tblGrid>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公開日</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2336640960"/>
                  </a:ext>
                </a:extLst>
              </a:tr>
              <a:tr h="122791">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20250401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20250603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8799979"/>
                  </a:ext>
                </a:extLst>
              </a:tr>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20240709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20250207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4982346"/>
                  </a:ext>
                </a:extLst>
              </a:tr>
            </a:tbl>
          </a:graphicData>
        </a:graphic>
      </p:graphicFrame>
      <p:grpSp>
        <p:nvGrpSpPr>
          <p:cNvPr id="34" name="グループ化 33">
            <a:extLst>
              <a:ext uri="{FF2B5EF4-FFF2-40B4-BE49-F238E27FC236}">
                <a16:creationId xmlns:a16="http://schemas.microsoft.com/office/drawing/2014/main" id="{0713336A-A835-39DE-092B-BF1A315126DB}"/>
              </a:ext>
            </a:extLst>
          </p:cNvPr>
          <p:cNvGrpSpPr/>
          <p:nvPr/>
        </p:nvGrpSpPr>
        <p:grpSpPr>
          <a:xfrm>
            <a:off x="468609" y="7211180"/>
            <a:ext cx="3320193" cy="258145"/>
            <a:chOff x="8168173" y="4422050"/>
            <a:chExt cx="2743961" cy="213343"/>
          </a:xfrm>
        </p:grpSpPr>
        <p:pic>
          <p:nvPicPr>
            <p:cNvPr id="35" name="図 34">
              <a:extLst>
                <a:ext uri="{FF2B5EF4-FFF2-40B4-BE49-F238E27FC236}">
                  <a16:creationId xmlns:a16="http://schemas.microsoft.com/office/drawing/2014/main" id="{DAE98181-7E36-FA6D-8130-7DBCCDC54FE8}"/>
                </a:ext>
              </a:extLst>
            </p:cNvPr>
            <p:cNvPicPr>
              <a:picLocks noChangeAspect="1"/>
            </p:cNvPicPr>
            <p:nvPr/>
          </p:nvPicPr>
          <p:blipFill>
            <a:blip r:embed="rId6"/>
            <a:srcRect l="1910" t="81326" r="2535" b="8895"/>
            <a:stretch>
              <a:fillRect/>
            </a:stretch>
          </p:blipFill>
          <p:spPr>
            <a:xfrm>
              <a:off x="8168173" y="4422050"/>
              <a:ext cx="2743961" cy="213343"/>
            </a:xfrm>
            <a:prstGeom prst="rect">
              <a:avLst/>
            </a:prstGeom>
          </p:spPr>
        </p:pic>
        <p:sp>
          <p:nvSpPr>
            <p:cNvPr id="37" name="正方形/長方形 36">
              <a:extLst>
                <a:ext uri="{FF2B5EF4-FFF2-40B4-BE49-F238E27FC236}">
                  <a16:creationId xmlns:a16="http://schemas.microsoft.com/office/drawing/2014/main" id="{5F7A7CA4-2B3F-A862-133C-D3AF09E44326}"/>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令和</a:t>
              </a:r>
              <a:r>
                <a:rPr kumimoji="1" lang="en-US" altLang="ja-JP" sz="600" b="1" i="0" u="none" strike="noStrike" kern="1200" cap="none" spc="0" normalizeH="0" baseline="0" noProof="0" dirty="0">
                  <a:ln>
                    <a:noFill/>
                  </a:ln>
                  <a:solidFill>
                    <a:prstClr val="black"/>
                  </a:solidFill>
                  <a:effectLst/>
                  <a:uLnTx/>
                  <a:uFillTx/>
                  <a:latin typeface="Meiryo UI"/>
                  <a:ea typeface="Meiryo UI"/>
                  <a:cs typeface="+mn-cs"/>
                </a:rPr>
                <a:t>8</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年</a:t>
              </a:r>
              <a:r>
                <a:rPr kumimoji="1" lang="en-US" altLang="ja-JP" sz="600" b="1" dirty="0">
                  <a:solidFill>
                    <a:prstClr val="black"/>
                  </a:solidFill>
                  <a:latin typeface="Meiryo UI"/>
                  <a:ea typeface="Meiryo UI"/>
                </a:rPr>
                <a:t>9</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月</a:t>
              </a:r>
              <a:r>
                <a:rPr kumimoji="1" lang="en-US" altLang="ja-JP" sz="600" b="1" i="0" u="none" strike="noStrike" kern="1200" cap="none" spc="0" normalizeH="0" baseline="0" noProof="0" dirty="0">
                  <a:ln>
                    <a:noFill/>
                  </a:ln>
                  <a:solidFill>
                    <a:prstClr val="black"/>
                  </a:solidFill>
                  <a:effectLst/>
                  <a:uLnTx/>
                  <a:uFillTx/>
                  <a:latin typeface="Meiryo UI"/>
                  <a:ea typeface="Meiryo UI"/>
                  <a:cs typeface="+mn-cs"/>
                </a:rPr>
                <a:t>27</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日まで適用のマスタのダウンロードリンク</a:t>
              </a:r>
            </a:p>
          </p:txBody>
        </p:sp>
      </p:grpSp>
      <p:sp>
        <p:nvSpPr>
          <p:cNvPr id="40" name="左中かっこ 39">
            <a:extLst>
              <a:ext uri="{FF2B5EF4-FFF2-40B4-BE49-F238E27FC236}">
                <a16:creationId xmlns:a16="http://schemas.microsoft.com/office/drawing/2014/main" id="{34509D7A-955A-B247-B4B6-23E47F5765BC}"/>
              </a:ext>
            </a:extLst>
          </p:cNvPr>
          <p:cNvSpPr/>
          <p:nvPr/>
        </p:nvSpPr>
        <p:spPr bwMode="auto">
          <a:xfrm>
            <a:off x="-30258" y="7527970"/>
            <a:ext cx="183244" cy="494309"/>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43" name="左中かっこ 42">
            <a:extLst>
              <a:ext uri="{FF2B5EF4-FFF2-40B4-BE49-F238E27FC236}">
                <a16:creationId xmlns:a16="http://schemas.microsoft.com/office/drawing/2014/main" id="{77AAD412-D2F9-8909-5BF3-8D1C272E7318}"/>
              </a:ext>
            </a:extLst>
          </p:cNvPr>
          <p:cNvSpPr/>
          <p:nvPr/>
        </p:nvSpPr>
        <p:spPr bwMode="auto">
          <a:xfrm>
            <a:off x="4925495" y="8618886"/>
            <a:ext cx="183244" cy="494309"/>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Tree>
    <p:extLst>
      <p:ext uri="{BB962C8B-B14F-4D97-AF65-F5344CB8AC3E}">
        <p14:creationId xmlns:p14="http://schemas.microsoft.com/office/powerpoint/2010/main" val="2763375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コンテンツ プレースホルダー 4">
            <a:extLst>
              <a:ext uri="{FF2B5EF4-FFF2-40B4-BE49-F238E27FC236}">
                <a16:creationId xmlns:a16="http://schemas.microsoft.com/office/drawing/2014/main" id="{4F46248C-A9F9-1C5C-5E47-225900514BA5}"/>
              </a:ext>
            </a:extLst>
          </p:cNvPr>
          <p:cNvGraphicFramePr>
            <a:graphicFrameLocks noGrp="1"/>
          </p:cNvGraphicFramePr>
          <p:nvPr>
            <p:ph idx="1"/>
            <p:extLst>
              <p:ext uri="{D42A27DB-BD31-4B8C-83A1-F6EECF244321}">
                <p14:modId xmlns:p14="http://schemas.microsoft.com/office/powerpoint/2010/main" val="1868171512"/>
              </p:ext>
            </p:extLst>
          </p:nvPr>
        </p:nvGraphicFramePr>
        <p:xfrm>
          <a:off x="241704" y="1398643"/>
          <a:ext cx="7372279" cy="4480560"/>
        </p:xfrm>
        <a:graphic>
          <a:graphicData uri="http://schemas.openxmlformats.org/drawingml/2006/table">
            <a:tbl>
              <a:tblPr/>
              <a:tblGrid>
                <a:gridCol w="972000">
                  <a:extLst>
                    <a:ext uri="{9D8B030D-6E8A-4147-A177-3AD203B41FA5}">
                      <a16:colId xmlns:a16="http://schemas.microsoft.com/office/drawing/2014/main" val="1584273587"/>
                    </a:ext>
                  </a:extLst>
                </a:gridCol>
                <a:gridCol w="2412000">
                  <a:extLst>
                    <a:ext uri="{9D8B030D-6E8A-4147-A177-3AD203B41FA5}">
                      <a16:colId xmlns:a16="http://schemas.microsoft.com/office/drawing/2014/main" val="3824565766"/>
                    </a:ext>
                  </a:extLst>
                </a:gridCol>
                <a:gridCol w="2412000">
                  <a:extLst>
                    <a:ext uri="{9D8B030D-6E8A-4147-A177-3AD203B41FA5}">
                      <a16:colId xmlns:a16="http://schemas.microsoft.com/office/drawing/2014/main" val="1736615311"/>
                    </a:ext>
                  </a:extLst>
                </a:gridCol>
                <a:gridCol w="1576279">
                  <a:extLst>
                    <a:ext uri="{9D8B030D-6E8A-4147-A177-3AD203B41FA5}">
                      <a16:colId xmlns:a16="http://schemas.microsoft.com/office/drawing/2014/main" val="2598178170"/>
                    </a:ext>
                  </a:extLst>
                </a:gridCol>
              </a:tblGrid>
              <a:tr h="0">
                <a:tc>
                  <a:txBody>
                    <a:bodyPr/>
                    <a:lstStyle/>
                    <a:p>
                      <a:pPr algn="ctr">
                        <a:buNone/>
                      </a:pPr>
                      <a:r>
                        <a:rPr lang="ja-JP" sz="800" b="1"/>
                        <a:t>JFAGYCODE</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lumMod val="20000"/>
                        <a:lumOff val="80000"/>
                      </a:schemeClr>
                    </a:solidFill>
                  </a:tcPr>
                </a:tc>
                <a:tc>
                  <a:txBody>
                    <a:bodyPr/>
                    <a:lstStyle/>
                    <a:p>
                      <a:pPr algn="ctr">
                        <a:buNone/>
                      </a:pPr>
                      <a:r>
                        <a:rPr lang="ja-JP" sz="800" b="1"/>
                        <a:t>2026053</a:t>
                      </a:r>
                      <a:r>
                        <a:rPr lang="en-US" altLang="ja-JP" sz="800" b="1" dirty="0"/>
                        <a:t>1</a:t>
                      </a:r>
                      <a:r>
                        <a:rPr lang="ja-JP" altLang="en-US" sz="800" b="1"/>
                        <a:t>版</a:t>
                      </a:r>
                      <a:endParaRPr lang="ja-JP" sz="800" b="1"/>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lumMod val="20000"/>
                        <a:lumOff val="80000"/>
                      </a:schemeClr>
                    </a:solidFill>
                  </a:tcPr>
                </a:tc>
                <a:tc>
                  <a:txBody>
                    <a:bodyPr/>
                    <a:lstStyle/>
                    <a:p>
                      <a:pPr algn="ctr">
                        <a:buNone/>
                      </a:pPr>
                      <a:r>
                        <a:rPr lang="ja-JP" sz="800" b="1"/>
                        <a:t>20260925</a:t>
                      </a:r>
                      <a:r>
                        <a:rPr lang="ja-JP" altLang="en-US" sz="800" b="1"/>
                        <a:t>版</a:t>
                      </a:r>
                      <a:endParaRPr lang="ja-JP" sz="800" b="1"/>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lumMod val="20000"/>
                        <a:lumOff val="80000"/>
                      </a:schemeClr>
                    </a:solidFill>
                  </a:tcPr>
                </a:tc>
                <a:tc>
                  <a:txBody>
                    <a:bodyPr/>
                    <a:lstStyle/>
                    <a:p>
                      <a:pPr algn="ctr">
                        <a:buNone/>
                      </a:pPr>
                      <a:r>
                        <a:rPr lang="ja-JP" altLang="en-US" sz="800" b="1"/>
                        <a:t>備考</a:t>
                      </a:r>
                      <a:endParaRPr lang="ja-JP" sz="800" b="1"/>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93133957"/>
                  </a:ext>
                </a:extLst>
              </a:tr>
              <a:tr h="0">
                <a:tc gridSpan="3">
                  <a:txBody>
                    <a:bodyPr/>
                    <a:lstStyle/>
                    <a:p>
                      <a:pPr>
                        <a:buNone/>
                      </a:pPr>
                      <a:r>
                        <a:rPr lang="ja-JP" altLang="en-US" sz="800" b="1"/>
                        <a:t>誤記</a:t>
                      </a:r>
                      <a:endParaRPr lang="ja-JP" sz="800" b="1"/>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b="1"/>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50411356"/>
                  </a:ext>
                </a:extLst>
              </a:tr>
              <a:tr h="0">
                <a:tc>
                  <a:txBody>
                    <a:bodyPr/>
                    <a:lstStyle/>
                    <a:p>
                      <a:pPr>
                        <a:buNone/>
                      </a:pPr>
                      <a:r>
                        <a:rPr lang="ja-JP" sz="800">
                          <a:effectLst/>
                        </a:rPr>
                        <a:t>J9FA24190000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やまいも</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effectLst/>
                        </a:rPr>
                        <a:t>やま</a:t>
                      </a:r>
                      <a:r>
                        <a:rPr lang="ja-JP" sz="800" b="1">
                          <a:effectLst/>
                        </a:rPr>
                        <a:t>の</a:t>
                      </a:r>
                      <a:r>
                        <a:rPr lang="ja-JP" sz="800">
                          <a:effectLst/>
                        </a:rPr>
                        <a:t>いも</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2">
                  <a:txBody>
                    <a:bodyPr/>
                    <a:lstStyle/>
                    <a:p>
                      <a:pPr>
                        <a:buNone/>
                      </a:pPr>
                      <a:r>
                        <a:rPr lang="ja-JP" altLang="en-US" sz="800"/>
                        <a:t>過去の修正の先祖返りが発生している</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17072025"/>
                  </a:ext>
                </a:extLst>
              </a:tr>
              <a:tr h="0">
                <a:tc>
                  <a:txBody>
                    <a:bodyPr/>
                    <a:lstStyle/>
                    <a:p>
                      <a:pPr>
                        <a:buNone/>
                      </a:pPr>
                      <a:r>
                        <a:rPr lang="ja-JP" sz="800">
                          <a:effectLst/>
                        </a:rPr>
                        <a:t>J9FA32370000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マカダミアナッツ</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effectLst/>
                        </a:rPr>
                        <a:t>マカ</a:t>
                      </a:r>
                      <a:r>
                        <a:rPr lang="ja-JP" sz="800" b="1">
                          <a:effectLst/>
                        </a:rPr>
                        <a:t>デ</a:t>
                      </a:r>
                      <a:r>
                        <a:rPr lang="ja-JP" sz="800">
                          <a:effectLst/>
                        </a:rPr>
                        <a:t>ミアナッツ</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39503257"/>
                  </a:ext>
                </a:extLst>
              </a:tr>
              <a:tr h="0">
                <a:tc>
                  <a:txBody>
                    <a:bodyPr/>
                    <a:lstStyle/>
                    <a:p>
                      <a:pPr>
                        <a:buNone/>
                      </a:pPr>
                      <a:r>
                        <a:rPr lang="ja-JP" sz="800">
                          <a:effectLst/>
                        </a:rPr>
                        <a:t>J9FB12000015</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ヨーグルト</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effectLst/>
                        </a:rPr>
                        <a:t>ヨー</a:t>
                      </a:r>
                      <a:r>
                        <a:rPr lang="ja-JP" sz="800" b="1">
                          <a:effectLst/>
                        </a:rPr>
                        <a:t>ー</a:t>
                      </a:r>
                      <a:r>
                        <a:rPr lang="ja-JP" sz="800">
                          <a:effectLst/>
                        </a:rPr>
                        <a:t>グルト</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altLang="en-US" sz="800"/>
                        <a:t>誤記のため修正依頼</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58693540"/>
                  </a:ext>
                </a:extLst>
              </a:tr>
              <a:tr h="0">
                <a:tc gridSpan="4">
                  <a:txBody>
                    <a:bodyPr/>
                    <a:lstStyle/>
                    <a:p>
                      <a:pPr>
                        <a:buNone/>
                      </a:pPr>
                      <a:r>
                        <a:rPr lang="ja-JP" altLang="en-US" sz="800" b="1"/>
                        <a:t>依頼以外の修正</a:t>
                      </a:r>
                      <a:endParaRPr lang="ja-JP" sz="800" b="1"/>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16889739"/>
                  </a:ext>
                </a:extLst>
              </a:tr>
              <a:tr h="0">
                <a:tc>
                  <a:txBody>
                    <a:bodyPr/>
                    <a:lstStyle/>
                    <a:p>
                      <a:pPr>
                        <a:buNone/>
                      </a:pPr>
                      <a:r>
                        <a:rPr lang="ja-JP" sz="800">
                          <a:effectLst/>
                        </a:rPr>
                        <a:t>J9FA21131600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大福</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大福</a:t>
                      </a:r>
                      <a:r>
                        <a:rPr lang="ja-JP" sz="800" b="1"/>
                        <a:t>豆</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0857517"/>
                  </a:ext>
                </a:extLst>
              </a:tr>
              <a:tr h="0">
                <a:tc>
                  <a:txBody>
                    <a:bodyPr/>
                    <a:lstStyle/>
                    <a:p>
                      <a:pPr>
                        <a:buNone/>
                      </a:pPr>
                      <a:r>
                        <a:rPr lang="ja-JP" sz="800">
                          <a:effectLst/>
                        </a:rPr>
                        <a:t>J9FA32000000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果実</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果実</a:t>
                      </a:r>
                      <a:r>
                        <a:rPr lang="ja-JP" sz="800" b="1"/>
                        <a:t>、種実</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08807803"/>
                  </a:ext>
                </a:extLst>
              </a:tr>
              <a:tr h="0">
                <a:tc>
                  <a:txBody>
                    <a:bodyPr/>
                    <a:lstStyle/>
                    <a:p>
                      <a:pPr>
                        <a:buNone/>
                      </a:pPr>
                      <a:r>
                        <a:rPr lang="ja-JP" sz="800">
                          <a:effectLst/>
                        </a:rPr>
                        <a:t>J9FA32980000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果実（その他）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果実</a:t>
                      </a:r>
                      <a:r>
                        <a:rPr lang="ja-JP" sz="800" b="1"/>
                        <a:t>、種実</a:t>
                      </a:r>
                      <a:r>
                        <a:rPr lang="ja-JP" sz="800"/>
                        <a:t>（その他）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79224601"/>
                  </a:ext>
                </a:extLst>
              </a:tr>
              <a:tr h="0">
                <a:tc>
                  <a:txBody>
                    <a:bodyPr/>
                    <a:lstStyle/>
                    <a:p>
                      <a:pPr>
                        <a:buNone/>
                      </a:pPr>
                      <a:r>
                        <a:rPr lang="ja-JP" sz="800">
                          <a:effectLst/>
                        </a:rPr>
                        <a:t>J9FA32990000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果実（詳細不明）</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果実</a:t>
                      </a:r>
                      <a:r>
                        <a:rPr lang="ja-JP" sz="800" b="1"/>
                        <a:t>、種実</a:t>
                      </a:r>
                      <a:r>
                        <a:rPr lang="ja-JP" sz="800"/>
                        <a:t>（詳細不明）</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8011650"/>
                  </a:ext>
                </a:extLst>
              </a:tr>
              <a:tr h="0">
                <a:tc>
                  <a:txBody>
                    <a:bodyPr/>
                    <a:lstStyle/>
                    <a:p>
                      <a:pPr>
                        <a:buNone/>
                      </a:pPr>
                      <a:r>
                        <a:rPr lang="ja-JP" sz="800">
                          <a:effectLst/>
                        </a:rPr>
                        <a:t>J9FG25000000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麦芽，麦芽抽出物及び麦芽シロップ</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麦芽</a:t>
                      </a:r>
                      <a:r>
                        <a:rPr lang="ja-JP" sz="800" b="1"/>
                        <a:t>、</a:t>
                      </a:r>
                      <a:r>
                        <a:rPr lang="ja-JP" sz="800"/>
                        <a:t>麦芽抽出物及び麦芽シロップ</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26121526"/>
                  </a:ext>
                </a:extLst>
              </a:tr>
              <a:tr h="0">
                <a:tc>
                  <a:txBody>
                    <a:bodyPr/>
                    <a:lstStyle/>
                    <a:p>
                      <a:pPr>
                        <a:buNone/>
                      </a:pPr>
                      <a:r>
                        <a:rPr lang="ja-JP" sz="800">
                          <a:effectLst/>
                        </a:rPr>
                        <a:t>J9FG25980000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麦芽，麦芽抽出物及び麦芽シロップ（その他）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麦芽</a:t>
                      </a:r>
                      <a:r>
                        <a:rPr lang="ja-JP" sz="800" b="1"/>
                        <a:t>、</a:t>
                      </a:r>
                      <a:r>
                        <a:rPr lang="ja-JP" sz="800"/>
                        <a:t>麦芽抽出物及び麦芽シロップ（その他）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50774275"/>
                  </a:ext>
                </a:extLst>
              </a:tr>
              <a:tr h="0">
                <a:tc>
                  <a:txBody>
                    <a:bodyPr/>
                    <a:lstStyle/>
                    <a:p>
                      <a:pPr>
                        <a:buNone/>
                      </a:pPr>
                      <a:r>
                        <a:rPr lang="ja-JP" sz="800">
                          <a:effectLst/>
                        </a:rPr>
                        <a:t>J9FG25990000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dirty="0"/>
                        <a:t>麦芽，麦芽抽出物及び麦芽</a:t>
                      </a:r>
                      <a:r>
                        <a:rPr lang="ja-JP" altLang="ja-JP" sz="800" dirty="0"/>
                        <a:t>シロップ（詳細不明）</a:t>
                      </a:r>
                      <a:endParaRPr lang="ja-JP" sz="800" dirty="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dirty="0"/>
                        <a:t>麦芽</a:t>
                      </a:r>
                      <a:r>
                        <a:rPr lang="ja-JP" sz="800" b="1" dirty="0"/>
                        <a:t>、</a:t>
                      </a:r>
                      <a:r>
                        <a:rPr lang="ja-JP" sz="800" dirty="0"/>
                        <a:t>麦芽抽出物及び麦芽シロップ（詳細不明）</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95670213"/>
                  </a:ext>
                </a:extLst>
              </a:tr>
              <a:tr h="0">
                <a:tc gridSpan="4">
                  <a:txBody>
                    <a:bodyPr/>
                    <a:lstStyle/>
                    <a:p>
                      <a:pPr>
                        <a:buNone/>
                      </a:pPr>
                      <a:r>
                        <a:rPr lang="ja-JP" altLang="en-US" sz="800" b="1"/>
                        <a:t>依頼および依頼に紐づく修正</a:t>
                      </a:r>
                      <a:endParaRPr lang="ja-JP" sz="800" b="1"/>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49134803"/>
                  </a:ext>
                </a:extLst>
              </a:tr>
              <a:tr h="0">
                <a:tc>
                  <a:txBody>
                    <a:bodyPr/>
                    <a:lstStyle/>
                    <a:p>
                      <a:pPr>
                        <a:buNone/>
                      </a:pPr>
                      <a:r>
                        <a:rPr lang="ja-JP" sz="800"/>
                        <a:t>J9FA98000000</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農産食品（その他）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altLang="en-US" sz="800"/>
                        <a:t>ナッツ類の上位概念として追加</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37622832"/>
                  </a:ext>
                </a:extLst>
              </a:tr>
              <a:tr h="0">
                <a:tc>
                  <a:txBody>
                    <a:bodyPr/>
                    <a:lstStyle/>
                    <a:p>
                      <a:pPr>
                        <a:buNone/>
                      </a:pPr>
                      <a:r>
                        <a:rPr lang="ja-JP" sz="800"/>
                        <a:t>J9FA98010000</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ナッツ類</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2">
                  <a:txBody>
                    <a:bodyPr/>
                    <a:lstStyle/>
                    <a:p>
                      <a:pPr>
                        <a:buNone/>
                      </a:pPr>
                      <a:r>
                        <a:rPr lang="ja-JP" altLang="en-US" sz="800"/>
                        <a:t>ナッツ類・青魚の新規追加</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8527977"/>
                  </a:ext>
                </a:extLst>
              </a:tr>
              <a:tr h="0">
                <a:tc>
                  <a:txBody>
                    <a:bodyPr/>
                    <a:lstStyle/>
                    <a:p>
                      <a:pPr>
                        <a:buNone/>
                      </a:pPr>
                      <a:r>
                        <a:rPr lang="ja-JP" sz="800"/>
                        <a:t>J9FC11981000</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青魚</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2546904"/>
                  </a:ext>
                </a:extLst>
              </a:tr>
              <a:tr h="0">
                <a:tc>
                  <a:txBody>
                    <a:bodyPr/>
                    <a:lstStyle/>
                    <a:p>
                      <a:pPr>
                        <a:buNone/>
                      </a:pPr>
                      <a:r>
                        <a:rPr lang="ja-JP" sz="800"/>
                        <a:t>J9FB13980000</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食用鳥卵（その他）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卵（その他）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4">
                  <a:txBody>
                    <a:bodyPr/>
                    <a:lstStyle/>
                    <a:p>
                      <a:pPr>
                        <a:buNone/>
                      </a:pPr>
                      <a:r>
                        <a:rPr lang="ja-JP" altLang="en-US" sz="800"/>
                        <a:t>食品衛生法の記載に合わせた依頼に基づく修正</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3480673"/>
                  </a:ext>
                </a:extLst>
              </a:tr>
              <a:tr h="0">
                <a:tc>
                  <a:txBody>
                    <a:bodyPr/>
                    <a:lstStyle/>
                    <a:p>
                      <a:pPr>
                        <a:buNone/>
                      </a:pPr>
                      <a:r>
                        <a:rPr lang="ja-JP" sz="800"/>
                        <a:t>J9FB13990000</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食用鳥卵（詳細不明）</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卵（詳細不明）</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69776540"/>
                  </a:ext>
                </a:extLst>
              </a:tr>
              <a:tr h="0">
                <a:tc>
                  <a:txBody>
                    <a:bodyPr/>
                    <a:lstStyle/>
                    <a:p>
                      <a:pPr>
                        <a:buNone/>
                      </a:pPr>
                      <a:r>
                        <a:rPr lang="ja-JP" sz="800"/>
                        <a:t>J9FC13980000</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いか類（その他）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いか（その他）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24361369"/>
                  </a:ext>
                </a:extLst>
              </a:tr>
              <a:tr h="0">
                <a:tc>
                  <a:txBody>
                    <a:bodyPr/>
                    <a:lstStyle/>
                    <a:p>
                      <a:pPr>
                        <a:buNone/>
                      </a:pPr>
                      <a:r>
                        <a:rPr lang="ja-JP" sz="800"/>
                        <a:t>J9FC13990000</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いか類（詳細不明）</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dirty="0"/>
                        <a:t>いか（詳細不明）</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619574"/>
                  </a:ext>
                </a:extLst>
              </a:tr>
            </a:tbl>
          </a:graphicData>
        </a:graphic>
      </p:graphicFrame>
      <p:sp>
        <p:nvSpPr>
          <p:cNvPr id="3" name="タイトル 2">
            <a:extLst>
              <a:ext uri="{FF2B5EF4-FFF2-40B4-BE49-F238E27FC236}">
                <a16:creationId xmlns:a16="http://schemas.microsoft.com/office/drawing/2014/main" id="{47472C78-1FD5-9742-0C40-87A7F96FD253}"/>
              </a:ext>
            </a:extLst>
          </p:cNvPr>
          <p:cNvSpPr>
            <a:spLocks noGrp="1"/>
          </p:cNvSpPr>
          <p:nvPr>
            <p:ph type="title"/>
          </p:nvPr>
        </p:nvSpPr>
        <p:spPr/>
        <p:txBody>
          <a:bodyPr/>
          <a:lstStyle/>
          <a:p>
            <a:r>
              <a:rPr kumimoji="1" lang="ja-JP" altLang="en-US"/>
              <a:t>スレッド確認事項</a:t>
            </a:r>
            <a:r>
              <a:rPr kumimoji="1" lang="en-US" altLang="ja-JP" dirty="0"/>
              <a:t>#5_J-FAGY</a:t>
            </a:r>
            <a:r>
              <a:rPr kumimoji="1" lang="ja-JP" altLang="en-US"/>
              <a:t>コードについて</a:t>
            </a:r>
          </a:p>
        </p:txBody>
      </p:sp>
      <p:sp>
        <p:nvSpPr>
          <p:cNvPr id="6" name="矢印: 右 5">
            <a:extLst>
              <a:ext uri="{FF2B5EF4-FFF2-40B4-BE49-F238E27FC236}">
                <a16:creationId xmlns:a16="http://schemas.microsoft.com/office/drawing/2014/main" id="{3FC22211-A540-4A4A-EF85-232DDDC347DA}"/>
              </a:ext>
            </a:extLst>
          </p:cNvPr>
          <p:cNvSpPr/>
          <p:nvPr/>
        </p:nvSpPr>
        <p:spPr>
          <a:xfrm>
            <a:off x="3420874" y="1427851"/>
            <a:ext cx="342926" cy="154419"/>
          </a:xfrm>
          <a:prstGeom prst="rightArrow">
            <a:avLst/>
          </a:prstGeom>
          <a:solidFill>
            <a:schemeClr val="accent2"/>
          </a:solidFill>
        </p:spPr>
        <p:txBody>
          <a:bodyPr wrap="square"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7" name="右中かっこ 6">
            <a:extLst>
              <a:ext uri="{FF2B5EF4-FFF2-40B4-BE49-F238E27FC236}">
                <a16:creationId xmlns:a16="http://schemas.microsoft.com/office/drawing/2014/main" id="{E223C5C5-7FA2-F57B-CC7C-A808E953DDB6}"/>
              </a:ext>
            </a:extLst>
          </p:cNvPr>
          <p:cNvSpPr/>
          <p:nvPr/>
        </p:nvSpPr>
        <p:spPr bwMode="auto">
          <a:xfrm>
            <a:off x="7613983" y="2473361"/>
            <a:ext cx="155448" cy="1680509"/>
          </a:xfrm>
          <a:prstGeom prst="rightBrace">
            <a:avLst/>
          </a:prstGeom>
          <a:solidFill>
            <a:schemeClr val="bg1"/>
          </a:solidFill>
          <a:ln w="9525" cap="flat" cmpd="sng" algn="ctr">
            <a:solidFill>
              <a:schemeClr val="bg1">
                <a:lumMod val="50000"/>
              </a:schemeClr>
            </a:solidFill>
            <a:prstDash val="solid"/>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8" name="正方形/長方形 7">
            <a:extLst>
              <a:ext uri="{FF2B5EF4-FFF2-40B4-BE49-F238E27FC236}">
                <a16:creationId xmlns:a16="http://schemas.microsoft.com/office/drawing/2014/main" id="{E3CAEAD2-677F-2B76-384B-6C415AFE05AA}"/>
              </a:ext>
            </a:extLst>
          </p:cNvPr>
          <p:cNvSpPr/>
          <p:nvPr/>
        </p:nvSpPr>
        <p:spPr>
          <a:xfrm>
            <a:off x="7847330" y="3029730"/>
            <a:ext cx="1898650" cy="567771"/>
          </a:xfrm>
          <a:prstGeom prst="rect">
            <a:avLst/>
          </a:prstGeom>
          <a:solidFill>
            <a:schemeClr val="accent1">
              <a:lumMod val="20000"/>
              <a:lumOff val="80000"/>
            </a:schemeClr>
          </a:solidFill>
        </p:spPr>
        <p:txBody>
          <a:bodyPr wrap="square"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本内容を適用すると</a:t>
            </a:r>
            <a:r>
              <a:rPr kumimoji="1" lang="en-US" altLang="ja-JP" sz="1200" b="0" i="0" u="none" strike="noStrike" kern="1200" cap="none" spc="0" normalizeH="0" baseline="0" noProof="0" dirty="0">
                <a:ln>
                  <a:noFill/>
                </a:ln>
                <a:solidFill>
                  <a:prstClr val="black"/>
                </a:solidFill>
                <a:effectLst/>
                <a:uLnTx/>
                <a:uFillTx/>
                <a:latin typeface="Meiryo UI"/>
                <a:ea typeface="Meiryo UI"/>
                <a:cs typeface="Arial" charset="0"/>
              </a:rPr>
              <a:t>20260531</a:t>
            </a: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版の表記で登録していた場合にエラーとなる</a:t>
            </a:r>
          </a:p>
        </p:txBody>
      </p:sp>
      <p:sp>
        <p:nvSpPr>
          <p:cNvPr id="9" name="矢印: 下 8">
            <a:extLst>
              <a:ext uri="{FF2B5EF4-FFF2-40B4-BE49-F238E27FC236}">
                <a16:creationId xmlns:a16="http://schemas.microsoft.com/office/drawing/2014/main" id="{C00C35EC-EED3-4979-8A44-CF00AC18AB57}"/>
              </a:ext>
            </a:extLst>
          </p:cNvPr>
          <p:cNvSpPr/>
          <p:nvPr/>
        </p:nvSpPr>
        <p:spPr>
          <a:xfrm>
            <a:off x="8683613" y="3663231"/>
            <a:ext cx="226085" cy="255891"/>
          </a:xfrm>
          <a:prstGeom prst="downArrow">
            <a:avLst/>
          </a:prstGeom>
          <a:solidFill>
            <a:schemeClr val="accent1"/>
          </a:solidFill>
          <a:ln>
            <a:solidFill>
              <a:schemeClr val="bg1">
                <a:lumMod val="50000"/>
              </a:schemeClr>
            </a:solidFill>
          </a:ln>
        </p:spPr>
        <p:txBody>
          <a:bodyPr wrap="square"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11" name="正方形/長方形 10">
            <a:extLst>
              <a:ext uri="{FF2B5EF4-FFF2-40B4-BE49-F238E27FC236}">
                <a16:creationId xmlns:a16="http://schemas.microsoft.com/office/drawing/2014/main" id="{12004AA3-135A-F3F0-215A-C91DC744813A}"/>
              </a:ext>
            </a:extLst>
          </p:cNvPr>
          <p:cNvSpPr/>
          <p:nvPr/>
        </p:nvSpPr>
        <p:spPr>
          <a:xfrm>
            <a:off x="7752398" y="3984852"/>
            <a:ext cx="2088515" cy="567771"/>
          </a:xfrm>
          <a:prstGeom prst="rect">
            <a:avLst/>
          </a:prstGeom>
          <a:noFill/>
          <a:ln>
            <a:noFill/>
          </a:ln>
        </p:spPr>
        <p:txBody>
          <a:bodyPr wrap="square" lIns="36000" tIns="36000" rIns="36000" bIns="3600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FF0000"/>
                </a:solidFill>
                <a:effectLst/>
                <a:uLnTx/>
                <a:uFillTx/>
                <a:latin typeface="Meiryo UI"/>
                <a:ea typeface="Meiryo UI"/>
                <a:cs typeface="Arial" charset="0"/>
              </a:rPr>
              <a:t>【</a:t>
            </a:r>
            <a:r>
              <a:rPr kumimoji="1" lang="ja-JP" altLang="en-US" sz="1200" b="0" i="0" u="none" strike="noStrike" kern="1200" cap="none" spc="0" normalizeH="0" baseline="0" noProof="0">
                <a:ln>
                  <a:noFill/>
                </a:ln>
                <a:solidFill>
                  <a:srgbClr val="FF0000"/>
                </a:solidFill>
                <a:effectLst/>
                <a:uLnTx/>
                <a:uFillTx/>
                <a:latin typeface="Meiryo UI"/>
                <a:ea typeface="Meiryo UI"/>
                <a:cs typeface="Arial" charset="0"/>
              </a:rPr>
              <a:t>ご相談事項</a:t>
            </a:r>
            <a:r>
              <a:rPr kumimoji="1" lang="en-US" altLang="ja-JP" sz="1200" b="0" i="0" u="none" strike="noStrike" kern="1200" cap="none" spc="0" normalizeH="0" baseline="0" noProof="0" dirty="0">
                <a:ln>
                  <a:noFill/>
                </a:ln>
                <a:solidFill>
                  <a:srgbClr val="FF0000"/>
                </a:solidFill>
                <a:effectLst/>
                <a:uLnTx/>
                <a:uFillTx/>
                <a:latin typeface="Meiryo UI"/>
                <a:ea typeface="Meiryo UI"/>
                <a:cs typeface="Arial" charset="0"/>
              </a:rPr>
              <a:t>】</a:t>
            </a:r>
            <a:br>
              <a:rPr kumimoji="1" lang="en-US" altLang="ja-JP" sz="1200" b="0" i="0" u="none" strike="noStrike" kern="1200" cap="none" spc="0" normalizeH="0" baseline="0" noProof="0" dirty="0">
                <a:ln>
                  <a:noFill/>
                </a:ln>
                <a:solidFill>
                  <a:srgbClr val="FF0000"/>
                </a:solidFill>
                <a:effectLst/>
                <a:uLnTx/>
                <a:uFillTx/>
                <a:latin typeface="Meiryo UI"/>
                <a:ea typeface="Meiryo UI"/>
                <a:cs typeface="Arial" charset="0"/>
              </a:rPr>
            </a:br>
            <a:r>
              <a:rPr kumimoji="1" lang="en-US" altLang="ja-JP" sz="1200" b="0" i="0" u="none" strike="noStrike" kern="1200" cap="none" spc="0" normalizeH="0" baseline="0" noProof="0" dirty="0">
                <a:ln>
                  <a:noFill/>
                </a:ln>
                <a:solidFill>
                  <a:srgbClr val="FF0000"/>
                </a:solidFill>
                <a:effectLst/>
                <a:uLnTx/>
                <a:uFillTx/>
                <a:latin typeface="Meiryo UI"/>
                <a:ea typeface="Meiryo UI"/>
                <a:cs typeface="Arial" charset="0"/>
              </a:rPr>
              <a:t>J-FAGY</a:t>
            </a:r>
            <a:r>
              <a:rPr kumimoji="1" lang="ja-JP" altLang="en-US" sz="1200" b="0" i="0" u="none" strike="noStrike" kern="1200" cap="none" spc="0" normalizeH="0" baseline="0" noProof="0">
                <a:ln>
                  <a:noFill/>
                </a:ln>
                <a:solidFill>
                  <a:srgbClr val="FF0000"/>
                </a:solidFill>
                <a:effectLst/>
                <a:uLnTx/>
                <a:uFillTx/>
                <a:latin typeface="Meiryo UI"/>
                <a:ea typeface="Meiryo UI"/>
                <a:cs typeface="Arial" charset="0"/>
              </a:rPr>
              <a:t>コードは変更がない前提ではあるが、ほとんど利用されていないコードであることから、変更を受け入れるかご相談させていただきたい。</a:t>
            </a:r>
          </a:p>
        </p:txBody>
      </p:sp>
      <p:sp>
        <p:nvSpPr>
          <p:cNvPr id="13" name="右中かっこ 12">
            <a:extLst>
              <a:ext uri="{FF2B5EF4-FFF2-40B4-BE49-F238E27FC236}">
                <a16:creationId xmlns:a16="http://schemas.microsoft.com/office/drawing/2014/main" id="{6F41F035-F815-4065-1736-49FF2B14524C}"/>
              </a:ext>
            </a:extLst>
          </p:cNvPr>
          <p:cNvSpPr/>
          <p:nvPr/>
        </p:nvSpPr>
        <p:spPr bwMode="auto">
          <a:xfrm>
            <a:off x="7613983" y="1633106"/>
            <a:ext cx="155448" cy="840255"/>
          </a:xfrm>
          <a:prstGeom prst="rightBrace">
            <a:avLst/>
          </a:prstGeom>
          <a:solidFill>
            <a:schemeClr val="bg1"/>
          </a:solidFill>
          <a:ln w="9525" cap="flat" cmpd="sng" algn="ctr">
            <a:solidFill>
              <a:schemeClr val="bg1">
                <a:lumMod val="50000"/>
              </a:schemeClr>
            </a:solidFill>
            <a:prstDash val="solid"/>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15" name="正方形/長方形 14">
            <a:extLst>
              <a:ext uri="{FF2B5EF4-FFF2-40B4-BE49-F238E27FC236}">
                <a16:creationId xmlns:a16="http://schemas.microsoft.com/office/drawing/2014/main" id="{1DDD91E4-09D0-F053-F24D-6F5B6F0C8541}"/>
              </a:ext>
            </a:extLst>
          </p:cNvPr>
          <p:cNvSpPr/>
          <p:nvPr/>
        </p:nvSpPr>
        <p:spPr>
          <a:xfrm>
            <a:off x="7799264" y="1806650"/>
            <a:ext cx="1898650" cy="567771"/>
          </a:xfrm>
          <a:prstGeom prst="rect">
            <a:avLst/>
          </a:prstGeom>
          <a:solidFill>
            <a:schemeClr val="bg1"/>
          </a:solidFill>
        </p:spPr>
        <p:txBody>
          <a:bodyPr wrap="square"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誤記であるため、修正依頼</a:t>
            </a:r>
            <a:br>
              <a:rPr kumimoji="1" lang="en-US" altLang="ja-JP" sz="1200" b="0" i="0" u="none" strike="noStrike" kern="1200" cap="none" spc="0" normalizeH="0" baseline="0" noProof="0" dirty="0">
                <a:ln>
                  <a:noFill/>
                </a:ln>
                <a:solidFill>
                  <a:prstClr val="black"/>
                </a:solidFill>
                <a:effectLst/>
                <a:uLnTx/>
                <a:uFillTx/>
                <a:latin typeface="Meiryo UI"/>
                <a:ea typeface="Meiryo UI"/>
                <a:cs typeface="Arial" charset="0"/>
              </a:rPr>
            </a:b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予定</a:t>
            </a:r>
          </a:p>
        </p:txBody>
      </p:sp>
      <p:sp>
        <p:nvSpPr>
          <p:cNvPr id="17" name="テキスト ボックス 16">
            <a:extLst>
              <a:ext uri="{FF2B5EF4-FFF2-40B4-BE49-F238E27FC236}">
                <a16:creationId xmlns:a16="http://schemas.microsoft.com/office/drawing/2014/main" id="{7C372C64-0309-0A83-AE6D-7DFDC5595C38}"/>
              </a:ext>
            </a:extLst>
          </p:cNvPr>
          <p:cNvSpPr txBox="1"/>
          <p:nvPr/>
        </p:nvSpPr>
        <p:spPr>
          <a:xfrm>
            <a:off x="495297" y="722208"/>
            <a:ext cx="8915399" cy="540767"/>
          </a:xfrm>
          <a:prstGeom prst="rect">
            <a:avLst/>
          </a:prstGeom>
          <a:noFill/>
        </p:spPr>
        <p:txBody>
          <a:bodyPr wrap="square" lIns="36000" tIns="36000" rIns="36000" bIns="36000" rtlCol="0" anchor="t">
            <a:noAutofit/>
          </a:bodyPr>
          <a:lstStyle/>
          <a:p>
            <a:pPr marL="173355" marR="0" lvl="0" indent="-173355" algn="l" defTabSz="914400" rtl="0" eaLnBrk="1" fontAlgn="auto" latinLnBrk="0" hangingPunct="1">
              <a:lnSpc>
                <a:spcPct val="100000"/>
              </a:lnSpc>
              <a:spcBef>
                <a:spcPts val="288"/>
              </a:spcBef>
              <a:spcAft>
                <a:spcPts val="0"/>
              </a:spcAft>
              <a:buClrTx/>
              <a:buSzPts val="1200"/>
              <a:buFont typeface="Arial" panose="020B0604020202020204" pitchFamily="34" charset="0"/>
              <a:buChar char="•"/>
              <a:tabLst/>
              <a:defRPr/>
            </a:pPr>
            <a:r>
              <a:rPr kumimoji="1" lang="en-US" altLang="ja-JP" sz="1200" b="0" i="0" u="none" strike="noStrike" kern="1200" cap="none" spc="0" normalizeH="0" baseline="0" noProof="0" dirty="0">
                <a:ln>
                  <a:noFill/>
                </a:ln>
                <a:solidFill>
                  <a:prstClr val="black"/>
                </a:solidFill>
                <a:effectLst/>
                <a:uLnTx/>
                <a:uFillTx/>
                <a:latin typeface="Meiryo UI"/>
                <a:ea typeface="Meiryo UI"/>
                <a:cs typeface="Arial"/>
              </a:rPr>
              <a:t>J-FAGY</a:t>
            </a:r>
            <a:r>
              <a:rPr kumimoji="1" lang="ja-JP" altLang="en-US" sz="1200" b="0" i="0" u="none" strike="noStrike" kern="1200" cap="none" spc="0" normalizeH="0" baseline="0" noProof="0">
                <a:ln>
                  <a:noFill/>
                </a:ln>
                <a:solidFill>
                  <a:prstClr val="black"/>
                </a:solidFill>
                <a:effectLst/>
                <a:uLnTx/>
                <a:uFillTx/>
                <a:latin typeface="Meiryo UI"/>
                <a:ea typeface="Meiryo UI"/>
                <a:cs typeface="Arial"/>
              </a:rPr>
              <a:t>コードについて、依頼以外の修正が含まれていた。依頼以外の修正の中には、</a:t>
            </a:r>
            <a:r>
              <a:rPr kumimoji="1" lang="en-US" altLang="ja-JP" sz="1200" b="0" i="0" u="none" strike="noStrike" kern="1200" cap="none" spc="0" normalizeH="0" baseline="0" noProof="0" dirty="0">
                <a:ln>
                  <a:noFill/>
                </a:ln>
                <a:solidFill>
                  <a:prstClr val="black"/>
                </a:solidFill>
                <a:effectLst/>
                <a:uLnTx/>
                <a:uFillTx/>
                <a:latin typeface="Meiryo UI"/>
                <a:ea typeface="Meiryo UI"/>
                <a:cs typeface="Arial"/>
              </a:rPr>
              <a:t>20260531</a:t>
            </a:r>
            <a:r>
              <a:rPr kumimoji="1" lang="ja-JP" altLang="en-US" sz="1200" b="0" i="0" u="none" strike="noStrike" kern="1200" cap="none" spc="0" normalizeH="0" baseline="0" noProof="0">
                <a:ln>
                  <a:noFill/>
                </a:ln>
                <a:solidFill>
                  <a:prstClr val="black"/>
                </a:solidFill>
                <a:effectLst/>
                <a:uLnTx/>
                <a:uFillTx/>
                <a:latin typeface="Meiryo UI"/>
                <a:ea typeface="Meiryo UI"/>
                <a:cs typeface="Arial"/>
              </a:rPr>
              <a:t>版で登録していた医療機関はエラーとなる。</a:t>
            </a:r>
            <a:br>
              <a:rPr kumimoji="1" lang="en-US" altLang="ja-JP" sz="1200" b="0" i="0" u="none" strike="noStrike" kern="1200" cap="none" spc="0" normalizeH="0" baseline="0" noProof="0" dirty="0">
                <a:ln>
                  <a:noFill/>
                </a:ln>
                <a:solidFill>
                  <a:prstClr val="black"/>
                </a:solidFill>
                <a:effectLst/>
                <a:uLnTx/>
                <a:uFillTx/>
                <a:latin typeface="Meiryo UI"/>
                <a:ea typeface="Meiryo UI"/>
                <a:cs typeface="Arial"/>
              </a:rPr>
            </a:br>
            <a:r>
              <a:rPr kumimoji="1" lang="ja-JP" altLang="en-US" sz="1200" b="0" i="0" u="none" strike="noStrike" kern="1200" cap="none" spc="0" normalizeH="0" baseline="0" noProof="0">
                <a:ln>
                  <a:noFill/>
                </a:ln>
                <a:solidFill>
                  <a:prstClr val="black"/>
                </a:solidFill>
                <a:effectLst/>
                <a:uLnTx/>
                <a:uFillTx/>
                <a:latin typeface="Meiryo UI"/>
                <a:ea typeface="Meiryo UI"/>
                <a:cs typeface="Arial"/>
              </a:rPr>
              <a:t>変更が発生していた内容を踏まえてどのように取り扱うかご相談させていただきたい。</a:t>
            </a:r>
            <a:endParaRPr kumimoji="1" lang="en-US" altLang="ja-JP" sz="1200" b="0" i="0" u="none" strike="noStrike" kern="1200" cap="none" spc="0" normalizeH="0" baseline="0" noProof="0" dirty="0">
              <a:ln>
                <a:noFill/>
              </a:ln>
              <a:solidFill>
                <a:prstClr val="black"/>
              </a:solidFill>
              <a:effectLst/>
              <a:uLnTx/>
              <a:uFillTx/>
              <a:latin typeface="Meiryo UI"/>
              <a:ea typeface="Meiryo UI"/>
              <a:cs typeface="Arial"/>
            </a:endParaRPr>
          </a:p>
        </p:txBody>
      </p:sp>
      <p:sp>
        <p:nvSpPr>
          <p:cNvPr id="2" name="正方形/長方形 1">
            <a:extLst>
              <a:ext uri="{FF2B5EF4-FFF2-40B4-BE49-F238E27FC236}">
                <a16:creationId xmlns:a16="http://schemas.microsoft.com/office/drawing/2014/main" id="{F545B7A1-B63E-B6B5-C16A-212B675CFE3A}"/>
              </a:ext>
            </a:extLst>
          </p:cNvPr>
          <p:cNvSpPr/>
          <p:nvPr/>
        </p:nvSpPr>
        <p:spPr>
          <a:xfrm>
            <a:off x="8061960" y="205740"/>
            <a:ext cx="1577340" cy="395990"/>
          </a:xfrm>
          <a:prstGeom prst="rect">
            <a:avLst/>
          </a:prstGeom>
          <a:solidFill>
            <a:srgbClr val="FFFF00"/>
          </a:solidFill>
        </p:spPr>
        <p:txBody>
          <a:bodyPr wrap="square" lIns="36000" tIns="36000" rIns="36000" bIns="36000" rtlCol="0" anchor="ctr">
            <a:noAutofit/>
          </a:bodyPr>
          <a:lstStyle/>
          <a:p>
            <a:pPr algn="ctr"/>
            <a:r>
              <a:rPr kumimoji="1" lang="en-US" altLang="ja-JP" sz="1200" i="0" dirty="0">
                <a:latin typeface="+mn-ea"/>
                <a:ea typeface="+mn-ea"/>
                <a:cs typeface="Arial" charset="0"/>
              </a:rPr>
              <a:t>9/25WBS</a:t>
            </a:r>
            <a:r>
              <a:rPr kumimoji="1" lang="ja-JP" altLang="en-US" sz="1200" i="0" dirty="0">
                <a:latin typeface="+mn-ea"/>
                <a:ea typeface="+mn-ea"/>
                <a:cs typeface="Arial" charset="0"/>
              </a:rPr>
              <a:t>資料</a:t>
            </a:r>
          </a:p>
        </p:txBody>
      </p:sp>
    </p:spTree>
    <p:extLst>
      <p:ext uri="{BB962C8B-B14F-4D97-AF65-F5344CB8AC3E}">
        <p14:creationId xmlns:p14="http://schemas.microsoft.com/office/powerpoint/2010/main" val="723380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14FAB5C-B73D-A3B1-9DB1-4B3FC5AF0F91}"/>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57039CDB-D073-CDD2-E817-3A3C75D42707}"/>
              </a:ext>
            </a:extLst>
          </p:cNvPr>
          <p:cNvSpPr/>
          <p:nvPr/>
        </p:nvSpPr>
        <p:spPr>
          <a:xfrm>
            <a:off x="0" y="6639378"/>
            <a:ext cx="9906000" cy="2912651"/>
          </a:xfrm>
          <a:prstGeom prst="rect">
            <a:avLst/>
          </a:prstGeom>
          <a:solidFill>
            <a:schemeClr val="bg1"/>
          </a:solidFill>
          <a:ln>
            <a:noFill/>
          </a:ln>
        </p:spPr>
        <p:txBody>
          <a:bodyPr rtlCol="0" anchor="ctr"/>
          <a:lstStyle/>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dirty="0">
              <a:ln>
                <a:noFill/>
              </a:ln>
              <a:solidFill>
                <a:prstClr val="black"/>
              </a:solidFill>
              <a:effectLst/>
              <a:uLnTx/>
              <a:uFillTx/>
              <a:latin typeface="Meiryo UI"/>
              <a:ea typeface="Meiryo UI"/>
              <a:cs typeface="+mn-cs"/>
            </a:endParaRPr>
          </a:p>
        </p:txBody>
      </p:sp>
      <p:pic>
        <p:nvPicPr>
          <p:cNvPr id="12" name="図 19">
            <a:extLst>
              <a:ext uri="{FF2B5EF4-FFF2-40B4-BE49-F238E27FC236}">
                <a16:creationId xmlns:a16="http://schemas.microsoft.com/office/drawing/2014/main" id="{71ECF1A6-D463-28E0-8B10-A98460002975}"/>
              </a:ext>
            </a:extLst>
          </p:cNvPr>
          <p:cNvPicPr preferRelativeResize="0">
            <a:picLocks/>
          </p:cNvPicPr>
          <p:nvPr/>
        </p:nvPicPr>
        <p:blipFill>
          <a:blip r:embed="rId3"/>
          <a:srcRect l="2946" t="103836" r="-2946" b="-15325"/>
          <a:stretch>
            <a:fillRect/>
          </a:stretch>
        </p:blipFill>
        <p:spPr>
          <a:xfrm>
            <a:off x="5218219" y="2802139"/>
            <a:ext cx="4300396" cy="5535950"/>
          </a:xfrm>
          <a:prstGeom prst="rect">
            <a:avLst/>
          </a:prstGeom>
          <a:ln w="19050">
            <a:solidFill>
              <a:schemeClr val="bg1">
                <a:lumMod val="85000"/>
              </a:schemeClr>
            </a:solidFill>
          </a:ln>
        </p:spPr>
      </p:pic>
      <p:sp>
        <p:nvSpPr>
          <p:cNvPr id="2" name="タイトル 1">
            <a:extLst>
              <a:ext uri="{FF2B5EF4-FFF2-40B4-BE49-F238E27FC236}">
                <a16:creationId xmlns:a16="http://schemas.microsoft.com/office/drawing/2014/main" id="{83FF9D3F-6718-04B8-8100-75C6B9B21AAD}"/>
              </a:ext>
            </a:extLst>
          </p:cNvPr>
          <p:cNvSpPr>
            <a:spLocks noGrp="1"/>
          </p:cNvSpPr>
          <p:nvPr>
            <p:ph type="title"/>
          </p:nvPr>
        </p:nvSpPr>
        <p:spPr>
          <a:xfrm>
            <a:off x="506999" y="116696"/>
            <a:ext cx="9086317" cy="576000"/>
          </a:xfrm>
        </p:spPr>
        <p:txBody>
          <a:bodyPr/>
          <a:lstStyle/>
          <a:p>
            <a:r>
              <a:rPr kumimoji="1" lang="ja-JP" altLang="en-US"/>
              <a:t>ポータルサイト更新依頼</a:t>
            </a:r>
            <a:br>
              <a:rPr kumimoji="1" lang="en-US" altLang="ja-JP" dirty="0"/>
            </a:br>
            <a:r>
              <a:rPr kumimoji="1" lang="ja-JP" altLang="en-US"/>
              <a:t>　各マスタページの具体的な公開イメージ</a:t>
            </a:r>
            <a:r>
              <a:rPr kumimoji="1" lang="en-US" altLang="ja-JP" dirty="0"/>
              <a:t> – J-FAGY</a:t>
            </a:r>
            <a:r>
              <a:rPr kumimoji="1" lang="ja-JP" altLang="en-US"/>
              <a:t>アレルゲンコードマスタ</a:t>
            </a:r>
          </a:p>
        </p:txBody>
      </p:sp>
      <p:sp>
        <p:nvSpPr>
          <p:cNvPr id="4" name="四角形: 角を丸くする 3">
            <a:extLst>
              <a:ext uri="{FF2B5EF4-FFF2-40B4-BE49-F238E27FC236}">
                <a16:creationId xmlns:a16="http://schemas.microsoft.com/office/drawing/2014/main" id="{019A5A91-3A0A-A80B-335A-54F95B16A752}"/>
              </a:ext>
            </a:extLst>
          </p:cNvPr>
          <p:cNvSpPr/>
          <p:nvPr/>
        </p:nvSpPr>
        <p:spPr>
          <a:xfrm>
            <a:off x="506999" y="910928"/>
            <a:ext cx="2803761" cy="392939"/>
          </a:xfrm>
          <a:prstGeom prst="roundRect">
            <a:avLst/>
          </a:prstGeom>
          <a:solidFill>
            <a:srgbClr val="1F497D"/>
          </a:solidFill>
          <a:ln w="9525" cap="flat" cmpd="sng" algn="ctr">
            <a:no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公開イメージ</a:t>
            </a:r>
            <a:b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記事番号</a:t>
            </a: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KB0012085</a:t>
            </a:r>
            <a:endPar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 name="正方形/長方形 5">
            <a:extLst>
              <a:ext uri="{FF2B5EF4-FFF2-40B4-BE49-F238E27FC236}">
                <a16:creationId xmlns:a16="http://schemas.microsoft.com/office/drawing/2014/main" id="{339DF849-96EA-460F-966E-7EE5A1BBEB94}"/>
              </a:ext>
            </a:extLst>
          </p:cNvPr>
          <p:cNvSpPr/>
          <p:nvPr/>
        </p:nvSpPr>
        <p:spPr>
          <a:xfrm>
            <a:off x="654475" y="1367170"/>
            <a:ext cx="8303258" cy="519524"/>
          </a:xfrm>
          <a:prstGeom prst="rect">
            <a:avLst/>
          </a:prstGeom>
          <a:solidFill>
            <a:schemeClr val="bg1"/>
          </a:solidFill>
          <a:ln>
            <a:noFill/>
          </a:ln>
        </p:spPr>
        <p:txBody>
          <a:bodyPr lIns="0" rIns="0" rtlCol="0" anchor="t" anchorCtr="0"/>
          <a:lstStyle/>
          <a:p>
            <a:pPr fontAlgn="base">
              <a:spcBef>
                <a:spcPct val="20000"/>
              </a:spcBef>
              <a:spcAft>
                <a:spcPct val="0"/>
              </a:spcAft>
              <a:defRPr/>
            </a:pPr>
            <a:r>
              <a:rPr kumimoji="1" lang="ja-JP" altLang="en-US" sz="1100">
                <a:solidFill>
                  <a:prstClr val="black"/>
                </a:solidFill>
                <a:latin typeface="Meiryo UI"/>
              </a:rPr>
              <a:t>●</a:t>
            </a:r>
            <a:r>
              <a:rPr kumimoji="1" lang="en-US" altLang="ja-JP" sz="1100" dirty="0">
                <a:solidFill>
                  <a:prstClr val="black"/>
                </a:solidFill>
                <a:latin typeface="Meiryo UI"/>
              </a:rPr>
              <a:t>J-FAGY</a:t>
            </a:r>
            <a:r>
              <a:rPr kumimoji="1" lang="ja-JP" altLang="en-US" sz="1100">
                <a:solidFill>
                  <a:prstClr val="black"/>
                </a:solidFill>
                <a:latin typeface="Meiryo UI"/>
              </a:rPr>
              <a:t>アレルゲンコードマスタは、以下の更新イメージのように、</a:t>
            </a:r>
            <a:r>
              <a:rPr kumimoji="1" lang="ja-JP" altLang="en-US" sz="1100" u="sng">
                <a:solidFill>
                  <a:prstClr val="black"/>
                </a:solidFill>
                <a:latin typeface="Meiryo UI"/>
              </a:rPr>
              <a:t>新レイアウトの変更点の追記</a:t>
            </a:r>
            <a:r>
              <a:rPr kumimoji="1" lang="ja-JP" altLang="en-US" sz="1100">
                <a:solidFill>
                  <a:prstClr val="black"/>
                </a:solidFill>
                <a:latin typeface="Meiryo UI"/>
              </a:rPr>
              <a:t>を更新ください。</a:t>
            </a:r>
            <a:endParaRPr kumimoji="1" lang="en-US" altLang="ja-JP" sz="1100" dirty="0">
              <a:solidFill>
                <a:prstClr val="black"/>
              </a:solidFill>
              <a:latin typeface="Meiryo UI"/>
            </a:endParaRPr>
          </a:p>
        </p:txBody>
      </p:sp>
      <p:sp>
        <p:nvSpPr>
          <p:cNvPr id="5" name="正方形/長方形 4">
            <a:extLst>
              <a:ext uri="{FF2B5EF4-FFF2-40B4-BE49-F238E27FC236}">
                <a16:creationId xmlns:a16="http://schemas.microsoft.com/office/drawing/2014/main" id="{546791B2-3695-3CCB-7B48-99171355CDB9}"/>
              </a:ext>
            </a:extLst>
          </p:cNvPr>
          <p:cNvSpPr/>
          <p:nvPr/>
        </p:nvSpPr>
        <p:spPr>
          <a:xfrm>
            <a:off x="6302486" y="2258519"/>
            <a:ext cx="1992079" cy="366467"/>
          </a:xfrm>
          <a:prstGeom prst="rect">
            <a:avLst/>
          </a:prstGeom>
          <a:solidFill>
            <a:schemeClr val="bg1"/>
          </a:solidFill>
          <a:ln>
            <a:noFill/>
          </a:ln>
        </p:spPr>
        <p:txBody>
          <a:bodyPr lIns="0" rIns="0" rtlCol="0" anchor="t" anchorCtr="0"/>
          <a:lstStyle/>
          <a:p>
            <a:pPr lvl="0" algn="ctr" fontAlgn="base">
              <a:spcBef>
                <a:spcPct val="20000"/>
              </a:spcBef>
              <a:spcAft>
                <a:spcPct val="0"/>
              </a:spcAft>
              <a:defRPr/>
            </a:pP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＜更新案</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en-US" altLang="ja-JP" sz="900" b="1" i="0" u="sng" strike="noStrike" kern="1200" cap="none" spc="0" normalizeH="0" baseline="0" noProof="0" dirty="0">
                <a:ln>
                  <a:noFill/>
                </a:ln>
                <a:solidFill>
                  <a:prstClr val="black"/>
                </a:solidFill>
                <a:effectLst/>
                <a:uLnTx/>
                <a:uFillTx/>
                <a:latin typeface="Meiryo UI"/>
                <a:ea typeface="Meiryo UI"/>
                <a:cs typeface="+mn-cs"/>
              </a:rPr>
              <a:t>202609</a:t>
            </a:r>
            <a:r>
              <a:rPr kumimoji="1" lang="ja-JP" altLang="en-US" sz="900" b="1" u="sng">
                <a:solidFill>
                  <a:prstClr val="black"/>
                </a:solidFill>
                <a:latin typeface="Meiryo UI"/>
              </a:rPr>
              <a:t>のマスタ公開以降</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a:t>
            </a:r>
            <a:endParaRPr kumimoji="1" lang="en-US" altLang="ja-JP" sz="9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アコーディオン開</a:t>
            </a: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900" b="0" i="0" u="none" strike="noStrike" kern="1200" cap="none" spc="0" normalizeH="0" baseline="0" noProof="0">
              <a:ln>
                <a:noFill/>
              </a:ln>
              <a:solidFill>
                <a:prstClr val="black"/>
              </a:solidFill>
              <a:effectLst/>
              <a:uLnTx/>
              <a:uFillTx/>
              <a:latin typeface="Meiryo UI"/>
              <a:ea typeface="Meiryo UI"/>
              <a:cs typeface="+mn-cs"/>
            </a:endParaRPr>
          </a:p>
        </p:txBody>
      </p:sp>
      <p:sp>
        <p:nvSpPr>
          <p:cNvPr id="13" name="左中かっこ 12">
            <a:extLst>
              <a:ext uri="{FF2B5EF4-FFF2-40B4-BE49-F238E27FC236}">
                <a16:creationId xmlns:a16="http://schemas.microsoft.com/office/drawing/2014/main" id="{8891CF71-196A-0130-D802-AF9C9918BB3C}"/>
              </a:ext>
            </a:extLst>
          </p:cNvPr>
          <p:cNvSpPr/>
          <p:nvPr/>
        </p:nvSpPr>
        <p:spPr bwMode="auto">
          <a:xfrm>
            <a:off x="4939137" y="7511015"/>
            <a:ext cx="183244" cy="494309"/>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cxnSp>
        <p:nvCxnSpPr>
          <p:cNvPr id="14" name="直線コネクタ 13">
            <a:extLst>
              <a:ext uri="{FF2B5EF4-FFF2-40B4-BE49-F238E27FC236}">
                <a16:creationId xmlns:a16="http://schemas.microsoft.com/office/drawing/2014/main" id="{F041AEC7-D285-EDA2-B5E6-E93CE3FFF0D1}"/>
              </a:ext>
            </a:extLst>
          </p:cNvPr>
          <p:cNvCxnSpPr>
            <a:cxnSpLocks/>
          </p:cNvCxnSpPr>
          <p:nvPr/>
        </p:nvCxnSpPr>
        <p:spPr bwMode="auto">
          <a:xfrm>
            <a:off x="4843529" y="1913205"/>
            <a:ext cx="0" cy="7232371"/>
          </a:xfrm>
          <a:prstGeom prst="line">
            <a:avLst/>
          </a:prstGeom>
          <a:solidFill>
            <a:schemeClr val="bg1"/>
          </a:solidFill>
          <a:ln w="9525" cap="flat" cmpd="sng" algn="ctr">
            <a:solidFill>
              <a:schemeClr val="bg1">
                <a:lumMod val="65000"/>
              </a:schemeClr>
            </a:solidFill>
            <a:prstDash val="lgDash"/>
            <a:round/>
            <a:headEnd type="none" w="med" len="med"/>
            <a:tailEnd type="none" w="med" len="med"/>
          </a:ln>
          <a:effectLst/>
        </p:spPr>
      </p:cxnSp>
      <p:sp>
        <p:nvSpPr>
          <p:cNvPr id="16" name="正方形/長方形 15">
            <a:extLst>
              <a:ext uri="{FF2B5EF4-FFF2-40B4-BE49-F238E27FC236}">
                <a16:creationId xmlns:a16="http://schemas.microsoft.com/office/drawing/2014/main" id="{54AEA565-A5CD-8F1E-32D4-F9AD33C29DDC}"/>
              </a:ext>
            </a:extLst>
          </p:cNvPr>
          <p:cNvSpPr/>
          <p:nvPr/>
        </p:nvSpPr>
        <p:spPr>
          <a:xfrm>
            <a:off x="5148680" y="2176406"/>
            <a:ext cx="4431372" cy="6290846"/>
          </a:xfrm>
          <a:prstGeom prst="rect">
            <a:avLst/>
          </a:prstGeom>
          <a:noFill/>
          <a:ln w="19050">
            <a:solidFill>
              <a:srgbClr val="FF0000"/>
            </a:solidFill>
            <a:prstDash val="solid"/>
          </a:ln>
        </p:spPr>
        <p:txBody>
          <a:bodyPr wrap="none" lIns="36000" tIns="108000" rIns="36000" bIns="3600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050" b="0" i="0" u="none" strike="noStrike" kern="0" cap="none" spc="0" normalizeH="0" baseline="0" noProof="0">
              <a:ln>
                <a:noFill/>
              </a:ln>
              <a:solidFill>
                <a:prstClr val="black"/>
              </a:solidFill>
              <a:effectLst/>
              <a:uLnTx/>
              <a:uFillTx/>
              <a:latin typeface="Meiryo UI"/>
              <a:ea typeface="Meiryo UI"/>
              <a:cs typeface="Arial" charset="0"/>
            </a:endParaRPr>
          </a:p>
        </p:txBody>
      </p:sp>
      <p:pic>
        <p:nvPicPr>
          <p:cNvPr id="20" name="図 19">
            <a:extLst>
              <a:ext uri="{FF2B5EF4-FFF2-40B4-BE49-F238E27FC236}">
                <a16:creationId xmlns:a16="http://schemas.microsoft.com/office/drawing/2014/main" id="{8A480FC8-266F-FA02-F06B-EAEECD947A3C}"/>
              </a:ext>
            </a:extLst>
          </p:cNvPr>
          <p:cNvPicPr>
            <a:picLocks noChangeAspect="1"/>
          </p:cNvPicPr>
          <p:nvPr/>
        </p:nvPicPr>
        <p:blipFill>
          <a:blip r:embed="rId4"/>
          <a:stretch>
            <a:fillRect/>
          </a:stretch>
        </p:blipFill>
        <p:spPr>
          <a:xfrm>
            <a:off x="5183331" y="2772486"/>
            <a:ext cx="4317279" cy="1620406"/>
          </a:xfrm>
          <a:prstGeom prst="rect">
            <a:avLst/>
          </a:prstGeom>
        </p:spPr>
      </p:pic>
      <p:sp>
        <p:nvSpPr>
          <p:cNvPr id="17" name="正方形/長方形 16">
            <a:extLst>
              <a:ext uri="{FF2B5EF4-FFF2-40B4-BE49-F238E27FC236}">
                <a16:creationId xmlns:a16="http://schemas.microsoft.com/office/drawing/2014/main" id="{FA06BA32-19E2-5F8F-225C-FC0F7A0D9B99}"/>
              </a:ext>
            </a:extLst>
          </p:cNvPr>
          <p:cNvSpPr/>
          <p:nvPr/>
        </p:nvSpPr>
        <p:spPr>
          <a:xfrm>
            <a:off x="5355468" y="4414343"/>
            <a:ext cx="3725032" cy="638071"/>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600" dirty="0">
                <a:solidFill>
                  <a:prstClr val="black"/>
                </a:solidFill>
                <a:highlight>
                  <a:srgbClr val="FFFF00"/>
                </a:highlight>
                <a:latin typeface="Meiryo UI"/>
              </a:rPr>
              <a:t>J-FAGY</a:t>
            </a:r>
            <a:r>
              <a:rPr kumimoji="1" lang="ja-JP" altLang="en-US" sz="600">
                <a:solidFill>
                  <a:prstClr val="black"/>
                </a:solidFill>
                <a:highlight>
                  <a:srgbClr val="FFFF00"/>
                </a:highlight>
                <a:latin typeface="Meiryo UI"/>
              </a:rPr>
              <a:t>アレルゲンコードマスタは、</a:t>
            </a:r>
            <a:r>
              <a:rPr kumimoji="1" lang="en-US" altLang="ja-JP" sz="600" dirty="0">
                <a:solidFill>
                  <a:prstClr val="black"/>
                </a:solidFill>
                <a:highlight>
                  <a:srgbClr val="FFFF00"/>
                </a:highlight>
                <a:latin typeface="Meiryo UI"/>
              </a:rPr>
              <a:t>20260531</a:t>
            </a:r>
            <a:r>
              <a:rPr kumimoji="1" lang="ja-JP" altLang="en-US" sz="600">
                <a:solidFill>
                  <a:prstClr val="black"/>
                </a:solidFill>
                <a:highlight>
                  <a:srgbClr val="FFFF00"/>
                </a:highlight>
                <a:latin typeface="Meiryo UI"/>
              </a:rPr>
              <a:t>版への更新に際し、一部コードの</a:t>
            </a:r>
            <a:r>
              <a:rPr lang="ja-JP" altLang="en-US" sz="600">
                <a:solidFill>
                  <a:srgbClr val="000000"/>
                </a:solidFill>
                <a:highlight>
                  <a:srgbClr val="FFFF00"/>
                </a:highlight>
                <a:latin typeface="Meiryo UI" panose="020B0604030504040204" pitchFamily="50" charset="-128"/>
                <a:ea typeface="Meiryo UI" panose="020B0604030504040204" pitchFamily="50" charset="-128"/>
              </a:rPr>
              <a:t>日本語表記</a:t>
            </a:r>
            <a:r>
              <a:rPr lang="en-US" altLang="ja-JP" sz="600" dirty="0">
                <a:solidFill>
                  <a:srgbClr val="000000"/>
                </a:solidFill>
                <a:highlight>
                  <a:srgbClr val="FFFF00"/>
                </a:highlight>
                <a:latin typeface="Meiryo UI" panose="020B0604030504040204" pitchFamily="50" charset="-128"/>
                <a:ea typeface="Meiryo UI" panose="020B0604030504040204" pitchFamily="50" charset="-128"/>
              </a:rPr>
              <a:t>(</a:t>
            </a:r>
            <a:r>
              <a:rPr kumimoji="1" lang="en-US" altLang="ja-JP" sz="600" dirty="0">
                <a:solidFill>
                  <a:srgbClr val="000000"/>
                </a:solidFill>
                <a:highlight>
                  <a:srgbClr val="FFFF00"/>
                </a:highlight>
                <a:latin typeface="Meiryo UI" panose="020B0604030504040204" pitchFamily="50" charset="-128"/>
                <a:ea typeface="Meiryo UI" panose="020B0604030504040204" pitchFamily="50" charset="-128"/>
              </a:rPr>
              <a:t>JP</a:t>
            </a:r>
            <a:r>
              <a:rPr lang="ja-JP" altLang="ja-JP" sz="600">
                <a:solidFill>
                  <a:srgbClr val="000000"/>
                </a:solidFill>
                <a:highlight>
                  <a:srgbClr val="FFFF00"/>
                </a:highlight>
                <a:latin typeface="Meiryo UI" panose="020B0604030504040204" pitchFamily="50" charset="-128"/>
                <a:ea typeface="Meiryo UI" panose="020B0604030504040204" pitchFamily="50" charset="-128"/>
              </a:rPr>
              <a:t>T</a:t>
            </a:r>
            <a:r>
              <a:rPr lang="en-US" altLang="ja-JP" sz="600" dirty="0">
                <a:solidFill>
                  <a:srgbClr val="000000"/>
                </a:solidFill>
                <a:highlight>
                  <a:srgbClr val="FFFF00"/>
                </a:highlight>
                <a:latin typeface="Meiryo UI" panose="020B0604030504040204" pitchFamily="50" charset="-128"/>
                <a:ea typeface="Meiryo UI" panose="020B0604030504040204" pitchFamily="50" charset="-128"/>
              </a:rPr>
              <a:t>ERM)</a:t>
            </a:r>
            <a:r>
              <a:rPr kumimoji="1" lang="ja-JP" altLang="en-US" sz="600">
                <a:solidFill>
                  <a:prstClr val="black"/>
                </a:solidFill>
                <a:highlight>
                  <a:srgbClr val="FFFF00"/>
                </a:highlight>
                <a:latin typeface="Meiryo UI"/>
              </a:rPr>
              <a:t>の見直しを実施いたしました。そのため、</a:t>
            </a:r>
            <a:r>
              <a:rPr kumimoji="1" lang="en-US" altLang="ja-JP" sz="600" dirty="0">
                <a:solidFill>
                  <a:prstClr val="black"/>
                </a:solidFill>
                <a:highlight>
                  <a:srgbClr val="FFFF00"/>
                </a:highlight>
                <a:latin typeface="Meiryo UI"/>
              </a:rPr>
              <a:t>20250401</a:t>
            </a:r>
            <a:r>
              <a:rPr kumimoji="1" lang="ja-JP" altLang="en-US" sz="600">
                <a:solidFill>
                  <a:prstClr val="black"/>
                </a:solidFill>
                <a:highlight>
                  <a:srgbClr val="FFFF00"/>
                </a:highlight>
                <a:latin typeface="Meiryo UI"/>
              </a:rPr>
              <a:t>以前の版を用いて登録されている医療機関におかれましては、</a:t>
            </a:r>
            <a:r>
              <a:rPr kumimoji="1" lang="en-US" altLang="ja-JP" sz="600" dirty="0">
                <a:solidFill>
                  <a:prstClr val="black"/>
                </a:solidFill>
                <a:highlight>
                  <a:srgbClr val="FFFF00"/>
                </a:highlight>
                <a:latin typeface="Meiryo UI"/>
              </a:rPr>
              <a:t>20260531</a:t>
            </a:r>
            <a:r>
              <a:rPr kumimoji="1" lang="ja-JP" altLang="en-US" sz="600">
                <a:solidFill>
                  <a:prstClr val="black"/>
                </a:solidFill>
                <a:highlight>
                  <a:srgbClr val="FFFF00"/>
                </a:highlight>
                <a:latin typeface="Meiryo UI"/>
              </a:rPr>
              <a:t>版への移行をお願いいたします。</a:t>
            </a:r>
            <a:endParaRPr kumimoji="1" lang="en-US" altLang="ja-JP" sz="600" dirty="0">
              <a:solidFill>
                <a:prstClr val="black"/>
              </a:solidFill>
              <a:highlight>
                <a:srgbClr val="FFFF00"/>
              </a:highlight>
              <a:latin typeface="Meiryo UI"/>
            </a:endParaRPr>
          </a:p>
          <a:p>
            <a:pPr fontAlgn="base">
              <a:spcBef>
                <a:spcPct val="20000"/>
              </a:spcBef>
              <a:spcAft>
                <a:spcPct val="0"/>
              </a:spcAft>
              <a:defRPr/>
            </a:pPr>
            <a:r>
              <a:rPr kumimoji="1" lang="en-US" altLang="ja-JP" sz="600" dirty="0">
                <a:solidFill>
                  <a:prstClr val="black"/>
                </a:solidFill>
                <a:highlight>
                  <a:srgbClr val="FFFF00"/>
                </a:highlight>
                <a:latin typeface="Meiryo UI"/>
              </a:rPr>
              <a:t>※</a:t>
            </a:r>
            <a:r>
              <a:rPr kumimoji="1" lang="en-US" altLang="ja-JP" sz="600" dirty="0">
                <a:solidFill>
                  <a:srgbClr val="000000"/>
                </a:solidFill>
                <a:highlight>
                  <a:srgbClr val="FFFF00"/>
                </a:highlight>
                <a:latin typeface="Meiryo UI" panose="020B0604030504040204" pitchFamily="50" charset="-128"/>
                <a:ea typeface="Meiryo UI" panose="020B0604030504040204" pitchFamily="50" charset="-128"/>
              </a:rPr>
              <a:t> </a:t>
            </a:r>
            <a:r>
              <a:rPr kumimoji="1" lang="ja-JP" altLang="en-US" sz="600">
                <a:solidFill>
                  <a:srgbClr val="000000"/>
                </a:solidFill>
                <a:highlight>
                  <a:srgbClr val="FFFF00"/>
                </a:highlight>
                <a:latin typeface="Meiryo UI" panose="020B0604030504040204" pitchFamily="50" charset="-128"/>
                <a:ea typeface="Meiryo UI" panose="020B0604030504040204" pitchFamily="50" charset="-128"/>
              </a:rPr>
              <a:t>日本語表記</a:t>
            </a:r>
            <a:r>
              <a:rPr kumimoji="1" lang="en-US" altLang="ja-JP" sz="600" dirty="0">
                <a:solidFill>
                  <a:srgbClr val="000000"/>
                </a:solidFill>
                <a:highlight>
                  <a:srgbClr val="FFFF00"/>
                </a:highlight>
                <a:latin typeface="Meiryo UI" panose="020B0604030504040204" pitchFamily="50" charset="-128"/>
                <a:ea typeface="Meiryo UI" panose="020B0604030504040204" pitchFamily="50" charset="-128"/>
              </a:rPr>
              <a:t>(JP</a:t>
            </a:r>
            <a:r>
              <a:rPr lang="ja-JP" altLang="ja-JP" sz="600">
                <a:solidFill>
                  <a:srgbClr val="000000"/>
                </a:solidFill>
                <a:highlight>
                  <a:srgbClr val="FFFF00"/>
                </a:highlight>
                <a:latin typeface="Meiryo UI" panose="020B0604030504040204" pitchFamily="50" charset="-128"/>
                <a:ea typeface="Meiryo UI" panose="020B0604030504040204" pitchFamily="50" charset="-128"/>
              </a:rPr>
              <a:t>T</a:t>
            </a:r>
            <a:r>
              <a:rPr lang="en-US" altLang="ja-JP" sz="600" dirty="0">
                <a:solidFill>
                  <a:srgbClr val="000000"/>
                </a:solidFill>
                <a:highlight>
                  <a:srgbClr val="FFFF00"/>
                </a:highlight>
                <a:latin typeface="Meiryo UI" panose="020B0604030504040204" pitchFamily="50" charset="-128"/>
                <a:ea typeface="Meiryo UI" panose="020B0604030504040204" pitchFamily="50" charset="-128"/>
              </a:rPr>
              <a:t>ERM)</a:t>
            </a:r>
            <a:r>
              <a:rPr kumimoji="1" lang="ja-JP" altLang="en-US" sz="600">
                <a:solidFill>
                  <a:prstClr val="black"/>
                </a:solidFill>
                <a:highlight>
                  <a:srgbClr val="FFFF00"/>
                </a:highlight>
                <a:latin typeface="Meiryo UI"/>
              </a:rPr>
              <a:t>の変更は、消費者庁が定める特定原材料等の表記に</a:t>
            </a:r>
            <a:r>
              <a:rPr kumimoji="1" lang="en-US" altLang="ja-JP" sz="600" dirty="0">
                <a:solidFill>
                  <a:prstClr val="black"/>
                </a:solidFill>
                <a:highlight>
                  <a:srgbClr val="FFFF00"/>
                </a:highlight>
                <a:latin typeface="Meiryo UI"/>
              </a:rPr>
              <a:t>J-FAGY</a:t>
            </a:r>
            <a:r>
              <a:rPr kumimoji="1" lang="ja-JP" altLang="en-US" sz="600">
                <a:solidFill>
                  <a:prstClr val="black"/>
                </a:solidFill>
                <a:highlight>
                  <a:srgbClr val="FFFF00"/>
                </a:highlight>
                <a:latin typeface="Meiryo UI"/>
              </a:rPr>
              <a:t>コードの表記を合わせることを目的としています。</a:t>
            </a:r>
            <a:endParaRPr kumimoji="1" lang="en-US" altLang="ja-JP" sz="600" dirty="0">
              <a:solidFill>
                <a:prstClr val="black"/>
              </a:solidFill>
              <a:highlight>
                <a:srgbClr val="FFFF00"/>
              </a:highlight>
              <a:latin typeface="Meiryo UI"/>
            </a:endParaRPr>
          </a:p>
        </p:txBody>
      </p:sp>
      <p:pic>
        <p:nvPicPr>
          <p:cNvPr id="26" name="図 25">
            <a:extLst>
              <a:ext uri="{FF2B5EF4-FFF2-40B4-BE49-F238E27FC236}">
                <a16:creationId xmlns:a16="http://schemas.microsoft.com/office/drawing/2014/main" id="{FCFB6818-8E31-0A98-4E0A-5E03A3066B37}"/>
              </a:ext>
            </a:extLst>
          </p:cNvPr>
          <p:cNvPicPr>
            <a:picLocks noChangeAspect="1"/>
          </p:cNvPicPr>
          <p:nvPr/>
        </p:nvPicPr>
        <p:blipFill>
          <a:blip r:embed="rId5"/>
          <a:srcRect b="74573"/>
          <a:stretch>
            <a:fillRect/>
          </a:stretch>
        </p:blipFill>
        <p:spPr>
          <a:xfrm>
            <a:off x="5445697" y="5111110"/>
            <a:ext cx="3837337" cy="130290"/>
          </a:xfrm>
          <a:prstGeom prst="rect">
            <a:avLst/>
          </a:prstGeom>
        </p:spPr>
      </p:pic>
      <p:sp>
        <p:nvSpPr>
          <p:cNvPr id="30" name="正方形/長方形 29">
            <a:extLst>
              <a:ext uri="{FF2B5EF4-FFF2-40B4-BE49-F238E27FC236}">
                <a16:creationId xmlns:a16="http://schemas.microsoft.com/office/drawing/2014/main" id="{4A9F4C09-6653-2C69-2058-07F0CC1FC4EB}"/>
              </a:ext>
            </a:extLst>
          </p:cNvPr>
          <p:cNvSpPr/>
          <p:nvPr/>
        </p:nvSpPr>
        <p:spPr>
          <a:xfrm>
            <a:off x="5351971" y="5690733"/>
            <a:ext cx="3893627" cy="1330759"/>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600" b="1" dirty="0">
                <a:solidFill>
                  <a:srgbClr val="FF0000"/>
                </a:solidFill>
                <a:latin typeface="Meiryo UI"/>
                <a:ea typeface="Meiryo UI"/>
              </a:rPr>
              <a:t>【</a:t>
            </a:r>
            <a:r>
              <a:rPr kumimoji="1" lang="ja-JP" altLang="en-US" sz="600" b="1">
                <a:solidFill>
                  <a:srgbClr val="FF0000"/>
                </a:solidFill>
                <a:latin typeface="Meiryo UI"/>
                <a:ea typeface="Meiryo UI"/>
              </a:rPr>
              <a:t>ご留意事項</a:t>
            </a:r>
            <a:r>
              <a:rPr kumimoji="1" lang="en-US" altLang="ja-JP" sz="600" b="1" dirty="0">
                <a:solidFill>
                  <a:srgbClr val="FF0000"/>
                </a:solidFill>
                <a:latin typeface="Meiryo UI"/>
                <a:ea typeface="Meiryo UI"/>
              </a:rPr>
              <a:t>】</a:t>
            </a:r>
          </a:p>
          <a:p>
            <a:pPr lvl="0" fontAlgn="base">
              <a:spcBef>
                <a:spcPct val="20000"/>
              </a:spcBef>
              <a:spcAft>
                <a:spcPct val="0"/>
              </a:spcAft>
              <a:defRPr/>
            </a:pPr>
            <a:r>
              <a:rPr kumimoji="1" lang="en-US" altLang="ja-JP" sz="600" dirty="0">
                <a:highlight>
                  <a:srgbClr val="FFFF00"/>
                </a:highlight>
                <a:latin typeface="Meiryo UI"/>
                <a:ea typeface="Meiryo UI"/>
              </a:rPr>
              <a:t>2026</a:t>
            </a:r>
            <a:r>
              <a:rPr kumimoji="1" lang="ja-JP" altLang="en-US" sz="600">
                <a:highlight>
                  <a:srgbClr val="FFFF00"/>
                </a:highlight>
                <a:latin typeface="Meiryo UI"/>
                <a:ea typeface="Meiryo UI"/>
              </a:rPr>
              <a:t>年</a:t>
            </a:r>
            <a:r>
              <a:rPr kumimoji="1" lang="en-US" altLang="ja-JP" sz="600" i="0" u="none" strike="noStrike" kern="1200" cap="none" spc="0" normalizeH="0" baseline="0" noProof="0" dirty="0">
                <a:ln>
                  <a:noFill/>
                </a:ln>
                <a:effectLst/>
                <a:highlight>
                  <a:srgbClr val="FFFF00"/>
                </a:highlight>
                <a:uLnTx/>
                <a:uFillTx/>
                <a:latin typeface="Meiryo UI"/>
                <a:ea typeface="Meiryo UI"/>
                <a:cs typeface="+mn-cs"/>
              </a:rPr>
              <a:t>9</a:t>
            </a:r>
            <a:r>
              <a:rPr kumimoji="1" lang="ja-JP" altLang="en-US" sz="600" i="0" u="none" strike="noStrike" kern="1200" cap="none" spc="0" normalizeH="0" baseline="0" noProof="0">
                <a:ln>
                  <a:noFill/>
                </a:ln>
                <a:effectLst/>
                <a:highlight>
                  <a:srgbClr val="FFFF00"/>
                </a:highlight>
                <a:uLnTx/>
                <a:uFillTx/>
                <a:latin typeface="Meiryo UI"/>
                <a:ea typeface="Meiryo UI"/>
                <a:cs typeface="+mn-cs"/>
              </a:rPr>
              <a:t>月</a:t>
            </a:r>
            <a:r>
              <a:rPr kumimoji="1" lang="en-US" altLang="ja-JP" sz="600" i="0" u="none" strike="noStrike" kern="1200" cap="none" spc="0" normalizeH="0" baseline="0" noProof="0" dirty="0">
                <a:ln>
                  <a:noFill/>
                </a:ln>
                <a:effectLst/>
                <a:highlight>
                  <a:srgbClr val="FFFF00"/>
                </a:highlight>
                <a:uLnTx/>
                <a:uFillTx/>
                <a:latin typeface="Meiryo UI"/>
                <a:ea typeface="Meiryo UI"/>
                <a:cs typeface="+mn-cs"/>
              </a:rPr>
              <a:t>28</a:t>
            </a:r>
            <a:r>
              <a:rPr kumimoji="1" lang="ja-JP" altLang="en-US" sz="600" i="0" u="none" strike="noStrike" kern="1200" cap="none" spc="0" normalizeH="0" baseline="0" noProof="0">
                <a:ln>
                  <a:noFill/>
                </a:ln>
                <a:effectLst/>
                <a:highlight>
                  <a:srgbClr val="FFFF00"/>
                </a:highlight>
                <a:uLnTx/>
                <a:uFillTx/>
                <a:latin typeface="Meiryo UI"/>
                <a:ea typeface="Meiryo UI"/>
                <a:cs typeface="+mn-cs"/>
              </a:rPr>
              <a:t>日以降は、</a:t>
            </a:r>
            <a:r>
              <a:rPr kumimoji="1" lang="en-US" altLang="ja-JP" sz="600" dirty="0">
                <a:highlight>
                  <a:srgbClr val="FFFF00"/>
                </a:highlight>
                <a:latin typeface="Meiryo UI"/>
                <a:ea typeface="Meiryo UI"/>
              </a:rPr>
              <a:t>20250401</a:t>
            </a:r>
            <a:r>
              <a:rPr kumimoji="1" lang="ja-JP" altLang="en-US" sz="600" i="0" u="none" strike="noStrike" kern="1200" cap="none" spc="0" normalizeH="0" baseline="0" noProof="0">
                <a:ln>
                  <a:noFill/>
                </a:ln>
                <a:effectLst/>
                <a:highlight>
                  <a:srgbClr val="FFFF00"/>
                </a:highlight>
                <a:uLnTx/>
                <a:uFillTx/>
                <a:latin typeface="Meiryo UI"/>
                <a:ea typeface="Meiryo UI"/>
                <a:cs typeface="+mn-cs"/>
              </a:rPr>
              <a:t>版に記載されていた次の</a:t>
            </a:r>
            <a:r>
              <a:rPr kumimoji="1" lang="en-US" altLang="ja-JP" sz="600" dirty="0">
                <a:solidFill>
                  <a:srgbClr val="000000"/>
                </a:solidFill>
                <a:highlight>
                  <a:srgbClr val="FFFF00"/>
                </a:highlight>
                <a:latin typeface="Meiryo UI" panose="020B0604030504040204" pitchFamily="50" charset="-128"/>
                <a:ea typeface="Meiryo UI" panose="020B0604030504040204" pitchFamily="50" charset="-128"/>
              </a:rPr>
              <a:t>JP</a:t>
            </a:r>
            <a:r>
              <a:rPr lang="ja-JP" altLang="ja-JP" sz="600">
                <a:solidFill>
                  <a:srgbClr val="000000"/>
                </a:solidFill>
                <a:highlight>
                  <a:srgbClr val="FFFF00"/>
                </a:highlight>
                <a:latin typeface="Meiryo UI" panose="020B0604030504040204" pitchFamily="50" charset="-128"/>
                <a:ea typeface="Meiryo UI" panose="020B0604030504040204" pitchFamily="50" charset="-128"/>
              </a:rPr>
              <a:t>T</a:t>
            </a:r>
            <a:r>
              <a:rPr lang="en-US" altLang="ja-JP" sz="600" dirty="0">
                <a:solidFill>
                  <a:srgbClr val="000000"/>
                </a:solidFill>
                <a:highlight>
                  <a:srgbClr val="FFFF00"/>
                </a:highlight>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a:ln>
                  <a:noFill/>
                </a:ln>
                <a:effectLst/>
                <a:highlight>
                  <a:srgbClr val="FFFF00"/>
                </a:highlight>
                <a:uLnTx/>
                <a:uFillTx/>
                <a:latin typeface="Meiryo UI"/>
                <a:ea typeface="Meiryo UI"/>
                <a:cs typeface="+mn-cs"/>
              </a:rPr>
              <a:t>の</a:t>
            </a:r>
            <a:r>
              <a:rPr kumimoji="1" lang="en-US" altLang="ja-JP" sz="600" i="0" u="none" strike="noStrike" kern="1200" cap="none" spc="0" normalizeH="0" baseline="0" noProof="0" dirty="0">
                <a:ln>
                  <a:noFill/>
                </a:ln>
                <a:effectLst/>
                <a:highlight>
                  <a:srgbClr val="FFFF00"/>
                </a:highlight>
                <a:uLnTx/>
                <a:uFillTx/>
                <a:latin typeface="Meiryo UI"/>
                <a:ea typeface="Meiryo UI"/>
                <a:cs typeface="+mn-cs"/>
              </a:rPr>
              <a:t>J-FAGY</a:t>
            </a:r>
            <a:r>
              <a:rPr kumimoji="1" lang="ja-JP" altLang="en-US" sz="600" i="0" u="none" strike="noStrike" kern="1200" cap="none" spc="0" normalizeH="0" baseline="0" noProof="0">
                <a:ln>
                  <a:noFill/>
                </a:ln>
                <a:effectLst/>
                <a:highlight>
                  <a:srgbClr val="FFFF00"/>
                </a:highlight>
                <a:uLnTx/>
                <a:uFillTx/>
                <a:latin typeface="Meiryo UI"/>
                <a:ea typeface="Meiryo UI"/>
                <a:cs typeface="+mn-cs"/>
              </a:rPr>
              <a:t>コードに</a:t>
            </a:r>
            <a:r>
              <a:rPr kumimoji="1" lang="ja-JP" altLang="en-US" sz="600">
                <a:highlight>
                  <a:srgbClr val="FFFF00"/>
                </a:highlight>
                <a:latin typeface="Meiryo UI"/>
                <a:ea typeface="Meiryo UI"/>
              </a:rPr>
              <a:t>変更となったため</a:t>
            </a:r>
            <a:r>
              <a:rPr kumimoji="1" lang="ja-JP" altLang="en-US" sz="600" i="0" u="none" strike="noStrike" kern="1200" cap="none" spc="0" normalizeH="0" baseline="0" noProof="0">
                <a:ln>
                  <a:noFill/>
                </a:ln>
                <a:effectLst/>
                <a:highlight>
                  <a:srgbClr val="FFFF00"/>
                </a:highlight>
                <a:uLnTx/>
                <a:uFillTx/>
                <a:latin typeface="Meiryo UI"/>
                <a:ea typeface="Meiryo UI"/>
                <a:cs typeface="+mn-cs"/>
              </a:rPr>
              <a:t>、電子カルテ情報共有サービスに登録できなくなりました。</a:t>
            </a:r>
            <a:endParaRPr kumimoji="1" lang="en-US" altLang="ja-JP" sz="600" i="0" u="none" strike="noStrike" kern="1200" cap="none" spc="0" normalizeH="0" baseline="0" noProof="0" dirty="0">
              <a:ln>
                <a:noFill/>
              </a:ln>
              <a:effectLst/>
              <a:highlight>
                <a:srgbClr val="FFFF00"/>
              </a:highlight>
              <a:uLnTx/>
              <a:uFillTx/>
              <a:latin typeface="Meiryo UI"/>
              <a:ea typeface="Meiryo UI"/>
              <a:cs typeface="+mn-cs"/>
            </a:endParaRPr>
          </a:p>
          <a:p>
            <a:pPr lvl="0" fontAlgn="base">
              <a:spcBef>
                <a:spcPct val="20000"/>
              </a:spcBef>
              <a:spcAft>
                <a:spcPct val="0"/>
              </a:spcAft>
              <a:defRPr/>
            </a:pPr>
            <a:r>
              <a:rPr kumimoji="1" lang="ja-JP" altLang="en-US" sz="600" i="0" u="none" strike="noStrike" kern="1200" cap="none" spc="0" normalizeH="0" baseline="0" noProof="0">
                <a:ln>
                  <a:noFill/>
                </a:ln>
                <a:effectLst/>
                <a:uLnTx/>
                <a:uFillTx/>
                <a:latin typeface="Meiryo UI"/>
                <a:ea typeface="Meiryo UI"/>
                <a:cs typeface="+mn-cs"/>
              </a:rPr>
              <a:t>新しい</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a:ln>
                  <a:noFill/>
                </a:ln>
                <a:effectLst/>
                <a:uLnTx/>
                <a:uFillTx/>
                <a:latin typeface="Meiryo UI"/>
                <a:ea typeface="Meiryo UI"/>
                <a:cs typeface="+mn-cs"/>
              </a:rPr>
              <a:t>の詳細につきましては、</a:t>
            </a:r>
            <a:r>
              <a:rPr kumimoji="1" lang="en-US" altLang="ja-JP" sz="600" i="0" u="none" strike="noStrike" kern="1200" cap="none" spc="0" normalizeH="0" baseline="0" noProof="0" dirty="0">
                <a:ln>
                  <a:noFill/>
                </a:ln>
                <a:effectLst/>
                <a:uLnTx/>
                <a:uFillTx/>
                <a:latin typeface="Meiryo UI"/>
                <a:ea typeface="Meiryo UI"/>
                <a:cs typeface="+mn-cs"/>
              </a:rPr>
              <a:t>20260531</a:t>
            </a:r>
            <a:r>
              <a:rPr kumimoji="1" lang="ja-JP" altLang="en-US" sz="600" i="0" u="none" strike="noStrike" kern="1200" cap="none" spc="0" normalizeH="0" baseline="0" noProof="0">
                <a:ln>
                  <a:noFill/>
                </a:ln>
                <a:effectLst/>
                <a:uLnTx/>
                <a:uFillTx/>
                <a:latin typeface="Meiryo UI"/>
                <a:ea typeface="Meiryo UI"/>
                <a:cs typeface="+mn-cs"/>
              </a:rPr>
              <a:t>版を</a:t>
            </a:r>
            <a:r>
              <a:rPr kumimoji="1" lang="ja-JP" altLang="en-US" sz="600">
                <a:solidFill>
                  <a:prstClr val="black"/>
                </a:solidFill>
                <a:latin typeface="Meiryo UI (Body)"/>
              </a:rPr>
              <a:t>ご確認ください。</a:t>
            </a:r>
            <a:endParaRPr kumimoji="1" lang="en-US" altLang="ja-JP" sz="600" dirty="0">
              <a:solidFill>
                <a:prstClr val="black"/>
              </a:solidFill>
              <a:latin typeface="Meiryo UI (Body)"/>
            </a:endParaRPr>
          </a:p>
          <a:p>
            <a:pPr lvl="0" fontAlgn="base">
              <a:spcBef>
                <a:spcPct val="20000"/>
              </a:spcBef>
              <a:spcAft>
                <a:spcPct val="0"/>
              </a:spcAft>
              <a:defRPr/>
            </a:pPr>
            <a:r>
              <a:rPr kumimoji="1" lang="ja-JP" altLang="en-US" sz="600">
                <a:latin typeface="Meiryo UI"/>
                <a:ea typeface="Meiryo UI"/>
              </a:rPr>
              <a:t>　</a:t>
            </a:r>
            <a:r>
              <a:rPr kumimoji="1" lang="en-US" altLang="ja-JP" sz="600" dirty="0">
                <a:latin typeface="Meiryo UI"/>
                <a:ea typeface="Meiryo UI"/>
              </a:rPr>
              <a:t>-</a:t>
            </a:r>
            <a:r>
              <a:rPr kumimoji="1" lang="ja-JP" altLang="en-US" sz="600">
                <a:latin typeface="Meiryo UI"/>
                <a:ea typeface="Meiryo UI"/>
              </a:rPr>
              <a:t>食用鳥卵</a:t>
            </a:r>
            <a:endParaRPr kumimoji="1" lang="en-US" altLang="ja-JP" sz="600" dirty="0">
              <a:latin typeface="Meiryo UI"/>
              <a:ea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落花生</a:t>
            </a:r>
            <a:endParaRPr kumimoji="1" lang="en-US" altLang="ja-JP" sz="600" dirty="0">
              <a:latin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いか類</a:t>
            </a:r>
            <a:endParaRPr kumimoji="1" lang="en-US" altLang="ja-JP" sz="600" dirty="0">
              <a:latin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マカデミアナッツ</a:t>
            </a:r>
            <a:endParaRPr kumimoji="1" lang="en-US" altLang="ja-JP" sz="600" dirty="0">
              <a:latin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やまのいも</a:t>
            </a:r>
            <a:endParaRPr kumimoji="1" lang="en-US" altLang="ja-JP" sz="600" i="0" u="none" strike="noStrike" kern="1200" cap="none" spc="0" normalizeH="0" baseline="0" noProof="0" dirty="0">
              <a:ln>
                <a:noFill/>
              </a:ln>
              <a:effectLst/>
              <a:uLnTx/>
              <a:uFillTx/>
              <a:latin typeface="Meiryo UI"/>
              <a:ea typeface="Meiryo UI"/>
              <a:cs typeface="+mn-cs"/>
            </a:endParaRPr>
          </a:p>
          <a:p>
            <a:pPr marL="0" marR="0" lvl="0" indent="0" defTabSz="457200" rtl="0" eaLnBrk="1" fontAlgn="base" latinLnBrk="0" hangingPunct="1">
              <a:lnSpc>
                <a:spcPct val="100000"/>
              </a:lnSpc>
              <a:spcBef>
                <a:spcPct val="20000"/>
              </a:spcBef>
              <a:spcAft>
                <a:spcPct val="0"/>
              </a:spcAft>
              <a:buClrTx/>
              <a:buSzTx/>
              <a:buFontTx/>
              <a:buNone/>
              <a:tabLst/>
              <a:defRPr/>
            </a:pPr>
            <a:endParaRPr kumimoji="1" lang="ja-JP" altLang="en-US" sz="600" i="0" u="none" strike="noStrike" kern="1200" cap="none" spc="0" normalizeH="0" baseline="0" noProof="0">
              <a:ln>
                <a:noFill/>
              </a:ln>
              <a:effectLst/>
              <a:uLnTx/>
              <a:uFillTx/>
              <a:latin typeface="Meiryo UI"/>
              <a:ea typeface="Meiryo UI"/>
              <a:cs typeface="+mn-cs"/>
            </a:endParaRPr>
          </a:p>
        </p:txBody>
      </p:sp>
      <p:graphicFrame>
        <p:nvGraphicFramePr>
          <p:cNvPr id="32" name="表 31">
            <a:extLst>
              <a:ext uri="{FF2B5EF4-FFF2-40B4-BE49-F238E27FC236}">
                <a16:creationId xmlns:a16="http://schemas.microsoft.com/office/drawing/2014/main" id="{B40FF68F-B9ED-2DD5-8230-1C2764ABB9FA}"/>
              </a:ext>
            </a:extLst>
          </p:cNvPr>
          <p:cNvGraphicFramePr>
            <a:graphicFrameLocks noGrp="1"/>
          </p:cNvGraphicFramePr>
          <p:nvPr/>
        </p:nvGraphicFramePr>
        <p:xfrm>
          <a:off x="5585952" y="5291310"/>
          <a:ext cx="3512036" cy="349940"/>
        </p:xfrm>
        <a:graphic>
          <a:graphicData uri="http://schemas.openxmlformats.org/drawingml/2006/table">
            <a:tbl>
              <a:tblPr/>
              <a:tblGrid>
                <a:gridCol w="595907">
                  <a:extLst>
                    <a:ext uri="{9D8B030D-6E8A-4147-A177-3AD203B41FA5}">
                      <a16:colId xmlns:a16="http://schemas.microsoft.com/office/drawing/2014/main" val="4058772077"/>
                    </a:ext>
                  </a:extLst>
                </a:gridCol>
                <a:gridCol w="669375">
                  <a:extLst>
                    <a:ext uri="{9D8B030D-6E8A-4147-A177-3AD203B41FA5}">
                      <a16:colId xmlns:a16="http://schemas.microsoft.com/office/drawing/2014/main" val="154882630"/>
                    </a:ext>
                  </a:extLst>
                </a:gridCol>
                <a:gridCol w="748918">
                  <a:extLst>
                    <a:ext uri="{9D8B030D-6E8A-4147-A177-3AD203B41FA5}">
                      <a16:colId xmlns:a16="http://schemas.microsoft.com/office/drawing/2014/main" val="227139091"/>
                    </a:ext>
                  </a:extLst>
                </a:gridCol>
                <a:gridCol w="748918">
                  <a:extLst>
                    <a:ext uri="{9D8B030D-6E8A-4147-A177-3AD203B41FA5}">
                      <a16:colId xmlns:a16="http://schemas.microsoft.com/office/drawing/2014/main" val="892848932"/>
                    </a:ext>
                  </a:extLst>
                </a:gridCol>
                <a:gridCol w="748918">
                  <a:extLst>
                    <a:ext uri="{9D8B030D-6E8A-4147-A177-3AD203B41FA5}">
                      <a16:colId xmlns:a16="http://schemas.microsoft.com/office/drawing/2014/main" val="420957508"/>
                    </a:ext>
                  </a:extLst>
                </a:gridCol>
              </a:tblGrid>
              <a:tr h="176190">
                <a:tc>
                  <a:txBody>
                    <a:bodyPr/>
                    <a:lstStyle/>
                    <a:p>
                      <a:pPr algn="ctr" fontAlgn="ctr">
                        <a:buNone/>
                      </a:pPr>
                      <a:r>
                        <a:rPr lang="ja-JP" altLang="en-US" sz="6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本番環境</a:t>
                      </a:r>
                      <a:br>
                        <a:rPr lang="en-US" altLang="ja-JP" sz="600" b="0" i="0" u="none" strike="noStrike" dirty="0">
                          <a:solidFill>
                            <a:srgbClr val="000000"/>
                          </a:solidFill>
                          <a:effectLst/>
                          <a:latin typeface="+mj-ea"/>
                          <a:ea typeface="+mj-ea"/>
                        </a:rPr>
                      </a:br>
                      <a:r>
                        <a:rPr lang="ja-JP" altLang="en-US" sz="6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600" b="0" i="0" u="none" strike="noStrike" kern="120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a:solidFill>
                            <a:srgbClr val="000000"/>
                          </a:solidFill>
                          <a:effectLst/>
                          <a:latin typeface="+mj-ea"/>
                          <a:ea typeface="+mn-ea"/>
                          <a:cs typeface="+mn-cs"/>
                        </a:rPr>
                        <a:t>反映日</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600" b="0" i="0" u="none" strike="noStrike" kern="120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57535">
                <a:tc>
                  <a:txBody>
                    <a:bodyPr/>
                    <a:lstStyle/>
                    <a:p>
                      <a:pPr algn="ctr" fontAlgn="ctr">
                        <a:buNone/>
                      </a:pPr>
                      <a:r>
                        <a:rPr lang="en-US" altLang="ja-JP" sz="600" b="0" i="0" u="none" strike="noStrike" dirty="0">
                          <a:solidFill>
                            <a:srgbClr val="000000"/>
                          </a:solidFill>
                          <a:effectLst/>
                          <a:latin typeface="+mj-ea"/>
                          <a:ea typeface="+mj-ea"/>
                        </a:rPr>
                        <a:t>20260531</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2026/05/31</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2026/9/28</a:t>
                      </a:r>
                      <a:endParaRPr lang="ja-JP" altLang="en-US" sz="600" b="0" i="0" u="none" strike="noStrike">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2026/9/24</a:t>
                      </a:r>
                      <a:endParaRPr lang="ja-JP" altLang="en-US" sz="600" b="0" i="0" u="none" strike="noStrike">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2026/08/13</a:t>
                      </a:r>
                      <a:endParaRPr lang="ja-JP" altLang="en-US" sz="6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33" name="四角形: 角を丸くする 32">
            <a:extLst>
              <a:ext uri="{FF2B5EF4-FFF2-40B4-BE49-F238E27FC236}">
                <a16:creationId xmlns:a16="http://schemas.microsoft.com/office/drawing/2014/main" id="{FC7F0B1D-6A38-56C9-1975-9DEE2C69A6E3}"/>
              </a:ext>
            </a:extLst>
          </p:cNvPr>
          <p:cNvSpPr/>
          <p:nvPr/>
        </p:nvSpPr>
        <p:spPr>
          <a:xfrm>
            <a:off x="7921000" y="2458168"/>
            <a:ext cx="1925838" cy="656505"/>
          </a:xfrm>
          <a:prstGeom prst="roundRect">
            <a:avLst/>
          </a:prstGeom>
          <a:solidFill>
            <a:schemeClr val="accent2">
              <a:lumMod val="20000"/>
              <a:lumOff val="80000"/>
            </a:schemeClr>
          </a:solidFill>
          <a:ln>
            <a:noFill/>
            <a:prstDash val="dash"/>
          </a:ln>
        </p:spPr>
        <p:txBody>
          <a:bodyPr wrap="none" lIns="36000" tIns="108000" rIns="36000" bIns="36000" rtlCol="0" anchor="ctr">
            <a:noAutofit/>
          </a:bodyP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1050" b="0" i="0" u="sng" strike="noStrike" kern="1200" cap="none" spc="0" normalizeH="0" baseline="0" noProof="0">
                <a:ln>
                  <a:noFill/>
                </a:ln>
                <a:solidFill>
                  <a:prstClr val="black"/>
                </a:solidFill>
                <a:effectLst/>
                <a:uLnTx/>
                <a:uFillTx/>
                <a:latin typeface="Meiryo UI"/>
                <a:ea typeface="Meiryo UI"/>
                <a:cs typeface="+mn-cs"/>
              </a:rPr>
              <a:t>基金担当者様</a:t>
            </a:r>
            <a:endParaRPr kumimoji="1" lang="en-US" altLang="ja-JP" sz="105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2026</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9</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月の更新では</a:t>
            </a:r>
            <a:b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こちらのレイアウトに更新ください。</a:t>
            </a:r>
          </a:p>
        </p:txBody>
      </p:sp>
      <p:pic>
        <p:nvPicPr>
          <p:cNvPr id="7" name="図 6">
            <a:extLst>
              <a:ext uri="{FF2B5EF4-FFF2-40B4-BE49-F238E27FC236}">
                <a16:creationId xmlns:a16="http://schemas.microsoft.com/office/drawing/2014/main" id="{02C4F89B-1C79-EED4-CFE3-70C350D49F84}"/>
              </a:ext>
            </a:extLst>
          </p:cNvPr>
          <p:cNvPicPr>
            <a:picLocks noChangeAspect="1"/>
          </p:cNvPicPr>
          <p:nvPr/>
        </p:nvPicPr>
        <p:blipFill>
          <a:blip r:embed="rId6"/>
          <a:srcRect t="74089" b="20049"/>
          <a:stretch>
            <a:fillRect/>
          </a:stretch>
        </p:blipFill>
        <p:spPr>
          <a:xfrm>
            <a:off x="117927" y="8524853"/>
            <a:ext cx="4387076" cy="180577"/>
          </a:xfrm>
          <a:prstGeom prst="rect">
            <a:avLst/>
          </a:prstGeom>
        </p:spPr>
      </p:pic>
      <p:pic>
        <p:nvPicPr>
          <p:cNvPr id="18" name="図 17">
            <a:extLst>
              <a:ext uri="{FF2B5EF4-FFF2-40B4-BE49-F238E27FC236}">
                <a16:creationId xmlns:a16="http://schemas.microsoft.com/office/drawing/2014/main" id="{145BE9EA-C56D-0265-C559-CE6750F0ECEB}"/>
              </a:ext>
            </a:extLst>
          </p:cNvPr>
          <p:cNvPicPr>
            <a:picLocks noChangeAspect="1"/>
          </p:cNvPicPr>
          <p:nvPr/>
        </p:nvPicPr>
        <p:blipFill>
          <a:blip r:embed="rId7"/>
          <a:stretch>
            <a:fillRect/>
          </a:stretch>
        </p:blipFill>
        <p:spPr>
          <a:xfrm>
            <a:off x="224125" y="8225186"/>
            <a:ext cx="4106921" cy="299667"/>
          </a:xfrm>
          <a:prstGeom prst="rect">
            <a:avLst/>
          </a:prstGeom>
        </p:spPr>
      </p:pic>
      <p:pic>
        <p:nvPicPr>
          <p:cNvPr id="36" name="図 35">
            <a:extLst>
              <a:ext uri="{FF2B5EF4-FFF2-40B4-BE49-F238E27FC236}">
                <a16:creationId xmlns:a16="http://schemas.microsoft.com/office/drawing/2014/main" id="{F4638EF0-013A-ADC6-39E7-21670584A2F6}"/>
              </a:ext>
            </a:extLst>
          </p:cNvPr>
          <p:cNvPicPr>
            <a:picLocks noChangeAspect="1"/>
          </p:cNvPicPr>
          <p:nvPr/>
        </p:nvPicPr>
        <p:blipFill>
          <a:blip r:embed="rId6"/>
          <a:srcRect t="85325"/>
          <a:stretch>
            <a:fillRect/>
          </a:stretch>
        </p:blipFill>
        <p:spPr>
          <a:xfrm>
            <a:off x="117927" y="8697932"/>
            <a:ext cx="4387076" cy="452067"/>
          </a:xfrm>
          <a:prstGeom prst="rect">
            <a:avLst/>
          </a:prstGeom>
        </p:spPr>
      </p:pic>
      <p:sp>
        <p:nvSpPr>
          <p:cNvPr id="38" name="左中かっこ 37">
            <a:extLst>
              <a:ext uri="{FF2B5EF4-FFF2-40B4-BE49-F238E27FC236}">
                <a16:creationId xmlns:a16="http://schemas.microsoft.com/office/drawing/2014/main" id="{20B01D2A-42B7-B11D-32C3-561CEBFAC4B8}"/>
              </a:ext>
            </a:extLst>
          </p:cNvPr>
          <p:cNvSpPr/>
          <p:nvPr/>
        </p:nvSpPr>
        <p:spPr bwMode="auto">
          <a:xfrm>
            <a:off x="-12121" y="8467251"/>
            <a:ext cx="183244" cy="494309"/>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pic>
        <p:nvPicPr>
          <p:cNvPr id="42" name="図 41">
            <a:extLst>
              <a:ext uri="{FF2B5EF4-FFF2-40B4-BE49-F238E27FC236}">
                <a16:creationId xmlns:a16="http://schemas.microsoft.com/office/drawing/2014/main" id="{442B3A32-ED7B-BDB4-93F3-7F71673AA4E1}"/>
              </a:ext>
            </a:extLst>
          </p:cNvPr>
          <p:cNvPicPr>
            <a:picLocks noChangeAspect="1"/>
          </p:cNvPicPr>
          <p:nvPr/>
        </p:nvPicPr>
        <p:blipFill>
          <a:blip r:embed="rId4"/>
          <a:stretch>
            <a:fillRect/>
          </a:stretch>
        </p:blipFill>
        <p:spPr>
          <a:xfrm>
            <a:off x="191236" y="2772486"/>
            <a:ext cx="4317279" cy="1620406"/>
          </a:xfrm>
          <a:prstGeom prst="rect">
            <a:avLst/>
          </a:prstGeom>
        </p:spPr>
      </p:pic>
      <p:sp>
        <p:nvSpPr>
          <p:cNvPr id="44" name="正方形/長方形 43">
            <a:extLst>
              <a:ext uri="{FF2B5EF4-FFF2-40B4-BE49-F238E27FC236}">
                <a16:creationId xmlns:a16="http://schemas.microsoft.com/office/drawing/2014/main" id="{F2F32E2C-952C-F56B-01A0-CB2EF1FD2123}"/>
              </a:ext>
            </a:extLst>
          </p:cNvPr>
          <p:cNvSpPr/>
          <p:nvPr/>
        </p:nvSpPr>
        <p:spPr>
          <a:xfrm>
            <a:off x="363373" y="4414343"/>
            <a:ext cx="3725032" cy="638071"/>
          </a:xfrm>
          <a:prstGeom prst="rect">
            <a:avLst/>
          </a:prstGeom>
          <a:solidFill>
            <a:schemeClr val="bg1"/>
          </a:solidFill>
          <a:ln>
            <a:noFill/>
          </a:ln>
        </p:spPr>
        <p:txBody>
          <a:bodyPr lIns="0" tIns="0" rIns="0" bIns="0" rtlCol="0" anchor="t" anchorCtr="0"/>
          <a:lstStyle/>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6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600" b="0" i="0" u="none" strike="noStrike" kern="1200" cap="none" spc="0" normalizeH="0" baseline="0" noProof="0" dirty="0">
                <a:ln>
                  <a:noFill/>
                </a:ln>
                <a:solidFill>
                  <a:prstClr val="black"/>
                </a:solidFill>
                <a:effectLst/>
                <a:uLnTx/>
                <a:uFillTx/>
                <a:latin typeface="Meiryo UI"/>
                <a:ea typeface="Meiryo UI"/>
                <a:cs typeface="+mn-cs"/>
              </a:rPr>
              <a:t>2026</a:t>
            </a:r>
            <a:r>
              <a:rPr kumimoji="1" lang="ja-JP" altLang="en-US" sz="600" b="0"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600" dirty="0">
                <a:solidFill>
                  <a:prstClr val="black"/>
                </a:solidFill>
                <a:latin typeface="Meiryo UI"/>
                <a:ea typeface="Meiryo UI"/>
              </a:rPr>
              <a:t>9</a:t>
            </a:r>
            <a:r>
              <a:rPr kumimoji="1" lang="ja-JP" altLang="en-US" sz="600">
                <a:solidFill>
                  <a:prstClr val="black"/>
                </a:solidFill>
                <a:latin typeface="Meiryo UI"/>
                <a:ea typeface="Meiryo UI"/>
              </a:rPr>
              <a:t>月末頃までは、本サービスへの登録において利用いただけるのは、</a:t>
            </a:r>
            <a:r>
              <a:rPr kumimoji="1" lang="en-US" altLang="ja-JP" sz="600" dirty="0">
                <a:solidFill>
                  <a:prstClr val="black"/>
                </a:solidFill>
                <a:latin typeface="Meiryo UI"/>
                <a:ea typeface="Meiryo UI"/>
              </a:rPr>
              <a:t>20250401</a:t>
            </a:r>
            <a:r>
              <a:rPr kumimoji="1" lang="ja-JP" altLang="en-US" sz="600">
                <a:solidFill>
                  <a:prstClr val="black"/>
                </a:solidFill>
                <a:latin typeface="Meiryo UI"/>
                <a:ea typeface="Meiryo UI"/>
              </a:rPr>
              <a:t>版のマスタとなります。</a:t>
            </a:r>
            <a:endParaRPr kumimoji="1" lang="en-US" altLang="ja-JP" sz="600" dirty="0">
              <a:solidFill>
                <a:prstClr val="black"/>
              </a:solidFill>
              <a:latin typeface="Meiryo UI"/>
              <a:ea typeface="Meiryo UI"/>
            </a:endParaRP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en-US" altLang="ja-JP" sz="600" dirty="0">
                <a:solidFill>
                  <a:prstClr val="black"/>
                </a:solidFill>
                <a:latin typeface="Meiryo UI"/>
                <a:ea typeface="Meiryo UI"/>
              </a:rPr>
              <a:t>2026</a:t>
            </a:r>
            <a:r>
              <a:rPr kumimoji="1" lang="ja-JP" altLang="en-US" sz="600">
                <a:solidFill>
                  <a:prstClr val="black"/>
                </a:solidFill>
                <a:latin typeface="Meiryo UI"/>
                <a:ea typeface="Meiryo UI"/>
              </a:rPr>
              <a:t>年</a:t>
            </a:r>
            <a:r>
              <a:rPr kumimoji="1" lang="en-US" altLang="ja-JP" sz="600" dirty="0">
                <a:solidFill>
                  <a:prstClr val="black"/>
                </a:solidFill>
                <a:latin typeface="Meiryo UI"/>
                <a:ea typeface="Meiryo UI"/>
              </a:rPr>
              <a:t>9</a:t>
            </a:r>
            <a:r>
              <a:rPr kumimoji="1" lang="ja-JP" altLang="en-US" sz="600">
                <a:solidFill>
                  <a:prstClr val="black"/>
                </a:solidFill>
                <a:latin typeface="Meiryo UI"/>
                <a:ea typeface="Meiryo UI"/>
              </a:rPr>
              <a:t>月末頃</a:t>
            </a:r>
            <a:r>
              <a:rPr kumimoji="1" lang="en-US" altLang="ja-JP" sz="600" dirty="0">
                <a:solidFill>
                  <a:prstClr val="black"/>
                </a:solidFill>
                <a:latin typeface="Meiryo UI"/>
                <a:ea typeface="Meiryo UI"/>
              </a:rPr>
              <a:t>(</a:t>
            </a:r>
            <a:r>
              <a:rPr kumimoji="1" lang="ja-JP" altLang="en-US" sz="600">
                <a:solidFill>
                  <a:prstClr val="black"/>
                </a:solidFill>
                <a:latin typeface="Meiryo UI"/>
                <a:ea typeface="Meiryo UI"/>
              </a:rPr>
              <a:t>詳細な日程は今後お知らせを予定</a:t>
            </a:r>
            <a:r>
              <a:rPr kumimoji="1" lang="en-US" altLang="ja-JP" sz="600" dirty="0">
                <a:solidFill>
                  <a:prstClr val="black"/>
                </a:solidFill>
                <a:latin typeface="Meiryo UI"/>
                <a:ea typeface="Meiryo UI"/>
              </a:rPr>
              <a:t>)</a:t>
            </a:r>
            <a:r>
              <a:rPr kumimoji="1" lang="ja-JP" altLang="en-US" sz="600">
                <a:solidFill>
                  <a:prstClr val="black"/>
                </a:solidFill>
                <a:latin typeface="Meiryo UI"/>
                <a:ea typeface="Meiryo UI"/>
              </a:rPr>
              <a:t>以降には、</a:t>
            </a:r>
            <a:r>
              <a:rPr kumimoji="1" lang="en-US" altLang="ja-JP" sz="600" dirty="0">
                <a:solidFill>
                  <a:prstClr val="black"/>
                </a:solidFill>
                <a:latin typeface="Meiryo UI"/>
                <a:ea typeface="Meiryo UI"/>
              </a:rPr>
              <a:t>20260531</a:t>
            </a:r>
            <a:r>
              <a:rPr kumimoji="1" lang="ja-JP" altLang="en-US" sz="600">
                <a:solidFill>
                  <a:prstClr val="black"/>
                </a:solidFill>
                <a:latin typeface="Meiryo UI"/>
                <a:ea typeface="Meiryo UI"/>
              </a:rPr>
              <a:t>版をご利用ください。</a:t>
            </a:r>
            <a:endParaRPr kumimoji="1" lang="en-US" altLang="ja-JP" sz="600" dirty="0">
              <a:latin typeface="Meiryo UI"/>
            </a:endParaRPr>
          </a:p>
        </p:txBody>
      </p:sp>
      <p:pic>
        <p:nvPicPr>
          <p:cNvPr id="46" name="図 45">
            <a:extLst>
              <a:ext uri="{FF2B5EF4-FFF2-40B4-BE49-F238E27FC236}">
                <a16:creationId xmlns:a16="http://schemas.microsoft.com/office/drawing/2014/main" id="{9110B7D1-13FF-2A7A-6A77-8B2A138703AC}"/>
              </a:ext>
            </a:extLst>
          </p:cNvPr>
          <p:cNvPicPr>
            <a:picLocks noChangeAspect="1"/>
          </p:cNvPicPr>
          <p:nvPr/>
        </p:nvPicPr>
        <p:blipFill>
          <a:blip r:embed="rId5"/>
          <a:stretch>
            <a:fillRect/>
          </a:stretch>
        </p:blipFill>
        <p:spPr>
          <a:xfrm>
            <a:off x="368838" y="4968211"/>
            <a:ext cx="3837337" cy="512404"/>
          </a:xfrm>
          <a:prstGeom prst="rect">
            <a:avLst/>
          </a:prstGeom>
        </p:spPr>
      </p:pic>
      <p:sp>
        <p:nvSpPr>
          <p:cNvPr id="48" name="正方形/長方形 47">
            <a:extLst>
              <a:ext uri="{FF2B5EF4-FFF2-40B4-BE49-F238E27FC236}">
                <a16:creationId xmlns:a16="http://schemas.microsoft.com/office/drawing/2014/main" id="{F3080122-7342-8DC0-EB88-80166C6A337E}"/>
              </a:ext>
            </a:extLst>
          </p:cNvPr>
          <p:cNvSpPr/>
          <p:nvPr/>
        </p:nvSpPr>
        <p:spPr>
          <a:xfrm>
            <a:off x="382417" y="4822464"/>
            <a:ext cx="2036816" cy="119022"/>
          </a:xfrm>
          <a:prstGeom prst="rect">
            <a:avLst/>
          </a:prstGeom>
          <a:solidFill>
            <a:schemeClr val="accent6">
              <a:lumMod val="20000"/>
              <a:lumOff val="80000"/>
            </a:schemeClr>
          </a:solidFill>
          <a:ln>
            <a:solidFill>
              <a:schemeClr val="accent6"/>
            </a:solid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800" b="1" i="0" u="none" strike="noStrike" kern="1200" cap="none" spc="0" normalizeH="0" baseline="0" noProof="0">
                <a:ln>
                  <a:noFill/>
                </a:ln>
                <a:solidFill>
                  <a:prstClr val="black"/>
                </a:solidFill>
                <a:effectLst/>
                <a:uLnTx/>
                <a:uFillTx/>
                <a:latin typeface="Meiryo UI"/>
                <a:ea typeface="Meiryo UI"/>
                <a:cs typeface="+mn-cs"/>
              </a:rPr>
              <a:t>現在本番環境にて利用できるマスタ</a:t>
            </a:r>
          </a:p>
        </p:txBody>
      </p:sp>
      <p:sp>
        <p:nvSpPr>
          <p:cNvPr id="50" name="正方形/長方形 49">
            <a:extLst>
              <a:ext uri="{FF2B5EF4-FFF2-40B4-BE49-F238E27FC236}">
                <a16:creationId xmlns:a16="http://schemas.microsoft.com/office/drawing/2014/main" id="{7A63549A-D9C8-4615-E981-562D7430EED9}"/>
              </a:ext>
            </a:extLst>
          </p:cNvPr>
          <p:cNvSpPr/>
          <p:nvPr/>
        </p:nvSpPr>
        <p:spPr>
          <a:xfrm>
            <a:off x="353788" y="5630582"/>
            <a:ext cx="2187846" cy="119022"/>
          </a:xfrm>
          <a:prstGeom prst="rect">
            <a:avLst/>
          </a:prstGeom>
          <a:solidFill>
            <a:schemeClr val="accent6">
              <a:lumMod val="20000"/>
              <a:lumOff val="80000"/>
            </a:schemeClr>
          </a:solidFill>
          <a:ln>
            <a:solidFill>
              <a:schemeClr val="accent6"/>
            </a:solid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800" b="1" dirty="0">
                <a:solidFill>
                  <a:prstClr val="black"/>
                </a:solidFill>
                <a:latin typeface="Meiryo UI"/>
                <a:ea typeface="Meiryo UI"/>
              </a:rPr>
              <a:t>2026</a:t>
            </a:r>
            <a:r>
              <a:rPr kumimoji="1" lang="ja-JP" altLang="en-US" sz="800" b="1">
                <a:solidFill>
                  <a:prstClr val="black"/>
                </a:solidFill>
                <a:latin typeface="Meiryo UI"/>
                <a:ea typeface="Meiryo UI"/>
              </a:rPr>
              <a:t>年</a:t>
            </a:r>
            <a:r>
              <a:rPr kumimoji="1" lang="en-US" altLang="ja-JP" sz="800" b="1" i="0" u="none" strike="noStrike" kern="1200" cap="none" spc="0" normalizeH="0" baseline="0" noProof="0" dirty="0">
                <a:ln>
                  <a:noFill/>
                </a:ln>
                <a:solidFill>
                  <a:prstClr val="black"/>
                </a:solidFill>
                <a:effectLst/>
                <a:uLnTx/>
                <a:uFillTx/>
                <a:latin typeface="Meiryo UI"/>
                <a:ea typeface="Meiryo UI"/>
                <a:cs typeface="+mn-cs"/>
              </a:rPr>
              <a:t>9</a:t>
            </a:r>
            <a:r>
              <a:rPr kumimoji="1" lang="ja-JP" altLang="en-US" sz="800" b="1" i="0" u="none" strike="noStrike" kern="1200" cap="none" spc="0" normalizeH="0" baseline="0" noProof="0">
                <a:ln>
                  <a:noFill/>
                </a:ln>
                <a:solidFill>
                  <a:prstClr val="black"/>
                </a:solidFill>
                <a:effectLst/>
                <a:uLnTx/>
                <a:uFillTx/>
                <a:latin typeface="Meiryo UI"/>
                <a:ea typeface="Meiryo UI"/>
                <a:cs typeface="+mn-cs"/>
              </a:rPr>
              <a:t>月末以降本番環境にて利用できるマスタ</a:t>
            </a:r>
          </a:p>
        </p:txBody>
      </p:sp>
      <p:sp>
        <p:nvSpPr>
          <p:cNvPr id="52" name="正方形/長方形 51">
            <a:extLst>
              <a:ext uri="{FF2B5EF4-FFF2-40B4-BE49-F238E27FC236}">
                <a16:creationId xmlns:a16="http://schemas.microsoft.com/office/drawing/2014/main" id="{4603A22F-776D-40CB-187E-D7BE60730259}"/>
              </a:ext>
            </a:extLst>
          </p:cNvPr>
          <p:cNvSpPr/>
          <p:nvPr/>
        </p:nvSpPr>
        <p:spPr>
          <a:xfrm>
            <a:off x="369717" y="5833114"/>
            <a:ext cx="2299514" cy="89423"/>
          </a:xfrm>
          <a:prstGeom prst="rect">
            <a:avLst/>
          </a:prstGeom>
          <a:solidFill>
            <a:schemeClr val="bg1"/>
          </a:solidFill>
          <a:ln>
            <a:noFill/>
          </a:ln>
        </p:spPr>
        <p:txBody>
          <a:bodyPr lIns="0" rIns="0" rtlCol="0" anchor="ctr"/>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500" b="1" i="0" u="none" strike="noStrike" kern="1200" cap="none" spc="0" normalizeH="0" baseline="0" noProof="0" dirty="0">
                <a:ln>
                  <a:noFill/>
                </a:ln>
                <a:solidFill>
                  <a:srgbClr val="FF0000"/>
                </a:solidFill>
                <a:effectLst/>
                <a:uLnTx/>
                <a:uFillTx/>
                <a:latin typeface="Meiryo UI"/>
                <a:ea typeface="Meiryo UI"/>
                <a:cs typeface="+mn-cs"/>
              </a:rPr>
              <a:t>※</a:t>
            </a:r>
            <a:r>
              <a:rPr kumimoji="1" lang="en-US" altLang="ja-JP" sz="500" b="1" dirty="0">
                <a:solidFill>
                  <a:srgbClr val="FF0000"/>
                </a:solidFill>
                <a:latin typeface="Meiryo UI"/>
                <a:ea typeface="Meiryo UI"/>
              </a:rPr>
              <a:t>2026</a:t>
            </a:r>
            <a:r>
              <a:rPr kumimoji="1" lang="ja-JP" altLang="en-US" sz="500" b="1">
                <a:solidFill>
                  <a:srgbClr val="FF0000"/>
                </a:solidFill>
                <a:latin typeface="Meiryo UI"/>
                <a:ea typeface="Meiryo UI"/>
              </a:rPr>
              <a:t>年</a:t>
            </a:r>
            <a:r>
              <a:rPr kumimoji="1" lang="en-US" altLang="ja-JP" sz="500" b="1" i="0" u="none" strike="noStrike" kern="1200" cap="none" spc="0" normalizeH="0" baseline="0" noProof="0" dirty="0">
                <a:ln>
                  <a:noFill/>
                </a:ln>
                <a:solidFill>
                  <a:srgbClr val="FF0000"/>
                </a:solidFill>
                <a:effectLst/>
                <a:uLnTx/>
                <a:uFillTx/>
                <a:latin typeface="Meiryo UI"/>
                <a:ea typeface="Meiryo UI"/>
                <a:cs typeface="+mn-cs"/>
              </a:rPr>
              <a:t>9</a:t>
            </a:r>
            <a:r>
              <a:rPr kumimoji="1" lang="ja-JP" altLang="en-US" sz="500" b="1" i="0" u="none" strike="noStrike" kern="1200" cap="none" spc="0" normalizeH="0" baseline="0" noProof="0">
                <a:ln>
                  <a:noFill/>
                </a:ln>
                <a:solidFill>
                  <a:srgbClr val="FF0000"/>
                </a:solidFill>
                <a:effectLst/>
                <a:uLnTx/>
                <a:uFillTx/>
                <a:latin typeface="Meiryo UI"/>
                <a:ea typeface="Meiryo UI"/>
                <a:cs typeface="+mn-cs"/>
              </a:rPr>
              <a:t>月末頃までは本番環境でご利用いただけません</a:t>
            </a:r>
          </a:p>
        </p:txBody>
      </p:sp>
      <p:sp>
        <p:nvSpPr>
          <p:cNvPr id="54" name="正方形/長方形 53">
            <a:extLst>
              <a:ext uri="{FF2B5EF4-FFF2-40B4-BE49-F238E27FC236}">
                <a16:creationId xmlns:a16="http://schemas.microsoft.com/office/drawing/2014/main" id="{C7C4CEA4-93EB-5CF2-F030-DFFC04905D60}"/>
              </a:ext>
            </a:extLst>
          </p:cNvPr>
          <p:cNvSpPr/>
          <p:nvPr/>
        </p:nvSpPr>
        <p:spPr>
          <a:xfrm>
            <a:off x="359876" y="5935935"/>
            <a:ext cx="3893627" cy="1330759"/>
          </a:xfrm>
          <a:prstGeom prst="rect">
            <a:avLst/>
          </a:prstGeom>
          <a:solidFill>
            <a:schemeClr val="bg1"/>
          </a:solidFill>
          <a:ln>
            <a:noFill/>
          </a:ln>
        </p:spPr>
        <p:txBody>
          <a:bodyPr lIns="0" rIns="0" rtlCol="0" anchor="t"/>
          <a:lstStyle/>
          <a:p>
            <a:pPr fontAlgn="base">
              <a:spcBef>
                <a:spcPct val="20000"/>
              </a:spcBef>
              <a:spcAft>
                <a:spcPct val="0"/>
              </a:spcAft>
              <a:defRPr/>
            </a:pPr>
            <a:r>
              <a:rPr kumimoji="1" lang="en-US" altLang="ja-JP" sz="600" dirty="0">
                <a:solidFill>
                  <a:prstClr val="black"/>
                </a:solidFill>
                <a:latin typeface="Meiryo UI"/>
              </a:rPr>
              <a:t>J-FAGY</a:t>
            </a:r>
            <a:r>
              <a:rPr kumimoji="1" lang="ja-JP" altLang="en-US" sz="600">
                <a:solidFill>
                  <a:prstClr val="black"/>
                </a:solidFill>
                <a:latin typeface="Meiryo UI"/>
              </a:rPr>
              <a:t>アレルゲンコードマスタは、</a:t>
            </a:r>
            <a:r>
              <a:rPr kumimoji="1" lang="en-US" altLang="ja-JP" sz="600" dirty="0">
                <a:solidFill>
                  <a:prstClr val="black"/>
                </a:solidFill>
                <a:latin typeface="Meiryo UI"/>
              </a:rPr>
              <a:t>20260531</a:t>
            </a:r>
            <a:r>
              <a:rPr kumimoji="1" lang="ja-JP" altLang="en-US" sz="600">
                <a:solidFill>
                  <a:prstClr val="black"/>
                </a:solidFill>
                <a:latin typeface="Meiryo UI"/>
              </a:rPr>
              <a:t>版への更新に際し、</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a:solidFill>
                  <a:prstClr val="black"/>
                </a:solidFill>
                <a:latin typeface="Meiryo UI"/>
              </a:rPr>
              <a:t>の見直しを実施しております。</a:t>
            </a:r>
            <a:endParaRPr kumimoji="1" lang="en-US" altLang="ja-JP" sz="600" dirty="0">
              <a:solidFill>
                <a:prstClr val="black"/>
              </a:solidFill>
              <a:latin typeface="Meiryo UI"/>
            </a:endParaRPr>
          </a:p>
          <a:p>
            <a:pPr lvl="0" fontAlgn="base">
              <a:spcBef>
                <a:spcPct val="20000"/>
              </a:spcBef>
              <a:spcAft>
                <a:spcPct val="0"/>
              </a:spcAft>
              <a:defRPr/>
            </a:pPr>
            <a:r>
              <a:rPr kumimoji="1" lang="ja-JP" altLang="en-US" sz="600">
                <a:solidFill>
                  <a:prstClr val="black"/>
                </a:solidFill>
                <a:latin typeface="Meiryo UI"/>
              </a:rPr>
              <a:t>そのため、</a:t>
            </a:r>
            <a:r>
              <a:rPr kumimoji="1" lang="en-US" altLang="ja-JP" sz="600" dirty="0">
                <a:solidFill>
                  <a:prstClr val="black"/>
                </a:solidFill>
                <a:latin typeface="Meiryo UI"/>
              </a:rPr>
              <a:t>20250401</a:t>
            </a:r>
            <a:r>
              <a:rPr kumimoji="1" lang="ja-JP" altLang="en-US" sz="600">
                <a:solidFill>
                  <a:prstClr val="black"/>
                </a:solidFill>
                <a:latin typeface="Meiryo UI"/>
              </a:rPr>
              <a:t>以前の版で登録している場合、新しいマスタへの移行をお願いいたします。</a:t>
            </a:r>
            <a:endParaRPr kumimoji="1" lang="en-US" altLang="ja-JP" sz="600" dirty="0">
              <a:solidFill>
                <a:prstClr val="black"/>
              </a:solidFill>
              <a:latin typeface="Meiryo UI"/>
            </a:endParaRPr>
          </a:p>
          <a:p>
            <a:pPr fontAlgn="base">
              <a:spcBef>
                <a:spcPct val="20000"/>
              </a:spcBef>
              <a:spcAft>
                <a:spcPct val="0"/>
              </a:spcAft>
              <a:defRPr/>
            </a:pPr>
            <a:r>
              <a:rPr kumimoji="1" lang="en-US" altLang="ja-JP" sz="600" dirty="0">
                <a:solidFill>
                  <a:prstClr val="black"/>
                </a:solidFill>
                <a:latin typeface="Meiryo UI"/>
              </a:rPr>
              <a:t>※</a:t>
            </a:r>
            <a:r>
              <a:rPr kumimoji="1" lang="en-US" altLang="ja-JP" sz="600" dirty="0">
                <a:solidFill>
                  <a:srgbClr val="000000"/>
                </a:solidFill>
                <a:latin typeface="Meiryo UI" panose="020B0604030504040204" pitchFamily="50" charset="-128"/>
                <a:ea typeface="Meiryo UI" panose="020B0604030504040204" pitchFamily="50" charset="-128"/>
              </a:rPr>
              <a:t> JP</a:t>
            </a:r>
            <a:r>
              <a:rPr lang="ja-JP" altLang="ja-JP" sz="60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a:solidFill>
                  <a:prstClr val="black"/>
                </a:solidFill>
                <a:latin typeface="Meiryo UI"/>
              </a:rPr>
              <a:t>の変更は、消費者庁が定める特定原材料等の表記に</a:t>
            </a:r>
            <a:r>
              <a:rPr kumimoji="1" lang="en-US" altLang="ja-JP" sz="600" dirty="0">
                <a:solidFill>
                  <a:prstClr val="black"/>
                </a:solidFill>
                <a:latin typeface="Meiryo UI"/>
              </a:rPr>
              <a:t>J-FAGY</a:t>
            </a:r>
            <a:r>
              <a:rPr kumimoji="1" lang="ja-JP" altLang="en-US" sz="600">
                <a:solidFill>
                  <a:prstClr val="black"/>
                </a:solidFill>
                <a:latin typeface="Meiryo UI"/>
              </a:rPr>
              <a:t>コードの表記を合わせることを目的としています。</a:t>
            </a:r>
            <a:endParaRPr kumimoji="1" lang="en-US" altLang="ja-JP" sz="600" dirty="0">
              <a:solidFill>
                <a:prstClr val="black"/>
              </a:solidFill>
              <a:latin typeface="Meiryo UI"/>
            </a:endParaRPr>
          </a:p>
          <a:p>
            <a:pPr lvl="0" fontAlgn="base">
              <a:spcBef>
                <a:spcPct val="20000"/>
              </a:spcBef>
              <a:spcAft>
                <a:spcPct val="0"/>
              </a:spcAft>
              <a:defRPr/>
            </a:pPr>
            <a:endParaRPr kumimoji="1" lang="en-US" altLang="ja-JP" sz="600" dirty="0">
              <a:latin typeface="Meiryo UI"/>
              <a:ea typeface="Meiryo UI"/>
            </a:endParaRPr>
          </a:p>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600" b="1" dirty="0">
                <a:solidFill>
                  <a:srgbClr val="FF0000"/>
                </a:solidFill>
                <a:latin typeface="Meiryo UI"/>
                <a:ea typeface="Meiryo UI"/>
              </a:rPr>
              <a:t>【</a:t>
            </a:r>
            <a:r>
              <a:rPr kumimoji="1" lang="ja-JP" altLang="en-US" sz="600" b="1">
                <a:solidFill>
                  <a:srgbClr val="FF0000"/>
                </a:solidFill>
                <a:latin typeface="Meiryo UI"/>
                <a:ea typeface="Meiryo UI"/>
              </a:rPr>
              <a:t>ご留意事項</a:t>
            </a:r>
            <a:r>
              <a:rPr kumimoji="1" lang="en-US" altLang="ja-JP" sz="600" b="1" dirty="0">
                <a:solidFill>
                  <a:srgbClr val="FF0000"/>
                </a:solidFill>
                <a:latin typeface="Meiryo UI"/>
                <a:ea typeface="Meiryo UI"/>
              </a:rPr>
              <a:t>】</a:t>
            </a:r>
          </a:p>
          <a:p>
            <a:pPr lvl="0" fontAlgn="base">
              <a:spcBef>
                <a:spcPct val="20000"/>
              </a:spcBef>
              <a:spcAft>
                <a:spcPct val="0"/>
              </a:spcAft>
              <a:defRPr/>
            </a:pPr>
            <a:r>
              <a:rPr kumimoji="1" lang="en-US" altLang="ja-JP" sz="600" dirty="0">
                <a:latin typeface="Meiryo UI"/>
                <a:ea typeface="Meiryo UI"/>
              </a:rPr>
              <a:t>2026</a:t>
            </a:r>
            <a:r>
              <a:rPr kumimoji="1" lang="ja-JP" altLang="en-US" sz="600">
                <a:latin typeface="Meiryo UI"/>
                <a:ea typeface="Meiryo UI"/>
              </a:rPr>
              <a:t>年</a:t>
            </a:r>
            <a:r>
              <a:rPr kumimoji="1" lang="en-US" altLang="ja-JP" sz="600" i="0" u="none" strike="noStrike" kern="1200" cap="none" spc="0" normalizeH="0" baseline="0" noProof="0" dirty="0">
                <a:ln>
                  <a:noFill/>
                </a:ln>
                <a:effectLst/>
                <a:uLnTx/>
                <a:uFillTx/>
                <a:latin typeface="Meiryo UI"/>
                <a:ea typeface="Meiryo UI"/>
                <a:cs typeface="+mn-cs"/>
              </a:rPr>
              <a:t>9</a:t>
            </a:r>
            <a:r>
              <a:rPr kumimoji="1" lang="ja-JP" altLang="en-US" sz="600" i="0" u="none" strike="noStrike" kern="1200" cap="none" spc="0" normalizeH="0" baseline="0" noProof="0">
                <a:ln>
                  <a:noFill/>
                </a:ln>
                <a:effectLst/>
                <a:uLnTx/>
                <a:uFillTx/>
                <a:latin typeface="Meiryo UI"/>
                <a:ea typeface="Meiryo UI"/>
                <a:cs typeface="+mn-cs"/>
              </a:rPr>
              <a:t>月末以降は、</a:t>
            </a:r>
            <a:r>
              <a:rPr kumimoji="1" lang="en-US" altLang="ja-JP" sz="600" dirty="0">
                <a:latin typeface="Meiryo UI"/>
                <a:ea typeface="Meiryo UI"/>
              </a:rPr>
              <a:t>20250401</a:t>
            </a:r>
            <a:r>
              <a:rPr kumimoji="1" lang="ja-JP" altLang="en-US" sz="600" i="0" u="none" strike="noStrike" kern="1200" cap="none" spc="0" normalizeH="0" baseline="0" noProof="0">
                <a:ln>
                  <a:noFill/>
                </a:ln>
                <a:effectLst/>
                <a:uLnTx/>
                <a:uFillTx/>
                <a:latin typeface="Meiryo UI"/>
                <a:ea typeface="Meiryo UI"/>
                <a:cs typeface="+mn-cs"/>
              </a:rPr>
              <a:t>版に記載されている次の</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a:ln>
                  <a:noFill/>
                </a:ln>
                <a:effectLst/>
                <a:uLnTx/>
                <a:uFillTx/>
                <a:latin typeface="Meiryo UI"/>
                <a:ea typeface="Meiryo UI"/>
                <a:cs typeface="+mn-cs"/>
              </a:rPr>
              <a:t>の</a:t>
            </a:r>
            <a:r>
              <a:rPr kumimoji="1" lang="en-US" altLang="ja-JP" sz="600" i="0" u="none" strike="noStrike" kern="1200" cap="none" spc="0" normalizeH="0" baseline="0" noProof="0" dirty="0">
                <a:ln>
                  <a:noFill/>
                </a:ln>
                <a:effectLst/>
                <a:uLnTx/>
                <a:uFillTx/>
                <a:latin typeface="Meiryo UI"/>
                <a:ea typeface="Meiryo UI"/>
                <a:cs typeface="+mn-cs"/>
              </a:rPr>
              <a:t>J-FAGY</a:t>
            </a:r>
            <a:r>
              <a:rPr kumimoji="1" lang="ja-JP" altLang="en-US" sz="600" i="0" u="none" strike="noStrike" kern="1200" cap="none" spc="0" normalizeH="0" baseline="0" noProof="0">
                <a:ln>
                  <a:noFill/>
                </a:ln>
                <a:effectLst/>
                <a:uLnTx/>
                <a:uFillTx/>
                <a:latin typeface="Meiryo UI"/>
                <a:ea typeface="Meiryo UI"/>
                <a:cs typeface="+mn-cs"/>
              </a:rPr>
              <a:t>コードについて変更となったため、電子カルテ情報共有サービスに登録できなくなります。</a:t>
            </a:r>
            <a:endParaRPr kumimoji="1" lang="en-US" altLang="ja-JP" sz="600" i="0" u="none" strike="noStrike" kern="1200" cap="none" spc="0" normalizeH="0" baseline="0" noProof="0" dirty="0">
              <a:ln>
                <a:noFill/>
              </a:ln>
              <a:effectLst/>
              <a:uLnTx/>
              <a:uFillTx/>
              <a:latin typeface="Meiryo UI"/>
              <a:ea typeface="Meiryo UI"/>
              <a:cs typeface="+mn-cs"/>
            </a:endParaRPr>
          </a:p>
          <a:p>
            <a:pPr lvl="0" fontAlgn="base">
              <a:spcBef>
                <a:spcPct val="20000"/>
              </a:spcBef>
              <a:spcAft>
                <a:spcPct val="0"/>
              </a:spcAft>
              <a:defRPr/>
            </a:pPr>
            <a:r>
              <a:rPr kumimoji="1" lang="ja-JP" altLang="en-US" sz="600" i="0" u="none" strike="noStrike" kern="1200" cap="none" spc="0" normalizeH="0" baseline="0" noProof="0">
                <a:ln>
                  <a:noFill/>
                </a:ln>
                <a:effectLst/>
                <a:uLnTx/>
                <a:uFillTx/>
                <a:latin typeface="Meiryo UI"/>
                <a:ea typeface="Meiryo UI"/>
                <a:cs typeface="+mn-cs"/>
              </a:rPr>
              <a:t>新しい</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a:ln>
                  <a:noFill/>
                </a:ln>
                <a:effectLst/>
                <a:uLnTx/>
                <a:uFillTx/>
                <a:latin typeface="Meiryo UI"/>
                <a:ea typeface="Meiryo UI"/>
                <a:cs typeface="+mn-cs"/>
              </a:rPr>
              <a:t>の詳細につきましては、</a:t>
            </a:r>
            <a:r>
              <a:rPr kumimoji="1" lang="en-US" altLang="ja-JP" sz="600" i="0" u="none" strike="noStrike" kern="1200" cap="none" spc="0" normalizeH="0" baseline="0" noProof="0" dirty="0">
                <a:ln>
                  <a:noFill/>
                </a:ln>
                <a:effectLst/>
                <a:uLnTx/>
                <a:uFillTx/>
                <a:latin typeface="Meiryo UI"/>
                <a:ea typeface="Meiryo UI"/>
                <a:cs typeface="+mn-cs"/>
              </a:rPr>
              <a:t>20260531</a:t>
            </a:r>
            <a:r>
              <a:rPr kumimoji="1" lang="ja-JP" altLang="en-US" sz="600" i="0" u="none" strike="noStrike" kern="1200" cap="none" spc="0" normalizeH="0" baseline="0" noProof="0">
                <a:ln>
                  <a:noFill/>
                </a:ln>
                <a:effectLst/>
                <a:uLnTx/>
                <a:uFillTx/>
                <a:latin typeface="Meiryo UI"/>
                <a:ea typeface="Meiryo UI"/>
                <a:cs typeface="+mn-cs"/>
              </a:rPr>
              <a:t>版を</a:t>
            </a:r>
            <a:r>
              <a:rPr kumimoji="1" lang="ja-JP" altLang="en-US" sz="600">
                <a:solidFill>
                  <a:prstClr val="black"/>
                </a:solidFill>
                <a:latin typeface="Meiryo UI (Body)"/>
              </a:rPr>
              <a:t>ご確認ください。</a:t>
            </a:r>
            <a:endParaRPr kumimoji="1" lang="en-US" altLang="ja-JP" sz="600" dirty="0">
              <a:solidFill>
                <a:prstClr val="black"/>
              </a:solidFill>
              <a:latin typeface="Meiryo UI (Body)"/>
            </a:endParaRPr>
          </a:p>
          <a:p>
            <a:pPr lvl="0" fontAlgn="base">
              <a:spcBef>
                <a:spcPct val="20000"/>
              </a:spcBef>
              <a:spcAft>
                <a:spcPct val="0"/>
              </a:spcAft>
              <a:defRPr/>
            </a:pPr>
            <a:r>
              <a:rPr kumimoji="1" lang="ja-JP" altLang="en-US" sz="600">
                <a:latin typeface="Meiryo UI"/>
                <a:ea typeface="Meiryo UI"/>
              </a:rPr>
              <a:t>　</a:t>
            </a:r>
            <a:r>
              <a:rPr kumimoji="1" lang="en-US" altLang="ja-JP" sz="600" dirty="0">
                <a:latin typeface="Meiryo UI"/>
                <a:ea typeface="Meiryo UI"/>
              </a:rPr>
              <a:t>-</a:t>
            </a:r>
            <a:r>
              <a:rPr kumimoji="1" lang="ja-JP" altLang="en-US" sz="600">
                <a:latin typeface="Meiryo UI"/>
                <a:ea typeface="Meiryo UI"/>
              </a:rPr>
              <a:t>食用鳥卵</a:t>
            </a:r>
            <a:endParaRPr kumimoji="1" lang="en-US" altLang="ja-JP" sz="600" dirty="0">
              <a:latin typeface="Meiryo UI"/>
              <a:ea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落花生</a:t>
            </a:r>
            <a:endParaRPr kumimoji="1" lang="en-US" altLang="ja-JP" sz="600" dirty="0">
              <a:latin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いか類</a:t>
            </a:r>
            <a:endParaRPr kumimoji="1" lang="en-US" altLang="ja-JP" sz="600" dirty="0">
              <a:latin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マカデミアナッツ</a:t>
            </a:r>
            <a:endParaRPr kumimoji="1" lang="en-US" altLang="ja-JP" sz="600" dirty="0">
              <a:latin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やまのいも</a:t>
            </a:r>
            <a:endParaRPr kumimoji="1" lang="en-US" altLang="ja-JP" sz="600" i="0" u="none" strike="noStrike" kern="1200" cap="none" spc="0" normalizeH="0" baseline="0" noProof="0" dirty="0">
              <a:ln>
                <a:noFill/>
              </a:ln>
              <a:effectLst/>
              <a:uLnTx/>
              <a:uFillTx/>
              <a:latin typeface="Meiryo UI"/>
              <a:ea typeface="Meiryo UI"/>
              <a:cs typeface="+mn-cs"/>
            </a:endParaRPr>
          </a:p>
          <a:p>
            <a:pPr marL="0" marR="0" lvl="0" indent="0" defTabSz="457200" rtl="0" eaLnBrk="1" fontAlgn="base" latinLnBrk="0" hangingPunct="1">
              <a:lnSpc>
                <a:spcPct val="100000"/>
              </a:lnSpc>
              <a:spcBef>
                <a:spcPct val="20000"/>
              </a:spcBef>
              <a:spcAft>
                <a:spcPct val="0"/>
              </a:spcAft>
              <a:buClrTx/>
              <a:buSzTx/>
              <a:buFontTx/>
              <a:buNone/>
              <a:tabLst/>
              <a:defRPr/>
            </a:pPr>
            <a:endParaRPr kumimoji="1" lang="ja-JP" altLang="en-US" sz="600" i="0" u="none" strike="noStrike" kern="1200" cap="none" spc="0" normalizeH="0" baseline="0" noProof="0">
              <a:ln>
                <a:noFill/>
              </a:ln>
              <a:effectLst/>
              <a:uLnTx/>
              <a:uFillTx/>
              <a:latin typeface="Meiryo UI"/>
              <a:ea typeface="Meiryo UI"/>
              <a:cs typeface="+mn-cs"/>
            </a:endParaRPr>
          </a:p>
        </p:txBody>
      </p:sp>
      <p:pic>
        <p:nvPicPr>
          <p:cNvPr id="56" name="図 55">
            <a:extLst>
              <a:ext uri="{FF2B5EF4-FFF2-40B4-BE49-F238E27FC236}">
                <a16:creationId xmlns:a16="http://schemas.microsoft.com/office/drawing/2014/main" id="{A01801B4-B447-FA12-373D-00AD8164DBE0}"/>
              </a:ext>
            </a:extLst>
          </p:cNvPr>
          <p:cNvPicPr>
            <a:picLocks noChangeAspect="1"/>
          </p:cNvPicPr>
          <p:nvPr/>
        </p:nvPicPr>
        <p:blipFill>
          <a:blip r:embed="rId5"/>
          <a:srcRect b="70690"/>
          <a:stretch>
            <a:fillRect/>
          </a:stretch>
        </p:blipFill>
        <p:spPr>
          <a:xfrm>
            <a:off x="368838" y="7639411"/>
            <a:ext cx="3837337" cy="150183"/>
          </a:xfrm>
          <a:prstGeom prst="rect">
            <a:avLst/>
          </a:prstGeom>
        </p:spPr>
      </p:pic>
      <p:graphicFrame>
        <p:nvGraphicFramePr>
          <p:cNvPr id="58" name="表 57">
            <a:extLst>
              <a:ext uri="{FF2B5EF4-FFF2-40B4-BE49-F238E27FC236}">
                <a16:creationId xmlns:a16="http://schemas.microsoft.com/office/drawing/2014/main" id="{66F6E978-6CAE-B876-667E-999DF6F4D999}"/>
              </a:ext>
            </a:extLst>
          </p:cNvPr>
          <p:cNvGraphicFramePr>
            <a:graphicFrameLocks noGrp="1"/>
          </p:cNvGraphicFramePr>
          <p:nvPr/>
        </p:nvGraphicFramePr>
        <p:xfrm>
          <a:off x="968438" y="7838462"/>
          <a:ext cx="2370429" cy="333725"/>
        </p:xfrm>
        <a:graphic>
          <a:graphicData uri="http://schemas.openxmlformats.org/drawingml/2006/table">
            <a:tbl>
              <a:tblPr/>
              <a:tblGrid>
                <a:gridCol w="402204">
                  <a:extLst>
                    <a:ext uri="{9D8B030D-6E8A-4147-A177-3AD203B41FA5}">
                      <a16:colId xmlns:a16="http://schemas.microsoft.com/office/drawing/2014/main" val="4058772077"/>
                    </a:ext>
                  </a:extLst>
                </a:gridCol>
                <a:gridCol w="451791">
                  <a:extLst>
                    <a:ext uri="{9D8B030D-6E8A-4147-A177-3AD203B41FA5}">
                      <a16:colId xmlns:a16="http://schemas.microsoft.com/office/drawing/2014/main" val="154882630"/>
                    </a:ext>
                  </a:extLst>
                </a:gridCol>
                <a:gridCol w="505478">
                  <a:extLst>
                    <a:ext uri="{9D8B030D-6E8A-4147-A177-3AD203B41FA5}">
                      <a16:colId xmlns:a16="http://schemas.microsoft.com/office/drawing/2014/main" val="227139091"/>
                    </a:ext>
                  </a:extLst>
                </a:gridCol>
                <a:gridCol w="505478">
                  <a:extLst>
                    <a:ext uri="{9D8B030D-6E8A-4147-A177-3AD203B41FA5}">
                      <a16:colId xmlns:a16="http://schemas.microsoft.com/office/drawing/2014/main" val="892848932"/>
                    </a:ext>
                  </a:extLst>
                </a:gridCol>
                <a:gridCol w="505478">
                  <a:extLst>
                    <a:ext uri="{9D8B030D-6E8A-4147-A177-3AD203B41FA5}">
                      <a16:colId xmlns:a16="http://schemas.microsoft.com/office/drawing/2014/main" val="420957508"/>
                    </a:ext>
                  </a:extLst>
                </a:gridCol>
              </a:tblGrid>
              <a:tr h="176190">
                <a:tc>
                  <a:txBody>
                    <a:bodyPr/>
                    <a:lstStyle/>
                    <a:p>
                      <a:pPr algn="ctr" fontAlgn="ctr">
                        <a:buNone/>
                      </a:pPr>
                      <a:r>
                        <a:rPr lang="ja-JP" altLang="en-US" sz="5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本番環境</a:t>
                      </a:r>
                      <a:br>
                        <a:rPr lang="en-US" altLang="ja-JP" sz="500" b="0" i="0" u="none" strike="noStrike" dirty="0">
                          <a:solidFill>
                            <a:srgbClr val="000000"/>
                          </a:solidFill>
                          <a:effectLst/>
                          <a:latin typeface="+mj-ea"/>
                          <a:ea typeface="+mj-ea"/>
                        </a:rPr>
                      </a:br>
                      <a:r>
                        <a:rPr lang="ja-JP" altLang="en-US" sz="5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反映日</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57535">
                <a:tc>
                  <a:txBody>
                    <a:bodyPr/>
                    <a:lstStyle/>
                    <a:p>
                      <a:pPr algn="ctr" fontAlgn="ctr">
                        <a:buNone/>
                      </a:pPr>
                      <a:r>
                        <a:rPr lang="en-US" altLang="ja-JP" sz="500" b="0" i="0" u="none" strike="noStrike" dirty="0">
                          <a:solidFill>
                            <a:srgbClr val="000000"/>
                          </a:solidFill>
                          <a:effectLst/>
                          <a:latin typeface="+mj-ea"/>
                          <a:ea typeface="+mj-ea"/>
                        </a:rPr>
                        <a:t>20260531</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2026/05/31</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9</a:t>
                      </a:r>
                      <a:r>
                        <a:rPr lang="ja-JP" altLang="en-US" sz="500" b="0" i="0" u="none" strike="noStrike">
                          <a:solidFill>
                            <a:srgbClr val="000000"/>
                          </a:solidFill>
                          <a:effectLst/>
                          <a:latin typeface="+mn-ea"/>
                          <a:ea typeface="+mn-ea"/>
                        </a:rPr>
                        <a:t>月末頃</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9</a:t>
                      </a:r>
                      <a:r>
                        <a:rPr lang="ja-JP" altLang="en-US" sz="500" b="0" i="0" u="none" strike="noStrike">
                          <a:solidFill>
                            <a:srgbClr val="000000"/>
                          </a:solidFill>
                          <a:effectLst/>
                          <a:latin typeface="+mn-ea"/>
                          <a:ea typeface="+mn-ea"/>
                        </a:rPr>
                        <a:t>月末頃</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2026/08/13</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pic>
        <p:nvPicPr>
          <p:cNvPr id="60" name="図 19">
            <a:extLst>
              <a:ext uri="{FF2B5EF4-FFF2-40B4-BE49-F238E27FC236}">
                <a16:creationId xmlns:a16="http://schemas.microsoft.com/office/drawing/2014/main" id="{455159EE-04A4-16C3-1D00-0AF576DFF3CF}"/>
              </a:ext>
            </a:extLst>
          </p:cNvPr>
          <p:cNvPicPr preferRelativeResize="0">
            <a:picLocks/>
          </p:cNvPicPr>
          <p:nvPr/>
        </p:nvPicPr>
        <p:blipFill>
          <a:blip r:embed="rId3"/>
          <a:srcRect l="2946" t="103836" r="-2946" b="-15325"/>
          <a:stretch>
            <a:fillRect/>
          </a:stretch>
        </p:blipFill>
        <p:spPr>
          <a:xfrm>
            <a:off x="216242" y="2788607"/>
            <a:ext cx="4300396" cy="6356969"/>
          </a:xfrm>
          <a:prstGeom prst="rect">
            <a:avLst/>
          </a:prstGeom>
          <a:ln w="19050">
            <a:solidFill>
              <a:schemeClr val="bg1">
                <a:lumMod val="85000"/>
              </a:schemeClr>
            </a:solidFill>
          </a:ln>
        </p:spPr>
      </p:pic>
      <p:sp>
        <p:nvSpPr>
          <p:cNvPr id="95" name="正方形/長方形 94">
            <a:extLst>
              <a:ext uri="{FF2B5EF4-FFF2-40B4-BE49-F238E27FC236}">
                <a16:creationId xmlns:a16="http://schemas.microsoft.com/office/drawing/2014/main" id="{E772DFC0-AE3D-FD17-FA09-D52B0D2A6C02}"/>
              </a:ext>
            </a:extLst>
          </p:cNvPr>
          <p:cNvSpPr/>
          <p:nvPr/>
        </p:nvSpPr>
        <p:spPr>
          <a:xfrm>
            <a:off x="1205954" y="2261163"/>
            <a:ext cx="1895395" cy="366467"/>
          </a:xfrm>
          <a:prstGeom prst="rect">
            <a:avLst/>
          </a:prstGeom>
          <a:solidFill>
            <a:schemeClr val="bg1"/>
          </a:solidFill>
          <a:ln>
            <a:noFill/>
          </a:ln>
        </p:spPr>
        <p:txBody>
          <a:bodyPr lIns="0" rIns="0" rtlCol="0" anchor="t" anchorCtr="0"/>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900" b="0"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strike="noStrike" kern="1200" cap="none" spc="0" normalizeH="0" baseline="0" noProof="0">
                <a:ln>
                  <a:noFill/>
                </a:ln>
                <a:solidFill>
                  <a:prstClr val="black"/>
                </a:solidFill>
                <a:effectLst/>
                <a:uLnTx/>
                <a:uFillTx/>
                <a:latin typeface="Meiryo UI"/>
                <a:ea typeface="Meiryo UI"/>
                <a:cs typeface="+mn-cs"/>
              </a:rPr>
              <a:t>参考</a:t>
            </a:r>
            <a:r>
              <a:rPr kumimoji="1" lang="en-US" altLang="ja-JP" sz="900" b="0"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＜更新案</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en-US" altLang="ja-JP" sz="900" b="1" i="0" u="sng" strike="noStrike" kern="1200" cap="none" spc="0" normalizeH="0" baseline="0" noProof="0" dirty="0">
                <a:ln>
                  <a:noFill/>
                </a:ln>
                <a:solidFill>
                  <a:prstClr val="black"/>
                </a:solidFill>
                <a:effectLst/>
                <a:uLnTx/>
                <a:uFillTx/>
                <a:latin typeface="Meiryo UI"/>
                <a:ea typeface="Meiryo UI"/>
                <a:cs typeface="+mn-cs"/>
              </a:rPr>
              <a:t>202606</a:t>
            </a:r>
            <a:r>
              <a:rPr kumimoji="1" lang="ja-JP" altLang="en-US" sz="900" b="1" i="0" u="sng" strike="noStrike" kern="1200" cap="none" spc="0" normalizeH="0" baseline="0" noProof="0">
                <a:ln>
                  <a:noFill/>
                </a:ln>
                <a:solidFill>
                  <a:prstClr val="black"/>
                </a:solidFill>
                <a:effectLst/>
                <a:uLnTx/>
                <a:uFillTx/>
                <a:latin typeface="Meiryo UI"/>
                <a:ea typeface="Meiryo UI"/>
                <a:cs typeface="+mn-cs"/>
              </a:rPr>
              <a:t>末～</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a:t>
            </a:r>
            <a:endParaRPr kumimoji="1" lang="en-US" altLang="ja-JP" sz="9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アコーディオン開</a:t>
            </a: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900" b="0" i="0" u="none" strike="noStrike" kern="1200" cap="none" spc="0" normalizeH="0" baseline="0" noProof="0">
              <a:ln>
                <a:noFill/>
              </a:ln>
              <a:solidFill>
                <a:prstClr val="black"/>
              </a:solidFill>
              <a:effectLst/>
              <a:uLnTx/>
              <a:uFillTx/>
              <a:latin typeface="Meiryo UI"/>
              <a:ea typeface="Meiryo UI"/>
              <a:cs typeface="+mn-cs"/>
            </a:endParaRPr>
          </a:p>
        </p:txBody>
      </p:sp>
      <p:pic>
        <p:nvPicPr>
          <p:cNvPr id="101" name="図 100">
            <a:extLst>
              <a:ext uri="{FF2B5EF4-FFF2-40B4-BE49-F238E27FC236}">
                <a16:creationId xmlns:a16="http://schemas.microsoft.com/office/drawing/2014/main" id="{470148AC-C6E2-4A96-A7A4-9B5623E691A1}"/>
              </a:ext>
            </a:extLst>
          </p:cNvPr>
          <p:cNvPicPr>
            <a:picLocks noChangeAspect="1"/>
          </p:cNvPicPr>
          <p:nvPr/>
        </p:nvPicPr>
        <p:blipFill>
          <a:blip r:embed="rId6"/>
          <a:srcRect t="91998" b="1648"/>
          <a:stretch>
            <a:fillRect/>
          </a:stretch>
        </p:blipFill>
        <p:spPr>
          <a:xfrm>
            <a:off x="5253936" y="8000868"/>
            <a:ext cx="4234676" cy="209249"/>
          </a:xfrm>
          <a:prstGeom prst="rect">
            <a:avLst/>
          </a:prstGeom>
        </p:spPr>
      </p:pic>
      <p:graphicFrame>
        <p:nvGraphicFramePr>
          <p:cNvPr id="105" name="表 104">
            <a:extLst>
              <a:ext uri="{FF2B5EF4-FFF2-40B4-BE49-F238E27FC236}">
                <a16:creationId xmlns:a16="http://schemas.microsoft.com/office/drawing/2014/main" id="{85F24275-3421-8E2B-9DFF-06BF78F0D88D}"/>
              </a:ext>
            </a:extLst>
          </p:cNvPr>
          <p:cNvGraphicFramePr>
            <a:graphicFrameLocks noGrp="1"/>
          </p:cNvGraphicFramePr>
          <p:nvPr/>
        </p:nvGraphicFramePr>
        <p:xfrm>
          <a:off x="5445697" y="7531116"/>
          <a:ext cx="3710008" cy="368373"/>
        </p:xfrm>
        <a:graphic>
          <a:graphicData uri="http://schemas.openxmlformats.org/drawingml/2006/table">
            <a:tbl>
              <a:tblPr/>
              <a:tblGrid>
                <a:gridCol w="1060002">
                  <a:extLst>
                    <a:ext uri="{9D8B030D-6E8A-4147-A177-3AD203B41FA5}">
                      <a16:colId xmlns:a16="http://schemas.microsoft.com/office/drawing/2014/main" val="2741535545"/>
                    </a:ext>
                  </a:extLst>
                </a:gridCol>
                <a:gridCol w="2650006">
                  <a:extLst>
                    <a:ext uri="{9D8B030D-6E8A-4147-A177-3AD203B41FA5}">
                      <a16:colId xmlns:a16="http://schemas.microsoft.com/office/drawing/2014/main" val="2597624301"/>
                    </a:ext>
                  </a:extLst>
                </a:gridCol>
              </a:tblGrid>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公開日</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2336640960"/>
                  </a:ext>
                </a:extLst>
              </a:tr>
              <a:tr h="122791">
                <a:tc>
                  <a:txBody>
                    <a:bodyPr/>
                    <a:lstStyle/>
                    <a:p>
                      <a:pPr algn="ctr" fontAlgn="ctr">
                        <a:buNone/>
                      </a:pPr>
                      <a:r>
                        <a:rPr lang="ja-JP" sz="600" b="0" i="0" u="none" strike="noStrike">
                          <a:solidFill>
                            <a:srgbClr val="000000"/>
                          </a:solidFill>
                          <a:effectLst/>
                          <a:highlight>
                            <a:srgbClr val="FFFF00"/>
                          </a:highlight>
                          <a:latin typeface="Meiryo UI" panose="020B0604030504040204" pitchFamily="50" charset="-128"/>
                          <a:ea typeface="Meiryo UI" panose="020B0604030504040204" pitchFamily="50" charset="-128"/>
                        </a:rPr>
                        <a:t>20250401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highlight>
                            <a:srgbClr val="FFFF00"/>
                          </a:highlight>
                          <a:latin typeface="Meiryo UI" panose="020B0604030504040204" pitchFamily="50" charset="-128"/>
                          <a:ea typeface="Meiryo UI" panose="020B0604030504040204" pitchFamily="50" charset="-128"/>
                        </a:rPr>
                        <a:t>20250603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8799979"/>
                  </a:ext>
                </a:extLst>
              </a:tr>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20240709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20250207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4982346"/>
                  </a:ext>
                </a:extLst>
              </a:tr>
            </a:tbl>
          </a:graphicData>
        </a:graphic>
      </p:graphicFrame>
      <p:grpSp>
        <p:nvGrpSpPr>
          <p:cNvPr id="9" name="グループ化 8">
            <a:extLst>
              <a:ext uri="{FF2B5EF4-FFF2-40B4-BE49-F238E27FC236}">
                <a16:creationId xmlns:a16="http://schemas.microsoft.com/office/drawing/2014/main" id="{C482113C-E410-78F2-AE97-E3A339A2C4C6}"/>
              </a:ext>
            </a:extLst>
          </p:cNvPr>
          <p:cNvGrpSpPr/>
          <p:nvPr/>
        </p:nvGrpSpPr>
        <p:grpSpPr>
          <a:xfrm>
            <a:off x="5504803" y="7211180"/>
            <a:ext cx="3320193" cy="258145"/>
            <a:chOff x="8168173" y="4422050"/>
            <a:chExt cx="2743961" cy="213343"/>
          </a:xfrm>
        </p:grpSpPr>
        <p:pic>
          <p:nvPicPr>
            <p:cNvPr id="11" name="図 10">
              <a:extLst>
                <a:ext uri="{FF2B5EF4-FFF2-40B4-BE49-F238E27FC236}">
                  <a16:creationId xmlns:a16="http://schemas.microsoft.com/office/drawing/2014/main" id="{522D3D6E-E1C1-D154-8AA2-E8041294F691}"/>
                </a:ext>
              </a:extLst>
            </p:cNvPr>
            <p:cNvPicPr>
              <a:picLocks noChangeAspect="1"/>
            </p:cNvPicPr>
            <p:nvPr/>
          </p:nvPicPr>
          <p:blipFill>
            <a:blip r:embed="rId8"/>
            <a:srcRect l="1910" t="81326" r="2535" b="8895"/>
            <a:stretch>
              <a:fillRect/>
            </a:stretch>
          </p:blipFill>
          <p:spPr>
            <a:xfrm>
              <a:off x="8168173" y="4422050"/>
              <a:ext cx="2743961" cy="213343"/>
            </a:xfrm>
            <a:prstGeom prst="rect">
              <a:avLst/>
            </a:prstGeom>
          </p:spPr>
        </p:pic>
        <p:sp>
          <p:nvSpPr>
            <p:cNvPr id="19" name="正方形/長方形 18">
              <a:extLst>
                <a:ext uri="{FF2B5EF4-FFF2-40B4-BE49-F238E27FC236}">
                  <a16:creationId xmlns:a16="http://schemas.microsoft.com/office/drawing/2014/main" id="{1F28BBD8-97A6-3718-53A1-2634331B45C9}"/>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600" b="1" i="0" u="none" strike="noStrike" kern="1200" cap="none" spc="0" normalizeH="0" baseline="0" noProof="0">
                  <a:ln>
                    <a:noFill/>
                  </a:ln>
                  <a:solidFill>
                    <a:prstClr val="black"/>
                  </a:solidFill>
                  <a:effectLst/>
                  <a:highlight>
                    <a:srgbClr val="FFFF00"/>
                  </a:highlight>
                  <a:uLnTx/>
                  <a:uFillTx/>
                  <a:latin typeface="Meiryo UI"/>
                  <a:ea typeface="Meiryo UI"/>
                  <a:cs typeface="+mn-cs"/>
                </a:rPr>
                <a:t>令和</a:t>
              </a:r>
              <a:r>
                <a:rPr kumimoji="1" lang="en-US" altLang="ja-JP" sz="600" b="1" i="0" u="none" strike="noStrike" kern="1200" cap="none" spc="0" normalizeH="0" baseline="0" noProof="0" dirty="0">
                  <a:ln>
                    <a:noFill/>
                  </a:ln>
                  <a:solidFill>
                    <a:prstClr val="black"/>
                  </a:solidFill>
                  <a:effectLst/>
                  <a:highlight>
                    <a:srgbClr val="FFFF00"/>
                  </a:highlight>
                  <a:uLnTx/>
                  <a:uFillTx/>
                  <a:latin typeface="Meiryo UI"/>
                  <a:ea typeface="Meiryo UI"/>
                  <a:cs typeface="+mn-cs"/>
                </a:rPr>
                <a:t>8</a:t>
              </a:r>
              <a:r>
                <a:rPr kumimoji="1" lang="ja-JP" altLang="en-US" sz="600" b="1" i="0" u="none" strike="noStrike" kern="1200" cap="none" spc="0" normalizeH="0" baseline="0" noProof="0">
                  <a:ln>
                    <a:noFill/>
                  </a:ln>
                  <a:solidFill>
                    <a:prstClr val="black"/>
                  </a:solidFill>
                  <a:effectLst/>
                  <a:highlight>
                    <a:srgbClr val="FFFF00"/>
                  </a:highlight>
                  <a:uLnTx/>
                  <a:uFillTx/>
                  <a:latin typeface="Meiryo UI"/>
                  <a:ea typeface="Meiryo UI"/>
                  <a:cs typeface="+mn-cs"/>
                </a:rPr>
                <a:t>年</a:t>
              </a:r>
              <a:r>
                <a:rPr kumimoji="1" lang="en-US" altLang="ja-JP" sz="600" b="1" dirty="0">
                  <a:solidFill>
                    <a:prstClr val="black"/>
                  </a:solidFill>
                  <a:highlight>
                    <a:srgbClr val="FFFF00"/>
                  </a:highlight>
                  <a:latin typeface="Meiryo UI"/>
                  <a:ea typeface="Meiryo UI"/>
                </a:rPr>
                <a:t>9</a:t>
              </a:r>
              <a:r>
                <a:rPr kumimoji="1" lang="ja-JP" altLang="en-US" sz="600" b="1" i="0" u="none" strike="noStrike" kern="1200" cap="none" spc="0" normalizeH="0" baseline="0" noProof="0">
                  <a:ln>
                    <a:noFill/>
                  </a:ln>
                  <a:solidFill>
                    <a:prstClr val="black"/>
                  </a:solidFill>
                  <a:effectLst/>
                  <a:highlight>
                    <a:srgbClr val="FFFF00"/>
                  </a:highlight>
                  <a:uLnTx/>
                  <a:uFillTx/>
                  <a:latin typeface="Meiryo UI"/>
                  <a:ea typeface="Meiryo UI"/>
                  <a:cs typeface="+mn-cs"/>
                </a:rPr>
                <a:t>月</a:t>
              </a:r>
              <a:r>
                <a:rPr kumimoji="1" lang="en-US" altLang="ja-JP" sz="600" b="1" i="0" u="none" strike="noStrike" kern="1200" cap="none" spc="0" normalizeH="0" baseline="0" noProof="0" dirty="0">
                  <a:ln>
                    <a:noFill/>
                  </a:ln>
                  <a:solidFill>
                    <a:prstClr val="black"/>
                  </a:solidFill>
                  <a:effectLst/>
                  <a:highlight>
                    <a:srgbClr val="FFFF00"/>
                  </a:highlight>
                  <a:uLnTx/>
                  <a:uFillTx/>
                  <a:latin typeface="Meiryo UI"/>
                  <a:ea typeface="Meiryo UI"/>
                  <a:cs typeface="+mn-cs"/>
                </a:rPr>
                <a:t>27</a:t>
              </a:r>
              <a:r>
                <a:rPr kumimoji="1" lang="ja-JP" altLang="en-US" sz="600" b="1" i="0" u="none" strike="noStrike" kern="1200" cap="none" spc="0" normalizeH="0" baseline="0" noProof="0">
                  <a:ln>
                    <a:noFill/>
                  </a:ln>
                  <a:solidFill>
                    <a:prstClr val="black"/>
                  </a:solidFill>
                  <a:effectLst/>
                  <a:highlight>
                    <a:srgbClr val="FFFF00"/>
                  </a:highlight>
                  <a:uLnTx/>
                  <a:uFillTx/>
                  <a:latin typeface="Meiryo UI"/>
                  <a:ea typeface="Meiryo UI"/>
                  <a:cs typeface="+mn-cs"/>
                </a:rPr>
                <a:t>日まで適用のマスタのダウンロードリンク</a:t>
              </a:r>
            </a:p>
          </p:txBody>
        </p:sp>
      </p:grpSp>
    </p:spTree>
    <p:extLst>
      <p:ext uri="{BB962C8B-B14F-4D97-AF65-F5344CB8AC3E}">
        <p14:creationId xmlns:p14="http://schemas.microsoft.com/office/powerpoint/2010/main" val="1181029697"/>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99C33-871F-52B8-8B5E-2C7EFC2E9886}"/>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D2F61435-5D6D-5B90-95DA-BCB542F26403}"/>
              </a:ext>
            </a:extLst>
          </p:cNvPr>
          <p:cNvSpPr/>
          <p:nvPr/>
        </p:nvSpPr>
        <p:spPr>
          <a:xfrm>
            <a:off x="0" y="6639379"/>
            <a:ext cx="9906000" cy="1330760"/>
          </a:xfrm>
          <a:prstGeom prst="rect">
            <a:avLst/>
          </a:prstGeom>
          <a:solidFill>
            <a:schemeClr val="bg1"/>
          </a:solidFill>
          <a:ln>
            <a:noFill/>
          </a:ln>
        </p:spPr>
        <p:txBody>
          <a:bodyPr rtlCol="0" anchor="ctr"/>
          <a:lstStyle/>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a:ln>
                <a:noFill/>
              </a:ln>
              <a:solidFill>
                <a:prstClr val="black"/>
              </a:solidFill>
              <a:effectLst/>
              <a:uLnTx/>
              <a:uFillTx/>
              <a:latin typeface="Meiryo UI"/>
              <a:ea typeface="Meiryo UI"/>
              <a:cs typeface="+mn-cs"/>
            </a:endParaRPr>
          </a:p>
        </p:txBody>
      </p:sp>
      <p:pic>
        <p:nvPicPr>
          <p:cNvPr id="12" name="図 19">
            <a:extLst>
              <a:ext uri="{FF2B5EF4-FFF2-40B4-BE49-F238E27FC236}">
                <a16:creationId xmlns:a16="http://schemas.microsoft.com/office/drawing/2014/main" id="{01A0C8E7-1EC8-7BA0-3DF6-C72D29990D09}"/>
              </a:ext>
            </a:extLst>
          </p:cNvPr>
          <p:cNvPicPr preferRelativeResize="0">
            <a:picLocks/>
          </p:cNvPicPr>
          <p:nvPr/>
        </p:nvPicPr>
        <p:blipFill>
          <a:blip r:embed="rId2"/>
          <a:srcRect l="2946" t="103836" r="-2946" b="-15325"/>
          <a:stretch>
            <a:fillRect/>
          </a:stretch>
        </p:blipFill>
        <p:spPr>
          <a:xfrm>
            <a:off x="5294421" y="2802139"/>
            <a:ext cx="4300396" cy="3062335"/>
          </a:xfrm>
          <a:prstGeom prst="rect">
            <a:avLst/>
          </a:prstGeom>
          <a:ln w="19050">
            <a:solidFill>
              <a:schemeClr val="bg1">
                <a:lumMod val="85000"/>
              </a:schemeClr>
            </a:solidFill>
          </a:ln>
        </p:spPr>
      </p:pic>
      <p:sp>
        <p:nvSpPr>
          <p:cNvPr id="2" name="タイトル 1">
            <a:extLst>
              <a:ext uri="{FF2B5EF4-FFF2-40B4-BE49-F238E27FC236}">
                <a16:creationId xmlns:a16="http://schemas.microsoft.com/office/drawing/2014/main" id="{3A9BBE56-A21F-E1F9-D22F-A61B6F1F339F}"/>
              </a:ext>
            </a:extLst>
          </p:cNvPr>
          <p:cNvSpPr>
            <a:spLocks noGrp="1"/>
          </p:cNvSpPr>
          <p:nvPr>
            <p:ph type="title"/>
          </p:nvPr>
        </p:nvSpPr>
        <p:spPr>
          <a:xfrm>
            <a:off x="506999" y="116696"/>
            <a:ext cx="9086317" cy="576000"/>
          </a:xfrm>
        </p:spPr>
        <p:txBody>
          <a:bodyPr/>
          <a:lstStyle/>
          <a:p>
            <a:r>
              <a:rPr kumimoji="1" lang="ja-JP" altLang="en-US"/>
              <a:t>ポータルサイト更新依頼</a:t>
            </a:r>
            <a:br>
              <a:rPr kumimoji="1" lang="en-US" altLang="ja-JP" dirty="0"/>
            </a:br>
            <a:r>
              <a:rPr kumimoji="1" lang="ja-JP" altLang="en-US"/>
              <a:t>　各マスタページの具体的な公開イメージ</a:t>
            </a:r>
            <a:r>
              <a:rPr kumimoji="1" lang="en-US" altLang="ja-JP" dirty="0"/>
              <a:t> – </a:t>
            </a:r>
            <a:r>
              <a:rPr kumimoji="1" lang="en-US" altLang="ja-JP" sz="1300" dirty="0"/>
              <a:t>【</a:t>
            </a:r>
            <a:r>
              <a:rPr kumimoji="1" lang="ja-JP" altLang="en-US" sz="1300"/>
              <a:t>参考表</a:t>
            </a:r>
            <a:r>
              <a:rPr kumimoji="1" lang="en-US" altLang="ja-JP" sz="1300" dirty="0"/>
              <a:t>】『</a:t>
            </a:r>
            <a:r>
              <a:rPr kumimoji="1" lang="ja-JP" altLang="en-US" sz="1300"/>
              <a:t>一般名処方マスタ</a:t>
            </a:r>
            <a:r>
              <a:rPr kumimoji="1" lang="en-US" altLang="ja-JP" sz="1300" dirty="0"/>
              <a:t>』</a:t>
            </a:r>
            <a:r>
              <a:rPr kumimoji="1" lang="ja-JP" altLang="en-US" sz="1300"/>
              <a:t>と </a:t>
            </a:r>
            <a:r>
              <a:rPr kumimoji="1" lang="en-US" altLang="ja-JP" sz="1300" dirty="0"/>
              <a:t>『</a:t>
            </a:r>
            <a:r>
              <a:rPr kumimoji="1" lang="ja-JP" altLang="en-US" sz="1300"/>
              <a:t>剤形・規格・銘柄不明コードマスタ</a:t>
            </a:r>
            <a:r>
              <a:rPr kumimoji="1" lang="en-US" altLang="ja-JP" sz="1300" dirty="0"/>
              <a:t>』</a:t>
            </a:r>
            <a:r>
              <a:rPr kumimoji="1" lang="ja-JP" altLang="en-US" sz="1300"/>
              <a:t>との対応表</a:t>
            </a:r>
          </a:p>
        </p:txBody>
      </p:sp>
      <p:sp>
        <p:nvSpPr>
          <p:cNvPr id="4" name="四角形: 角を丸くする 3">
            <a:extLst>
              <a:ext uri="{FF2B5EF4-FFF2-40B4-BE49-F238E27FC236}">
                <a16:creationId xmlns:a16="http://schemas.microsoft.com/office/drawing/2014/main" id="{DEBD4B99-2578-960E-61C3-7F09C7E57A62}"/>
              </a:ext>
            </a:extLst>
          </p:cNvPr>
          <p:cNvSpPr/>
          <p:nvPr/>
        </p:nvSpPr>
        <p:spPr>
          <a:xfrm>
            <a:off x="506999" y="793515"/>
            <a:ext cx="3135103" cy="501200"/>
          </a:xfrm>
          <a:prstGeom prst="roundRect">
            <a:avLst/>
          </a:prstGeom>
          <a:solidFill>
            <a:srgbClr val="1F497D"/>
          </a:solidFill>
          <a:ln w="9525" cap="flat" cmpd="sng" algn="ctr">
            <a:no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公開イメージ</a:t>
            </a:r>
            <a:endPar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lvl="0" algn="ctr" defTabSz="914400" eaLnBrk="0" hangingPunct="0">
              <a:defRPr/>
            </a:pPr>
            <a:r>
              <a:rPr lang="ja-JP" altLang="en-US" sz="1050" b="1" kern="0">
                <a:solidFill>
                  <a:prstClr val="white"/>
                </a:solidFill>
                <a:latin typeface="Meiryo UI" panose="020B0604030504040204" pitchFamily="50" charset="-128"/>
                <a:ea typeface="Meiryo UI" panose="020B0604030504040204" pitchFamily="50" charset="-128"/>
                <a:cs typeface="Meiryo UI" panose="020B0604030504040204" pitchFamily="50" charset="-128"/>
              </a:rPr>
              <a:t>左：</a:t>
            </a:r>
            <a:r>
              <a:rPr lang="en-US" altLang="ja-JP" sz="105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050" b="1" kern="0">
                <a:solidFill>
                  <a:prstClr val="white"/>
                </a:solidFill>
                <a:latin typeface="Meiryo UI" panose="020B0604030504040204" pitchFamily="50" charset="-128"/>
                <a:ea typeface="Meiryo UI" panose="020B0604030504040204" pitchFamily="50" charset="-128"/>
                <a:cs typeface="Meiryo UI" panose="020B0604030504040204" pitchFamily="50" charset="-128"/>
              </a:rPr>
              <a:t>記事番号</a:t>
            </a:r>
            <a:r>
              <a:rPr lang="en-US" altLang="ja-JP" sz="105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KB0011216</a:t>
            </a:r>
            <a:b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lang="ja-JP" altLang="en-US" sz="1050" b="1" kern="0">
                <a:solidFill>
                  <a:prstClr val="white"/>
                </a:solidFill>
                <a:latin typeface="Meiryo UI" panose="020B0604030504040204" pitchFamily="50" charset="-128"/>
                <a:ea typeface="Meiryo UI" panose="020B0604030504040204" pitchFamily="50" charset="-128"/>
                <a:cs typeface="Meiryo UI" panose="020B0604030504040204" pitchFamily="50" charset="-128"/>
              </a:rPr>
              <a:t>右：</a:t>
            </a: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新規ページ追加依頼</a:t>
            </a:r>
          </a:p>
        </p:txBody>
      </p:sp>
      <p:sp>
        <p:nvSpPr>
          <p:cNvPr id="6" name="正方形/長方形 5">
            <a:extLst>
              <a:ext uri="{FF2B5EF4-FFF2-40B4-BE49-F238E27FC236}">
                <a16:creationId xmlns:a16="http://schemas.microsoft.com/office/drawing/2014/main" id="{B0D55BDA-FF15-5DEA-24C5-83B18268431F}"/>
              </a:ext>
            </a:extLst>
          </p:cNvPr>
          <p:cNvSpPr/>
          <p:nvPr/>
        </p:nvSpPr>
        <p:spPr>
          <a:xfrm>
            <a:off x="654475" y="1367170"/>
            <a:ext cx="8303258" cy="519524"/>
          </a:xfrm>
          <a:prstGeom prst="rect">
            <a:avLst/>
          </a:prstGeom>
          <a:solidFill>
            <a:schemeClr val="bg1"/>
          </a:solidFill>
          <a:ln>
            <a:noFill/>
          </a:ln>
        </p:spPr>
        <p:txBody>
          <a:bodyPr lIns="0" rIns="0" rtlCol="0" anchor="t" anchorCtr="0"/>
          <a:lstStyle/>
          <a:p>
            <a:pPr fontAlgn="base">
              <a:spcBef>
                <a:spcPct val="20000"/>
              </a:spcBef>
              <a:spcAft>
                <a:spcPct val="0"/>
              </a:spcAft>
              <a:defRPr/>
            </a:pPr>
            <a:r>
              <a:rPr kumimoji="1" lang="ja-JP" altLang="en-US" sz="1100">
                <a:solidFill>
                  <a:prstClr val="black"/>
                </a:solidFill>
                <a:latin typeface="Meiryo UI"/>
              </a:rPr>
              <a:t>●新たに「</a:t>
            </a:r>
            <a:r>
              <a:rPr kumimoji="1" lang="en-US" altLang="ja-JP" sz="1100" dirty="0">
                <a:solidFill>
                  <a:prstClr val="black"/>
                </a:solidFill>
                <a:latin typeface="Meiryo UI"/>
              </a:rPr>
              <a:t>【</a:t>
            </a:r>
            <a:r>
              <a:rPr kumimoji="1" lang="ja-JP" altLang="en-US" sz="1100">
                <a:solidFill>
                  <a:prstClr val="black"/>
                </a:solidFill>
                <a:latin typeface="Meiryo UI"/>
              </a:rPr>
              <a:t>参考表</a:t>
            </a:r>
            <a:r>
              <a:rPr kumimoji="1" lang="en-US" altLang="ja-JP" sz="1100" dirty="0">
                <a:solidFill>
                  <a:prstClr val="black"/>
                </a:solidFill>
                <a:latin typeface="Meiryo UI"/>
              </a:rPr>
              <a:t>】『</a:t>
            </a:r>
            <a:r>
              <a:rPr kumimoji="1" lang="ja-JP" altLang="en-US" sz="1100">
                <a:solidFill>
                  <a:prstClr val="black"/>
                </a:solidFill>
                <a:latin typeface="Meiryo UI"/>
              </a:rPr>
              <a:t>一般名処方マスタ</a:t>
            </a:r>
            <a:r>
              <a:rPr kumimoji="1" lang="en-US" altLang="ja-JP" sz="1100" dirty="0">
                <a:solidFill>
                  <a:prstClr val="black"/>
                </a:solidFill>
                <a:latin typeface="Meiryo UI"/>
              </a:rPr>
              <a:t>』</a:t>
            </a:r>
            <a:r>
              <a:rPr kumimoji="1" lang="ja-JP" altLang="en-US" sz="1100">
                <a:solidFill>
                  <a:prstClr val="black"/>
                </a:solidFill>
                <a:latin typeface="Meiryo UI"/>
              </a:rPr>
              <a:t>と </a:t>
            </a:r>
            <a:r>
              <a:rPr kumimoji="1" lang="en-US" altLang="ja-JP" sz="1100" dirty="0">
                <a:solidFill>
                  <a:prstClr val="black"/>
                </a:solidFill>
                <a:latin typeface="Meiryo UI"/>
              </a:rPr>
              <a:t>『</a:t>
            </a:r>
            <a:r>
              <a:rPr kumimoji="1" lang="ja-JP" altLang="en-US" sz="1100">
                <a:solidFill>
                  <a:prstClr val="black"/>
                </a:solidFill>
                <a:latin typeface="Meiryo UI"/>
              </a:rPr>
              <a:t>剤形・規格・銘柄不明コードマスタ</a:t>
            </a:r>
            <a:r>
              <a:rPr kumimoji="1" lang="en-US" altLang="ja-JP" sz="1100" dirty="0">
                <a:solidFill>
                  <a:prstClr val="black"/>
                </a:solidFill>
                <a:latin typeface="Meiryo UI"/>
              </a:rPr>
              <a:t>』</a:t>
            </a:r>
            <a:r>
              <a:rPr kumimoji="1" lang="ja-JP" altLang="en-US" sz="1100">
                <a:solidFill>
                  <a:prstClr val="black"/>
                </a:solidFill>
                <a:latin typeface="Meiryo UI"/>
              </a:rPr>
              <a:t>との対応表」を公開するため、以下のイメージのように、</a:t>
            </a:r>
            <a:r>
              <a:rPr kumimoji="1" lang="ja-JP" altLang="en-US" sz="1100" b="1">
                <a:solidFill>
                  <a:prstClr val="black"/>
                </a:solidFill>
                <a:latin typeface="Meiryo UI"/>
              </a:rPr>
              <a:t>既存ページへの追記</a:t>
            </a:r>
            <a:r>
              <a:rPr kumimoji="1" lang="ja-JP" altLang="en-US" sz="1100">
                <a:solidFill>
                  <a:prstClr val="black"/>
                </a:solidFill>
                <a:latin typeface="Meiryo UI"/>
              </a:rPr>
              <a:t>及び</a:t>
            </a:r>
            <a:r>
              <a:rPr kumimoji="1" lang="ja-JP" altLang="en-US" sz="1100" b="1">
                <a:solidFill>
                  <a:prstClr val="black"/>
                </a:solidFill>
                <a:latin typeface="Meiryo UI"/>
              </a:rPr>
              <a:t>新規ページの追加</a:t>
            </a:r>
            <a:r>
              <a:rPr kumimoji="1" lang="ja-JP" altLang="en-US" sz="1100">
                <a:solidFill>
                  <a:prstClr val="black"/>
                </a:solidFill>
                <a:latin typeface="Meiryo UI"/>
              </a:rPr>
              <a:t>をお願いいたします。</a:t>
            </a:r>
            <a:endParaRPr kumimoji="1" lang="en-US" altLang="ja-JP" sz="1100" dirty="0">
              <a:solidFill>
                <a:prstClr val="black"/>
              </a:solidFill>
              <a:latin typeface="Meiryo UI"/>
            </a:endParaRPr>
          </a:p>
        </p:txBody>
      </p:sp>
      <p:sp>
        <p:nvSpPr>
          <p:cNvPr id="5" name="正方形/長方形 4">
            <a:extLst>
              <a:ext uri="{FF2B5EF4-FFF2-40B4-BE49-F238E27FC236}">
                <a16:creationId xmlns:a16="http://schemas.microsoft.com/office/drawing/2014/main" id="{8D5CC7C8-1950-523E-17EA-885E170EAFF5}"/>
              </a:ext>
            </a:extLst>
          </p:cNvPr>
          <p:cNvSpPr/>
          <p:nvPr/>
        </p:nvSpPr>
        <p:spPr>
          <a:xfrm>
            <a:off x="6427030" y="2258519"/>
            <a:ext cx="1895395" cy="366467"/>
          </a:xfrm>
          <a:prstGeom prst="rect">
            <a:avLst/>
          </a:prstGeom>
          <a:solidFill>
            <a:schemeClr val="bg1"/>
          </a:solidFill>
          <a:ln>
            <a:noFill/>
          </a:ln>
        </p:spPr>
        <p:txBody>
          <a:bodyPr lIns="0" rIns="0" rtlCol="0" anchor="t" anchorCtr="0"/>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＜更新案</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en-US" altLang="ja-JP" sz="900" b="1" i="0" u="sng" strike="noStrike" kern="1200" cap="none" spc="0" normalizeH="0" baseline="0" noProof="0" dirty="0">
                <a:ln>
                  <a:noFill/>
                </a:ln>
                <a:solidFill>
                  <a:prstClr val="black"/>
                </a:solidFill>
                <a:effectLst/>
                <a:uLnTx/>
                <a:uFillTx/>
                <a:latin typeface="Meiryo UI"/>
                <a:ea typeface="Meiryo UI"/>
                <a:cs typeface="+mn-cs"/>
              </a:rPr>
              <a:t>202609</a:t>
            </a:r>
            <a:r>
              <a:rPr kumimoji="1" lang="ja-JP" altLang="en-US" sz="900" b="1" i="0" u="sng" strike="noStrike" kern="1200" cap="none" spc="0" normalizeH="0" baseline="0" noProof="0">
                <a:ln>
                  <a:noFill/>
                </a:ln>
                <a:solidFill>
                  <a:prstClr val="black"/>
                </a:solidFill>
                <a:effectLst/>
                <a:uLnTx/>
                <a:uFillTx/>
                <a:latin typeface="Meiryo UI"/>
                <a:ea typeface="Meiryo UI"/>
                <a:cs typeface="+mn-cs"/>
              </a:rPr>
              <a:t>～</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a:t>
            </a:r>
            <a:b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br>
            <a:r>
              <a:rPr kumimoji="1" lang="ja-JP" altLang="en-US" sz="900" b="0" i="0" strike="noStrike" kern="1200" cap="none" spc="0" normalizeH="0" baseline="0" noProof="0">
                <a:ln>
                  <a:noFill/>
                </a:ln>
                <a:solidFill>
                  <a:prstClr val="black"/>
                </a:solidFill>
                <a:effectLst/>
                <a:uLnTx/>
                <a:uFillTx/>
                <a:latin typeface="Meiryo UI"/>
                <a:ea typeface="Meiryo UI"/>
                <a:cs typeface="+mn-cs"/>
              </a:rPr>
              <a:t>新規ページの追加</a:t>
            </a:r>
            <a:endParaRPr kumimoji="1" lang="en-US" altLang="ja-JP" sz="900" b="0" i="0" u="sng" strike="noStrike" kern="1200" cap="none" spc="0" normalizeH="0" baseline="0" noProof="0" dirty="0">
              <a:ln>
                <a:noFill/>
              </a:ln>
              <a:solidFill>
                <a:prstClr val="black"/>
              </a:solidFill>
              <a:effectLst/>
              <a:uLnTx/>
              <a:uFillTx/>
              <a:latin typeface="Meiryo UI"/>
              <a:ea typeface="Meiryo UI"/>
              <a:cs typeface="+mn-cs"/>
            </a:endParaRPr>
          </a:p>
        </p:txBody>
      </p:sp>
      <p:cxnSp>
        <p:nvCxnSpPr>
          <p:cNvPr id="14" name="直線コネクタ 13">
            <a:extLst>
              <a:ext uri="{FF2B5EF4-FFF2-40B4-BE49-F238E27FC236}">
                <a16:creationId xmlns:a16="http://schemas.microsoft.com/office/drawing/2014/main" id="{291052C2-9B12-9882-7EA8-5AFAFFD9CBC4}"/>
              </a:ext>
            </a:extLst>
          </p:cNvPr>
          <p:cNvCxnSpPr>
            <a:cxnSpLocks/>
          </p:cNvCxnSpPr>
          <p:nvPr/>
        </p:nvCxnSpPr>
        <p:spPr bwMode="auto">
          <a:xfrm>
            <a:off x="4919731" y="1913205"/>
            <a:ext cx="0" cy="5806539"/>
          </a:xfrm>
          <a:prstGeom prst="line">
            <a:avLst/>
          </a:prstGeom>
          <a:solidFill>
            <a:schemeClr val="bg1"/>
          </a:solidFill>
          <a:ln w="9525" cap="flat" cmpd="sng" algn="ctr">
            <a:solidFill>
              <a:schemeClr val="bg1">
                <a:lumMod val="65000"/>
              </a:schemeClr>
            </a:solidFill>
            <a:prstDash val="lgDash"/>
            <a:round/>
            <a:headEnd type="none" w="med" len="med"/>
            <a:tailEnd type="none" w="med" len="med"/>
          </a:ln>
          <a:effectLst/>
        </p:spPr>
      </p:cxnSp>
      <p:sp>
        <p:nvSpPr>
          <p:cNvPr id="16" name="正方形/長方形 15">
            <a:extLst>
              <a:ext uri="{FF2B5EF4-FFF2-40B4-BE49-F238E27FC236}">
                <a16:creationId xmlns:a16="http://schemas.microsoft.com/office/drawing/2014/main" id="{608FA59A-DF42-07A7-60EC-71FAB57208A3}"/>
              </a:ext>
            </a:extLst>
          </p:cNvPr>
          <p:cNvSpPr/>
          <p:nvPr/>
        </p:nvSpPr>
        <p:spPr>
          <a:xfrm>
            <a:off x="5224882" y="2176407"/>
            <a:ext cx="4431372" cy="3804114"/>
          </a:xfrm>
          <a:prstGeom prst="rect">
            <a:avLst/>
          </a:prstGeom>
          <a:noFill/>
          <a:ln w="19050">
            <a:solidFill>
              <a:srgbClr val="FF0000"/>
            </a:solidFill>
            <a:prstDash val="solid"/>
          </a:ln>
        </p:spPr>
        <p:txBody>
          <a:bodyPr wrap="none" lIns="36000" tIns="108000" rIns="36000" bIns="3600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050" b="0" i="0" u="none" strike="noStrike" kern="0" cap="none" spc="0" normalizeH="0" baseline="0" noProof="0">
              <a:ln>
                <a:noFill/>
              </a:ln>
              <a:solidFill>
                <a:prstClr val="black"/>
              </a:solidFill>
              <a:effectLst/>
              <a:uLnTx/>
              <a:uFillTx/>
              <a:latin typeface="Meiryo UI"/>
              <a:ea typeface="Meiryo UI"/>
              <a:cs typeface="Arial" charset="0"/>
            </a:endParaRPr>
          </a:p>
        </p:txBody>
      </p:sp>
      <p:sp>
        <p:nvSpPr>
          <p:cNvPr id="40" name="正方形/長方形 39">
            <a:extLst>
              <a:ext uri="{FF2B5EF4-FFF2-40B4-BE49-F238E27FC236}">
                <a16:creationId xmlns:a16="http://schemas.microsoft.com/office/drawing/2014/main" id="{A83A3AB6-F3B1-0A45-AC1D-8728CECCB61A}"/>
              </a:ext>
            </a:extLst>
          </p:cNvPr>
          <p:cNvSpPr/>
          <p:nvPr/>
        </p:nvSpPr>
        <p:spPr>
          <a:xfrm>
            <a:off x="160873" y="2176405"/>
            <a:ext cx="4494819" cy="5234605"/>
          </a:xfrm>
          <a:prstGeom prst="rect">
            <a:avLst/>
          </a:prstGeom>
          <a:noFill/>
          <a:ln w="19050">
            <a:solidFill>
              <a:srgbClr val="FF0000"/>
            </a:solidFill>
            <a:prstDash val="solid"/>
          </a:ln>
        </p:spPr>
        <p:txBody>
          <a:bodyPr wrap="none" lIns="36000" tIns="108000" rIns="36000" bIns="3600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050" b="0" i="0" u="none" strike="noStrike" kern="0" cap="none" spc="0" normalizeH="0" baseline="0" noProof="0">
              <a:ln>
                <a:noFill/>
              </a:ln>
              <a:solidFill>
                <a:prstClr val="black"/>
              </a:solidFill>
              <a:effectLst/>
              <a:uLnTx/>
              <a:uFillTx/>
              <a:latin typeface="Meiryo UI"/>
              <a:ea typeface="Meiryo UI"/>
              <a:cs typeface="Arial" charset="0"/>
            </a:endParaRPr>
          </a:p>
        </p:txBody>
      </p:sp>
      <p:sp>
        <p:nvSpPr>
          <p:cNvPr id="95" name="正方形/長方形 94">
            <a:extLst>
              <a:ext uri="{FF2B5EF4-FFF2-40B4-BE49-F238E27FC236}">
                <a16:creationId xmlns:a16="http://schemas.microsoft.com/office/drawing/2014/main" id="{97ADA907-AB50-3F0D-4744-C884405320A3}"/>
              </a:ext>
            </a:extLst>
          </p:cNvPr>
          <p:cNvSpPr/>
          <p:nvPr/>
        </p:nvSpPr>
        <p:spPr>
          <a:xfrm>
            <a:off x="1282156" y="2218829"/>
            <a:ext cx="1895395" cy="300005"/>
          </a:xfrm>
          <a:prstGeom prst="rect">
            <a:avLst/>
          </a:prstGeom>
          <a:solidFill>
            <a:schemeClr val="bg1"/>
          </a:solidFill>
          <a:ln>
            <a:noFill/>
          </a:ln>
        </p:spPr>
        <p:txBody>
          <a:bodyPr lIns="0" rIns="0" rtlCol="0" anchor="t" anchorCtr="0"/>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＜更新案</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en-US" altLang="ja-JP" sz="900" b="1" i="0" u="sng" strike="noStrike" kern="1200" cap="none" spc="0" normalizeH="0" baseline="0" noProof="0" dirty="0">
                <a:ln>
                  <a:noFill/>
                </a:ln>
                <a:solidFill>
                  <a:prstClr val="black"/>
                </a:solidFill>
                <a:effectLst/>
                <a:uLnTx/>
                <a:uFillTx/>
                <a:latin typeface="Meiryo UI"/>
                <a:ea typeface="Meiryo UI"/>
                <a:cs typeface="+mn-cs"/>
              </a:rPr>
              <a:t>202609</a:t>
            </a:r>
            <a:r>
              <a:rPr kumimoji="1" lang="ja-JP" altLang="en-US" sz="900" b="1" i="0" u="sng" strike="noStrike" kern="1200" cap="none" spc="0" normalizeH="0" baseline="0" noProof="0">
                <a:ln>
                  <a:noFill/>
                </a:ln>
                <a:solidFill>
                  <a:prstClr val="black"/>
                </a:solidFill>
                <a:effectLst/>
                <a:uLnTx/>
                <a:uFillTx/>
                <a:latin typeface="Meiryo UI"/>
                <a:ea typeface="Meiryo UI"/>
                <a:cs typeface="+mn-cs"/>
              </a:rPr>
              <a:t>～</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a:t>
            </a:r>
            <a:endParaRPr kumimoji="1" lang="en-US" altLang="ja-JP" sz="9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900" i="0" strike="noStrike" kern="1200" cap="none" spc="0" normalizeH="0" baseline="0" noProof="0">
                <a:ln>
                  <a:noFill/>
                </a:ln>
                <a:solidFill>
                  <a:prstClr val="black"/>
                </a:solidFill>
                <a:effectLst/>
                <a:uLnTx/>
                <a:uFillTx/>
                <a:latin typeface="Meiryo UI"/>
                <a:ea typeface="Meiryo UI"/>
                <a:cs typeface="+mn-cs"/>
              </a:rPr>
              <a:t>既存ページへの追記</a:t>
            </a:r>
            <a:endParaRPr kumimoji="1" lang="en-US" altLang="ja-JP" sz="900" i="0" strike="noStrike" kern="1200" cap="none" spc="0" normalizeH="0" baseline="0" noProof="0" dirty="0">
              <a:ln>
                <a:noFill/>
              </a:ln>
              <a:solidFill>
                <a:prstClr val="black"/>
              </a:solidFill>
              <a:effectLst/>
              <a:uLnTx/>
              <a:uFillTx/>
              <a:latin typeface="Meiryo UI"/>
              <a:ea typeface="Meiryo UI"/>
              <a:cs typeface="+mn-cs"/>
            </a:endParaRPr>
          </a:p>
        </p:txBody>
      </p:sp>
      <p:pic>
        <p:nvPicPr>
          <p:cNvPr id="8" name="図 7">
            <a:extLst>
              <a:ext uri="{FF2B5EF4-FFF2-40B4-BE49-F238E27FC236}">
                <a16:creationId xmlns:a16="http://schemas.microsoft.com/office/drawing/2014/main" id="{93DFDBF9-F6D2-78CB-6053-3FD608988E2B}"/>
              </a:ext>
            </a:extLst>
          </p:cNvPr>
          <p:cNvPicPr>
            <a:picLocks noChangeAspect="1"/>
          </p:cNvPicPr>
          <p:nvPr/>
        </p:nvPicPr>
        <p:blipFill>
          <a:blip r:embed="rId3"/>
          <a:srcRect l="956" r="3172"/>
          <a:stretch>
            <a:fillRect/>
          </a:stretch>
        </p:blipFill>
        <p:spPr>
          <a:xfrm>
            <a:off x="248333" y="2754066"/>
            <a:ext cx="4393719" cy="4195374"/>
          </a:xfrm>
          <a:prstGeom prst="rect">
            <a:avLst/>
          </a:prstGeom>
        </p:spPr>
      </p:pic>
      <p:sp>
        <p:nvSpPr>
          <p:cNvPr id="10" name="四角形: 角を丸くする 9">
            <a:extLst>
              <a:ext uri="{FF2B5EF4-FFF2-40B4-BE49-F238E27FC236}">
                <a16:creationId xmlns:a16="http://schemas.microsoft.com/office/drawing/2014/main" id="{0B29B046-13D9-8D44-B621-D5E429537C61}"/>
              </a:ext>
            </a:extLst>
          </p:cNvPr>
          <p:cNvSpPr/>
          <p:nvPr/>
        </p:nvSpPr>
        <p:spPr>
          <a:xfrm>
            <a:off x="3898902" y="1885590"/>
            <a:ext cx="2084866" cy="656505"/>
          </a:xfrm>
          <a:prstGeom prst="roundRect">
            <a:avLst/>
          </a:prstGeom>
          <a:solidFill>
            <a:schemeClr val="accent2">
              <a:lumMod val="20000"/>
              <a:lumOff val="80000"/>
            </a:schemeClr>
          </a:solidFill>
          <a:ln>
            <a:noFill/>
            <a:prstDash val="dash"/>
          </a:ln>
        </p:spPr>
        <p:txBody>
          <a:bodyPr wrap="square" lIns="36000" tIns="108000" rIns="36000" bIns="36000" rtlCol="0" anchor="ctr">
            <a:noAutofit/>
          </a:bodyP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1050" b="0" i="0" u="sng" strike="noStrike" kern="1200" cap="none" spc="0" normalizeH="0" baseline="0" noProof="0">
                <a:ln>
                  <a:noFill/>
                </a:ln>
                <a:solidFill>
                  <a:prstClr val="black"/>
                </a:solidFill>
                <a:effectLst/>
                <a:uLnTx/>
                <a:uFillTx/>
                <a:latin typeface="Meiryo UI"/>
                <a:ea typeface="Meiryo UI"/>
                <a:cs typeface="+mn-cs"/>
              </a:rPr>
              <a:t>基金担当者様</a:t>
            </a:r>
            <a:endParaRPr kumimoji="1" lang="en-US" altLang="ja-JP" sz="105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2026</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9</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月の薬剤関連マスタ公開時にこちらのレイアウトに更新ください。</a:t>
            </a:r>
          </a:p>
        </p:txBody>
      </p:sp>
      <p:pic>
        <p:nvPicPr>
          <p:cNvPr id="22" name="図 21">
            <a:extLst>
              <a:ext uri="{FF2B5EF4-FFF2-40B4-BE49-F238E27FC236}">
                <a16:creationId xmlns:a16="http://schemas.microsoft.com/office/drawing/2014/main" id="{51D11E02-E7F3-A8CD-B594-49CDE8ACCCF8}"/>
              </a:ext>
            </a:extLst>
          </p:cNvPr>
          <p:cNvPicPr>
            <a:picLocks noChangeAspect="1"/>
          </p:cNvPicPr>
          <p:nvPr/>
        </p:nvPicPr>
        <p:blipFill>
          <a:blip r:embed="rId3"/>
          <a:srcRect l="956" t="87939" r="3172"/>
          <a:stretch>
            <a:fillRect/>
          </a:stretch>
        </p:blipFill>
        <p:spPr>
          <a:xfrm>
            <a:off x="248226" y="6747931"/>
            <a:ext cx="4393719" cy="506024"/>
          </a:xfrm>
          <a:prstGeom prst="rect">
            <a:avLst/>
          </a:prstGeom>
        </p:spPr>
      </p:pic>
      <p:sp>
        <p:nvSpPr>
          <p:cNvPr id="23" name="正方形/長方形 22">
            <a:extLst>
              <a:ext uri="{FF2B5EF4-FFF2-40B4-BE49-F238E27FC236}">
                <a16:creationId xmlns:a16="http://schemas.microsoft.com/office/drawing/2014/main" id="{348F3941-240F-1956-7691-EE7BF67E7FCA}"/>
              </a:ext>
            </a:extLst>
          </p:cNvPr>
          <p:cNvSpPr/>
          <p:nvPr/>
        </p:nvSpPr>
        <p:spPr>
          <a:xfrm>
            <a:off x="1751816" y="6498182"/>
            <a:ext cx="2264129" cy="249748"/>
          </a:xfrm>
          <a:prstGeom prst="rect">
            <a:avLst/>
          </a:prstGeom>
          <a:solidFill>
            <a:schemeClr val="bg1"/>
          </a:solidFill>
          <a:ln>
            <a:noFill/>
          </a:ln>
        </p:spPr>
        <p:txBody>
          <a:bodyPr lIns="0" rIns="0" rtlCol="0" anchor="t"/>
          <a:lstStyle/>
          <a:p>
            <a:pPr lvl="0" fontAlgn="base">
              <a:spcBef>
                <a:spcPct val="20000"/>
              </a:spcBef>
              <a:spcAft>
                <a:spcPct val="0"/>
              </a:spcAft>
              <a:defRPr/>
            </a:pPr>
            <a:r>
              <a:rPr kumimoji="1" lang="en-US" altLang="ja-JP" sz="700" i="0" u="none" strike="noStrike" kern="1200" cap="none" spc="0" normalizeH="0" baseline="0" noProof="0" dirty="0">
                <a:ln>
                  <a:noFill/>
                </a:ln>
                <a:effectLst/>
                <a:highlight>
                  <a:srgbClr val="FFFF00"/>
                </a:highlight>
                <a:uLnTx/>
                <a:uFillTx/>
                <a:latin typeface="Meiryo UI"/>
                <a:ea typeface="Meiryo UI"/>
                <a:cs typeface="+mn-cs"/>
              </a:rPr>
              <a:t>※</a:t>
            </a:r>
            <a:r>
              <a:rPr kumimoji="1" lang="ja-JP" altLang="en-US" sz="700" i="0" u="none" strike="noStrike" kern="1200" cap="none" spc="0" normalizeH="0" baseline="0" noProof="0">
                <a:ln>
                  <a:noFill/>
                </a:ln>
                <a:effectLst/>
                <a:highlight>
                  <a:srgbClr val="FFFF00"/>
                </a:highlight>
                <a:uLnTx/>
                <a:uFillTx/>
                <a:latin typeface="Meiryo UI"/>
                <a:ea typeface="Meiryo UI"/>
                <a:cs typeface="+mn-cs"/>
              </a:rPr>
              <a:t>参考として「一般名</a:t>
            </a:r>
            <a:r>
              <a:rPr kumimoji="1" lang="ja-JP" altLang="en-US" sz="700">
                <a:highlight>
                  <a:srgbClr val="FFFF00"/>
                </a:highlight>
                <a:latin typeface="Meiryo UI"/>
                <a:ea typeface="Meiryo UI"/>
              </a:rPr>
              <a:t>処方マスタ</a:t>
            </a:r>
            <a:r>
              <a:rPr kumimoji="1" lang="ja-JP" altLang="en-US" sz="700" i="0" u="none" strike="noStrike" kern="1200" cap="none" spc="0" normalizeH="0" baseline="0" noProof="0">
                <a:ln>
                  <a:noFill/>
                </a:ln>
                <a:effectLst/>
                <a:highlight>
                  <a:srgbClr val="FFFF00"/>
                </a:highlight>
                <a:uLnTx/>
                <a:uFillTx/>
                <a:latin typeface="Meiryo UI"/>
                <a:ea typeface="Meiryo UI"/>
                <a:cs typeface="+mn-cs"/>
              </a:rPr>
              <a:t>」との対応表は</a:t>
            </a:r>
            <a:r>
              <a:rPr kumimoji="1" lang="ja-JP" altLang="en-US" sz="700" i="0" u="sng" strike="noStrike" kern="1200" cap="none" spc="0" normalizeH="0" baseline="0" noProof="0">
                <a:ln>
                  <a:noFill/>
                </a:ln>
                <a:solidFill>
                  <a:srgbClr val="3516FF"/>
                </a:solidFill>
                <a:effectLst/>
                <a:highlight>
                  <a:srgbClr val="FFFF00"/>
                </a:highlight>
                <a:uLnTx/>
                <a:uFillTx/>
                <a:latin typeface="Meiryo UI"/>
                <a:ea typeface="Meiryo UI"/>
                <a:cs typeface="+mn-cs"/>
              </a:rPr>
              <a:t>こちらからダウンロード</a:t>
            </a:r>
            <a:r>
              <a:rPr kumimoji="1" lang="ja-JP" altLang="en-US" sz="700" i="0" u="none" strike="noStrike" kern="1200" cap="none" spc="0" normalizeH="0" baseline="0" noProof="0">
                <a:ln>
                  <a:noFill/>
                </a:ln>
                <a:effectLst/>
                <a:highlight>
                  <a:srgbClr val="FFFF00"/>
                </a:highlight>
                <a:uLnTx/>
                <a:uFillTx/>
                <a:latin typeface="Meiryo UI"/>
                <a:ea typeface="Meiryo UI"/>
                <a:cs typeface="+mn-cs"/>
              </a:rPr>
              <a:t>。</a:t>
            </a:r>
            <a:endParaRPr kumimoji="1" lang="en-US" altLang="ja-JP" sz="700" i="0" u="none" strike="noStrike" kern="1200" cap="none" spc="0" normalizeH="0" baseline="0" noProof="0" dirty="0">
              <a:ln>
                <a:noFill/>
              </a:ln>
              <a:effectLst/>
              <a:highlight>
                <a:srgbClr val="FFFF00"/>
              </a:highlight>
              <a:uLnTx/>
              <a:uFillTx/>
              <a:latin typeface="Meiryo UI"/>
              <a:ea typeface="Meiryo UI"/>
              <a:cs typeface="+mn-cs"/>
            </a:endParaRPr>
          </a:p>
        </p:txBody>
      </p:sp>
      <p:pic>
        <p:nvPicPr>
          <p:cNvPr id="60" name="図 19">
            <a:extLst>
              <a:ext uri="{FF2B5EF4-FFF2-40B4-BE49-F238E27FC236}">
                <a16:creationId xmlns:a16="http://schemas.microsoft.com/office/drawing/2014/main" id="{7FCC6E70-1C6A-729A-8073-A187F647E8DA}"/>
              </a:ext>
            </a:extLst>
          </p:cNvPr>
          <p:cNvPicPr preferRelativeResize="0">
            <a:picLocks/>
          </p:cNvPicPr>
          <p:nvPr/>
        </p:nvPicPr>
        <p:blipFill>
          <a:blip r:embed="rId2"/>
          <a:srcRect l="2946" t="103836" r="-2946" b="-15325"/>
          <a:stretch>
            <a:fillRect/>
          </a:stretch>
        </p:blipFill>
        <p:spPr>
          <a:xfrm>
            <a:off x="234236" y="2661599"/>
            <a:ext cx="4366248" cy="4652254"/>
          </a:xfrm>
          <a:prstGeom prst="rect">
            <a:avLst/>
          </a:prstGeom>
          <a:ln w="19050">
            <a:solidFill>
              <a:schemeClr val="bg1">
                <a:lumMod val="85000"/>
              </a:schemeClr>
            </a:solidFill>
          </a:ln>
        </p:spPr>
      </p:pic>
      <p:sp>
        <p:nvSpPr>
          <p:cNvPr id="21" name="テキスト ボックス 20">
            <a:extLst>
              <a:ext uri="{FF2B5EF4-FFF2-40B4-BE49-F238E27FC236}">
                <a16:creationId xmlns:a16="http://schemas.microsoft.com/office/drawing/2014/main" id="{39E0AEDE-2F2E-58C8-11DD-1F376FE40F7C}"/>
              </a:ext>
            </a:extLst>
          </p:cNvPr>
          <p:cNvSpPr txBox="1"/>
          <p:nvPr/>
        </p:nvSpPr>
        <p:spPr>
          <a:xfrm>
            <a:off x="374620" y="2545900"/>
            <a:ext cx="1072863" cy="178510"/>
          </a:xfrm>
          <a:prstGeom prst="rect">
            <a:avLst/>
          </a:prstGeom>
          <a:solidFill>
            <a:schemeClr val="bg1">
              <a:lumMod val="85000"/>
            </a:schemeClr>
          </a:solidFill>
          <a:ln>
            <a:solidFill>
              <a:schemeClr val="tx1"/>
            </a:solidFill>
          </a:ln>
        </p:spPr>
        <p:txBody>
          <a:bodyPr wrap="square" rtlCol="0">
            <a:spAutoFit/>
          </a:bodyPr>
          <a:lstStyle/>
          <a:p>
            <a:pPr algn="ctr" defTabSz="914400" fontAlgn="base">
              <a:lnSpc>
                <a:spcPct val="80000"/>
              </a:lnSpc>
              <a:spcBef>
                <a:spcPct val="0"/>
              </a:spcBef>
              <a:spcAft>
                <a:spcPct val="0"/>
              </a:spcAft>
            </a:pPr>
            <a:r>
              <a:rPr kumimoji="1" lang="en-US" altLang="ja-JP" sz="700" i="0" dirty="0">
                <a:solidFill>
                  <a:prstClr val="black"/>
                </a:solidFill>
                <a:latin typeface="Meiryo UI" panose="020B0604030504040204" pitchFamily="50" charset="-128"/>
                <a:ea typeface="Meiryo UI" panose="020B0604030504040204" pitchFamily="50" charset="-128"/>
              </a:rPr>
              <a:t>※KB0011216</a:t>
            </a:r>
            <a:r>
              <a:rPr kumimoji="1" lang="ja-JP" altLang="en-US" sz="700" i="0">
                <a:solidFill>
                  <a:prstClr val="black"/>
                </a:solidFill>
                <a:latin typeface="Meiryo UI" panose="020B0604030504040204" pitchFamily="50" charset="-128"/>
                <a:ea typeface="Meiryo UI" panose="020B0604030504040204" pitchFamily="50" charset="-128"/>
              </a:rPr>
              <a:t> 抜粋</a:t>
            </a:r>
          </a:p>
        </p:txBody>
      </p:sp>
      <p:pic>
        <p:nvPicPr>
          <p:cNvPr id="18" name="図 17">
            <a:extLst>
              <a:ext uri="{FF2B5EF4-FFF2-40B4-BE49-F238E27FC236}">
                <a16:creationId xmlns:a16="http://schemas.microsoft.com/office/drawing/2014/main" id="{623751BF-42A0-2C06-00CE-F1F42CEA4D78}"/>
              </a:ext>
            </a:extLst>
          </p:cNvPr>
          <p:cNvPicPr>
            <a:picLocks noChangeAspect="1"/>
          </p:cNvPicPr>
          <p:nvPr/>
        </p:nvPicPr>
        <p:blipFill>
          <a:blip r:embed="rId4"/>
          <a:srcRect b="48725"/>
          <a:stretch>
            <a:fillRect/>
          </a:stretch>
        </p:blipFill>
        <p:spPr>
          <a:xfrm>
            <a:off x="5294422" y="2800921"/>
            <a:ext cx="4300396" cy="1528527"/>
          </a:xfrm>
          <a:prstGeom prst="rect">
            <a:avLst/>
          </a:prstGeom>
        </p:spPr>
      </p:pic>
      <p:sp>
        <p:nvSpPr>
          <p:cNvPr id="24" name="正方形/長方形 23">
            <a:extLst>
              <a:ext uri="{FF2B5EF4-FFF2-40B4-BE49-F238E27FC236}">
                <a16:creationId xmlns:a16="http://schemas.microsoft.com/office/drawing/2014/main" id="{2E6786A9-E864-4B8A-8764-9EA370185ACC}"/>
              </a:ext>
            </a:extLst>
          </p:cNvPr>
          <p:cNvSpPr/>
          <p:nvPr/>
        </p:nvSpPr>
        <p:spPr>
          <a:xfrm>
            <a:off x="5549186" y="2888329"/>
            <a:ext cx="376608" cy="109643"/>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600" dirty="0">
                <a:solidFill>
                  <a:prstClr val="black"/>
                </a:solidFill>
                <a:latin typeface="Meiryo UI"/>
              </a:rPr>
              <a:t>XXXXXXX</a:t>
            </a:r>
          </a:p>
        </p:txBody>
      </p:sp>
      <p:sp>
        <p:nvSpPr>
          <p:cNvPr id="25" name="正方形/長方形 24">
            <a:extLst>
              <a:ext uri="{FF2B5EF4-FFF2-40B4-BE49-F238E27FC236}">
                <a16:creationId xmlns:a16="http://schemas.microsoft.com/office/drawing/2014/main" id="{6A9FC673-48AA-11A7-9F1E-2A199A423962}"/>
              </a:ext>
            </a:extLst>
          </p:cNvPr>
          <p:cNvSpPr/>
          <p:nvPr/>
        </p:nvSpPr>
        <p:spPr>
          <a:xfrm>
            <a:off x="5450259" y="3149173"/>
            <a:ext cx="3981124" cy="555760"/>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1400" dirty="0">
                <a:solidFill>
                  <a:prstClr val="black"/>
                </a:solidFill>
                <a:latin typeface="Meiryo UI"/>
              </a:rPr>
              <a:t>【</a:t>
            </a:r>
            <a:r>
              <a:rPr kumimoji="1" lang="ja-JP" altLang="en-US" sz="1400">
                <a:solidFill>
                  <a:prstClr val="black"/>
                </a:solidFill>
                <a:latin typeface="Meiryo UI"/>
              </a:rPr>
              <a:t>参考表</a:t>
            </a:r>
            <a:r>
              <a:rPr kumimoji="1" lang="en-US" altLang="ja-JP" sz="1400" dirty="0">
                <a:solidFill>
                  <a:prstClr val="black"/>
                </a:solidFill>
                <a:latin typeface="Meiryo UI"/>
              </a:rPr>
              <a:t>】</a:t>
            </a:r>
            <a:r>
              <a:rPr kumimoji="1" lang="ja-JP" altLang="en-US" sz="1400">
                <a:solidFill>
                  <a:prstClr val="black"/>
                </a:solidFill>
                <a:latin typeface="Meiryo UI"/>
              </a:rPr>
              <a:t> </a:t>
            </a:r>
            <a:r>
              <a:rPr kumimoji="1" lang="en-US" altLang="ja-JP" sz="1400" dirty="0">
                <a:solidFill>
                  <a:prstClr val="black"/>
                </a:solidFill>
                <a:latin typeface="Meiryo UI"/>
              </a:rPr>
              <a:t>『</a:t>
            </a:r>
            <a:r>
              <a:rPr kumimoji="1" lang="ja-JP" altLang="en-US" sz="1400">
                <a:solidFill>
                  <a:prstClr val="black"/>
                </a:solidFill>
                <a:latin typeface="Meiryo UI"/>
              </a:rPr>
              <a:t>一般名処方マスタ</a:t>
            </a:r>
            <a:r>
              <a:rPr kumimoji="1" lang="en-US" altLang="ja-JP" sz="1400" dirty="0">
                <a:solidFill>
                  <a:prstClr val="black"/>
                </a:solidFill>
                <a:latin typeface="Meiryo UI"/>
              </a:rPr>
              <a:t>』</a:t>
            </a:r>
            <a:r>
              <a:rPr kumimoji="1" lang="ja-JP" altLang="en-US" sz="1400">
                <a:solidFill>
                  <a:prstClr val="black"/>
                </a:solidFill>
                <a:latin typeface="Meiryo UI"/>
              </a:rPr>
              <a:t>と</a:t>
            </a:r>
            <a:r>
              <a:rPr kumimoji="1" lang="en-US" altLang="ja-JP" sz="1400" dirty="0">
                <a:solidFill>
                  <a:prstClr val="black"/>
                </a:solidFill>
                <a:latin typeface="Meiryo UI"/>
              </a:rPr>
              <a:t>『</a:t>
            </a:r>
            <a:r>
              <a:rPr kumimoji="1" lang="ja-JP" altLang="en-US" sz="1400">
                <a:solidFill>
                  <a:prstClr val="black"/>
                </a:solidFill>
                <a:latin typeface="Meiryo UI"/>
              </a:rPr>
              <a:t>剤形・規格・銘柄不明コードマスタ</a:t>
            </a:r>
            <a:r>
              <a:rPr kumimoji="1" lang="en-US" altLang="ja-JP" sz="1400" dirty="0">
                <a:solidFill>
                  <a:prstClr val="black"/>
                </a:solidFill>
                <a:latin typeface="Meiryo UI"/>
              </a:rPr>
              <a:t>』</a:t>
            </a:r>
            <a:r>
              <a:rPr kumimoji="1" lang="ja-JP" altLang="en-US" sz="1400">
                <a:solidFill>
                  <a:prstClr val="black"/>
                </a:solidFill>
                <a:latin typeface="Meiryo UI"/>
              </a:rPr>
              <a:t>との対応表</a:t>
            </a:r>
            <a:endParaRPr kumimoji="1" lang="en-US" altLang="ja-JP" sz="1400" dirty="0">
              <a:solidFill>
                <a:prstClr val="black"/>
              </a:solidFill>
              <a:latin typeface="Meiryo UI"/>
            </a:endParaRPr>
          </a:p>
        </p:txBody>
      </p:sp>
      <p:sp>
        <p:nvSpPr>
          <p:cNvPr id="27" name="正方形/長方形 26">
            <a:extLst>
              <a:ext uri="{FF2B5EF4-FFF2-40B4-BE49-F238E27FC236}">
                <a16:creationId xmlns:a16="http://schemas.microsoft.com/office/drawing/2014/main" id="{0CA9933D-6361-34BB-4CE7-3C2B6A545BFE}"/>
              </a:ext>
            </a:extLst>
          </p:cNvPr>
          <p:cNvSpPr/>
          <p:nvPr/>
        </p:nvSpPr>
        <p:spPr>
          <a:xfrm>
            <a:off x="5431209" y="4117621"/>
            <a:ext cx="4048962" cy="230877"/>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ja-JP" altLang="en-US" sz="700">
                <a:solidFill>
                  <a:prstClr val="black"/>
                </a:solidFill>
                <a:latin typeface="Meiryo UI"/>
              </a:rPr>
              <a:t> ・ 本表は、「一般名処方マスタ」と「剤形・規格・銘柄不明コードマスタ」の対応を示したものです。</a:t>
            </a:r>
            <a:endParaRPr kumimoji="1" lang="en-US" altLang="ja-JP" sz="700" dirty="0">
              <a:solidFill>
                <a:prstClr val="black"/>
              </a:solidFill>
              <a:latin typeface="Meiryo UI"/>
            </a:endParaRPr>
          </a:p>
        </p:txBody>
      </p:sp>
      <p:pic>
        <p:nvPicPr>
          <p:cNvPr id="28" name="図 27">
            <a:extLst>
              <a:ext uri="{FF2B5EF4-FFF2-40B4-BE49-F238E27FC236}">
                <a16:creationId xmlns:a16="http://schemas.microsoft.com/office/drawing/2014/main" id="{A4A56140-B2E9-42E4-046C-4516DCEF9A1F}"/>
              </a:ext>
            </a:extLst>
          </p:cNvPr>
          <p:cNvPicPr>
            <a:picLocks noChangeAspect="1"/>
          </p:cNvPicPr>
          <p:nvPr/>
        </p:nvPicPr>
        <p:blipFill>
          <a:blip r:embed="rId4"/>
          <a:srcRect t="51445" b="17604"/>
          <a:stretch>
            <a:fillRect/>
          </a:stretch>
        </p:blipFill>
        <p:spPr>
          <a:xfrm>
            <a:off x="5294421" y="4265948"/>
            <a:ext cx="4300396" cy="922695"/>
          </a:xfrm>
          <a:prstGeom prst="rect">
            <a:avLst/>
          </a:prstGeom>
        </p:spPr>
      </p:pic>
      <p:graphicFrame>
        <p:nvGraphicFramePr>
          <p:cNvPr id="34" name="表 33">
            <a:extLst>
              <a:ext uri="{FF2B5EF4-FFF2-40B4-BE49-F238E27FC236}">
                <a16:creationId xmlns:a16="http://schemas.microsoft.com/office/drawing/2014/main" id="{112995F6-2E76-25C9-5AE1-80976DEF129B}"/>
              </a:ext>
            </a:extLst>
          </p:cNvPr>
          <p:cNvGraphicFramePr>
            <a:graphicFrameLocks noGrp="1"/>
          </p:cNvGraphicFramePr>
          <p:nvPr>
            <p:extLst>
              <p:ext uri="{D42A27DB-BD31-4B8C-83A1-F6EECF244321}">
                <p14:modId xmlns:p14="http://schemas.microsoft.com/office/powerpoint/2010/main" val="3229693414"/>
              </p:ext>
            </p:extLst>
          </p:nvPr>
        </p:nvGraphicFramePr>
        <p:xfrm>
          <a:off x="5536466" y="4603789"/>
          <a:ext cx="3848606" cy="245582"/>
        </p:xfrm>
        <a:graphic>
          <a:graphicData uri="http://schemas.openxmlformats.org/drawingml/2006/table">
            <a:tbl>
              <a:tblPr/>
              <a:tblGrid>
                <a:gridCol w="1038842">
                  <a:extLst>
                    <a:ext uri="{9D8B030D-6E8A-4147-A177-3AD203B41FA5}">
                      <a16:colId xmlns:a16="http://schemas.microsoft.com/office/drawing/2014/main" val="2741535545"/>
                    </a:ext>
                  </a:extLst>
                </a:gridCol>
                <a:gridCol w="1393142">
                  <a:extLst>
                    <a:ext uri="{9D8B030D-6E8A-4147-A177-3AD203B41FA5}">
                      <a16:colId xmlns:a16="http://schemas.microsoft.com/office/drawing/2014/main" val="2597624301"/>
                    </a:ext>
                  </a:extLst>
                </a:gridCol>
                <a:gridCol w="1416622">
                  <a:extLst>
                    <a:ext uri="{9D8B030D-6E8A-4147-A177-3AD203B41FA5}">
                      <a16:colId xmlns:a16="http://schemas.microsoft.com/office/drawing/2014/main" val="260713991"/>
                    </a:ext>
                  </a:extLst>
                </a:gridCol>
              </a:tblGrid>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公開日</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eiryo UI" panose="020B0604030504040204" pitchFamily="50" charset="-128"/>
                          <a:ea typeface="Meiryo UI" panose="020B0604030504040204" pitchFamily="50" charset="-128"/>
                        </a:rPr>
                        <a:t>ダウンロード</a:t>
                      </a:r>
                      <a:endParaRPr lang="ja-JP" sz="6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2336640960"/>
                  </a:ext>
                </a:extLst>
              </a:tr>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a:t>
                      </a:r>
                      <a:r>
                        <a:rPr lang="en-US" altLang="ja-JP" sz="600" b="0" i="0" u="none" strike="noStrike" dirty="0">
                          <a:solidFill>
                            <a:srgbClr val="000000"/>
                          </a:solidFill>
                          <a:effectLst/>
                          <a:latin typeface="Meiryo UI" panose="020B0604030504040204" pitchFamily="50" charset="-128"/>
                          <a:ea typeface="Meiryo UI" panose="020B0604030504040204" pitchFamily="50" charset="-128"/>
                        </a:rPr>
                        <a:t>2609</a:t>
                      </a:r>
                      <a:endParaRPr lang="ja-JP" sz="6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eiryo UI" panose="020B0604030504040204" pitchFamily="50" charset="-128"/>
                          <a:ea typeface="Meiryo UI" panose="020B0604030504040204" pitchFamily="50" charset="-128"/>
                        </a:rPr>
                        <a:t>20260915</a:t>
                      </a:r>
                      <a:endParaRPr lang="ja-JP" sz="6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600" b="0" i="0" u="sng" strike="noStrike">
                          <a:solidFill>
                            <a:srgbClr val="3516FF"/>
                          </a:solidFill>
                          <a:effectLst/>
                          <a:latin typeface="Meiryo UI" panose="020B0604030504040204" pitchFamily="50" charset="-128"/>
                          <a:ea typeface="Meiryo UI" panose="020B0604030504040204" pitchFamily="50" charset="-128"/>
                        </a:rPr>
                        <a:t>ダウンロード</a:t>
                      </a:r>
                      <a:endParaRPr lang="ja-JP" sz="600" b="0" i="0" u="sng" strike="noStrike">
                        <a:solidFill>
                          <a:srgbClr val="3516FF"/>
                        </a:solidFill>
                        <a:effectLst/>
                        <a:latin typeface="Meiryo UI" panose="020B0604030504040204" pitchFamily="50" charset="-128"/>
                        <a:ea typeface="Meiryo UI" panose="020B0604030504040204"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514982346"/>
                  </a:ext>
                </a:extLst>
              </a:tr>
            </a:tbl>
          </a:graphicData>
        </a:graphic>
      </p:graphicFrame>
      <p:pic>
        <p:nvPicPr>
          <p:cNvPr id="35" name="図 34">
            <a:extLst>
              <a:ext uri="{FF2B5EF4-FFF2-40B4-BE49-F238E27FC236}">
                <a16:creationId xmlns:a16="http://schemas.microsoft.com/office/drawing/2014/main" id="{0FC4DF82-54E8-5013-2924-5F4B6B86DB0F}"/>
              </a:ext>
            </a:extLst>
          </p:cNvPr>
          <p:cNvPicPr>
            <a:picLocks noChangeAspect="1"/>
          </p:cNvPicPr>
          <p:nvPr/>
        </p:nvPicPr>
        <p:blipFill>
          <a:blip r:embed="rId4"/>
          <a:srcRect t="92523" b="460"/>
          <a:stretch>
            <a:fillRect/>
          </a:stretch>
        </p:blipFill>
        <p:spPr>
          <a:xfrm>
            <a:off x="5294421" y="5618224"/>
            <a:ext cx="4300396" cy="209186"/>
          </a:xfrm>
          <a:prstGeom prst="rect">
            <a:avLst/>
          </a:prstGeom>
        </p:spPr>
      </p:pic>
      <p:sp>
        <p:nvSpPr>
          <p:cNvPr id="13" name="左中かっこ 12">
            <a:extLst>
              <a:ext uri="{FF2B5EF4-FFF2-40B4-BE49-F238E27FC236}">
                <a16:creationId xmlns:a16="http://schemas.microsoft.com/office/drawing/2014/main" id="{62FDCA0A-BFD9-BF47-7B8E-E8B20B6AB4A0}"/>
              </a:ext>
            </a:extLst>
          </p:cNvPr>
          <p:cNvSpPr/>
          <p:nvPr/>
        </p:nvSpPr>
        <p:spPr bwMode="auto">
          <a:xfrm>
            <a:off x="5096087" y="4913308"/>
            <a:ext cx="156001" cy="534539"/>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36" name="正方形/長方形 35">
            <a:extLst>
              <a:ext uri="{FF2B5EF4-FFF2-40B4-BE49-F238E27FC236}">
                <a16:creationId xmlns:a16="http://schemas.microsoft.com/office/drawing/2014/main" id="{EEDAE8EB-FDD7-5C5A-4111-659ADD8D86DE}"/>
              </a:ext>
            </a:extLst>
          </p:cNvPr>
          <p:cNvSpPr/>
          <p:nvPr/>
        </p:nvSpPr>
        <p:spPr>
          <a:xfrm>
            <a:off x="6562735" y="6102320"/>
            <a:ext cx="2990427" cy="1265575"/>
          </a:xfrm>
          <a:prstGeom prst="rect">
            <a:avLst/>
          </a:prstGeom>
          <a:solidFill>
            <a:srgbClr val="FCD5B5"/>
          </a:solidFill>
          <a:ln w="9525" cap="flat" cmpd="sng" algn="ctr">
            <a:solidFill>
              <a:schemeClr val="accent6"/>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eaLnBrk="0" hangingPunct="0">
              <a:lnSpc>
                <a:spcPct val="100000"/>
              </a:lnSpc>
            </a:pPr>
            <a:r>
              <a:rPr lang="ja-JP" altLang="en-US" sz="1200" i="1" u="sng" kern="0">
                <a:solidFill>
                  <a:prstClr val="black"/>
                </a:solidFill>
                <a:latin typeface="Meiryo UI"/>
                <a:ea typeface="Meiryo UI"/>
                <a:cs typeface="Meiryo UI" panose="020B0604030504040204" pitchFamily="50" charset="-128"/>
              </a:rPr>
              <a:t>基金担当者様</a:t>
            </a:r>
            <a:endParaRPr kumimoji="0" lang="en-US" altLang="ja-JP" sz="1200" i="1" u="sng" kern="0" dirty="0">
              <a:solidFill>
                <a:prstClr val="black"/>
              </a:solidFill>
              <a:latin typeface="Meiryo UI"/>
              <a:ea typeface="Meiryo UI"/>
              <a:cs typeface="Meiryo UI" panose="020B0604030504040204" pitchFamily="50" charset="-128"/>
            </a:endParaRPr>
          </a:p>
          <a:p>
            <a:pPr algn="l" eaLnBrk="0" hangingPunct="0">
              <a:lnSpc>
                <a:spcPct val="100000"/>
              </a:lnSpc>
            </a:pPr>
            <a:r>
              <a:rPr kumimoji="0" lang="en-US" altLang="ja-JP" sz="12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9</a:t>
            </a:r>
            <a:r>
              <a:rPr kumimoji="0" lang="ja-JP" altLang="en-US"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月のマスタ公開時には「過去の版はこちら」のアコーディオン内に掲載するマスタはございません。</a:t>
            </a:r>
            <a:endParaRPr kumimoji="0" lang="en-US" altLang="ja-JP" sz="12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lgn="l" eaLnBrk="0" hangingPunct="0">
              <a:lnSpc>
                <a:spcPct val="100000"/>
              </a:lnSpc>
            </a:pPr>
            <a:endParaRPr lang="en-US" altLang="ja-JP" sz="12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lgn="l" eaLnBrk="0" hangingPunct="0">
              <a:lnSpc>
                <a:spcPct val="100000"/>
              </a:lnSpc>
            </a:pPr>
            <a:r>
              <a:rPr kumimoji="0" lang="en-US" altLang="ja-JP" sz="12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10</a:t>
            </a:r>
            <a:r>
              <a:rPr kumimoji="0" lang="ja-JP" altLang="en-US"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月のマスタ公開時には、</a:t>
            </a:r>
            <a:r>
              <a:rPr kumimoji="0" lang="en-US" altLang="ja-JP" sz="12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202609</a:t>
            </a:r>
            <a:r>
              <a:rPr kumimoji="0" lang="ja-JP" altLang="en-US"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版をこちらに移動ください。</a:t>
            </a:r>
            <a:endParaRPr kumimoji="0" lang="en-US" altLang="ja-JP" sz="12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5" name="正方形/長方形 44">
            <a:extLst>
              <a:ext uri="{FF2B5EF4-FFF2-40B4-BE49-F238E27FC236}">
                <a16:creationId xmlns:a16="http://schemas.microsoft.com/office/drawing/2014/main" id="{BDAB7C23-AA55-D096-910D-53A18C35706A}"/>
              </a:ext>
            </a:extLst>
          </p:cNvPr>
          <p:cNvSpPr/>
          <p:nvPr/>
        </p:nvSpPr>
        <p:spPr>
          <a:xfrm>
            <a:off x="5431209" y="5216971"/>
            <a:ext cx="4048962" cy="230877"/>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700" dirty="0">
                <a:solidFill>
                  <a:prstClr val="black"/>
                </a:solidFill>
                <a:latin typeface="Meiryo UI"/>
              </a:rPr>
              <a:t>※</a:t>
            </a:r>
            <a:r>
              <a:rPr kumimoji="1" lang="ja-JP" altLang="en-US" sz="700">
                <a:solidFill>
                  <a:prstClr val="black"/>
                </a:solidFill>
                <a:latin typeface="Meiryo UI"/>
              </a:rPr>
              <a:t>本対応表につきましては、</a:t>
            </a:r>
            <a:r>
              <a:rPr kumimoji="1" lang="en-US" altLang="ja-JP" sz="700" dirty="0">
                <a:solidFill>
                  <a:prstClr val="black"/>
                </a:solidFill>
                <a:latin typeface="Meiryo UI"/>
              </a:rPr>
              <a:t>202608</a:t>
            </a:r>
            <a:r>
              <a:rPr kumimoji="1" lang="ja-JP" altLang="en-US" sz="700">
                <a:solidFill>
                  <a:prstClr val="black"/>
                </a:solidFill>
                <a:latin typeface="Meiryo UI"/>
              </a:rPr>
              <a:t>以前の版はございません。</a:t>
            </a:r>
            <a:endParaRPr kumimoji="1" lang="en-US" altLang="ja-JP" sz="700" dirty="0">
              <a:solidFill>
                <a:prstClr val="black"/>
              </a:solidFill>
              <a:latin typeface="Meiryo UI"/>
            </a:endParaRPr>
          </a:p>
        </p:txBody>
      </p:sp>
      <p:cxnSp>
        <p:nvCxnSpPr>
          <p:cNvPr id="37" name="直線コネクタ 36">
            <a:extLst>
              <a:ext uri="{FF2B5EF4-FFF2-40B4-BE49-F238E27FC236}">
                <a16:creationId xmlns:a16="http://schemas.microsoft.com/office/drawing/2014/main" id="{23543139-00FE-D9C9-5126-99CC21199A63}"/>
              </a:ext>
            </a:extLst>
          </p:cNvPr>
          <p:cNvCxnSpPr>
            <a:cxnSpLocks/>
          </p:cNvCxnSpPr>
          <p:nvPr/>
        </p:nvCxnSpPr>
        <p:spPr bwMode="auto">
          <a:xfrm flipH="1" flipV="1">
            <a:off x="7856351" y="5104662"/>
            <a:ext cx="1016718" cy="1038121"/>
          </a:xfrm>
          <a:prstGeom prst="line">
            <a:avLst/>
          </a:prstGeom>
          <a:solidFill>
            <a:schemeClr val="bg1"/>
          </a:solidFill>
          <a:ln w="9525" cap="flat" cmpd="sng" algn="ctr">
            <a:solidFill>
              <a:schemeClr val="accent6"/>
            </a:solidFill>
            <a:prstDash val="solid"/>
            <a:round/>
            <a:headEnd type="none" w="med" len="med"/>
            <a:tailEnd type="none" w="med" len="med"/>
          </a:ln>
          <a:effectLst/>
        </p:spPr>
      </p:cxnSp>
    </p:spTree>
    <p:extLst>
      <p:ext uri="{BB962C8B-B14F-4D97-AF65-F5344CB8AC3E}">
        <p14:creationId xmlns:p14="http://schemas.microsoft.com/office/powerpoint/2010/main" val="1319034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B8B56-8BC1-AAA0-C142-A6504FFAACDA}"/>
            </a:ext>
          </a:extLst>
        </p:cNvPr>
        <p:cNvGrpSpPr/>
        <p:nvPr/>
      </p:nvGrpSpPr>
      <p:grpSpPr>
        <a:xfrm>
          <a:off x="0" y="0"/>
          <a:ext cx="0" cy="0"/>
          <a:chOff x="0" y="0"/>
          <a:chExt cx="0" cy="0"/>
        </a:xfrm>
      </p:grpSpPr>
      <p:sp>
        <p:nvSpPr>
          <p:cNvPr id="79" name="正方形/長方形 78">
            <a:extLst>
              <a:ext uri="{FF2B5EF4-FFF2-40B4-BE49-F238E27FC236}">
                <a16:creationId xmlns:a16="http://schemas.microsoft.com/office/drawing/2014/main" id="{D5D55A38-B374-3699-0DC1-810E3B7CFFEB}"/>
              </a:ext>
            </a:extLst>
          </p:cNvPr>
          <p:cNvSpPr/>
          <p:nvPr/>
        </p:nvSpPr>
        <p:spPr>
          <a:xfrm>
            <a:off x="0" y="6776107"/>
            <a:ext cx="9906000" cy="9482844"/>
          </a:xfrm>
          <a:prstGeom prst="rect">
            <a:avLst/>
          </a:prstGeom>
          <a:solidFill>
            <a:schemeClr val="bg1"/>
          </a:solidFill>
          <a:ln>
            <a:noFill/>
          </a:ln>
        </p:spPr>
        <p:txBody>
          <a:bodyPr rtlCol="0" anchor="ctr"/>
          <a:lstStyle/>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a:ln>
                <a:noFill/>
              </a:ln>
              <a:solidFill>
                <a:prstClr val="black"/>
              </a:solidFill>
              <a:effectLst/>
              <a:uLnTx/>
              <a:uFillTx/>
              <a:latin typeface="Meiryo UI"/>
              <a:ea typeface="Meiryo UI"/>
              <a:cs typeface="+mn-cs"/>
            </a:endParaRPr>
          </a:p>
        </p:txBody>
      </p:sp>
      <p:sp>
        <p:nvSpPr>
          <p:cNvPr id="2" name="タイトル 1">
            <a:extLst>
              <a:ext uri="{FF2B5EF4-FFF2-40B4-BE49-F238E27FC236}">
                <a16:creationId xmlns:a16="http://schemas.microsoft.com/office/drawing/2014/main" id="{325D8D30-FEBF-E281-BBE8-536E0AB05336}"/>
              </a:ext>
            </a:extLst>
          </p:cNvPr>
          <p:cNvSpPr>
            <a:spLocks noGrp="1"/>
          </p:cNvSpPr>
          <p:nvPr>
            <p:ph type="title"/>
          </p:nvPr>
        </p:nvSpPr>
        <p:spPr>
          <a:xfrm>
            <a:off x="506999" y="116696"/>
            <a:ext cx="9086317" cy="576000"/>
          </a:xfrm>
        </p:spPr>
        <p:txBody>
          <a:bodyPr/>
          <a:lstStyle/>
          <a:p>
            <a:r>
              <a:rPr kumimoji="1" lang="ja-JP" altLang="en-US"/>
              <a:t>ポータルサイト更新依頼</a:t>
            </a:r>
            <a:br>
              <a:rPr kumimoji="1" lang="en-US" altLang="ja-JP" dirty="0"/>
            </a:br>
            <a:r>
              <a:rPr kumimoji="1" lang="ja-JP" altLang="en-US"/>
              <a:t>　各マスタページの具体的な公開イメージ</a:t>
            </a:r>
            <a:r>
              <a:rPr kumimoji="1" lang="en-US" altLang="ja-JP" dirty="0"/>
              <a:t> – </a:t>
            </a:r>
            <a:r>
              <a:rPr kumimoji="1" lang="ja-JP" altLang="en-US"/>
              <a:t>電子カルテ情報共有サービス対応 </a:t>
            </a:r>
            <a:r>
              <a:rPr kumimoji="1" lang="en-US" altLang="ja-JP" dirty="0"/>
              <a:t>JLAC</a:t>
            </a:r>
            <a:r>
              <a:rPr kumimoji="1" lang="ja-JP" altLang="en-US"/>
              <a:t>コード表</a:t>
            </a:r>
          </a:p>
        </p:txBody>
      </p:sp>
      <p:sp>
        <p:nvSpPr>
          <p:cNvPr id="4" name="四角形: 角を丸くする 3">
            <a:extLst>
              <a:ext uri="{FF2B5EF4-FFF2-40B4-BE49-F238E27FC236}">
                <a16:creationId xmlns:a16="http://schemas.microsoft.com/office/drawing/2014/main" id="{741D67C9-BBAC-6D82-BC4E-DB509305692E}"/>
              </a:ext>
            </a:extLst>
          </p:cNvPr>
          <p:cNvSpPr/>
          <p:nvPr/>
        </p:nvSpPr>
        <p:spPr>
          <a:xfrm>
            <a:off x="506999" y="751537"/>
            <a:ext cx="2803761" cy="392939"/>
          </a:xfrm>
          <a:prstGeom prst="roundRect">
            <a:avLst/>
          </a:prstGeom>
          <a:solidFill>
            <a:srgbClr val="1F497D"/>
          </a:solidFill>
          <a:ln w="9525" cap="flat" cmpd="sng" algn="ctr">
            <a:no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公開イメージ</a:t>
            </a:r>
            <a:b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記事番号</a:t>
            </a: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KB0012086</a:t>
            </a:r>
            <a:endPar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 name="正方形/長方形 5">
            <a:extLst>
              <a:ext uri="{FF2B5EF4-FFF2-40B4-BE49-F238E27FC236}">
                <a16:creationId xmlns:a16="http://schemas.microsoft.com/office/drawing/2014/main" id="{82FAB238-3799-B9BA-64FA-041EE1DA31A9}"/>
              </a:ext>
            </a:extLst>
          </p:cNvPr>
          <p:cNvSpPr/>
          <p:nvPr/>
        </p:nvSpPr>
        <p:spPr>
          <a:xfrm>
            <a:off x="654475" y="1207779"/>
            <a:ext cx="8523081" cy="519524"/>
          </a:xfrm>
          <a:prstGeom prst="rect">
            <a:avLst/>
          </a:prstGeom>
          <a:solidFill>
            <a:schemeClr val="bg1"/>
          </a:solidFill>
          <a:ln>
            <a:noFill/>
          </a:ln>
        </p:spPr>
        <p:txBody>
          <a:bodyPr lIns="0" rIns="0" rtlCol="0" anchor="t" anchorCtr="0"/>
          <a:lstStyle/>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●電子カルテ情報共有サービス対応 </a:t>
            </a:r>
            <a:r>
              <a:rPr kumimoji="1" lang="en-US" altLang="ja-JP" sz="1100" b="0" i="0" u="none" strike="noStrike" kern="1200" cap="none" spc="0" normalizeH="0" baseline="0" noProof="0" dirty="0">
                <a:ln>
                  <a:noFill/>
                </a:ln>
                <a:solidFill>
                  <a:prstClr val="black"/>
                </a:solidFill>
                <a:effectLst/>
                <a:uLnTx/>
                <a:uFillTx/>
                <a:latin typeface="Meiryo UI"/>
                <a:ea typeface="Meiryo UI"/>
                <a:cs typeface="+mn-cs"/>
              </a:rPr>
              <a:t>JLAC</a:t>
            </a: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コード表は、以下の更新イメージのように、</a:t>
            </a:r>
            <a:r>
              <a:rPr kumimoji="1" lang="ja-JP" altLang="en-US" sz="1100" b="0" i="0" u="sng" strike="noStrike" kern="1200" cap="none" spc="0" normalizeH="0" baseline="0" noProof="0">
                <a:ln>
                  <a:noFill/>
                </a:ln>
                <a:solidFill>
                  <a:prstClr val="black"/>
                </a:solidFill>
                <a:effectLst/>
                <a:uLnTx/>
                <a:uFillTx/>
                <a:latin typeface="Meiryo UI"/>
                <a:ea typeface="Meiryo UI"/>
                <a:cs typeface="+mn-cs"/>
              </a:rPr>
              <a:t>新レイアウトの変更点の追記</a:t>
            </a:r>
            <a:r>
              <a:rPr kumimoji="1" lang="ja-JP" altLang="en-US" sz="1100">
                <a:solidFill>
                  <a:prstClr val="black"/>
                </a:solidFill>
                <a:latin typeface="Meiryo UI"/>
                <a:ea typeface="Meiryo UI"/>
              </a:rPr>
              <a:t>を</a:t>
            </a: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更新ください。</a:t>
            </a:r>
            <a:endParaRPr kumimoji="1" lang="en-US" altLang="ja-JP" sz="110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86" name="正方形/長方形 85">
            <a:extLst>
              <a:ext uri="{FF2B5EF4-FFF2-40B4-BE49-F238E27FC236}">
                <a16:creationId xmlns:a16="http://schemas.microsoft.com/office/drawing/2014/main" id="{17BF0522-FCEC-02D1-515C-5238044A7E80}"/>
              </a:ext>
            </a:extLst>
          </p:cNvPr>
          <p:cNvSpPr/>
          <p:nvPr/>
        </p:nvSpPr>
        <p:spPr>
          <a:xfrm>
            <a:off x="5858994" y="1692037"/>
            <a:ext cx="2013920" cy="348061"/>
          </a:xfrm>
          <a:prstGeom prst="rect">
            <a:avLst/>
          </a:prstGeom>
          <a:solidFill>
            <a:schemeClr val="bg1"/>
          </a:solidFill>
          <a:ln>
            <a:noFill/>
          </a:ln>
        </p:spPr>
        <p:txBody>
          <a:bodyPr lIns="0" rIns="0" rtlCol="0" anchor="t" anchorCtr="0"/>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800" b="0" i="0" u="sng" strike="noStrike" kern="1200" cap="none" spc="0" normalizeH="0" baseline="0" noProof="0">
                <a:ln>
                  <a:noFill/>
                </a:ln>
                <a:solidFill>
                  <a:prstClr val="black"/>
                </a:solidFill>
                <a:effectLst/>
                <a:uLnTx/>
                <a:uFillTx/>
                <a:latin typeface="Meiryo UI"/>
                <a:ea typeface="Meiryo UI"/>
                <a:cs typeface="+mn-cs"/>
              </a:rPr>
              <a:t>＜更新案</a:t>
            </a:r>
            <a:r>
              <a:rPr kumimoji="1" lang="en-US" altLang="ja-JP" sz="800" b="1" i="0" u="sng" strike="noStrike" kern="1200" cap="none" spc="0" normalizeH="0" baseline="0" noProof="0" dirty="0">
                <a:ln>
                  <a:noFill/>
                </a:ln>
                <a:solidFill>
                  <a:prstClr val="black"/>
                </a:solidFill>
                <a:effectLst/>
                <a:uLnTx/>
                <a:uFillTx/>
                <a:latin typeface="Meiryo UI"/>
                <a:ea typeface="Meiryo UI"/>
                <a:cs typeface="+mn-cs"/>
              </a:rPr>
              <a:t>(202609</a:t>
            </a:r>
            <a:r>
              <a:rPr kumimoji="1" lang="ja-JP" altLang="en-US" sz="800" b="1" u="sng">
                <a:solidFill>
                  <a:prstClr val="black"/>
                </a:solidFill>
                <a:latin typeface="Meiryo UI"/>
                <a:ea typeface="Meiryo UI"/>
              </a:rPr>
              <a:t>の</a:t>
            </a:r>
            <a:r>
              <a:rPr kumimoji="1" lang="ja-JP" altLang="en-US" sz="800" b="1" i="0" u="sng" strike="noStrike" kern="1200" cap="none" spc="0" normalizeH="0" baseline="0" noProof="0">
                <a:ln>
                  <a:noFill/>
                </a:ln>
                <a:solidFill>
                  <a:prstClr val="black"/>
                </a:solidFill>
                <a:effectLst/>
                <a:uLnTx/>
                <a:uFillTx/>
                <a:latin typeface="Meiryo UI"/>
                <a:ea typeface="Meiryo UI"/>
                <a:cs typeface="+mn-cs"/>
              </a:rPr>
              <a:t>マスタ公開以降</a:t>
            </a:r>
            <a:r>
              <a:rPr kumimoji="1" lang="en-US" altLang="ja-JP" sz="800" b="1"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800" b="0" i="0" u="sng" strike="noStrike" kern="1200" cap="none" spc="0" normalizeH="0" baseline="0" noProof="0">
                <a:ln>
                  <a:noFill/>
                </a:ln>
                <a:solidFill>
                  <a:prstClr val="black"/>
                </a:solidFill>
                <a:effectLst/>
                <a:uLnTx/>
                <a:uFillTx/>
                <a:latin typeface="Meiryo UI"/>
                <a:ea typeface="Meiryo UI"/>
                <a:cs typeface="+mn-cs"/>
              </a:rPr>
              <a:t>＞</a:t>
            </a:r>
            <a:endParaRPr kumimoji="1" lang="en-US" altLang="ja-JP" sz="8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80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アコーディオン開</a:t>
            </a:r>
            <a:r>
              <a:rPr kumimoji="1" lang="en-US" altLang="ja-JP" sz="8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800" b="0" i="0" u="none" strike="noStrike" kern="1200" cap="none" spc="0" normalizeH="0" baseline="0" noProof="0">
              <a:ln>
                <a:noFill/>
              </a:ln>
              <a:solidFill>
                <a:prstClr val="black"/>
              </a:solidFill>
              <a:effectLst/>
              <a:uLnTx/>
              <a:uFillTx/>
              <a:latin typeface="Meiryo UI"/>
              <a:ea typeface="Meiryo UI"/>
              <a:cs typeface="+mn-cs"/>
            </a:endParaRPr>
          </a:p>
        </p:txBody>
      </p:sp>
      <p:pic>
        <p:nvPicPr>
          <p:cNvPr id="87" name="図 19">
            <a:extLst>
              <a:ext uri="{FF2B5EF4-FFF2-40B4-BE49-F238E27FC236}">
                <a16:creationId xmlns:a16="http://schemas.microsoft.com/office/drawing/2014/main" id="{4414DC4B-99B2-392E-8224-60A60FF94957}"/>
              </a:ext>
            </a:extLst>
          </p:cNvPr>
          <p:cNvPicPr preferRelativeResize="0">
            <a:picLocks/>
          </p:cNvPicPr>
          <p:nvPr/>
        </p:nvPicPr>
        <p:blipFill>
          <a:blip r:embed="rId3"/>
          <a:srcRect l="2946" t="103836" r="-2946" b="-15325"/>
          <a:stretch>
            <a:fillRect/>
          </a:stretch>
        </p:blipFill>
        <p:spPr>
          <a:xfrm>
            <a:off x="5308234" y="2097358"/>
            <a:ext cx="3099971" cy="13325964"/>
          </a:xfrm>
          <a:prstGeom prst="rect">
            <a:avLst/>
          </a:prstGeom>
          <a:ln w="19050">
            <a:solidFill>
              <a:schemeClr val="bg1">
                <a:lumMod val="85000"/>
              </a:schemeClr>
            </a:solidFill>
          </a:ln>
        </p:spPr>
      </p:pic>
      <p:pic>
        <p:nvPicPr>
          <p:cNvPr id="89" name="図 88">
            <a:extLst>
              <a:ext uri="{FF2B5EF4-FFF2-40B4-BE49-F238E27FC236}">
                <a16:creationId xmlns:a16="http://schemas.microsoft.com/office/drawing/2014/main" id="{5CD53E65-D535-4C13-17A9-6E2454C53BF1}"/>
              </a:ext>
            </a:extLst>
          </p:cNvPr>
          <p:cNvPicPr>
            <a:picLocks noChangeAspect="1"/>
          </p:cNvPicPr>
          <p:nvPr/>
        </p:nvPicPr>
        <p:blipFill>
          <a:blip r:embed="rId4"/>
          <a:srcRect b="6584"/>
          <a:stretch>
            <a:fillRect/>
          </a:stretch>
        </p:blipFill>
        <p:spPr>
          <a:xfrm>
            <a:off x="5331862" y="2136240"/>
            <a:ext cx="3014216" cy="1295448"/>
          </a:xfrm>
          <a:prstGeom prst="rect">
            <a:avLst/>
          </a:prstGeom>
        </p:spPr>
      </p:pic>
      <p:sp>
        <p:nvSpPr>
          <p:cNvPr id="90" name="正方形/長方形 89">
            <a:extLst>
              <a:ext uri="{FF2B5EF4-FFF2-40B4-BE49-F238E27FC236}">
                <a16:creationId xmlns:a16="http://schemas.microsoft.com/office/drawing/2014/main" id="{5C8D6C4A-4E18-0DCC-BC4B-44CB30A3658B}"/>
              </a:ext>
            </a:extLst>
          </p:cNvPr>
          <p:cNvSpPr/>
          <p:nvPr/>
        </p:nvSpPr>
        <p:spPr>
          <a:xfrm>
            <a:off x="5200959" y="1607456"/>
            <a:ext cx="3231440" cy="13815865"/>
          </a:xfrm>
          <a:prstGeom prst="rect">
            <a:avLst/>
          </a:prstGeom>
          <a:noFill/>
          <a:ln w="19050">
            <a:solidFill>
              <a:srgbClr val="FF0000"/>
            </a:solidFill>
            <a:prstDash val="solid"/>
          </a:ln>
        </p:spPr>
        <p:txBody>
          <a:bodyPr wrap="none" lIns="36000" tIns="108000" rIns="36000" bIns="3600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050" b="0" i="0" u="none" strike="noStrike" kern="0" cap="none" spc="0" normalizeH="0" baseline="0" noProof="0">
              <a:ln>
                <a:noFill/>
              </a:ln>
              <a:solidFill>
                <a:prstClr val="black"/>
              </a:solidFill>
              <a:effectLst/>
              <a:uLnTx/>
              <a:uFillTx/>
              <a:latin typeface="Meiryo UI"/>
              <a:ea typeface="Meiryo UI"/>
              <a:cs typeface="Arial" charset="0"/>
            </a:endParaRPr>
          </a:p>
        </p:txBody>
      </p:sp>
      <p:pic>
        <p:nvPicPr>
          <p:cNvPr id="101" name="図 100">
            <a:extLst>
              <a:ext uri="{FF2B5EF4-FFF2-40B4-BE49-F238E27FC236}">
                <a16:creationId xmlns:a16="http://schemas.microsoft.com/office/drawing/2014/main" id="{63F65498-076A-E6F7-D110-219D125A944B}"/>
              </a:ext>
            </a:extLst>
          </p:cNvPr>
          <p:cNvPicPr>
            <a:picLocks noChangeAspect="1"/>
          </p:cNvPicPr>
          <p:nvPr/>
        </p:nvPicPr>
        <p:blipFill>
          <a:blip r:embed="rId5"/>
          <a:stretch>
            <a:fillRect/>
          </a:stretch>
        </p:blipFill>
        <p:spPr>
          <a:xfrm>
            <a:off x="5454303" y="14394920"/>
            <a:ext cx="2247420" cy="680085"/>
          </a:xfrm>
          <a:prstGeom prst="rect">
            <a:avLst/>
          </a:prstGeom>
        </p:spPr>
      </p:pic>
      <p:sp>
        <p:nvSpPr>
          <p:cNvPr id="108" name="正方形/長方形 107">
            <a:extLst>
              <a:ext uri="{FF2B5EF4-FFF2-40B4-BE49-F238E27FC236}">
                <a16:creationId xmlns:a16="http://schemas.microsoft.com/office/drawing/2014/main" id="{217C8C9F-F113-D54D-2B90-B3AB72DBC6AB}"/>
              </a:ext>
            </a:extLst>
          </p:cNvPr>
          <p:cNvSpPr/>
          <p:nvPr/>
        </p:nvSpPr>
        <p:spPr>
          <a:xfrm>
            <a:off x="5499836" y="7241667"/>
            <a:ext cx="2828940" cy="715916"/>
          </a:xfrm>
          <a:prstGeom prst="rect">
            <a:avLst/>
          </a:prstGeom>
          <a:solidFill>
            <a:schemeClr val="bg1"/>
          </a:solidFill>
          <a:ln>
            <a:noFill/>
          </a:ln>
        </p:spPr>
        <p:txBody>
          <a:bodyPr lIns="0" tIns="0" rIns="0" bIns="0" rtlCol="0" anchor="t" anchorCtr="0"/>
          <a:lstStyle/>
          <a:p>
            <a:pPr lvl="0" defTabSz="742950"/>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・一定の移行期間においては、本マスタが適用され</a:t>
            </a:r>
            <a:r>
              <a:rPr kumimoji="1" lang="ja-JP" altLang="en-US" sz="500">
                <a:solidFill>
                  <a:prstClr val="black"/>
                </a:solidFill>
                <a:latin typeface="Meiryo UI"/>
              </a:rPr>
              <a:t>、原則的には新旧コードの双方を受け付けます</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。例外として、</a:t>
            </a:r>
            <a:r>
              <a:rPr kumimoji="1" lang="en-US" altLang="ja-JP" sz="500" b="0" i="0" u="none" strike="noStrike" kern="1200" cap="none" spc="0" normalizeH="0" baseline="0" noProof="0" dirty="0">
                <a:ln>
                  <a:noFill/>
                </a:ln>
                <a:solidFill>
                  <a:prstClr val="black"/>
                </a:solidFill>
                <a:effectLst/>
                <a:highlight>
                  <a:srgbClr val="FFFF00"/>
                </a:highlight>
                <a:uLnTx/>
                <a:uFillTx/>
                <a:latin typeface="Meiryo UI"/>
                <a:ea typeface="Meiryo UI"/>
                <a:cs typeface="+mn-cs"/>
              </a:rPr>
              <a:t>2026</a:t>
            </a:r>
            <a:r>
              <a:rPr kumimoji="1" lang="ja-JP" altLang="en-US" sz="500" b="0" i="0" u="none" strike="noStrike" kern="1200" cap="none" spc="0" normalizeH="0" baseline="0" noProof="0">
                <a:ln>
                  <a:noFill/>
                </a:ln>
                <a:solidFill>
                  <a:prstClr val="black"/>
                </a:solidFill>
                <a:effectLst/>
                <a:highlight>
                  <a:srgbClr val="FFFF00"/>
                </a:highlight>
                <a:uLnTx/>
                <a:uFillTx/>
                <a:latin typeface="Meiryo UI"/>
                <a:ea typeface="Meiryo UI"/>
                <a:cs typeface="+mn-cs"/>
              </a:rPr>
              <a:t>年</a:t>
            </a:r>
            <a:r>
              <a:rPr kumimoji="1" lang="en-US" altLang="ja-JP" sz="500" b="0" i="0" u="none" strike="noStrike" kern="1200" cap="none" spc="0" normalizeH="0" baseline="0" noProof="0" dirty="0">
                <a:ln>
                  <a:noFill/>
                </a:ln>
                <a:solidFill>
                  <a:prstClr val="black"/>
                </a:solidFill>
                <a:effectLst/>
                <a:highlight>
                  <a:srgbClr val="FFFF00"/>
                </a:highlight>
                <a:uLnTx/>
                <a:uFillTx/>
                <a:latin typeface="Meiryo UI"/>
                <a:ea typeface="Meiryo UI"/>
                <a:cs typeface="+mn-cs"/>
              </a:rPr>
              <a:t>9</a:t>
            </a:r>
            <a:r>
              <a:rPr kumimoji="1" lang="ja-JP" altLang="en-US" sz="500" b="0" i="0" u="none" strike="noStrike" kern="1200" cap="none" spc="0" normalizeH="0" baseline="0" noProof="0">
                <a:ln>
                  <a:noFill/>
                </a:ln>
                <a:solidFill>
                  <a:prstClr val="black"/>
                </a:solidFill>
                <a:effectLst/>
                <a:highlight>
                  <a:srgbClr val="FFFF00"/>
                </a:highlight>
                <a:uLnTx/>
                <a:uFillTx/>
                <a:latin typeface="Meiryo UI"/>
                <a:ea typeface="Meiryo UI"/>
                <a:cs typeface="+mn-cs"/>
              </a:rPr>
              <a:t>月</a:t>
            </a:r>
            <a:r>
              <a:rPr kumimoji="1" lang="en-US" altLang="ja-JP" sz="500" b="0" i="0" u="none" strike="noStrike" kern="1200" cap="none" spc="0" normalizeH="0" baseline="0" noProof="0" dirty="0">
                <a:ln>
                  <a:noFill/>
                </a:ln>
                <a:solidFill>
                  <a:prstClr val="black"/>
                </a:solidFill>
                <a:effectLst/>
                <a:highlight>
                  <a:srgbClr val="FFFF00"/>
                </a:highlight>
                <a:uLnTx/>
                <a:uFillTx/>
                <a:latin typeface="Meiryo UI"/>
                <a:ea typeface="Meiryo UI"/>
                <a:cs typeface="+mn-cs"/>
              </a:rPr>
              <a:t>28</a:t>
            </a:r>
            <a:r>
              <a:rPr kumimoji="1" lang="ja-JP" altLang="en-US" sz="500" b="0" i="0" u="none" strike="noStrike" kern="1200" cap="none" spc="0" normalizeH="0" baseline="0" noProof="0">
                <a:ln>
                  <a:noFill/>
                </a:ln>
                <a:solidFill>
                  <a:prstClr val="black"/>
                </a:solidFill>
                <a:effectLst/>
                <a:highlight>
                  <a:srgbClr val="FFFF00"/>
                </a:highlight>
                <a:uLnTx/>
                <a:uFillTx/>
                <a:latin typeface="Meiryo UI"/>
                <a:ea typeface="Meiryo UI"/>
                <a:cs typeface="+mn-cs"/>
              </a:rPr>
              <a:t>日以降は</a:t>
            </a:r>
            <a:r>
              <a:rPr kumimoji="1" lang="en-US" altLang="ja-JP" sz="500" b="1" dirty="0">
                <a:solidFill>
                  <a:prstClr val="black"/>
                </a:solidFill>
                <a:latin typeface="Meiryo UI"/>
              </a:rPr>
              <a:t>【</a:t>
            </a:r>
            <a:r>
              <a:rPr kumimoji="1" lang="ja-JP" altLang="en-US" sz="500" b="1">
                <a:solidFill>
                  <a:prstClr val="black"/>
                </a:solidFill>
                <a:latin typeface="Meiryo UI"/>
              </a:rPr>
              <a:t>留意事項</a:t>
            </a:r>
            <a:r>
              <a:rPr kumimoji="1" lang="en-US" altLang="ja-JP" sz="500" b="1" dirty="0">
                <a:solidFill>
                  <a:prstClr val="black"/>
                </a:solidFill>
                <a:latin typeface="Meiryo UI"/>
              </a:rPr>
              <a:t>】</a:t>
            </a:r>
            <a:r>
              <a:rPr kumimoji="1" lang="ja-JP" altLang="en-US" sz="500">
                <a:solidFill>
                  <a:prstClr val="black"/>
                </a:solidFill>
                <a:latin typeface="Meiryo UI"/>
              </a:rPr>
              <a:t>に記載したコードで登録するとエラーとなる点にご注意ください。</a:t>
            </a:r>
            <a:br>
              <a:rPr kumimoji="1" lang="en-US" altLang="ja-JP" sz="500" dirty="0">
                <a:solidFill>
                  <a:prstClr val="black"/>
                </a:solidFill>
                <a:latin typeface="Meiryo UI"/>
              </a:rPr>
            </a:br>
            <a:r>
              <a:rPr kumimoji="1" lang="ja-JP" altLang="en-US" sz="500">
                <a:solidFill>
                  <a:prstClr val="black"/>
                </a:solidFill>
                <a:latin typeface="Meiryo UI"/>
              </a:rPr>
              <a:t>・</a:t>
            </a:r>
            <a:r>
              <a:rPr kumimoji="1" lang="ja-JP" altLang="ja-JP" sz="500">
                <a:solidFill>
                  <a:prstClr val="black"/>
                </a:solidFill>
                <a:highlight>
                  <a:srgbClr val="FFFF00"/>
                </a:highlight>
                <a:latin typeface="Meiryo UI"/>
              </a:rPr>
              <a:t>電子カルテ情報共有サービス対応 JLACコード表(共有項目JLACコードマスタ)は、202606版への更新に際し、コードの見直しを実施</a:t>
            </a:r>
            <a:r>
              <a:rPr kumimoji="1" lang="ja-JP" altLang="en-US" sz="500">
                <a:solidFill>
                  <a:prstClr val="black"/>
                </a:solidFill>
                <a:highlight>
                  <a:srgbClr val="FFFF00"/>
                </a:highlight>
                <a:latin typeface="Meiryo UI"/>
              </a:rPr>
              <a:t>しました</a:t>
            </a:r>
            <a:r>
              <a:rPr kumimoji="1" lang="ja-JP" altLang="ja-JP" sz="500">
                <a:solidFill>
                  <a:prstClr val="black"/>
                </a:solidFill>
                <a:highlight>
                  <a:srgbClr val="FFFF00"/>
                </a:highlight>
                <a:latin typeface="Meiryo UI"/>
              </a:rPr>
              <a:t>。</a:t>
            </a:r>
            <a:r>
              <a:rPr kumimoji="1" lang="ja-JP" altLang="en-US" sz="500">
                <a:solidFill>
                  <a:prstClr val="black"/>
                </a:solidFill>
                <a:highlight>
                  <a:srgbClr val="FFFF00"/>
                </a:highlight>
                <a:latin typeface="Meiryo UI"/>
              </a:rPr>
              <a:t>適用終了日が「</a:t>
            </a:r>
            <a:r>
              <a:rPr kumimoji="1" lang="en-US" altLang="ja-JP" sz="500" dirty="0">
                <a:solidFill>
                  <a:prstClr val="black"/>
                </a:solidFill>
                <a:highlight>
                  <a:srgbClr val="FFFF00"/>
                </a:highlight>
                <a:latin typeface="Meiryo UI"/>
              </a:rPr>
              <a:t>20250715</a:t>
            </a:r>
            <a:r>
              <a:rPr kumimoji="1" lang="ja-JP" altLang="en-US" sz="500">
                <a:solidFill>
                  <a:prstClr val="black"/>
                </a:solidFill>
                <a:highlight>
                  <a:srgbClr val="FFFF00"/>
                </a:highlight>
                <a:latin typeface="Meiryo UI"/>
              </a:rPr>
              <a:t>」あるいは「</a:t>
            </a:r>
            <a:r>
              <a:rPr kumimoji="1" lang="en-US" altLang="ja-JP" sz="500" dirty="0">
                <a:solidFill>
                  <a:prstClr val="black"/>
                </a:solidFill>
                <a:highlight>
                  <a:srgbClr val="FFFF00"/>
                </a:highlight>
                <a:latin typeface="Meiryo UI"/>
              </a:rPr>
              <a:t>20260812</a:t>
            </a:r>
            <a:r>
              <a:rPr kumimoji="1" lang="ja-JP" altLang="en-US" sz="500">
                <a:solidFill>
                  <a:prstClr val="black"/>
                </a:solidFill>
                <a:highlight>
                  <a:srgbClr val="FFFF00"/>
                </a:highlight>
                <a:latin typeface="Meiryo UI"/>
              </a:rPr>
              <a:t>」であるコードは、見直しに伴い廃止されるコードです。該当のコードは、移行期間の後は利用できなくなるため、ご注意ください。なお、移行期間は本サービスの全国的な運用開始までを予定しています。</a:t>
            </a:r>
          </a:p>
          <a:p>
            <a:pPr lvl="0" fontAlgn="base">
              <a:spcBef>
                <a:spcPct val="20000"/>
              </a:spcBef>
              <a:spcAft>
                <a:spcPct val="0"/>
              </a:spcAft>
              <a:defRPr/>
            </a:pP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「新・旧コードが混合されたマスタ」の公開期間：</a:t>
            </a:r>
            <a:r>
              <a:rPr kumimoji="1" lang="en-US" altLang="ja-JP" sz="500" dirty="0">
                <a:solidFill>
                  <a:prstClr val="black"/>
                </a:solidFill>
                <a:latin typeface="Meiryo UI"/>
              </a:rPr>
              <a:t> </a:t>
            </a:r>
            <a:r>
              <a:rPr kumimoji="1" lang="en-US" altLang="ja-JP" sz="500" dirty="0">
                <a:solidFill>
                  <a:prstClr val="black"/>
                </a:solidFill>
                <a:highlight>
                  <a:srgbClr val="FFFF00"/>
                </a:highlight>
                <a:latin typeface="Meiryo UI"/>
              </a:rPr>
              <a:t>2026</a:t>
            </a:r>
            <a:r>
              <a:rPr kumimoji="1" lang="ja-JP" altLang="en-US" sz="500">
                <a:solidFill>
                  <a:prstClr val="black"/>
                </a:solidFill>
                <a:highlight>
                  <a:srgbClr val="FFFF00"/>
                </a:highlight>
                <a:latin typeface="Meiryo UI"/>
              </a:rPr>
              <a:t>年冬頃</a:t>
            </a:r>
            <a:r>
              <a:rPr kumimoji="1" lang="ja-JP" altLang="en-US" sz="500">
                <a:solidFill>
                  <a:prstClr val="black"/>
                </a:solidFill>
                <a:latin typeface="Meiryo UI"/>
              </a:rPr>
              <a:t>まで</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113" name="正方形/長方形 112">
            <a:extLst>
              <a:ext uri="{FF2B5EF4-FFF2-40B4-BE49-F238E27FC236}">
                <a16:creationId xmlns:a16="http://schemas.microsoft.com/office/drawing/2014/main" id="{8251E54C-874E-F746-7105-12160DFB99EA}"/>
              </a:ext>
            </a:extLst>
          </p:cNvPr>
          <p:cNvSpPr/>
          <p:nvPr/>
        </p:nvSpPr>
        <p:spPr>
          <a:xfrm>
            <a:off x="5520102" y="6098340"/>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a:t>
            </a:r>
          </a:p>
        </p:txBody>
      </p:sp>
      <p:graphicFrame>
        <p:nvGraphicFramePr>
          <p:cNvPr id="114" name="表 113">
            <a:extLst>
              <a:ext uri="{FF2B5EF4-FFF2-40B4-BE49-F238E27FC236}">
                <a16:creationId xmlns:a16="http://schemas.microsoft.com/office/drawing/2014/main" id="{D3DE7ED0-4B89-2171-862E-5D234DEB64BF}"/>
              </a:ext>
            </a:extLst>
          </p:cNvPr>
          <p:cNvGraphicFramePr>
            <a:graphicFrameLocks noGrp="1"/>
          </p:cNvGraphicFramePr>
          <p:nvPr/>
        </p:nvGraphicFramePr>
        <p:xfrm>
          <a:off x="5473495" y="6201273"/>
          <a:ext cx="2387855" cy="300959"/>
        </p:xfrm>
        <a:graphic>
          <a:graphicData uri="http://schemas.openxmlformats.org/drawingml/2006/table">
            <a:tbl>
              <a:tblPr/>
              <a:tblGrid>
                <a:gridCol w="267911">
                  <a:extLst>
                    <a:ext uri="{9D8B030D-6E8A-4147-A177-3AD203B41FA5}">
                      <a16:colId xmlns:a16="http://schemas.microsoft.com/office/drawing/2014/main" val="4058772077"/>
                    </a:ext>
                  </a:extLst>
                </a:gridCol>
                <a:gridCol w="432000">
                  <a:extLst>
                    <a:ext uri="{9D8B030D-6E8A-4147-A177-3AD203B41FA5}">
                      <a16:colId xmlns:a16="http://schemas.microsoft.com/office/drawing/2014/main" val="154882630"/>
                    </a:ext>
                  </a:extLst>
                </a:gridCol>
                <a:gridCol w="391944">
                  <a:extLst>
                    <a:ext uri="{9D8B030D-6E8A-4147-A177-3AD203B41FA5}">
                      <a16:colId xmlns:a16="http://schemas.microsoft.com/office/drawing/2014/main" val="2721471254"/>
                    </a:ext>
                  </a:extLst>
                </a:gridCol>
                <a:gridCol w="432000">
                  <a:extLst>
                    <a:ext uri="{9D8B030D-6E8A-4147-A177-3AD203B41FA5}">
                      <a16:colId xmlns:a16="http://schemas.microsoft.com/office/drawing/2014/main" val="227139091"/>
                    </a:ext>
                  </a:extLst>
                </a:gridCol>
                <a:gridCol w="432000">
                  <a:extLst>
                    <a:ext uri="{9D8B030D-6E8A-4147-A177-3AD203B41FA5}">
                      <a16:colId xmlns:a16="http://schemas.microsoft.com/office/drawing/2014/main" val="892848932"/>
                    </a:ext>
                  </a:extLst>
                </a:gridCol>
                <a:gridCol w="432000">
                  <a:extLst>
                    <a:ext uri="{9D8B030D-6E8A-4147-A177-3AD203B41FA5}">
                      <a16:colId xmlns:a16="http://schemas.microsoft.com/office/drawing/2014/main" val="420957508"/>
                    </a:ext>
                  </a:extLst>
                </a:gridCol>
              </a:tblGrid>
              <a:tr h="139034">
                <a:tc>
                  <a:txBody>
                    <a:bodyPr/>
                    <a:lstStyle/>
                    <a:p>
                      <a:pPr algn="ctr" fontAlgn="ctr">
                        <a:buNone/>
                      </a:pPr>
                      <a:r>
                        <a:rPr lang="ja-JP" altLang="en-US" sz="5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本番環境</a:t>
                      </a:r>
                      <a:br>
                        <a:rPr lang="en-US" altLang="ja-JP" sz="500" b="0" i="0" u="none" strike="noStrike" dirty="0">
                          <a:solidFill>
                            <a:srgbClr val="000000"/>
                          </a:solidFill>
                          <a:effectLst/>
                          <a:latin typeface="+mj-ea"/>
                          <a:ea typeface="+mj-ea"/>
                        </a:rPr>
                      </a:br>
                      <a:r>
                        <a:rPr lang="ja-JP" altLang="en-US" sz="5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反映日</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39034">
                <a:tc>
                  <a:txBody>
                    <a:bodyPr/>
                    <a:lstStyle/>
                    <a:p>
                      <a:pPr algn="ctr" fontAlgn="ctr">
                        <a:buNone/>
                      </a:pPr>
                      <a:r>
                        <a:rPr lang="en-US" altLang="ja-JP" sz="500" b="0" i="0" u="none" strike="noStrike" dirty="0">
                          <a:solidFill>
                            <a:srgbClr val="000000"/>
                          </a:solidFill>
                          <a:effectLst/>
                          <a:latin typeface="+mj-ea"/>
                          <a:ea typeface="+mj-ea"/>
                        </a:rPr>
                        <a:t>202609</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2026/09/XX</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highlight>
                            <a:srgbClr val="FFFF00"/>
                          </a:highlight>
                          <a:latin typeface="+mn-ea"/>
                          <a:ea typeface="+mn-ea"/>
                        </a:rPr>
                        <a:t>2026/9/28</a:t>
                      </a:r>
                      <a:endParaRPr lang="ja-JP" altLang="en-US" sz="500" b="0" i="0" u="none" strike="noStrike">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highlight>
                            <a:srgbClr val="FFFF00"/>
                          </a:highlight>
                          <a:latin typeface="+mn-ea"/>
                          <a:ea typeface="+mn-ea"/>
                        </a:rPr>
                        <a:t>2026/9/24</a:t>
                      </a:r>
                      <a:endParaRPr lang="ja-JP" altLang="en-US" sz="500" b="0" i="0" u="none" strike="noStrike">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2026/08/27</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115" name="正方形/長方形 114">
            <a:extLst>
              <a:ext uri="{FF2B5EF4-FFF2-40B4-BE49-F238E27FC236}">
                <a16:creationId xmlns:a16="http://schemas.microsoft.com/office/drawing/2014/main" id="{B6A9CBCA-1541-236D-3E06-A45E57CE0675}"/>
              </a:ext>
            </a:extLst>
          </p:cNvPr>
          <p:cNvSpPr/>
          <p:nvPr/>
        </p:nvSpPr>
        <p:spPr>
          <a:xfrm>
            <a:off x="5470704" y="3579878"/>
            <a:ext cx="2749921" cy="2087940"/>
          </a:xfrm>
          <a:prstGeom prst="rect">
            <a:avLst/>
          </a:prstGeom>
          <a:solidFill>
            <a:schemeClr val="bg1"/>
          </a:solidFill>
          <a:ln>
            <a:noFill/>
          </a:ln>
        </p:spPr>
        <p:txBody>
          <a:bodyPr lIns="0" rIns="0" rtlCol="0" anchor="t"/>
          <a:lstStyle/>
          <a:p>
            <a:pPr lvl="0" fontAlgn="base">
              <a:spcBef>
                <a:spcPct val="20000"/>
              </a:spcBef>
              <a:spcAft>
                <a:spcPct val="0"/>
              </a:spcAft>
              <a:defRPr/>
            </a:pPr>
            <a:r>
              <a:rPr kumimoji="1" lang="en-US" altLang="ja-JP" sz="500" dirty="0">
                <a:solidFill>
                  <a:prstClr val="black"/>
                </a:solidFill>
                <a:highlight>
                  <a:srgbClr val="FFFF00"/>
                </a:highlight>
                <a:latin typeface="Meiryo UI"/>
              </a:rPr>
              <a:t>2026</a:t>
            </a:r>
            <a:r>
              <a:rPr kumimoji="1" lang="ja-JP" altLang="en-US" sz="500">
                <a:solidFill>
                  <a:prstClr val="black"/>
                </a:solidFill>
                <a:highlight>
                  <a:srgbClr val="FFFF00"/>
                </a:highlight>
                <a:latin typeface="Meiryo UI"/>
              </a:rPr>
              <a:t>年</a:t>
            </a:r>
            <a:r>
              <a:rPr kumimoji="1" lang="en-US" altLang="ja-JP" sz="500" dirty="0">
                <a:solidFill>
                  <a:prstClr val="black"/>
                </a:solidFill>
                <a:highlight>
                  <a:srgbClr val="FFFF00"/>
                </a:highlight>
                <a:latin typeface="Meiryo UI"/>
              </a:rPr>
              <a:t>9</a:t>
            </a:r>
            <a:r>
              <a:rPr kumimoji="1" lang="ja-JP" altLang="en-US" sz="500">
                <a:solidFill>
                  <a:prstClr val="black"/>
                </a:solidFill>
                <a:highlight>
                  <a:srgbClr val="FFFF00"/>
                </a:highlight>
                <a:latin typeface="Meiryo UI"/>
              </a:rPr>
              <a:t>月</a:t>
            </a:r>
            <a:r>
              <a:rPr kumimoji="1" lang="en-US" altLang="ja-JP" sz="500" dirty="0">
                <a:solidFill>
                  <a:prstClr val="black"/>
                </a:solidFill>
                <a:highlight>
                  <a:srgbClr val="FFFF00"/>
                </a:highlight>
                <a:latin typeface="Meiryo UI"/>
              </a:rPr>
              <a:t>28</a:t>
            </a:r>
            <a:r>
              <a:rPr kumimoji="1" lang="ja-JP" altLang="en-US" sz="500">
                <a:solidFill>
                  <a:prstClr val="black"/>
                </a:solidFill>
                <a:highlight>
                  <a:srgbClr val="FFFF00"/>
                </a:highlight>
                <a:latin typeface="Meiryo UI"/>
              </a:rPr>
              <a:t>日以降、本サービスへの登録においては、</a:t>
            </a:r>
            <a:r>
              <a:rPr kumimoji="1" lang="en-US" altLang="ja-JP" sz="500" dirty="0">
                <a:solidFill>
                  <a:prstClr val="black"/>
                </a:solidFill>
                <a:highlight>
                  <a:srgbClr val="FFFF00"/>
                </a:highlight>
                <a:latin typeface="Meiryo UI"/>
              </a:rPr>
              <a:t>202606</a:t>
            </a:r>
            <a:r>
              <a:rPr kumimoji="1" lang="ja-JP" altLang="en-US" sz="500">
                <a:solidFill>
                  <a:prstClr val="black"/>
                </a:solidFill>
                <a:highlight>
                  <a:srgbClr val="FFFF00"/>
                </a:highlight>
                <a:latin typeface="Meiryo UI"/>
              </a:rPr>
              <a:t>以降版のマスタをご利用ください。</a:t>
            </a:r>
            <a:endParaRPr kumimoji="1" lang="en-US" altLang="ja-JP" sz="500" dirty="0">
              <a:solidFill>
                <a:prstClr val="black"/>
              </a:solidFill>
              <a:highlight>
                <a:srgbClr val="FFFF00"/>
              </a:highlight>
              <a:latin typeface="Meiryo UI"/>
            </a:endParaRPr>
          </a:p>
          <a:p>
            <a:r>
              <a:rPr kumimoji="1" lang="en-US" altLang="ja-JP" sz="500" dirty="0">
                <a:solidFill>
                  <a:prstClr val="black"/>
                </a:solidFill>
                <a:highlight>
                  <a:srgbClr val="FFFF00"/>
                </a:highlight>
                <a:latin typeface="Meiryo UI"/>
              </a:rPr>
              <a:t>※</a:t>
            </a:r>
            <a:r>
              <a:rPr kumimoji="1" lang="ja-JP" altLang="ja-JP" sz="500">
                <a:solidFill>
                  <a:prstClr val="black"/>
                </a:solidFill>
                <a:highlight>
                  <a:srgbClr val="FFFF00"/>
                </a:highlight>
                <a:latin typeface="Meiryo UI"/>
              </a:rPr>
              <a:t>電子カルテ情報共有サービス対応 JLACコード表(共有項目JLACコードマスタ)は、202606版への更新に際し、コードの見直しを実施</a:t>
            </a:r>
            <a:r>
              <a:rPr kumimoji="1" lang="ja-JP" altLang="en-US" sz="500">
                <a:solidFill>
                  <a:prstClr val="black"/>
                </a:solidFill>
                <a:highlight>
                  <a:srgbClr val="FFFF00"/>
                </a:highlight>
                <a:latin typeface="Meiryo UI"/>
              </a:rPr>
              <a:t>いたしました。これにともない、</a:t>
            </a:r>
            <a:r>
              <a:rPr kumimoji="1" lang="en-US" altLang="ja-JP" sz="500" dirty="0">
                <a:solidFill>
                  <a:prstClr val="black"/>
                </a:solidFill>
                <a:highlight>
                  <a:srgbClr val="FFFF00"/>
                </a:highlight>
                <a:latin typeface="Meiryo UI"/>
              </a:rPr>
              <a:t>2026</a:t>
            </a:r>
            <a:r>
              <a:rPr kumimoji="1" lang="ja-JP" altLang="en-US" sz="500">
                <a:solidFill>
                  <a:prstClr val="black"/>
                </a:solidFill>
                <a:highlight>
                  <a:srgbClr val="FFFF00"/>
                </a:highlight>
                <a:latin typeface="Meiryo UI"/>
              </a:rPr>
              <a:t>年</a:t>
            </a:r>
            <a:r>
              <a:rPr kumimoji="1" lang="en-US" altLang="ja-JP" sz="500" dirty="0">
                <a:solidFill>
                  <a:prstClr val="black"/>
                </a:solidFill>
                <a:highlight>
                  <a:srgbClr val="FFFF00"/>
                </a:highlight>
                <a:latin typeface="Meiryo UI"/>
              </a:rPr>
              <a:t>9</a:t>
            </a:r>
            <a:r>
              <a:rPr kumimoji="1" lang="ja-JP" altLang="en-US" sz="500">
                <a:solidFill>
                  <a:prstClr val="black"/>
                </a:solidFill>
                <a:highlight>
                  <a:srgbClr val="FFFF00"/>
                </a:highlight>
                <a:latin typeface="Meiryo UI"/>
              </a:rPr>
              <a:t>月</a:t>
            </a:r>
            <a:r>
              <a:rPr kumimoji="1" lang="en-US" altLang="ja-JP" sz="500" dirty="0">
                <a:solidFill>
                  <a:prstClr val="black"/>
                </a:solidFill>
                <a:highlight>
                  <a:srgbClr val="FFFF00"/>
                </a:highlight>
                <a:latin typeface="Meiryo UI"/>
              </a:rPr>
              <a:t>28</a:t>
            </a:r>
            <a:r>
              <a:rPr kumimoji="1" lang="ja-JP" altLang="en-US" sz="500">
                <a:solidFill>
                  <a:prstClr val="black"/>
                </a:solidFill>
                <a:highlight>
                  <a:srgbClr val="FFFF00"/>
                </a:highlight>
                <a:latin typeface="Meiryo UI"/>
              </a:rPr>
              <a:t>日に中央基盤の改修を予定しております。そのため、</a:t>
            </a:r>
            <a:r>
              <a:rPr kumimoji="1" lang="ja-JP" altLang="ja-JP" sz="500">
                <a:solidFill>
                  <a:prstClr val="black"/>
                </a:solidFill>
                <a:highlight>
                  <a:srgbClr val="FFFF00"/>
                </a:highlight>
                <a:latin typeface="Meiryo UI"/>
              </a:rPr>
              <a:t>202603版以前の版で登録している場合、202606版以降の新しいマスタへの移行をお願いいたします。</a:t>
            </a:r>
            <a:endParaRPr kumimoji="1" lang="ja-JP" altLang="en-US" sz="500">
              <a:solidFill>
                <a:prstClr val="black"/>
              </a:solidFill>
              <a:highlight>
                <a:srgbClr val="FFFF00"/>
              </a:highlight>
              <a:latin typeface="Meiryo UI"/>
            </a:endParaRPr>
          </a:p>
          <a:p>
            <a:pPr lvl="0" fontAlgn="base">
              <a:spcBef>
                <a:spcPct val="20000"/>
              </a:spcBef>
              <a:spcAft>
                <a:spcPct val="0"/>
              </a:spcAft>
              <a:defRPr/>
            </a:pPr>
            <a:endParaRPr kumimoji="1" lang="en-US" altLang="ja-JP" sz="500" dirty="0">
              <a:latin typeface="Meiryo UI"/>
              <a:ea typeface="Meiryo UI"/>
            </a:endParaRPr>
          </a:p>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500" b="1" dirty="0">
                <a:solidFill>
                  <a:srgbClr val="FF0000"/>
                </a:solidFill>
                <a:latin typeface="Meiryo UI"/>
                <a:ea typeface="Meiryo UI"/>
              </a:rPr>
              <a:t>【</a:t>
            </a:r>
            <a:r>
              <a:rPr kumimoji="1" lang="ja-JP" altLang="en-US" sz="500" b="1">
                <a:solidFill>
                  <a:srgbClr val="FF0000"/>
                </a:solidFill>
                <a:latin typeface="Meiryo UI"/>
                <a:ea typeface="Meiryo UI"/>
              </a:rPr>
              <a:t>ご留意事項</a:t>
            </a:r>
            <a:r>
              <a:rPr kumimoji="1" lang="en-US" altLang="ja-JP" sz="500" b="1" dirty="0">
                <a:solidFill>
                  <a:srgbClr val="FF0000"/>
                </a:solidFill>
                <a:latin typeface="Meiryo UI"/>
                <a:ea typeface="Meiryo UI"/>
              </a:rPr>
              <a:t>】</a:t>
            </a:r>
          </a:p>
          <a:p>
            <a:pPr fontAlgn="base">
              <a:spcBef>
                <a:spcPct val="20000"/>
              </a:spcBef>
              <a:spcAft>
                <a:spcPct val="0"/>
              </a:spcAft>
              <a:defRPr/>
            </a:pPr>
            <a:r>
              <a:rPr kumimoji="1" lang="ja-JP" altLang="en-US" sz="500">
                <a:latin typeface="Meiryo UI"/>
              </a:rPr>
              <a:t>①</a:t>
            </a:r>
            <a:r>
              <a:rPr kumimoji="1" lang="en-US" altLang="ja-JP" sz="500" dirty="0">
                <a:highlight>
                  <a:srgbClr val="FFFF00"/>
                </a:highlight>
                <a:latin typeface="Meiryo UI"/>
              </a:rPr>
              <a:t>202603</a:t>
            </a:r>
            <a:r>
              <a:rPr kumimoji="1" lang="ja-JP" altLang="en-US" sz="500">
                <a:highlight>
                  <a:srgbClr val="FFFF00"/>
                </a:highlight>
                <a:latin typeface="Meiryo UI"/>
              </a:rPr>
              <a:t>版に記載されている次の</a:t>
            </a:r>
            <a:r>
              <a:rPr kumimoji="1" lang="en-US" altLang="ja-JP" sz="500" dirty="0">
                <a:highlight>
                  <a:srgbClr val="FFFF00"/>
                </a:highlight>
                <a:latin typeface="Meiryo UI"/>
              </a:rPr>
              <a:t>FHIR</a:t>
            </a:r>
            <a:r>
              <a:rPr kumimoji="1" lang="ja-JP" altLang="en-US" sz="500">
                <a:highlight>
                  <a:srgbClr val="FFFF00"/>
                </a:highlight>
                <a:latin typeface="Meiryo UI"/>
              </a:rPr>
              <a:t>項目名称のコードにつきまして、より適切な</a:t>
            </a:r>
            <a:r>
              <a:rPr kumimoji="1" lang="en-US" altLang="ja-JP" sz="500" dirty="0">
                <a:highlight>
                  <a:srgbClr val="FFFF00"/>
                </a:highlight>
                <a:latin typeface="Meiryo UI"/>
              </a:rPr>
              <a:t>FHIR</a:t>
            </a:r>
            <a:r>
              <a:rPr kumimoji="1" lang="ja-JP" altLang="en-US" sz="500">
                <a:highlight>
                  <a:srgbClr val="FFFF00"/>
                </a:highlight>
                <a:latin typeface="Meiryo UI"/>
              </a:rPr>
              <a:t>項目名称へ変更されたことに伴い、</a:t>
            </a:r>
            <a:r>
              <a:rPr kumimoji="1" lang="en-US" altLang="ja-JP" sz="500" dirty="0">
                <a:highlight>
                  <a:srgbClr val="FFFF00"/>
                </a:highlight>
                <a:latin typeface="Meiryo UI"/>
              </a:rPr>
              <a:t>2026</a:t>
            </a:r>
            <a:r>
              <a:rPr kumimoji="1" lang="ja-JP" altLang="en-US" sz="500">
                <a:highlight>
                  <a:srgbClr val="FFFF00"/>
                </a:highlight>
                <a:latin typeface="Meiryo UI"/>
              </a:rPr>
              <a:t>年</a:t>
            </a:r>
            <a:r>
              <a:rPr kumimoji="1" lang="en-US" altLang="ja-JP" sz="500" dirty="0">
                <a:highlight>
                  <a:srgbClr val="FFFF00"/>
                </a:highlight>
                <a:latin typeface="Meiryo UI"/>
              </a:rPr>
              <a:t>9</a:t>
            </a:r>
            <a:r>
              <a:rPr kumimoji="1" lang="ja-JP" altLang="en-US" sz="500">
                <a:highlight>
                  <a:srgbClr val="FFFF00"/>
                </a:highlight>
                <a:latin typeface="Meiryo UI"/>
              </a:rPr>
              <a:t>月</a:t>
            </a:r>
            <a:r>
              <a:rPr kumimoji="1" lang="en-US" altLang="ja-JP" sz="500" dirty="0">
                <a:highlight>
                  <a:srgbClr val="FFFF00"/>
                </a:highlight>
                <a:latin typeface="Meiryo UI"/>
              </a:rPr>
              <a:t>28</a:t>
            </a:r>
            <a:r>
              <a:rPr kumimoji="1" lang="ja-JP" altLang="en-US" sz="500">
                <a:highlight>
                  <a:srgbClr val="FFFF00"/>
                </a:highlight>
                <a:latin typeface="Meiryo UI"/>
              </a:rPr>
              <a:t>日以降、電子カルテ情報共有サービスへの登録ができなくなりました。新しい</a:t>
            </a:r>
            <a:r>
              <a:rPr kumimoji="1" lang="en-US" altLang="ja-JP" sz="500" dirty="0">
                <a:highlight>
                  <a:srgbClr val="FFFF00"/>
                </a:highlight>
                <a:latin typeface="Meiryo UI"/>
              </a:rPr>
              <a:t>FHIR</a:t>
            </a:r>
            <a:r>
              <a:rPr kumimoji="1" lang="ja-JP" altLang="en-US" sz="500">
                <a:highlight>
                  <a:srgbClr val="FFFF00"/>
                </a:highlight>
                <a:latin typeface="Meiryo UI"/>
              </a:rPr>
              <a:t>項目名称の詳細につきましては、新・旧コード対応表をご確認ください。</a:t>
            </a:r>
            <a:endParaRPr kumimoji="1" lang="en-US" altLang="ja-JP" sz="500" dirty="0">
              <a:highlight>
                <a:srgbClr val="FFFF00"/>
              </a:highlight>
              <a:latin typeface="Meiryo UI"/>
            </a:endParaRPr>
          </a:p>
          <a:p>
            <a:pPr fontAlgn="base">
              <a:spcBef>
                <a:spcPct val="20000"/>
              </a:spcBef>
              <a:spcAft>
                <a:spcPct val="0"/>
              </a:spcAft>
              <a:defRPr/>
            </a:pPr>
            <a:r>
              <a:rPr kumimoji="1" lang="ja-JP" altLang="en-US" sz="500">
                <a:latin typeface="Meiryo UI"/>
                <a:ea typeface="Meiryo UI"/>
              </a:rPr>
              <a:t>　</a:t>
            </a:r>
            <a:r>
              <a:rPr kumimoji="1" lang="en-US" altLang="ja-JP" sz="500" dirty="0">
                <a:latin typeface="Meiryo UI"/>
                <a:ea typeface="Meiryo UI"/>
              </a:rPr>
              <a:t>-</a:t>
            </a:r>
            <a:r>
              <a:rPr kumimoji="1" lang="ja-JP" altLang="en-US" sz="500">
                <a:latin typeface="Meiryo UI"/>
                <a:ea typeface="Meiryo UI"/>
              </a:rPr>
              <a:t>尿中蛋白</a:t>
            </a:r>
            <a:r>
              <a:rPr kumimoji="1" lang="en-US" altLang="ja-JP" sz="500" dirty="0">
                <a:latin typeface="Meiryo UI"/>
                <a:ea typeface="Meiryo UI"/>
              </a:rPr>
              <a:t>/</a:t>
            </a:r>
            <a:r>
              <a:rPr kumimoji="1" lang="ja-JP" altLang="en-US" sz="500">
                <a:latin typeface="Meiryo UI"/>
                <a:ea typeface="Meiryo UI"/>
              </a:rPr>
              <a:t>クレアチニン比</a:t>
            </a:r>
            <a:r>
              <a:rPr kumimoji="1" lang="en-US" altLang="ja-JP" sz="500" dirty="0">
                <a:latin typeface="Meiryo UI"/>
                <a:ea typeface="Meiryo UI"/>
              </a:rPr>
              <a:t>(P/C</a:t>
            </a:r>
            <a:r>
              <a:rPr kumimoji="1" lang="ja-JP" altLang="en-US" sz="500">
                <a:latin typeface="Meiryo UI"/>
                <a:ea typeface="Meiryo UI"/>
              </a:rPr>
              <a:t>比</a:t>
            </a:r>
            <a:r>
              <a:rPr kumimoji="1" lang="en-US" altLang="ja-JP" sz="500" dirty="0">
                <a:latin typeface="Meiryo UI"/>
                <a:ea typeface="Meiryo UI"/>
              </a:rPr>
              <a:t>)</a:t>
            </a:r>
          </a:p>
          <a:p>
            <a:pPr lvl="0" fontAlgn="base">
              <a:spcBef>
                <a:spcPct val="20000"/>
              </a:spcBef>
              <a:spcAft>
                <a:spcPct val="0"/>
              </a:spcAft>
              <a:defRPr/>
            </a:pPr>
            <a:r>
              <a:rPr kumimoji="1" lang="ja-JP" altLang="en-US" sz="500" i="0" u="none" strike="noStrike" kern="1200" cap="none" spc="0" normalizeH="0" baseline="0" noProof="0">
                <a:ln>
                  <a:noFill/>
                </a:ln>
                <a:effectLst/>
                <a:uLnTx/>
                <a:uFillTx/>
                <a:latin typeface="Meiryo UI"/>
                <a:ea typeface="Meiryo UI"/>
                <a:cs typeface="+mn-cs"/>
              </a:rPr>
              <a:t>　</a:t>
            </a:r>
            <a:r>
              <a:rPr kumimoji="1" lang="en-US" altLang="ja-JP" sz="500" i="0" u="none" strike="noStrike" kern="1200" cap="none" spc="0" normalizeH="0" baseline="0" noProof="0" dirty="0">
                <a:ln>
                  <a:noFill/>
                </a:ln>
                <a:effectLst/>
                <a:uLnTx/>
                <a:uFillTx/>
                <a:latin typeface="Meiryo UI"/>
                <a:ea typeface="Meiryo UI"/>
                <a:cs typeface="+mn-cs"/>
              </a:rPr>
              <a:t>-</a:t>
            </a:r>
            <a:r>
              <a:rPr kumimoji="1" lang="ja-JP" altLang="en-US" sz="500" i="0" u="none" strike="noStrike" kern="1200" cap="none" spc="0" normalizeH="0" baseline="0" noProof="0">
                <a:ln>
                  <a:noFill/>
                </a:ln>
                <a:effectLst/>
                <a:uLnTx/>
                <a:uFillTx/>
                <a:latin typeface="Meiryo UI"/>
                <a:ea typeface="Meiryo UI"/>
                <a:cs typeface="+mn-cs"/>
              </a:rPr>
              <a:t>尿中アルブミン</a:t>
            </a:r>
            <a:r>
              <a:rPr kumimoji="1" lang="en-US" altLang="ja-JP" sz="500" i="0" u="none" strike="noStrike" kern="1200" cap="none" spc="0" normalizeH="0" baseline="0" noProof="0" dirty="0">
                <a:ln>
                  <a:noFill/>
                </a:ln>
                <a:effectLst/>
                <a:uLnTx/>
                <a:uFillTx/>
                <a:latin typeface="Meiryo UI"/>
                <a:ea typeface="Meiryo UI"/>
                <a:cs typeface="+mn-cs"/>
              </a:rPr>
              <a:t>/</a:t>
            </a:r>
            <a:r>
              <a:rPr kumimoji="1" lang="ja-JP" altLang="en-US" sz="500" i="0" u="none" strike="noStrike" kern="1200" cap="none" spc="0" normalizeH="0" baseline="0" noProof="0">
                <a:ln>
                  <a:noFill/>
                </a:ln>
                <a:effectLst/>
                <a:uLnTx/>
                <a:uFillTx/>
                <a:latin typeface="Meiryo UI"/>
                <a:ea typeface="Meiryo UI"/>
                <a:cs typeface="+mn-cs"/>
              </a:rPr>
              <a:t>クレアチニン比</a:t>
            </a:r>
            <a:r>
              <a:rPr kumimoji="1" lang="en-US" altLang="ja-JP" sz="500" dirty="0">
                <a:latin typeface="Meiryo UI"/>
              </a:rPr>
              <a:t>(A/C</a:t>
            </a:r>
            <a:r>
              <a:rPr kumimoji="1" lang="ja-JP" altLang="en-US" sz="500">
                <a:latin typeface="Meiryo UI"/>
              </a:rPr>
              <a:t>比</a:t>
            </a:r>
            <a:r>
              <a:rPr kumimoji="1" lang="en-US" altLang="ja-JP" sz="500" dirty="0">
                <a:latin typeface="Meiryo UI"/>
              </a:rPr>
              <a:t>)</a:t>
            </a:r>
          </a:p>
          <a:p>
            <a:pPr lvl="0" fontAlgn="base">
              <a:spcBef>
                <a:spcPct val="20000"/>
              </a:spcBef>
              <a:spcAft>
                <a:spcPct val="0"/>
              </a:spcAft>
              <a:defRPr/>
            </a:pPr>
            <a:endParaRPr kumimoji="1" lang="en-US" altLang="ja-JP" sz="500" i="0" u="none" strike="noStrike" kern="1200" cap="none" spc="0" normalizeH="0" baseline="0" noProof="0" dirty="0">
              <a:ln>
                <a:noFill/>
              </a:ln>
              <a:effectLst/>
              <a:uLnTx/>
              <a:uFillTx/>
              <a:latin typeface="Meiryo UI"/>
              <a:ea typeface="Meiryo UI"/>
              <a:cs typeface="+mn-cs"/>
            </a:endParaRPr>
          </a:p>
          <a:p>
            <a:pPr lvl="0" fontAlgn="base">
              <a:spcBef>
                <a:spcPct val="20000"/>
              </a:spcBef>
              <a:spcAft>
                <a:spcPct val="0"/>
              </a:spcAft>
              <a:defRPr/>
            </a:pPr>
            <a:r>
              <a:rPr kumimoji="1" lang="ja-JP" altLang="en-US" sz="500" i="0" u="none" strike="noStrike" kern="1200" cap="none" spc="0" normalizeH="0" baseline="0" noProof="0">
                <a:ln>
                  <a:noFill/>
                </a:ln>
                <a:effectLst/>
                <a:uLnTx/>
                <a:uFillTx/>
                <a:latin typeface="Meiryo UI"/>
                <a:ea typeface="Meiryo UI"/>
                <a:cs typeface="+mn-cs"/>
              </a:rPr>
              <a:t>②</a:t>
            </a:r>
            <a:r>
              <a:rPr kumimoji="1" lang="en-US" altLang="ja-JP" sz="500" i="0" u="none" strike="noStrike" kern="1200" cap="none" spc="0" normalizeH="0" baseline="0" noProof="0" dirty="0">
                <a:ln>
                  <a:noFill/>
                </a:ln>
                <a:effectLst/>
                <a:highlight>
                  <a:srgbClr val="FFFF00"/>
                </a:highlight>
                <a:uLnTx/>
                <a:uFillTx/>
                <a:latin typeface="Meiryo UI"/>
                <a:ea typeface="Meiryo UI"/>
                <a:cs typeface="+mn-cs"/>
              </a:rPr>
              <a:t>JLAC</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コードの見直しに伴い、</a:t>
            </a:r>
            <a:r>
              <a:rPr kumimoji="1" lang="en-US" altLang="ja-JP" sz="500" dirty="0">
                <a:highlight>
                  <a:srgbClr val="FFFF00"/>
                </a:highlight>
                <a:latin typeface="Meiryo UI"/>
              </a:rPr>
              <a:t>2026</a:t>
            </a:r>
            <a:r>
              <a:rPr kumimoji="1" lang="ja-JP" altLang="en-US" sz="500">
                <a:highlight>
                  <a:srgbClr val="FFFF00"/>
                </a:highlight>
                <a:latin typeface="Meiryo UI"/>
              </a:rPr>
              <a:t>年</a:t>
            </a:r>
            <a:r>
              <a:rPr kumimoji="1" lang="en-US" altLang="ja-JP" sz="500" dirty="0">
                <a:highlight>
                  <a:srgbClr val="FFFF00"/>
                </a:highlight>
                <a:latin typeface="Meiryo UI"/>
              </a:rPr>
              <a:t>9</a:t>
            </a:r>
            <a:r>
              <a:rPr kumimoji="1" lang="ja-JP" altLang="en-US" sz="500">
                <a:highlight>
                  <a:srgbClr val="FFFF00"/>
                </a:highlight>
                <a:latin typeface="Meiryo UI"/>
              </a:rPr>
              <a:t>月</a:t>
            </a:r>
            <a:r>
              <a:rPr kumimoji="1" lang="en-US" altLang="ja-JP" sz="500" dirty="0">
                <a:highlight>
                  <a:srgbClr val="FFFF00"/>
                </a:highlight>
                <a:latin typeface="Meiryo UI"/>
              </a:rPr>
              <a:t>28</a:t>
            </a:r>
            <a:r>
              <a:rPr kumimoji="1" lang="ja-JP" altLang="en-US" sz="500">
                <a:highlight>
                  <a:srgbClr val="FFFF00"/>
                </a:highlight>
                <a:latin typeface="Meiryo UI"/>
              </a:rPr>
              <a:t>日以降</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、一部の</a:t>
            </a:r>
            <a:r>
              <a:rPr kumimoji="1" lang="en-US" altLang="ja-JP" sz="500" i="0" u="none" strike="noStrike" kern="1200" cap="none" spc="0" normalizeH="0" baseline="0" noProof="0" dirty="0">
                <a:ln>
                  <a:noFill/>
                </a:ln>
                <a:effectLst/>
                <a:highlight>
                  <a:srgbClr val="FFFF00"/>
                </a:highlight>
                <a:uLnTx/>
                <a:uFillTx/>
                <a:latin typeface="Meiryo UI"/>
                <a:ea typeface="Meiryo UI"/>
                <a:cs typeface="+mn-cs"/>
              </a:rPr>
              <a:t>JLAC10</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コードにつきまして電子カルテ情報共有サービスへの登録ができなくなりました。該当コードおよび移行先コードの詳細につきましては、新・旧コードの対応表をご参照ください。</a:t>
            </a:r>
            <a:endParaRPr kumimoji="1" lang="en-US" altLang="ja-JP" sz="500" i="0" u="none" strike="noStrike" kern="1200" cap="none" spc="0" normalizeH="0" baseline="0" noProof="0" dirty="0">
              <a:ln>
                <a:noFill/>
              </a:ln>
              <a:effectLst/>
              <a:highlight>
                <a:srgbClr val="FFFF00"/>
              </a:highlight>
              <a:uLnTx/>
              <a:uFillTx/>
              <a:latin typeface="Meiryo UI"/>
              <a:ea typeface="Meiryo UI"/>
              <a:cs typeface="+mn-cs"/>
            </a:endParaRPr>
          </a:p>
          <a:p>
            <a:pPr lvl="0" fontAlgn="base">
              <a:spcBef>
                <a:spcPct val="20000"/>
              </a:spcBef>
              <a:spcAft>
                <a:spcPct val="0"/>
              </a:spcAft>
              <a:defRPr/>
            </a:pPr>
            <a:endParaRPr kumimoji="1" lang="en-US" altLang="ja-JP" sz="500" i="0" u="none" strike="noStrike" kern="1200" cap="none" spc="0" normalizeH="0" baseline="0" noProof="0" dirty="0">
              <a:ln>
                <a:noFill/>
              </a:ln>
              <a:effectLst/>
              <a:uLnTx/>
              <a:uFillTx/>
              <a:latin typeface="Meiryo UI"/>
              <a:ea typeface="Meiryo UI"/>
              <a:cs typeface="+mn-cs"/>
            </a:endParaRPr>
          </a:p>
          <a:p>
            <a:pPr fontAlgn="base">
              <a:spcBef>
                <a:spcPct val="20000"/>
              </a:spcBef>
              <a:spcAft>
                <a:spcPct val="0"/>
              </a:spcAft>
              <a:defRPr/>
            </a:pPr>
            <a:r>
              <a:rPr kumimoji="1" lang="ja-JP" altLang="en-US" sz="500" i="0" u="none" strike="noStrike" kern="1200" cap="none" spc="0" normalizeH="0" baseline="0" noProof="0">
                <a:ln>
                  <a:noFill/>
                </a:ln>
                <a:effectLst/>
                <a:uLnTx/>
                <a:uFillTx/>
                <a:latin typeface="Meiryo UI"/>
                <a:ea typeface="Meiryo UI"/>
                <a:cs typeface="+mn-cs"/>
              </a:rPr>
              <a:t>③</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次の試薬</a:t>
            </a:r>
            <a:r>
              <a:rPr kumimoji="1" lang="ja-JP" altLang="en-US" sz="500">
                <a:solidFill>
                  <a:prstClr val="black"/>
                </a:solidFill>
                <a:highlight>
                  <a:srgbClr val="FFFF00"/>
                </a:highlight>
                <a:latin typeface="Meiryo UI"/>
              </a:rPr>
              <a:t>の</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コードにつきまして、</a:t>
            </a:r>
            <a:r>
              <a:rPr kumimoji="1" lang="en-US" altLang="ja-JP" sz="500" i="0" u="none" strike="noStrike" kern="1200" cap="none" spc="0" normalizeH="0" baseline="0" noProof="0" dirty="0">
                <a:ln>
                  <a:noFill/>
                </a:ln>
                <a:effectLst/>
                <a:highlight>
                  <a:srgbClr val="FFFF00"/>
                </a:highlight>
                <a:uLnTx/>
                <a:uFillTx/>
                <a:latin typeface="Meiryo UI"/>
                <a:ea typeface="Meiryo UI"/>
                <a:cs typeface="+mn-cs"/>
              </a:rPr>
              <a:t>FHIR</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項目名称の変更を行いました。これに伴い、</a:t>
            </a:r>
            <a:r>
              <a:rPr kumimoji="1" lang="en-US" altLang="ja-JP" sz="500" i="0" u="none" strike="noStrike" kern="1200" cap="none" spc="0" normalizeH="0" baseline="0" noProof="0" dirty="0">
                <a:ln>
                  <a:noFill/>
                </a:ln>
                <a:effectLst/>
                <a:highlight>
                  <a:srgbClr val="FFFF00"/>
                </a:highlight>
                <a:uLnTx/>
                <a:uFillTx/>
                <a:latin typeface="Meiryo UI"/>
                <a:ea typeface="Meiryo UI"/>
                <a:cs typeface="+mn-cs"/>
              </a:rPr>
              <a:t>202603</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版に記載されていた旧</a:t>
            </a:r>
            <a:r>
              <a:rPr kumimoji="1" lang="en-US" altLang="ja-JP" sz="500" i="0" u="none" strike="noStrike" kern="1200" cap="none" spc="0" normalizeH="0" baseline="0" noProof="0" dirty="0">
                <a:ln>
                  <a:noFill/>
                </a:ln>
                <a:effectLst/>
                <a:highlight>
                  <a:srgbClr val="FFFF00"/>
                </a:highlight>
                <a:uLnTx/>
                <a:uFillTx/>
                <a:latin typeface="Meiryo UI"/>
                <a:ea typeface="Meiryo UI"/>
                <a:cs typeface="+mn-cs"/>
              </a:rPr>
              <a:t>FHIR</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項目名称とコードの組み合わせによる電子カルテ情報共有サービスへの登録はできなくなりました。当該試薬をご利用の医療機関におかれましては、最新の</a:t>
            </a:r>
            <a:r>
              <a:rPr kumimoji="1" lang="en-US" altLang="ja-JP" sz="500" i="0" u="none" strike="noStrike" kern="1200" cap="none" spc="0" normalizeH="0" baseline="0" noProof="0" dirty="0">
                <a:ln>
                  <a:noFill/>
                </a:ln>
                <a:effectLst/>
                <a:highlight>
                  <a:srgbClr val="FFFF00"/>
                </a:highlight>
                <a:uLnTx/>
                <a:uFillTx/>
                <a:latin typeface="Meiryo UI"/>
                <a:ea typeface="Meiryo UI"/>
                <a:cs typeface="+mn-cs"/>
              </a:rPr>
              <a:t>FHIR</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項目名称をご確認のうえご登録をお願いいたします。詳細につきましては、</a:t>
            </a:r>
            <a:r>
              <a:rPr kumimoji="1" lang="ja-JP" altLang="en-US" sz="500">
                <a:highlight>
                  <a:srgbClr val="FFFF00"/>
                </a:highlight>
                <a:latin typeface="Meiryo UI"/>
                <a:ea typeface="Meiryo UI"/>
              </a:rPr>
              <a:t>新・旧コード対応表</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をご確認ください。</a:t>
            </a:r>
            <a:endParaRPr kumimoji="1" lang="en-US" altLang="ja-JP" sz="500" i="0" u="none" strike="noStrike" kern="1200" cap="none" spc="0" normalizeH="0" baseline="0" noProof="0" dirty="0">
              <a:ln>
                <a:noFill/>
              </a:ln>
              <a:effectLst/>
              <a:highlight>
                <a:srgbClr val="FFFF00"/>
              </a:highlight>
              <a:uLnTx/>
              <a:uFillTx/>
              <a:latin typeface="Meiryo UI"/>
              <a:ea typeface="Meiryo UI"/>
              <a:cs typeface="+mn-cs"/>
            </a:endParaRPr>
          </a:p>
          <a:p>
            <a:pPr fontAlgn="base">
              <a:spcBef>
                <a:spcPct val="20000"/>
              </a:spcBef>
              <a:spcAft>
                <a:spcPct val="0"/>
              </a:spcAft>
              <a:defRPr/>
            </a:pPr>
            <a:r>
              <a:rPr kumimoji="1" lang="en-US" altLang="ja-JP" sz="500" dirty="0">
                <a:solidFill>
                  <a:prstClr val="black"/>
                </a:solidFill>
                <a:latin typeface="Meiryo UI (Body)"/>
              </a:rPr>
              <a:t> -</a:t>
            </a:r>
            <a:r>
              <a:rPr kumimoji="1" lang="ja-JP" altLang="en-US" sz="500">
                <a:solidFill>
                  <a:prstClr val="black"/>
                </a:solidFill>
                <a:latin typeface="Meiryo UI (Body)"/>
              </a:rPr>
              <a:t>エルジア･</a:t>
            </a:r>
            <a:r>
              <a:rPr kumimoji="1" lang="en-US" altLang="ja-JP" sz="500" dirty="0">
                <a:solidFill>
                  <a:prstClr val="black"/>
                </a:solidFill>
                <a:latin typeface="Meiryo UI (Body)"/>
              </a:rPr>
              <a:t>F-HBS</a:t>
            </a:r>
            <a:r>
              <a:rPr kumimoji="1" lang="ja-JP" altLang="en-US" sz="500">
                <a:solidFill>
                  <a:prstClr val="black"/>
                </a:solidFill>
                <a:latin typeface="Meiryo UI (Body)"/>
              </a:rPr>
              <a:t>抗体</a:t>
            </a:r>
            <a:endParaRPr kumimoji="1" lang="en-US" altLang="ja-JP" sz="500" dirty="0">
              <a:solidFill>
                <a:prstClr val="black"/>
              </a:solidFill>
              <a:latin typeface="Meiryo UI (Body)"/>
            </a:endParaRPr>
          </a:p>
          <a:p>
            <a:pPr fontAlgn="base">
              <a:spcBef>
                <a:spcPct val="20000"/>
              </a:spcBef>
              <a:spcAft>
                <a:spcPct val="0"/>
              </a:spcAft>
              <a:defRPr/>
            </a:pPr>
            <a:endParaRPr kumimoji="1" lang="en-US" altLang="ja-JP" sz="500" dirty="0">
              <a:solidFill>
                <a:prstClr val="black"/>
              </a:solidFill>
              <a:latin typeface="Meiryo UI (Body)"/>
            </a:endParaRPr>
          </a:p>
          <a:p>
            <a:pPr fontAlgn="base">
              <a:spcBef>
                <a:spcPct val="20000"/>
              </a:spcBef>
              <a:spcAft>
                <a:spcPct val="0"/>
              </a:spcAft>
              <a:defRPr/>
            </a:pPr>
            <a:r>
              <a:rPr kumimoji="1" lang="ja-JP" altLang="en-US" sz="500">
                <a:solidFill>
                  <a:prstClr val="black"/>
                </a:solidFill>
                <a:latin typeface="Meiryo UI (Body)"/>
              </a:rPr>
              <a:t>④</a:t>
            </a:r>
            <a:r>
              <a:rPr kumimoji="1" lang="en-US" altLang="ja-JP" sz="500" dirty="0">
                <a:highlight>
                  <a:srgbClr val="FFFF00"/>
                </a:highlight>
                <a:latin typeface="Meiryo UI (Body)"/>
              </a:rPr>
              <a:t>&lt;20260827</a:t>
            </a:r>
            <a:r>
              <a:rPr kumimoji="1" lang="ja-JP" altLang="en-US" sz="500">
                <a:highlight>
                  <a:srgbClr val="FFFF00"/>
                </a:highlight>
                <a:latin typeface="Meiryo UI (Body)"/>
              </a:rPr>
              <a:t>追記</a:t>
            </a:r>
            <a:r>
              <a:rPr kumimoji="1" lang="en-US" altLang="ja-JP" sz="500" dirty="0">
                <a:highlight>
                  <a:srgbClr val="FFFF00"/>
                </a:highlight>
                <a:latin typeface="Meiryo UI (Body)"/>
              </a:rPr>
              <a:t>&gt;</a:t>
            </a:r>
            <a:r>
              <a:rPr kumimoji="1" lang="en-US" altLang="ja-JP" sz="500" dirty="0">
                <a:solidFill>
                  <a:prstClr val="black"/>
                </a:solidFill>
                <a:highlight>
                  <a:srgbClr val="FFFF00"/>
                </a:highlight>
                <a:latin typeface="Meiryo UI (Body)"/>
              </a:rPr>
              <a:t>202606</a:t>
            </a:r>
            <a:r>
              <a:rPr kumimoji="1" lang="ja-JP" altLang="en-US" sz="500">
                <a:solidFill>
                  <a:prstClr val="black"/>
                </a:solidFill>
                <a:highlight>
                  <a:srgbClr val="FFFF00"/>
                </a:highlight>
                <a:latin typeface="Meiryo UI (Body)"/>
              </a:rPr>
              <a:t>版に記載されている次の</a:t>
            </a:r>
            <a:r>
              <a:rPr kumimoji="1" lang="en-US" altLang="ja-JP" sz="500" dirty="0">
                <a:solidFill>
                  <a:prstClr val="black"/>
                </a:solidFill>
                <a:highlight>
                  <a:srgbClr val="FFFF00"/>
                </a:highlight>
                <a:latin typeface="Meiryo UI (Body)"/>
              </a:rPr>
              <a:t>XML</a:t>
            </a:r>
            <a:r>
              <a:rPr kumimoji="1" lang="ja-JP" altLang="en-US" sz="500">
                <a:solidFill>
                  <a:prstClr val="black"/>
                </a:solidFill>
                <a:highlight>
                  <a:srgbClr val="FFFF00"/>
                </a:highlight>
                <a:latin typeface="Meiryo UI (Body)"/>
              </a:rPr>
              <a:t>用単位コードにつきまして、より適切な</a:t>
            </a:r>
            <a:r>
              <a:rPr kumimoji="1" lang="en-US" altLang="ja-JP" sz="500" dirty="0">
                <a:solidFill>
                  <a:prstClr val="black"/>
                </a:solidFill>
                <a:highlight>
                  <a:srgbClr val="FFFF00"/>
                </a:highlight>
                <a:latin typeface="Meiryo UI (Body)"/>
              </a:rPr>
              <a:t>XML</a:t>
            </a:r>
            <a:r>
              <a:rPr kumimoji="1" lang="ja-JP" altLang="en-US" sz="500">
                <a:solidFill>
                  <a:prstClr val="black"/>
                </a:solidFill>
                <a:highlight>
                  <a:srgbClr val="FFFF00"/>
                </a:highlight>
                <a:latin typeface="Meiryo UI (Body)"/>
              </a:rPr>
              <a:t>用単位へ変更となったことに伴い、</a:t>
            </a:r>
            <a:r>
              <a:rPr kumimoji="1" lang="en-US" altLang="ja-JP" sz="500" dirty="0">
                <a:highlight>
                  <a:srgbClr val="FFFF00"/>
                </a:highlight>
                <a:latin typeface="Meiryo UI"/>
              </a:rPr>
              <a:t>2026</a:t>
            </a:r>
            <a:r>
              <a:rPr kumimoji="1" lang="ja-JP" altLang="en-US" sz="500">
                <a:highlight>
                  <a:srgbClr val="FFFF00"/>
                </a:highlight>
                <a:latin typeface="Meiryo UI"/>
              </a:rPr>
              <a:t>年</a:t>
            </a:r>
            <a:r>
              <a:rPr kumimoji="1" lang="en-US" altLang="ja-JP" sz="500" dirty="0">
                <a:highlight>
                  <a:srgbClr val="FFFF00"/>
                </a:highlight>
                <a:latin typeface="Meiryo UI"/>
              </a:rPr>
              <a:t>9</a:t>
            </a:r>
            <a:r>
              <a:rPr kumimoji="1" lang="ja-JP" altLang="en-US" sz="500">
                <a:highlight>
                  <a:srgbClr val="FFFF00"/>
                </a:highlight>
                <a:latin typeface="Meiryo UI"/>
              </a:rPr>
              <a:t>月</a:t>
            </a:r>
            <a:r>
              <a:rPr kumimoji="1" lang="en-US" altLang="ja-JP" sz="500" dirty="0">
                <a:highlight>
                  <a:srgbClr val="FFFF00"/>
                </a:highlight>
                <a:latin typeface="Meiryo UI"/>
              </a:rPr>
              <a:t>28</a:t>
            </a:r>
            <a:r>
              <a:rPr kumimoji="1" lang="ja-JP" altLang="en-US" sz="500">
                <a:highlight>
                  <a:srgbClr val="FFFF00"/>
                </a:highlight>
                <a:latin typeface="Meiryo UI"/>
              </a:rPr>
              <a:t>日</a:t>
            </a:r>
            <a:r>
              <a:rPr kumimoji="1" lang="ja-JP" altLang="en-US" sz="500">
                <a:solidFill>
                  <a:prstClr val="black"/>
                </a:solidFill>
                <a:highlight>
                  <a:srgbClr val="FFFF00"/>
                </a:highlight>
                <a:latin typeface="Meiryo UI (Body)"/>
              </a:rPr>
              <a:t>以降、電子カルテ情報共有サービスへの登録ができなくなりました。</a:t>
            </a:r>
            <a:r>
              <a:rPr kumimoji="1" lang="ja-JP" altLang="en-US" sz="500">
                <a:solidFill>
                  <a:prstClr val="black"/>
                </a:solidFill>
                <a:latin typeface="Meiryo UI (Body)"/>
              </a:rPr>
              <a:t>新しい</a:t>
            </a:r>
            <a:r>
              <a:rPr kumimoji="1" lang="en-US" altLang="ja-JP" sz="500" dirty="0">
                <a:solidFill>
                  <a:prstClr val="black"/>
                </a:solidFill>
                <a:latin typeface="Meiryo UI (Body)"/>
              </a:rPr>
              <a:t>XML</a:t>
            </a:r>
            <a:r>
              <a:rPr kumimoji="1" lang="ja-JP" altLang="en-US" sz="500">
                <a:solidFill>
                  <a:prstClr val="black"/>
                </a:solidFill>
                <a:latin typeface="Meiryo UI (Body)"/>
              </a:rPr>
              <a:t>用単位の詳細につきましては、</a:t>
            </a:r>
            <a:r>
              <a:rPr kumimoji="1" lang="en-US" altLang="ja-JP" sz="500" dirty="0">
                <a:latin typeface="Meiryo UI"/>
              </a:rPr>
              <a:t> </a:t>
            </a:r>
            <a:r>
              <a:rPr kumimoji="1" lang="ja-JP" altLang="en-US" sz="500">
                <a:highlight>
                  <a:srgbClr val="FFFF00"/>
                </a:highlight>
                <a:latin typeface="Meiryo UI"/>
              </a:rPr>
              <a:t>新・旧コード対応表</a:t>
            </a:r>
            <a:r>
              <a:rPr kumimoji="1" lang="ja-JP" altLang="en-US" sz="500">
                <a:solidFill>
                  <a:prstClr val="black"/>
                </a:solidFill>
                <a:latin typeface="Meiryo UI (Body)"/>
              </a:rPr>
              <a:t>をご確認ください。</a:t>
            </a:r>
            <a:endParaRPr kumimoji="1" lang="en-US" altLang="ja-JP" sz="500" dirty="0">
              <a:solidFill>
                <a:prstClr val="black"/>
              </a:solidFill>
              <a:latin typeface="Meiryo UI (Body)"/>
            </a:endParaRPr>
          </a:p>
          <a:p>
            <a:pPr fontAlgn="base">
              <a:spcBef>
                <a:spcPct val="20000"/>
              </a:spcBef>
              <a:spcAft>
                <a:spcPct val="0"/>
              </a:spcAft>
              <a:defRPr/>
            </a:pPr>
            <a:r>
              <a:rPr kumimoji="1" lang="ja-JP" altLang="en-US" sz="500">
                <a:latin typeface="Meiryo UI"/>
              </a:rPr>
              <a:t>　</a:t>
            </a:r>
            <a:r>
              <a:rPr kumimoji="1" lang="en-US" altLang="ja-JP" sz="500" dirty="0">
                <a:latin typeface="Meiryo UI"/>
              </a:rPr>
              <a:t>-KU/L</a:t>
            </a:r>
            <a:r>
              <a:rPr kumimoji="1" lang="ja-JP" altLang="en-US" sz="500">
                <a:latin typeface="Meiryo UI"/>
              </a:rPr>
              <a:t>（該当試薬：</a:t>
            </a:r>
            <a:r>
              <a:rPr kumimoji="1" lang="en-US" altLang="ja-JP" sz="500" dirty="0">
                <a:latin typeface="Meiryo UI"/>
              </a:rPr>
              <a:t>E</a:t>
            </a:r>
            <a:r>
              <a:rPr kumimoji="1" lang="ja-JP" altLang="en-US" sz="500">
                <a:latin typeface="Meiryo UI"/>
              </a:rPr>
              <a:t>テスト「</a:t>
            </a:r>
            <a:r>
              <a:rPr kumimoji="1" lang="en-US" altLang="ja-JP" sz="500" dirty="0">
                <a:latin typeface="Meiryo UI"/>
              </a:rPr>
              <a:t>TOSOH</a:t>
            </a:r>
            <a:r>
              <a:rPr kumimoji="1" lang="ja-JP" altLang="en-US" sz="500">
                <a:latin typeface="Meiryo UI"/>
              </a:rPr>
              <a:t>」</a:t>
            </a:r>
            <a:r>
              <a:rPr kumimoji="1" lang="en-US" altLang="ja-JP" sz="500" dirty="0">
                <a:latin typeface="Meiryo UI"/>
              </a:rPr>
              <a:t>II(HBsAg)</a:t>
            </a:r>
            <a:r>
              <a:rPr kumimoji="1" lang="ja-JP" altLang="en-US" sz="500">
                <a:latin typeface="Meiryo UI"/>
              </a:rPr>
              <a:t>）</a:t>
            </a:r>
            <a:endParaRPr kumimoji="1" lang="en-US" altLang="ja-JP" sz="500" i="0" u="none" strike="noStrike" kern="1200" cap="none" spc="0" normalizeH="0" baseline="0" noProof="0" dirty="0">
              <a:ln>
                <a:noFill/>
              </a:ln>
              <a:effectLst/>
              <a:uLnTx/>
              <a:uFillTx/>
              <a:latin typeface="Meiryo UI"/>
              <a:ea typeface="Meiryo UI"/>
              <a:cs typeface="+mn-cs"/>
            </a:endParaRPr>
          </a:p>
        </p:txBody>
      </p:sp>
      <p:sp>
        <p:nvSpPr>
          <p:cNvPr id="117" name="正方形/長方形 116">
            <a:extLst>
              <a:ext uri="{FF2B5EF4-FFF2-40B4-BE49-F238E27FC236}">
                <a16:creationId xmlns:a16="http://schemas.microsoft.com/office/drawing/2014/main" id="{5DE9A4BA-69AB-5592-A6D3-7A65444B4298}"/>
              </a:ext>
            </a:extLst>
          </p:cNvPr>
          <p:cNvSpPr/>
          <p:nvPr/>
        </p:nvSpPr>
        <p:spPr>
          <a:xfrm>
            <a:off x="5434586" y="7107023"/>
            <a:ext cx="2299514" cy="125205"/>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ja-JP" altLang="en-US" sz="500" b="1">
                <a:latin typeface="Meiryo UI"/>
                <a:ea typeface="Meiryo UI"/>
              </a:rPr>
              <a:t>●新・旧コードが混合されたマスタ</a:t>
            </a:r>
            <a:endParaRPr kumimoji="1" lang="ja-JP" altLang="en-US" sz="500" b="1" i="0" u="none" strike="noStrike" kern="1200" cap="none" spc="0" normalizeH="0" baseline="0" noProof="0">
              <a:ln>
                <a:noFill/>
              </a:ln>
              <a:effectLst/>
              <a:uLnTx/>
              <a:uFillTx/>
              <a:latin typeface="Meiryo UI"/>
              <a:ea typeface="Meiryo UI"/>
              <a:cs typeface="+mn-cs"/>
            </a:endParaRPr>
          </a:p>
        </p:txBody>
      </p:sp>
      <p:sp>
        <p:nvSpPr>
          <p:cNvPr id="118" name="正方形/長方形 117">
            <a:extLst>
              <a:ext uri="{FF2B5EF4-FFF2-40B4-BE49-F238E27FC236}">
                <a16:creationId xmlns:a16="http://schemas.microsoft.com/office/drawing/2014/main" id="{27687730-F293-47C2-9059-66B2BD166947}"/>
              </a:ext>
            </a:extLst>
          </p:cNvPr>
          <p:cNvSpPr/>
          <p:nvPr/>
        </p:nvSpPr>
        <p:spPr>
          <a:xfrm>
            <a:off x="5520101" y="7803993"/>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a:t>
            </a:r>
          </a:p>
        </p:txBody>
      </p:sp>
      <p:graphicFrame>
        <p:nvGraphicFramePr>
          <p:cNvPr id="121" name="表 120">
            <a:extLst>
              <a:ext uri="{FF2B5EF4-FFF2-40B4-BE49-F238E27FC236}">
                <a16:creationId xmlns:a16="http://schemas.microsoft.com/office/drawing/2014/main" id="{1AC53FA2-5502-C0E2-FF23-D3C3CE0D9463}"/>
              </a:ext>
            </a:extLst>
          </p:cNvPr>
          <p:cNvGraphicFramePr>
            <a:graphicFrameLocks noGrp="1"/>
          </p:cNvGraphicFramePr>
          <p:nvPr/>
        </p:nvGraphicFramePr>
        <p:xfrm>
          <a:off x="6321086" y="10700147"/>
          <a:ext cx="991185" cy="283482"/>
        </p:xfrm>
        <a:graphic>
          <a:graphicData uri="http://schemas.openxmlformats.org/drawingml/2006/table">
            <a:tbl>
              <a:tblPr/>
              <a:tblGrid>
                <a:gridCol w="479267">
                  <a:extLst>
                    <a:ext uri="{9D8B030D-6E8A-4147-A177-3AD203B41FA5}">
                      <a16:colId xmlns:a16="http://schemas.microsoft.com/office/drawing/2014/main" val="154882630"/>
                    </a:ext>
                  </a:extLst>
                </a:gridCol>
                <a:gridCol w="511918">
                  <a:extLst>
                    <a:ext uri="{9D8B030D-6E8A-4147-A177-3AD203B41FA5}">
                      <a16:colId xmlns:a16="http://schemas.microsoft.com/office/drawing/2014/main" val="2721471254"/>
                    </a:ext>
                  </a:extLst>
                </a:gridCol>
              </a:tblGrid>
              <a:tr h="141741">
                <a:tc>
                  <a:txBody>
                    <a:bodyPr/>
                    <a:lstStyle/>
                    <a:p>
                      <a:pPr algn="ctr" fontAlgn="ctr">
                        <a:buNone/>
                      </a:pPr>
                      <a:r>
                        <a:rPr lang="ja-JP" altLang="en-US" sz="600" b="0" i="0" u="none" strike="noStrike">
                          <a:solidFill>
                            <a:srgbClr val="000000"/>
                          </a:solidFill>
                          <a:effectLst/>
                          <a:latin typeface="+mj-ea"/>
                          <a:ea typeface="+mj-ea"/>
                        </a:rPr>
                        <a:t>公開日</a:t>
                      </a: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ダウンロード</a:t>
                      </a: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41741">
                <a:tc>
                  <a:txBody>
                    <a:bodyPr/>
                    <a:lstStyle/>
                    <a:p>
                      <a:pPr algn="ctr" fontAlgn="ctr">
                        <a:buNone/>
                      </a:pPr>
                      <a:r>
                        <a:rPr lang="en-US" altLang="ja-JP" sz="600" b="0" i="0" u="none" strike="noStrike" dirty="0">
                          <a:solidFill>
                            <a:srgbClr val="000000"/>
                          </a:solidFill>
                          <a:effectLst/>
                          <a:highlight>
                            <a:srgbClr val="FFFF00"/>
                          </a:highlight>
                          <a:latin typeface="+mj-ea"/>
                          <a:ea typeface="+mj-ea"/>
                        </a:rPr>
                        <a:t>2026/9/XX</a:t>
                      </a:r>
                      <a:endParaRPr lang="ja-JP" altLang="en-US" sz="600" b="0" i="0" u="none" strike="noStrike">
                        <a:solidFill>
                          <a:srgbClr val="000000"/>
                        </a:solidFill>
                        <a:effectLst/>
                        <a:highlight>
                          <a:srgbClr val="FFFF00"/>
                        </a:highlight>
                        <a:latin typeface="+mj-ea"/>
                        <a:ea typeface="+mj-ea"/>
                      </a:endParaRP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600" b="0" i="0" u="sng" strike="noStrike" kern="1200">
                          <a:solidFill>
                            <a:srgbClr val="3516FF"/>
                          </a:solidFill>
                          <a:effectLst/>
                          <a:latin typeface="+mj-ea"/>
                          <a:ea typeface="+mn-ea"/>
                          <a:cs typeface="+mn-cs"/>
                        </a:rPr>
                        <a:t>ダウンロード</a:t>
                      </a:r>
                      <a:endParaRPr kumimoji="1" lang="ja-JP" altLang="en-US" sz="600" b="0" i="0" u="none" strike="noStrike" kern="1200">
                        <a:solidFill>
                          <a:srgbClr val="000000"/>
                        </a:solidFill>
                        <a:effectLst/>
                        <a:latin typeface="+mj-ea"/>
                        <a:ea typeface="+mn-ea"/>
                        <a:cs typeface="+mn-cs"/>
                      </a:endParaRP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122" name="正方形/長方形 121">
            <a:extLst>
              <a:ext uri="{FF2B5EF4-FFF2-40B4-BE49-F238E27FC236}">
                <a16:creationId xmlns:a16="http://schemas.microsoft.com/office/drawing/2014/main" id="{AD7CB5D2-8336-17C9-AF25-728BE9024F46}"/>
              </a:ext>
            </a:extLst>
          </p:cNvPr>
          <p:cNvSpPr/>
          <p:nvPr/>
        </p:nvSpPr>
        <p:spPr>
          <a:xfrm>
            <a:off x="5678304" y="10579730"/>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公開日・ダウンロードリンク</a:t>
            </a:r>
          </a:p>
        </p:txBody>
      </p:sp>
      <p:sp>
        <p:nvSpPr>
          <p:cNvPr id="123" name="正方形/長方形 122">
            <a:extLst>
              <a:ext uri="{FF2B5EF4-FFF2-40B4-BE49-F238E27FC236}">
                <a16:creationId xmlns:a16="http://schemas.microsoft.com/office/drawing/2014/main" id="{F93B5BFF-A91A-8A97-2BA3-A5A47B6E46CF}"/>
              </a:ext>
            </a:extLst>
          </p:cNvPr>
          <p:cNvSpPr/>
          <p:nvPr/>
        </p:nvSpPr>
        <p:spPr>
          <a:xfrm>
            <a:off x="5434586" y="9158164"/>
            <a:ext cx="2828940" cy="1367283"/>
          </a:xfrm>
          <a:prstGeom prst="rect">
            <a:avLst/>
          </a:prstGeom>
          <a:solidFill>
            <a:schemeClr val="bg1"/>
          </a:solidFill>
          <a:ln>
            <a:noFill/>
          </a:ln>
        </p:spPr>
        <p:txBody>
          <a:bodyPr lIns="0" tIns="0" rIns="0" bIns="0" rtlCol="0" anchor="t" anchorCtr="0"/>
          <a:lstStyle/>
          <a:p>
            <a:pPr lvl="0" fontAlgn="base">
              <a:spcBef>
                <a:spcPct val="20000"/>
              </a:spcBef>
              <a:spcAft>
                <a:spcPct val="0"/>
              </a:spcAf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JLAC</a:t>
            </a:r>
            <a:r>
              <a:rPr kumimoji="1" lang="ja-JP" altLang="en-US" sz="500">
                <a:solidFill>
                  <a:prstClr val="black"/>
                </a:solidFill>
                <a:latin typeface="Meiryo UI"/>
                <a:ea typeface="Meiryo UI"/>
              </a:rPr>
              <a:t>マスタの</a:t>
            </a:r>
            <a:r>
              <a:rPr kumimoji="1" lang="ja-JP" altLang="en-US" sz="500">
                <a:solidFill>
                  <a:prstClr val="black"/>
                </a:solidFill>
                <a:latin typeface="Meiryo UI"/>
              </a:rPr>
              <a:t>見直しによって変更が生じたコードについて、</a:t>
            </a:r>
            <a:r>
              <a:rPr kumimoji="1" lang="en-US" altLang="ja-JP" sz="500" dirty="0">
                <a:solidFill>
                  <a:prstClr val="black"/>
                </a:solidFill>
                <a:latin typeface="Meiryo UI"/>
              </a:rPr>
              <a:t>202603</a:t>
            </a:r>
            <a:r>
              <a:rPr kumimoji="1" lang="ja-JP" altLang="en-US" sz="500">
                <a:solidFill>
                  <a:prstClr val="black"/>
                </a:solidFill>
                <a:latin typeface="Meiryo UI"/>
              </a:rPr>
              <a:t>版までに公開していたコードから</a:t>
            </a:r>
            <a:r>
              <a:rPr kumimoji="1" lang="en-US" altLang="ja-JP" sz="500" dirty="0">
                <a:solidFill>
                  <a:prstClr val="black"/>
                </a:solidFill>
                <a:latin typeface="Meiryo UI"/>
              </a:rPr>
              <a:t>202606</a:t>
            </a:r>
            <a:r>
              <a:rPr kumimoji="1" lang="ja-JP" altLang="en-US" sz="500">
                <a:solidFill>
                  <a:prstClr val="black"/>
                </a:solidFill>
                <a:highlight>
                  <a:srgbClr val="FFFF00"/>
                </a:highlight>
                <a:latin typeface="Meiryo UI"/>
              </a:rPr>
              <a:t>以降</a:t>
            </a:r>
            <a:r>
              <a:rPr kumimoji="1" lang="ja-JP" altLang="en-US" sz="500">
                <a:solidFill>
                  <a:prstClr val="black"/>
                </a:solidFill>
                <a:latin typeface="Meiryo UI"/>
              </a:rPr>
              <a:t>版のコードに移行いただく際の対応表をご提供します。</a:t>
            </a:r>
            <a:br>
              <a:rPr lang="en-US" altLang="ja-JP" sz="500" dirty="0">
                <a:latin typeface="Meiryo UI"/>
              </a:rPr>
            </a:br>
            <a:r>
              <a:rPr kumimoji="1" lang="en-US" altLang="ja-JP" sz="500" dirty="0">
                <a:solidFill>
                  <a:prstClr val="black"/>
                </a:solidFill>
                <a:highlight>
                  <a:srgbClr val="FFFF00"/>
                </a:highlight>
                <a:latin typeface="Meiryo UI"/>
              </a:rPr>
              <a:t>202603</a:t>
            </a:r>
            <a:r>
              <a:rPr kumimoji="1" lang="ja-JP" altLang="en-US" sz="500">
                <a:solidFill>
                  <a:prstClr val="black"/>
                </a:solidFill>
                <a:highlight>
                  <a:srgbClr val="FFFF00"/>
                </a:highlight>
                <a:latin typeface="Meiryo UI"/>
              </a:rPr>
              <a:t>版までに公開していたコードをご利用の医療機関におかれましては、新コードへのマッピング作業を行っていただく際にご参照ください</a:t>
            </a:r>
            <a:r>
              <a:rPr kumimoji="1" lang="ja-JP" altLang="en-US" sz="500">
                <a:solidFill>
                  <a:prstClr val="black"/>
                </a:solidFill>
                <a:latin typeface="Meiryo UI"/>
              </a:rPr>
              <a:t>。</a:t>
            </a:r>
            <a:endParaRPr kumimoji="1" lang="en-US" altLang="ja-JP" sz="500" dirty="0">
              <a:solidFill>
                <a:prstClr val="black"/>
              </a:solidFill>
              <a:latin typeface="Meiryo UI"/>
            </a:endParaRPr>
          </a:p>
          <a:p>
            <a:pPr lvl="0" fontAlgn="base">
              <a:spcBef>
                <a:spcPct val="20000"/>
              </a:spcBef>
              <a:spcAft>
                <a:spcPct val="0"/>
              </a:spcAft>
              <a:defRPr/>
            </a:pPr>
            <a:r>
              <a:rPr kumimoji="1" lang="en-US" altLang="ja-JP" sz="500" dirty="0">
                <a:solidFill>
                  <a:prstClr val="black"/>
                </a:solidFill>
                <a:highlight>
                  <a:srgbClr val="FFFF00"/>
                </a:highlight>
                <a:latin typeface="Meiryo UI"/>
              </a:rPr>
              <a:t>※</a:t>
            </a:r>
            <a:r>
              <a:rPr kumimoji="1" lang="ja-JP" altLang="en-US" sz="500">
                <a:solidFill>
                  <a:prstClr val="black"/>
                </a:solidFill>
                <a:highlight>
                  <a:srgbClr val="FFFF00"/>
                </a:highlight>
                <a:latin typeface="Meiryo UI"/>
              </a:rPr>
              <a:t>本表は、あくまで</a:t>
            </a:r>
            <a:r>
              <a:rPr kumimoji="1" lang="en-US" altLang="ja-JP" sz="500" dirty="0">
                <a:solidFill>
                  <a:prstClr val="black"/>
                </a:solidFill>
                <a:highlight>
                  <a:srgbClr val="FFFF00"/>
                </a:highlight>
                <a:latin typeface="Meiryo UI"/>
              </a:rPr>
              <a:t>202603</a:t>
            </a:r>
            <a:r>
              <a:rPr kumimoji="1" lang="ja-JP" altLang="en-US" sz="500">
                <a:solidFill>
                  <a:prstClr val="black"/>
                </a:solidFill>
                <a:highlight>
                  <a:srgbClr val="FFFF00"/>
                </a:highlight>
                <a:latin typeface="Meiryo UI"/>
              </a:rPr>
              <a:t>版から</a:t>
            </a:r>
            <a:r>
              <a:rPr kumimoji="1" lang="en-US" altLang="ja-JP" sz="500" dirty="0">
                <a:solidFill>
                  <a:prstClr val="black"/>
                </a:solidFill>
                <a:highlight>
                  <a:srgbClr val="FFFF00"/>
                </a:highlight>
                <a:latin typeface="Meiryo UI"/>
              </a:rPr>
              <a:t>202606</a:t>
            </a:r>
            <a:r>
              <a:rPr kumimoji="1" lang="ja-JP" altLang="en-US" sz="500">
                <a:solidFill>
                  <a:prstClr val="black"/>
                </a:solidFill>
                <a:highlight>
                  <a:srgbClr val="FFFF00"/>
                </a:highlight>
                <a:latin typeface="Meiryo UI"/>
              </a:rPr>
              <a:t>版への移行差分を整理したものです。したがって、</a:t>
            </a:r>
            <a:r>
              <a:rPr kumimoji="1" lang="en-US" altLang="ja-JP" sz="500" dirty="0">
                <a:solidFill>
                  <a:prstClr val="black"/>
                </a:solidFill>
                <a:highlight>
                  <a:srgbClr val="FFFF00"/>
                </a:highlight>
                <a:latin typeface="Meiryo UI"/>
              </a:rPr>
              <a:t>202608</a:t>
            </a:r>
            <a:r>
              <a:rPr kumimoji="1" lang="ja-JP" altLang="en-US" sz="500">
                <a:solidFill>
                  <a:prstClr val="black"/>
                </a:solidFill>
                <a:highlight>
                  <a:srgbClr val="FFFF00"/>
                </a:highlight>
                <a:latin typeface="Meiryo UI"/>
              </a:rPr>
              <a:t>版で新規に追加された試薬等のコードは本表には含まれません。なお、</a:t>
            </a:r>
            <a:r>
              <a:rPr kumimoji="1" lang="en-US" altLang="ja-JP" sz="500" dirty="0">
                <a:solidFill>
                  <a:prstClr val="black"/>
                </a:solidFill>
                <a:highlight>
                  <a:srgbClr val="FFFF00"/>
                </a:highlight>
                <a:latin typeface="Meiryo UI"/>
              </a:rPr>
              <a:t>202603</a:t>
            </a:r>
            <a:r>
              <a:rPr kumimoji="1" lang="ja-JP" altLang="en-US" sz="500">
                <a:solidFill>
                  <a:prstClr val="black"/>
                </a:solidFill>
                <a:highlight>
                  <a:srgbClr val="FFFF00"/>
                </a:highlight>
                <a:latin typeface="Meiryo UI"/>
              </a:rPr>
              <a:t>版から</a:t>
            </a:r>
            <a:r>
              <a:rPr kumimoji="1" lang="en-US" altLang="ja-JP" sz="500" dirty="0">
                <a:solidFill>
                  <a:prstClr val="black"/>
                </a:solidFill>
                <a:highlight>
                  <a:srgbClr val="FFFF00"/>
                </a:highlight>
                <a:latin typeface="Meiryo UI"/>
              </a:rPr>
              <a:t>202606</a:t>
            </a:r>
            <a:r>
              <a:rPr kumimoji="1" lang="ja-JP" altLang="en-US" sz="500">
                <a:solidFill>
                  <a:prstClr val="black"/>
                </a:solidFill>
                <a:highlight>
                  <a:srgbClr val="FFFF00"/>
                </a:highlight>
                <a:latin typeface="Meiryo UI"/>
              </a:rPr>
              <a:t>版への見直し内容に不備等が判明した箇所のみ更新を行っております。</a:t>
            </a:r>
            <a:endParaRPr lang="ja-JP" altLang="en-US" sz="500">
              <a:solidFill>
                <a:prstClr val="black"/>
              </a:solidFill>
              <a:latin typeface="Meiryo UI"/>
            </a:endParaRPr>
          </a:p>
          <a:p>
            <a:pPr>
              <a:spcBef>
                <a:spcPct val="20000"/>
              </a:spcBef>
              <a:spcAft>
                <a:spcPct val="0"/>
              </a:spcAft>
              <a:defRPr/>
            </a:pPr>
            <a:endParaRPr lang="ja-JP" altLang="en-US" sz="500">
              <a:solidFill>
                <a:prstClr val="black"/>
              </a:solidFill>
              <a:latin typeface="Meiryo UI"/>
            </a:endParaRPr>
          </a:p>
          <a:p>
            <a:pPr lvl="0" fontAlgn="base">
              <a:spcBef>
                <a:spcPct val="20000"/>
              </a:spcBef>
              <a:spcAft>
                <a:spcPct val="0"/>
              </a:spcAf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500" b="1" dirty="0">
                <a:solidFill>
                  <a:srgbClr val="FF0000"/>
                </a:solidFill>
                <a:latin typeface="Meiryo UI (Body)"/>
              </a:rPr>
              <a:t> </a:t>
            </a:r>
            <a:r>
              <a:rPr kumimoji="1" lang="en-US" altLang="ja-JP" sz="500" dirty="0">
                <a:highlight>
                  <a:srgbClr val="FFFF00"/>
                </a:highlight>
                <a:latin typeface="Meiryo UI (Body)"/>
              </a:rPr>
              <a:t>&lt;20260827</a:t>
            </a:r>
            <a:r>
              <a:rPr kumimoji="1" lang="ja-JP" altLang="en-US" sz="500">
                <a:highlight>
                  <a:srgbClr val="FFFF00"/>
                </a:highlight>
                <a:latin typeface="Meiryo UI (Body)"/>
              </a:rPr>
              <a:t>追記</a:t>
            </a:r>
            <a:r>
              <a:rPr kumimoji="1" lang="en-US" altLang="ja-JP" sz="500" dirty="0">
                <a:highlight>
                  <a:srgbClr val="FFFF00"/>
                </a:highlight>
                <a:latin typeface="Meiryo UI (Body)"/>
              </a:rPr>
              <a:t>&gt; </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2026/08/</a:t>
            </a:r>
            <a:r>
              <a:rPr kumimoji="1" lang="en-US" altLang="ja-JP" sz="500" dirty="0">
                <a:solidFill>
                  <a:prstClr val="black"/>
                </a:solidFill>
                <a:latin typeface="Meiryo UI"/>
                <a:ea typeface="Meiryo UI"/>
              </a:rPr>
              <a:t>27</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に新・旧コードの対応表を更新しました。</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留意事項 ④</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に記載のとおり</a:t>
            </a:r>
            <a:r>
              <a:rPr kumimoji="1" lang="en-US" altLang="ja-JP" sz="500" dirty="0">
                <a:solidFill>
                  <a:prstClr val="black"/>
                </a:solidFill>
                <a:latin typeface="Meiryo UI"/>
              </a:rPr>
              <a:t> </a:t>
            </a:r>
            <a:r>
              <a:rPr kumimoji="1" lang="ja-JP" altLang="en-US" sz="500">
                <a:solidFill>
                  <a:prstClr val="black"/>
                </a:solidFill>
                <a:latin typeface="Meiryo UI"/>
              </a:rPr>
              <a:t>、以下の</a:t>
            </a:r>
            <a:r>
              <a:rPr kumimoji="1" lang="en-US" altLang="ja-JP" sz="500" dirty="0">
                <a:solidFill>
                  <a:prstClr val="black"/>
                </a:solidFill>
                <a:latin typeface="Meiryo UI"/>
              </a:rPr>
              <a:t>XML</a:t>
            </a:r>
            <a:r>
              <a:rPr kumimoji="1" lang="ja-JP" altLang="en-US" sz="500">
                <a:solidFill>
                  <a:prstClr val="black"/>
                </a:solidFill>
                <a:latin typeface="Meiryo UI"/>
              </a:rPr>
              <a:t>用単位をより適切な</a:t>
            </a:r>
            <a:r>
              <a:rPr kumimoji="1" lang="en-US" altLang="ja-JP" sz="500" dirty="0">
                <a:solidFill>
                  <a:prstClr val="black"/>
                </a:solidFill>
                <a:latin typeface="Meiryo UI"/>
              </a:rPr>
              <a:t>XML</a:t>
            </a:r>
            <a:r>
              <a:rPr kumimoji="1" lang="ja-JP" altLang="en-US" sz="500">
                <a:solidFill>
                  <a:prstClr val="black"/>
                </a:solidFill>
                <a:latin typeface="Meiryo UI"/>
              </a:rPr>
              <a:t>用単位に変更しております。新しい</a:t>
            </a:r>
            <a:r>
              <a:rPr kumimoji="1" lang="en-US" altLang="ja-JP" sz="500" dirty="0">
                <a:solidFill>
                  <a:prstClr val="black"/>
                </a:solidFill>
                <a:latin typeface="Meiryo UI"/>
              </a:rPr>
              <a:t>XML</a:t>
            </a:r>
            <a:r>
              <a:rPr kumimoji="1" lang="ja-JP" altLang="en-US" sz="500">
                <a:solidFill>
                  <a:prstClr val="black"/>
                </a:solidFill>
                <a:latin typeface="Meiryo UI"/>
              </a:rPr>
              <a:t>用単位の詳細につきましては、</a:t>
            </a:r>
            <a:r>
              <a:rPr kumimoji="1" lang="ja-JP" altLang="en-US" sz="500">
                <a:solidFill>
                  <a:prstClr val="black"/>
                </a:solidFill>
                <a:highlight>
                  <a:srgbClr val="FFFF00"/>
                </a:highlight>
                <a:latin typeface="Meiryo UI"/>
              </a:rPr>
              <a:t>新・旧コード対応表</a:t>
            </a:r>
            <a:r>
              <a:rPr kumimoji="1" lang="ja-JP" altLang="en-US" sz="500">
                <a:solidFill>
                  <a:prstClr val="black"/>
                </a:solidFill>
                <a:latin typeface="Meiryo UI"/>
              </a:rPr>
              <a:t>をご確認ください。</a:t>
            </a:r>
            <a:endParaRPr kumimoji="1" lang="en-US" altLang="ja-JP" sz="500" dirty="0">
              <a:solidFill>
                <a:prstClr val="black"/>
              </a:solidFill>
              <a:latin typeface="Meiryo UI"/>
            </a:endParaRPr>
          </a:p>
          <a:p>
            <a:pPr lvl="0" fontAlgn="base">
              <a:spcBef>
                <a:spcPct val="20000"/>
              </a:spcBef>
              <a:spcAft>
                <a:spcPct val="0"/>
              </a:spcAft>
              <a:defRPr/>
            </a:pPr>
            <a:r>
              <a:rPr kumimoji="1" lang="ja-JP" altLang="en-US" sz="500">
                <a:latin typeface="Meiryo UI"/>
              </a:rPr>
              <a:t>　</a:t>
            </a:r>
            <a:r>
              <a:rPr kumimoji="1" lang="en-US" altLang="ja-JP" sz="500" dirty="0">
                <a:latin typeface="Meiryo UI"/>
              </a:rPr>
              <a:t>-KU/L</a:t>
            </a:r>
            <a:r>
              <a:rPr kumimoji="1" lang="ja-JP" altLang="en-US" sz="500">
                <a:latin typeface="Meiryo UI"/>
              </a:rPr>
              <a:t>（該当試薬：</a:t>
            </a:r>
            <a:r>
              <a:rPr kumimoji="1" lang="en-US" altLang="ja-JP" sz="500" dirty="0">
                <a:latin typeface="Meiryo UI"/>
              </a:rPr>
              <a:t>E</a:t>
            </a:r>
            <a:r>
              <a:rPr kumimoji="1" lang="ja-JP" altLang="en-US" sz="500">
                <a:latin typeface="Meiryo UI"/>
              </a:rPr>
              <a:t>テスト「</a:t>
            </a:r>
            <a:r>
              <a:rPr kumimoji="1" lang="en-US" altLang="ja-JP" sz="500" dirty="0">
                <a:latin typeface="Meiryo UI"/>
              </a:rPr>
              <a:t>TOSOH</a:t>
            </a:r>
            <a:r>
              <a:rPr kumimoji="1" lang="ja-JP" altLang="en-US" sz="500">
                <a:latin typeface="Meiryo UI"/>
              </a:rPr>
              <a:t>」</a:t>
            </a:r>
            <a:r>
              <a:rPr kumimoji="1" lang="en-US" altLang="ja-JP" sz="500" dirty="0">
                <a:latin typeface="Meiryo UI"/>
              </a:rPr>
              <a:t>II(HBsAg)</a:t>
            </a:r>
            <a:r>
              <a:rPr kumimoji="1" lang="ja-JP" altLang="en-US" sz="500">
                <a:latin typeface="Meiryo UI"/>
              </a:rPr>
              <a:t>）</a:t>
            </a:r>
            <a:endParaRPr kumimoji="1" lang="en-US" altLang="ja-JP" sz="500" dirty="0">
              <a:solidFill>
                <a:prstClr val="black"/>
              </a:solidFill>
              <a:latin typeface="Meiryo UI"/>
            </a:endParaRPr>
          </a:p>
          <a:p>
            <a:pPr lvl="0" fontAlgn="base">
              <a:spcBef>
                <a:spcPct val="20000"/>
              </a:spcBef>
              <a:spcAft>
                <a:spcPct val="0"/>
              </a:spcAft>
              <a:defRPr/>
            </a:pPr>
            <a:r>
              <a:rPr kumimoji="1" lang="ja-JP" altLang="en-US" sz="500">
                <a:solidFill>
                  <a:prstClr val="black"/>
                </a:solidFill>
                <a:latin typeface="Meiryo UI"/>
              </a:rPr>
              <a:t>・</a:t>
            </a:r>
            <a:r>
              <a:rPr kumimoji="1" lang="en-US" altLang="ja-JP" sz="500" b="1" dirty="0">
                <a:solidFill>
                  <a:srgbClr val="FF0000"/>
                </a:solidFill>
                <a:latin typeface="Meiryo UI (Body)"/>
              </a:rPr>
              <a:t> </a:t>
            </a:r>
            <a:r>
              <a:rPr kumimoji="1" lang="en-US" altLang="ja-JP" sz="500" b="1" dirty="0">
                <a:solidFill>
                  <a:srgbClr val="FF0000"/>
                </a:solidFill>
                <a:highlight>
                  <a:srgbClr val="FFFF00"/>
                </a:highlight>
                <a:latin typeface="Meiryo UI (Body)"/>
              </a:rPr>
              <a:t>&lt;202609XX</a:t>
            </a:r>
            <a:r>
              <a:rPr kumimoji="1" lang="ja-JP" altLang="en-US" sz="500" b="1">
                <a:solidFill>
                  <a:srgbClr val="FF0000"/>
                </a:solidFill>
                <a:highlight>
                  <a:srgbClr val="FFFF00"/>
                </a:highlight>
                <a:latin typeface="Meiryo UI (Body)"/>
              </a:rPr>
              <a:t>追記</a:t>
            </a:r>
            <a:r>
              <a:rPr kumimoji="1" lang="en-US" altLang="ja-JP" sz="500" b="1" dirty="0">
                <a:solidFill>
                  <a:srgbClr val="FF0000"/>
                </a:solidFill>
                <a:highlight>
                  <a:srgbClr val="FFFF00"/>
                </a:highlight>
                <a:latin typeface="Meiryo UI (Body)"/>
              </a:rPr>
              <a:t>&gt;</a:t>
            </a:r>
            <a:r>
              <a:rPr kumimoji="1" lang="en-US" altLang="ja-JP" sz="800" dirty="0">
                <a:highlight>
                  <a:srgbClr val="FFFF00"/>
                </a:highlight>
                <a:latin typeface="Meiryo UI" panose="020B0604030504040204" pitchFamily="50" charset="-128"/>
                <a:ea typeface="Meiryo UI" panose="020B0604030504040204" pitchFamily="50" charset="-128"/>
              </a:rPr>
              <a:t> </a:t>
            </a:r>
            <a:r>
              <a:rPr kumimoji="1" lang="en-US" altLang="ja-JP" sz="500" dirty="0">
                <a:solidFill>
                  <a:prstClr val="black"/>
                </a:solidFill>
                <a:highlight>
                  <a:srgbClr val="FFFF00"/>
                </a:highlight>
                <a:latin typeface="Meiryo UI"/>
              </a:rPr>
              <a:t>2026/9/XX</a:t>
            </a:r>
            <a:r>
              <a:rPr kumimoji="1" lang="ja-JP" altLang="en-US" sz="500">
                <a:solidFill>
                  <a:prstClr val="black"/>
                </a:solidFill>
                <a:highlight>
                  <a:srgbClr val="FFFF00"/>
                </a:highlight>
                <a:latin typeface="Meiryo UI"/>
              </a:rPr>
              <a:t>に新・旧コードの対応表を更新しました。一部のコードについて、変更区分を更新しました。更新内容につきましては、新・旧コード対応表をご確認ください。</a:t>
            </a:r>
            <a:endParaRPr kumimoji="1" lang="en-US" altLang="ja-JP" sz="500" dirty="0">
              <a:solidFill>
                <a:prstClr val="black"/>
              </a:solidFill>
              <a:highlight>
                <a:srgbClr val="FFFF00"/>
              </a:highlight>
              <a:latin typeface="Meiryo UI"/>
            </a:endParaRPr>
          </a:p>
        </p:txBody>
      </p:sp>
      <p:sp>
        <p:nvSpPr>
          <p:cNvPr id="8" name="四角形: 角を丸くする 7">
            <a:extLst>
              <a:ext uri="{FF2B5EF4-FFF2-40B4-BE49-F238E27FC236}">
                <a16:creationId xmlns:a16="http://schemas.microsoft.com/office/drawing/2014/main" id="{0CFF23BC-F16B-5477-7A4D-7DE9B5FB2C2B}"/>
              </a:ext>
            </a:extLst>
          </p:cNvPr>
          <p:cNvSpPr/>
          <p:nvPr/>
        </p:nvSpPr>
        <p:spPr>
          <a:xfrm>
            <a:off x="7756910" y="1577834"/>
            <a:ext cx="1925838" cy="853880"/>
          </a:xfrm>
          <a:prstGeom prst="roundRect">
            <a:avLst/>
          </a:prstGeom>
          <a:solidFill>
            <a:schemeClr val="accent2">
              <a:lumMod val="20000"/>
              <a:lumOff val="80000"/>
            </a:schemeClr>
          </a:solidFill>
          <a:ln>
            <a:noFill/>
            <a:prstDash val="dash"/>
          </a:ln>
        </p:spPr>
        <p:txBody>
          <a:bodyPr wrap="none" lIns="36000" tIns="108000" rIns="36000" bIns="36000" rtlCol="0" anchor="ctr">
            <a:noAutofit/>
          </a:bodyP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1050" b="0" i="0" u="sng" strike="noStrike" kern="1200" cap="none" spc="0" normalizeH="0" baseline="0" noProof="0">
                <a:ln>
                  <a:noFill/>
                </a:ln>
                <a:solidFill>
                  <a:prstClr val="black"/>
                </a:solidFill>
                <a:effectLst/>
                <a:uLnTx/>
                <a:uFillTx/>
                <a:latin typeface="Meiryo UI"/>
                <a:ea typeface="Meiryo UI"/>
                <a:cs typeface="+mn-cs"/>
              </a:rPr>
              <a:t>基金担当者様</a:t>
            </a:r>
            <a:endParaRPr kumimoji="1" lang="en-US" altLang="ja-JP" sz="105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2026/9</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月では</a:t>
            </a:r>
            <a:b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こちらのレイアウトに更新ください。</a:t>
            </a:r>
            <a:endParaRPr kumimoji="1" lang="en-US" altLang="ja-JP" sz="105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1050" dirty="0">
                <a:solidFill>
                  <a:prstClr val="black"/>
                </a:solidFill>
                <a:highlight>
                  <a:srgbClr val="FFFF00"/>
                </a:highlight>
                <a:latin typeface="Meiryo UI"/>
                <a:ea typeface="Meiryo UI"/>
              </a:rPr>
              <a:t>※</a:t>
            </a:r>
            <a:r>
              <a:rPr kumimoji="1" lang="ja-JP" altLang="en-US" sz="1050">
                <a:solidFill>
                  <a:prstClr val="black"/>
                </a:solidFill>
                <a:highlight>
                  <a:srgbClr val="FFFF00"/>
                </a:highlight>
                <a:latin typeface="Meiryo UI"/>
                <a:ea typeface="Meiryo UI"/>
              </a:rPr>
              <a:t>追記部分</a:t>
            </a:r>
            <a:endParaRPr kumimoji="1" lang="ja-JP" altLang="en-US" sz="1050" b="0" i="0" u="none" strike="noStrike" kern="1200" cap="none" spc="0" normalizeH="0" baseline="0" noProof="0">
              <a:ln>
                <a:noFill/>
              </a:ln>
              <a:solidFill>
                <a:prstClr val="black"/>
              </a:solidFill>
              <a:effectLst/>
              <a:highlight>
                <a:srgbClr val="FFFF00"/>
              </a:highlight>
              <a:uLnTx/>
              <a:uFillTx/>
              <a:latin typeface="Meiryo UI"/>
              <a:ea typeface="Meiryo UI"/>
              <a:cs typeface="+mn-cs"/>
            </a:endParaRPr>
          </a:p>
        </p:txBody>
      </p:sp>
      <p:sp>
        <p:nvSpPr>
          <p:cNvPr id="11" name="四角形: 角を丸くする 10">
            <a:extLst>
              <a:ext uri="{FF2B5EF4-FFF2-40B4-BE49-F238E27FC236}">
                <a16:creationId xmlns:a16="http://schemas.microsoft.com/office/drawing/2014/main" id="{CD9CA578-09BB-7D93-7430-841859799F31}"/>
              </a:ext>
            </a:extLst>
          </p:cNvPr>
          <p:cNvSpPr/>
          <p:nvPr/>
        </p:nvSpPr>
        <p:spPr>
          <a:xfrm>
            <a:off x="8022957" y="164673"/>
            <a:ext cx="1778635" cy="1074833"/>
          </a:xfrm>
          <a:prstGeom prst="roundRect">
            <a:avLst/>
          </a:prstGeom>
          <a:solidFill>
            <a:schemeClr val="tx2">
              <a:lumMod val="20000"/>
              <a:lumOff val="80000"/>
            </a:schemeClr>
          </a:solidFill>
          <a:ln>
            <a:noFill/>
            <a:prstDash val="dash"/>
          </a:ln>
        </p:spPr>
        <p:txBody>
          <a:bodyPr wrap="square" lIns="36000" tIns="108000" rIns="36000" bIns="36000" rtlCol="0" anchor="ctr">
            <a:noAutofit/>
          </a:bodyP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【ACN</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内部メモ</a:t>
            </a: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メール送付時には、</a:t>
            </a: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JLAC</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公開日の更新漏れも合わせてご依頼予定</a:t>
            </a:r>
            <a:endParaRPr kumimoji="1" lang="en-US" altLang="ja-JP" sz="105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10" name="正方形/長方形 9">
            <a:extLst>
              <a:ext uri="{FF2B5EF4-FFF2-40B4-BE49-F238E27FC236}">
                <a16:creationId xmlns:a16="http://schemas.microsoft.com/office/drawing/2014/main" id="{011351C9-39E5-0A44-8B2B-A5257295A306}"/>
              </a:ext>
            </a:extLst>
          </p:cNvPr>
          <p:cNvSpPr/>
          <p:nvPr/>
        </p:nvSpPr>
        <p:spPr>
          <a:xfrm>
            <a:off x="1488092" y="1692037"/>
            <a:ext cx="2074944" cy="348061"/>
          </a:xfrm>
          <a:prstGeom prst="rect">
            <a:avLst/>
          </a:prstGeom>
          <a:solidFill>
            <a:schemeClr val="bg1"/>
          </a:solidFill>
          <a:ln>
            <a:noFill/>
          </a:ln>
        </p:spPr>
        <p:txBody>
          <a:bodyPr lIns="0" rIns="0" rtlCol="0" anchor="t" anchorCtr="0"/>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800" b="0" i="0" strike="noStrike" kern="1200" cap="none" spc="0" normalizeH="0" baseline="0" noProof="0" dirty="0">
                <a:ln>
                  <a:noFill/>
                </a:ln>
                <a:solidFill>
                  <a:prstClr val="black"/>
                </a:solidFill>
                <a:effectLst/>
                <a:uLnTx/>
                <a:uFillTx/>
                <a:latin typeface="Meiryo UI"/>
                <a:ea typeface="Meiryo UI"/>
                <a:cs typeface="+mn-cs"/>
              </a:rPr>
              <a:t>【</a:t>
            </a:r>
            <a:r>
              <a:rPr kumimoji="1" lang="ja-JP" altLang="en-US" sz="800" b="0" i="0" strike="noStrike" kern="1200" cap="none" spc="0" normalizeH="0" baseline="0" noProof="0">
                <a:ln>
                  <a:noFill/>
                </a:ln>
                <a:solidFill>
                  <a:prstClr val="black"/>
                </a:solidFill>
                <a:effectLst/>
                <a:uLnTx/>
                <a:uFillTx/>
                <a:latin typeface="Meiryo UI"/>
                <a:ea typeface="Meiryo UI"/>
                <a:cs typeface="+mn-cs"/>
              </a:rPr>
              <a:t>参考</a:t>
            </a:r>
            <a:r>
              <a:rPr kumimoji="1" lang="en-US" altLang="ja-JP" sz="800" b="0" i="0" strike="noStrike" kern="1200" cap="none" spc="0" normalizeH="0" baseline="0" noProof="0" dirty="0">
                <a:ln>
                  <a:noFill/>
                </a:ln>
                <a:solidFill>
                  <a:prstClr val="black"/>
                </a:solidFill>
                <a:effectLst/>
                <a:uLnTx/>
                <a:uFillTx/>
                <a:latin typeface="Meiryo UI"/>
                <a:ea typeface="Meiryo UI"/>
                <a:cs typeface="+mn-cs"/>
              </a:rPr>
              <a:t>】</a:t>
            </a:r>
            <a:r>
              <a:rPr kumimoji="1" lang="ja-JP" altLang="en-US" sz="800" b="0" i="0" u="sng" strike="noStrike" kern="1200" cap="none" spc="0" normalizeH="0" baseline="0" noProof="0">
                <a:ln>
                  <a:noFill/>
                </a:ln>
                <a:solidFill>
                  <a:prstClr val="black"/>
                </a:solidFill>
                <a:effectLst/>
                <a:uLnTx/>
                <a:uFillTx/>
                <a:latin typeface="Meiryo UI"/>
                <a:ea typeface="Meiryo UI"/>
                <a:cs typeface="+mn-cs"/>
              </a:rPr>
              <a:t>＜更新案</a:t>
            </a:r>
            <a:r>
              <a:rPr kumimoji="1" lang="en-US" altLang="ja-JP" sz="800" b="1" i="0" u="sng" strike="noStrike" kern="1200" cap="none" spc="0" normalizeH="0" baseline="0" noProof="0" dirty="0">
                <a:ln>
                  <a:noFill/>
                </a:ln>
                <a:solidFill>
                  <a:prstClr val="black"/>
                </a:solidFill>
                <a:effectLst/>
                <a:uLnTx/>
                <a:uFillTx/>
                <a:latin typeface="Meiryo UI"/>
                <a:ea typeface="Meiryo UI"/>
                <a:cs typeface="+mn-cs"/>
              </a:rPr>
              <a:t>(202608</a:t>
            </a:r>
            <a:r>
              <a:rPr kumimoji="1" lang="ja-JP" altLang="en-US" sz="800" b="1" u="sng">
                <a:solidFill>
                  <a:prstClr val="black"/>
                </a:solidFill>
                <a:latin typeface="Meiryo UI"/>
                <a:ea typeface="Meiryo UI"/>
              </a:rPr>
              <a:t>の</a:t>
            </a:r>
            <a:r>
              <a:rPr kumimoji="1" lang="ja-JP" altLang="en-US" sz="800" b="1" i="0" u="sng" strike="noStrike" kern="1200" cap="none" spc="0" normalizeH="0" baseline="0" noProof="0">
                <a:ln>
                  <a:noFill/>
                </a:ln>
                <a:solidFill>
                  <a:prstClr val="black"/>
                </a:solidFill>
                <a:effectLst/>
                <a:uLnTx/>
                <a:uFillTx/>
                <a:latin typeface="Meiryo UI"/>
                <a:ea typeface="Meiryo UI"/>
                <a:cs typeface="+mn-cs"/>
              </a:rPr>
              <a:t>マスタ公開以降</a:t>
            </a:r>
            <a:r>
              <a:rPr kumimoji="1" lang="en-US" altLang="ja-JP" sz="800" b="1"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800" b="0" i="0" u="sng" strike="noStrike" kern="1200" cap="none" spc="0" normalizeH="0" baseline="0" noProof="0">
                <a:ln>
                  <a:noFill/>
                </a:ln>
                <a:solidFill>
                  <a:prstClr val="black"/>
                </a:solidFill>
                <a:effectLst/>
                <a:uLnTx/>
                <a:uFillTx/>
                <a:latin typeface="Meiryo UI"/>
                <a:ea typeface="Meiryo UI"/>
                <a:cs typeface="+mn-cs"/>
              </a:rPr>
              <a:t>＞</a:t>
            </a:r>
            <a:endParaRPr kumimoji="1" lang="en-US" altLang="ja-JP" sz="8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80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アコーディオン開</a:t>
            </a:r>
            <a:r>
              <a:rPr kumimoji="1" lang="en-US" altLang="ja-JP" sz="8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800" b="0" i="0" u="none" strike="noStrike" kern="1200" cap="none" spc="0" normalizeH="0" baseline="0" noProof="0">
              <a:ln>
                <a:noFill/>
              </a:ln>
              <a:solidFill>
                <a:prstClr val="black"/>
              </a:solidFill>
              <a:effectLst/>
              <a:uLnTx/>
              <a:uFillTx/>
              <a:latin typeface="Meiryo UI"/>
              <a:ea typeface="Meiryo UI"/>
              <a:cs typeface="+mn-cs"/>
            </a:endParaRPr>
          </a:p>
        </p:txBody>
      </p:sp>
      <p:pic>
        <p:nvPicPr>
          <p:cNvPr id="13" name="図 19">
            <a:extLst>
              <a:ext uri="{FF2B5EF4-FFF2-40B4-BE49-F238E27FC236}">
                <a16:creationId xmlns:a16="http://schemas.microsoft.com/office/drawing/2014/main" id="{F23AC429-50CC-2873-5278-F0935BC0D07A}"/>
              </a:ext>
            </a:extLst>
          </p:cNvPr>
          <p:cNvPicPr preferRelativeResize="0">
            <a:picLocks/>
          </p:cNvPicPr>
          <p:nvPr/>
        </p:nvPicPr>
        <p:blipFill>
          <a:blip r:embed="rId3"/>
          <a:srcRect l="2946" t="103836" r="-2946" b="-15325"/>
          <a:stretch>
            <a:fillRect/>
          </a:stretch>
        </p:blipFill>
        <p:spPr>
          <a:xfrm>
            <a:off x="924485" y="2138324"/>
            <a:ext cx="3099971" cy="12085676"/>
          </a:xfrm>
          <a:prstGeom prst="rect">
            <a:avLst/>
          </a:prstGeom>
          <a:ln w="19050">
            <a:solidFill>
              <a:schemeClr val="bg1">
                <a:lumMod val="85000"/>
              </a:schemeClr>
            </a:solidFill>
          </a:ln>
        </p:spPr>
      </p:pic>
      <p:pic>
        <p:nvPicPr>
          <p:cNvPr id="16" name="図 15">
            <a:extLst>
              <a:ext uri="{FF2B5EF4-FFF2-40B4-BE49-F238E27FC236}">
                <a16:creationId xmlns:a16="http://schemas.microsoft.com/office/drawing/2014/main" id="{A64069D1-AC2B-8517-1B0D-A71CEDAF97F6}"/>
              </a:ext>
            </a:extLst>
          </p:cNvPr>
          <p:cNvPicPr>
            <a:picLocks noChangeAspect="1"/>
          </p:cNvPicPr>
          <p:nvPr/>
        </p:nvPicPr>
        <p:blipFill>
          <a:blip r:embed="rId4"/>
          <a:srcRect b="6584"/>
          <a:stretch>
            <a:fillRect/>
          </a:stretch>
        </p:blipFill>
        <p:spPr>
          <a:xfrm>
            <a:off x="991472" y="2136240"/>
            <a:ext cx="3014216" cy="1295448"/>
          </a:xfrm>
          <a:prstGeom prst="rect">
            <a:avLst/>
          </a:prstGeom>
        </p:spPr>
      </p:pic>
      <p:cxnSp>
        <p:nvCxnSpPr>
          <p:cNvPr id="20" name="直線コネクタ 19">
            <a:extLst>
              <a:ext uri="{FF2B5EF4-FFF2-40B4-BE49-F238E27FC236}">
                <a16:creationId xmlns:a16="http://schemas.microsoft.com/office/drawing/2014/main" id="{A1FCA6A8-122A-2DA6-3FDE-AED8748B28D9}"/>
              </a:ext>
            </a:extLst>
          </p:cNvPr>
          <p:cNvCxnSpPr>
            <a:cxnSpLocks/>
          </p:cNvCxnSpPr>
          <p:nvPr/>
        </p:nvCxnSpPr>
        <p:spPr bwMode="auto">
          <a:xfrm>
            <a:off x="4644885" y="1787199"/>
            <a:ext cx="0" cy="13691514"/>
          </a:xfrm>
          <a:prstGeom prst="line">
            <a:avLst/>
          </a:prstGeom>
          <a:solidFill>
            <a:schemeClr val="bg1"/>
          </a:solidFill>
          <a:ln w="9525" cap="flat" cmpd="sng" algn="ctr">
            <a:solidFill>
              <a:schemeClr val="bg1">
                <a:lumMod val="65000"/>
              </a:schemeClr>
            </a:solidFill>
            <a:prstDash val="lgDash"/>
            <a:round/>
            <a:headEnd type="none" w="med" len="med"/>
            <a:tailEnd type="none" w="med" len="med"/>
          </a:ln>
          <a:effectLst/>
        </p:spPr>
      </p:cxnSp>
      <p:sp>
        <p:nvSpPr>
          <p:cNvPr id="21" name="正方形/長方形 20">
            <a:extLst>
              <a:ext uri="{FF2B5EF4-FFF2-40B4-BE49-F238E27FC236}">
                <a16:creationId xmlns:a16="http://schemas.microsoft.com/office/drawing/2014/main" id="{99DCA199-16FA-6988-DADD-64FD3E50C9E8}"/>
              </a:ext>
            </a:extLst>
          </p:cNvPr>
          <p:cNvSpPr/>
          <p:nvPr/>
        </p:nvSpPr>
        <p:spPr>
          <a:xfrm>
            <a:off x="1118257" y="3325347"/>
            <a:ext cx="2828940" cy="694265"/>
          </a:xfrm>
          <a:prstGeom prst="rect">
            <a:avLst/>
          </a:prstGeom>
          <a:solidFill>
            <a:schemeClr val="bg1"/>
          </a:solidFill>
          <a:ln>
            <a:noFill/>
          </a:ln>
        </p:spPr>
        <p:txBody>
          <a:bodyPr lIns="0" tIns="0" rIns="0" bIns="0" rtlCol="0" anchor="t" anchorCtr="0"/>
          <a:lstStyle/>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2026</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500" dirty="0">
                <a:solidFill>
                  <a:prstClr val="black"/>
                </a:solidFill>
                <a:latin typeface="Meiryo UI"/>
                <a:ea typeface="Meiryo UI"/>
              </a:rPr>
              <a:t>9</a:t>
            </a:r>
            <a:r>
              <a:rPr kumimoji="1" lang="ja-JP" altLang="en-US" sz="500">
                <a:solidFill>
                  <a:prstClr val="black"/>
                </a:solidFill>
                <a:latin typeface="Meiryo UI"/>
                <a:ea typeface="Meiryo UI"/>
              </a:rPr>
              <a:t>月末頃の中央基盤の改修までは、本サービスへの登録において利用いただけるのは、</a:t>
            </a:r>
            <a:r>
              <a:rPr kumimoji="1" lang="en-US" altLang="ja-JP" sz="500" dirty="0">
                <a:solidFill>
                  <a:prstClr val="black"/>
                </a:solidFill>
                <a:latin typeface="Meiryo UI"/>
                <a:ea typeface="Meiryo UI"/>
              </a:rPr>
              <a:t>202603</a:t>
            </a:r>
            <a:r>
              <a:rPr kumimoji="1" lang="ja-JP" altLang="en-US" sz="500">
                <a:solidFill>
                  <a:prstClr val="black"/>
                </a:solidFill>
                <a:latin typeface="Meiryo UI"/>
                <a:ea typeface="Meiryo UI"/>
              </a:rPr>
              <a:t>版のマスタとなります。</a:t>
            </a:r>
            <a:r>
              <a:rPr kumimoji="1" lang="en-US" altLang="ja-JP" sz="500" dirty="0">
                <a:solidFill>
                  <a:prstClr val="black"/>
                </a:solidFill>
                <a:latin typeface="Meiryo UI"/>
                <a:ea typeface="Meiryo UI"/>
              </a:rPr>
              <a:t>2026</a:t>
            </a:r>
            <a:r>
              <a:rPr kumimoji="1" lang="ja-JP" altLang="en-US" sz="500">
                <a:solidFill>
                  <a:prstClr val="black"/>
                </a:solidFill>
                <a:latin typeface="Meiryo UI"/>
                <a:ea typeface="Meiryo UI"/>
              </a:rPr>
              <a:t>年</a:t>
            </a:r>
            <a:r>
              <a:rPr kumimoji="1" lang="en-US" altLang="ja-JP" sz="500" dirty="0">
                <a:solidFill>
                  <a:prstClr val="black"/>
                </a:solidFill>
                <a:latin typeface="Meiryo UI"/>
                <a:ea typeface="Meiryo UI"/>
              </a:rPr>
              <a:t>9</a:t>
            </a:r>
            <a:r>
              <a:rPr kumimoji="1" lang="ja-JP" altLang="en-US" sz="500">
                <a:solidFill>
                  <a:prstClr val="black"/>
                </a:solidFill>
                <a:latin typeface="Meiryo UI"/>
                <a:ea typeface="Meiryo UI"/>
              </a:rPr>
              <a:t>月末頃</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詳細な日程は、今後お知らせを予定</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以降には、</a:t>
            </a:r>
            <a:r>
              <a:rPr kumimoji="1" lang="en-US" altLang="ja-JP" sz="500" dirty="0">
                <a:solidFill>
                  <a:prstClr val="black"/>
                </a:solidFill>
                <a:latin typeface="Meiryo UI"/>
                <a:ea typeface="Meiryo UI"/>
              </a:rPr>
              <a:t>202606</a:t>
            </a:r>
            <a:r>
              <a:rPr kumimoji="1" lang="ja-JP" altLang="en-US" sz="500">
                <a:solidFill>
                  <a:prstClr val="black"/>
                </a:solidFill>
                <a:latin typeface="Meiryo UI"/>
                <a:ea typeface="Meiryo UI"/>
              </a:rPr>
              <a:t>以降版をご利用ください。</a:t>
            </a:r>
            <a:endParaRPr kumimoji="1" lang="en-US" altLang="ja-JP" sz="500" dirty="0">
              <a:solidFill>
                <a:prstClr val="black"/>
              </a:solidFill>
              <a:latin typeface="Meiryo UI"/>
              <a:ea typeface="Meiryo UI"/>
            </a:endParaRPr>
          </a:p>
          <a:p>
            <a:pPr fontAlgn="base">
              <a:spcBef>
                <a:spcPct val="20000"/>
              </a:spcBef>
              <a:spcAft>
                <a:spcPct val="0"/>
              </a:spcAft>
              <a:defRPr/>
            </a:pPr>
            <a:r>
              <a:rPr kumimoji="1" lang="en-US" altLang="ja-JP" sz="500" dirty="0">
                <a:solidFill>
                  <a:prstClr val="black"/>
                </a:solidFill>
                <a:latin typeface="Meiryo UI"/>
                <a:ea typeface="Meiryo UI"/>
              </a:rPr>
              <a:t>※</a:t>
            </a:r>
            <a:r>
              <a:rPr kumimoji="1" lang="ja-JP" altLang="en-US" sz="500">
                <a:solidFill>
                  <a:prstClr val="black"/>
                </a:solidFill>
                <a:latin typeface="Meiryo UI"/>
              </a:rPr>
              <a:t>電子カルテ情報共有サービス対応 </a:t>
            </a:r>
            <a:r>
              <a:rPr kumimoji="1" lang="en-US" altLang="ja-JP" sz="500" dirty="0">
                <a:solidFill>
                  <a:prstClr val="black"/>
                </a:solidFill>
                <a:latin typeface="Meiryo UI"/>
              </a:rPr>
              <a:t>JLAC</a:t>
            </a:r>
            <a:r>
              <a:rPr kumimoji="1" lang="ja-JP" altLang="en-US" sz="500">
                <a:solidFill>
                  <a:prstClr val="black"/>
                </a:solidFill>
                <a:latin typeface="Meiryo UI"/>
              </a:rPr>
              <a:t>コード表</a:t>
            </a:r>
            <a:r>
              <a:rPr kumimoji="1" lang="en-US" altLang="ja-JP" sz="500" dirty="0">
                <a:solidFill>
                  <a:prstClr val="black"/>
                </a:solidFill>
                <a:latin typeface="Meiryo UI"/>
              </a:rPr>
              <a:t>(</a:t>
            </a:r>
            <a:r>
              <a:rPr kumimoji="1" lang="ja-JP" altLang="en-US" sz="500">
                <a:solidFill>
                  <a:prstClr val="black"/>
                </a:solidFill>
                <a:latin typeface="Meiryo UI"/>
              </a:rPr>
              <a:t>共有項目</a:t>
            </a:r>
            <a:r>
              <a:rPr kumimoji="1" lang="en-US" altLang="ja-JP" sz="500" dirty="0">
                <a:solidFill>
                  <a:prstClr val="black"/>
                </a:solidFill>
                <a:latin typeface="Meiryo UI"/>
              </a:rPr>
              <a:t>JLAC</a:t>
            </a:r>
            <a:r>
              <a:rPr kumimoji="1" lang="ja-JP" altLang="en-US" sz="500">
                <a:solidFill>
                  <a:prstClr val="black"/>
                </a:solidFill>
                <a:latin typeface="Meiryo UI"/>
              </a:rPr>
              <a:t>コードマスタ</a:t>
            </a:r>
            <a:r>
              <a:rPr kumimoji="1" lang="en-US" altLang="ja-JP" sz="500" dirty="0">
                <a:solidFill>
                  <a:prstClr val="black"/>
                </a:solidFill>
                <a:latin typeface="Meiryo UI"/>
              </a:rPr>
              <a:t>)</a:t>
            </a:r>
            <a:r>
              <a:rPr kumimoji="1" lang="ja-JP" altLang="en-US" sz="500">
                <a:solidFill>
                  <a:prstClr val="black"/>
                </a:solidFill>
                <a:latin typeface="Meiryo UI"/>
              </a:rPr>
              <a:t>は、</a:t>
            </a:r>
            <a:r>
              <a:rPr kumimoji="1" lang="en-US" altLang="ja-JP" sz="500" dirty="0">
                <a:solidFill>
                  <a:prstClr val="black"/>
                </a:solidFill>
                <a:latin typeface="Meiryo UI"/>
              </a:rPr>
              <a:t>202606</a:t>
            </a:r>
            <a:r>
              <a:rPr kumimoji="1" lang="ja-JP" altLang="en-US" sz="500">
                <a:solidFill>
                  <a:prstClr val="black"/>
                </a:solidFill>
                <a:latin typeface="Meiryo UI"/>
              </a:rPr>
              <a:t>版への更新に際し、コードの見直しを実施しております。そのため、</a:t>
            </a:r>
            <a:r>
              <a:rPr kumimoji="1" lang="en-US" altLang="ja-JP" sz="500" dirty="0">
                <a:solidFill>
                  <a:prstClr val="black"/>
                </a:solidFill>
                <a:latin typeface="Meiryo UI"/>
              </a:rPr>
              <a:t>202603</a:t>
            </a:r>
            <a:r>
              <a:rPr kumimoji="1" lang="ja-JP" altLang="en-US" sz="500">
                <a:solidFill>
                  <a:prstClr val="black"/>
                </a:solidFill>
                <a:latin typeface="Meiryo UI"/>
              </a:rPr>
              <a:t>版以前の版で登録している場合、</a:t>
            </a:r>
            <a:r>
              <a:rPr kumimoji="1" lang="en-US" altLang="ja-JP" sz="500" dirty="0">
                <a:solidFill>
                  <a:prstClr val="black"/>
                </a:solidFill>
                <a:latin typeface="Meiryo UI"/>
              </a:rPr>
              <a:t>202606</a:t>
            </a:r>
            <a:r>
              <a:rPr kumimoji="1" lang="ja-JP" altLang="en-US" sz="500">
                <a:solidFill>
                  <a:prstClr val="black"/>
                </a:solidFill>
                <a:latin typeface="Meiryo UI"/>
              </a:rPr>
              <a:t>版以降の新しいマスタへの移行をお願いいたします。</a:t>
            </a:r>
            <a:endParaRPr kumimoji="1" lang="en-US" altLang="ja-JP" sz="500" dirty="0">
              <a:latin typeface="Meiryo UI"/>
            </a:endParaRPr>
          </a:p>
        </p:txBody>
      </p:sp>
      <p:sp>
        <p:nvSpPr>
          <p:cNvPr id="22" name="正方形/長方形 21">
            <a:extLst>
              <a:ext uri="{FF2B5EF4-FFF2-40B4-BE49-F238E27FC236}">
                <a16:creationId xmlns:a16="http://schemas.microsoft.com/office/drawing/2014/main" id="{28645BBE-1603-B14D-244A-5F7DDD39B157}"/>
              </a:ext>
            </a:extLst>
          </p:cNvPr>
          <p:cNvSpPr/>
          <p:nvPr/>
        </p:nvSpPr>
        <p:spPr>
          <a:xfrm>
            <a:off x="1433383" y="4209116"/>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a:t>
            </a:r>
          </a:p>
        </p:txBody>
      </p:sp>
      <p:graphicFrame>
        <p:nvGraphicFramePr>
          <p:cNvPr id="25" name="表 24">
            <a:extLst>
              <a:ext uri="{FF2B5EF4-FFF2-40B4-BE49-F238E27FC236}">
                <a16:creationId xmlns:a16="http://schemas.microsoft.com/office/drawing/2014/main" id="{F04EE50F-888C-131C-C955-13F19FE8B2B6}"/>
              </a:ext>
            </a:extLst>
          </p:cNvPr>
          <p:cNvGraphicFramePr>
            <a:graphicFrameLocks noGrp="1"/>
          </p:cNvGraphicFramePr>
          <p:nvPr/>
        </p:nvGraphicFramePr>
        <p:xfrm>
          <a:off x="1082915" y="4326004"/>
          <a:ext cx="2842488" cy="300959"/>
        </p:xfrm>
        <a:graphic>
          <a:graphicData uri="http://schemas.openxmlformats.org/drawingml/2006/table">
            <a:tbl>
              <a:tblPr/>
              <a:tblGrid>
                <a:gridCol w="282542">
                  <a:extLst>
                    <a:ext uri="{9D8B030D-6E8A-4147-A177-3AD203B41FA5}">
                      <a16:colId xmlns:a16="http://schemas.microsoft.com/office/drawing/2014/main" val="4058772077"/>
                    </a:ext>
                  </a:extLst>
                </a:gridCol>
                <a:gridCol w="417113">
                  <a:extLst>
                    <a:ext uri="{9D8B030D-6E8A-4147-A177-3AD203B41FA5}">
                      <a16:colId xmlns:a16="http://schemas.microsoft.com/office/drawing/2014/main" val="154882630"/>
                    </a:ext>
                  </a:extLst>
                </a:gridCol>
                <a:gridCol w="320040">
                  <a:extLst>
                    <a:ext uri="{9D8B030D-6E8A-4147-A177-3AD203B41FA5}">
                      <a16:colId xmlns:a16="http://schemas.microsoft.com/office/drawing/2014/main" val="2721471254"/>
                    </a:ext>
                  </a:extLst>
                </a:gridCol>
                <a:gridCol w="414332">
                  <a:extLst>
                    <a:ext uri="{9D8B030D-6E8A-4147-A177-3AD203B41FA5}">
                      <a16:colId xmlns:a16="http://schemas.microsoft.com/office/drawing/2014/main" val="227139091"/>
                    </a:ext>
                  </a:extLst>
                </a:gridCol>
                <a:gridCol w="455593">
                  <a:extLst>
                    <a:ext uri="{9D8B030D-6E8A-4147-A177-3AD203B41FA5}">
                      <a16:colId xmlns:a16="http://schemas.microsoft.com/office/drawing/2014/main" val="892848932"/>
                    </a:ext>
                  </a:extLst>
                </a:gridCol>
                <a:gridCol w="455593">
                  <a:extLst>
                    <a:ext uri="{9D8B030D-6E8A-4147-A177-3AD203B41FA5}">
                      <a16:colId xmlns:a16="http://schemas.microsoft.com/office/drawing/2014/main" val="420957508"/>
                    </a:ext>
                  </a:extLst>
                </a:gridCol>
                <a:gridCol w="497275">
                  <a:extLst>
                    <a:ext uri="{9D8B030D-6E8A-4147-A177-3AD203B41FA5}">
                      <a16:colId xmlns:a16="http://schemas.microsoft.com/office/drawing/2014/main" val="1312447125"/>
                    </a:ext>
                  </a:extLst>
                </a:gridCol>
              </a:tblGrid>
              <a:tr h="139034">
                <a:tc>
                  <a:txBody>
                    <a:bodyPr/>
                    <a:lstStyle/>
                    <a:p>
                      <a:pPr algn="ctr" fontAlgn="ctr">
                        <a:buNone/>
                      </a:pPr>
                      <a:r>
                        <a:rPr lang="ja-JP" altLang="en-US" sz="5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本番環境</a:t>
                      </a:r>
                      <a:br>
                        <a:rPr lang="en-US" altLang="ja-JP" sz="500" b="0" i="0" u="none" strike="noStrike" dirty="0">
                          <a:solidFill>
                            <a:srgbClr val="000000"/>
                          </a:solidFill>
                          <a:effectLst/>
                          <a:latin typeface="+mj-ea"/>
                          <a:ea typeface="+mj-ea"/>
                        </a:rPr>
                      </a:br>
                      <a:r>
                        <a:rPr lang="ja-JP" altLang="en-US" sz="5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反映日</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適用終了日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39034">
                <a:tc>
                  <a:txBody>
                    <a:bodyPr/>
                    <a:lstStyle/>
                    <a:p>
                      <a:pPr algn="ctr" fontAlgn="ctr">
                        <a:buNone/>
                      </a:pPr>
                      <a:r>
                        <a:rPr lang="en-US" altLang="ja-JP" sz="500" b="0" i="0" u="none" strike="noStrike" dirty="0">
                          <a:solidFill>
                            <a:srgbClr val="000000"/>
                          </a:solidFill>
                          <a:effectLst/>
                          <a:latin typeface="+mj-ea"/>
                          <a:ea typeface="+mj-ea"/>
                        </a:rPr>
                        <a:t>202603</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j-ea"/>
                          <a:ea typeface="+mj-ea"/>
                        </a:rPr>
                        <a:t>2026/03/31</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2026/03/23</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2026/03/19</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2026/02/16</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2026/9</a:t>
                      </a:r>
                      <a:r>
                        <a:rPr lang="ja-JP" altLang="en-US" sz="500" b="0" i="0" u="none" strike="noStrike">
                          <a:solidFill>
                            <a:srgbClr val="000000"/>
                          </a:solidFill>
                          <a:effectLst/>
                          <a:latin typeface="+mn-ea"/>
                          <a:ea typeface="+mn-ea"/>
                        </a:rPr>
                        <a:t>月末頃</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graphicFrame>
        <p:nvGraphicFramePr>
          <p:cNvPr id="26" name="表 25">
            <a:extLst>
              <a:ext uri="{FF2B5EF4-FFF2-40B4-BE49-F238E27FC236}">
                <a16:creationId xmlns:a16="http://schemas.microsoft.com/office/drawing/2014/main" id="{5426B6A3-0D73-B5CD-241A-16DD2CEA7B86}"/>
              </a:ext>
            </a:extLst>
          </p:cNvPr>
          <p:cNvGraphicFramePr>
            <a:graphicFrameLocks noGrp="1"/>
          </p:cNvGraphicFramePr>
          <p:nvPr/>
        </p:nvGraphicFramePr>
        <p:xfrm>
          <a:off x="1364103" y="11943931"/>
          <a:ext cx="2664000" cy="333375"/>
        </p:xfrm>
        <a:graphic>
          <a:graphicData uri="http://schemas.openxmlformats.org/drawingml/2006/table">
            <a:tbl>
              <a:tblPr/>
              <a:tblGrid>
                <a:gridCol w="288000">
                  <a:extLst>
                    <a:ext uri="{9D8B030D-6E8A-4147-A177-3AD203B41FA5}">
                      <a16:colId xmlns:a16="http://schemas.microsoft.com/office/drawing/2014/main" val="4058772077"/>
                    </a:ext>
                  </a:extLst>
                </a:gridCol>
                <a:gridCol w="396000">
                  <a:extLst>
                    <a:ext uri="{9D8B030D-6E8A-4147-A177-3AD203B41FA5}">
                      <a16:colId xmlns:a16="http://schemas.microsoft.com/office/drawing/2014/main" val="154882630"/>
                    </a:ext>
                  </a:extLst>
                </a:gridCol>
                <a:gridCol w="324000">
                  <a:extLst>
                    <a:ext uri="{9D8B030D-6E8A-4147-A177-3AD203B41FA5}">
                      <a16:colId xmlns:a16="http://schemas.microsoft.com/office/drawing/2014/main" val="2721471254"/>
                    </a:ext>
                  </a:extLst>
                </a:gridCol>
                <a:gridCol w="396000">
                  <a:extLst>
                    <a:ext uri="{9D8B030D-6E8A-4147-A177-3AD203B41FA5}">
                      <a16:colId xmlns:a16="http://schemas.microsoft.com/office/drawing/2014/main" val="227139091"/>
                    </a:ext>
                  </a:extLst>
                </a:gridCol>
                <a:gridCol w="432000">
                  <a:extLst>
                    <a:ext uri="{9D8B030D-6E8A-4147-A177-3AD203B41FA5}">
                      <a16:colId xmlns:a16="http://schemas.microsoft.com/office/drawing/2014/main" val="892848932"/>
                    </a:ext>
                  </a:extLst>
                </a:gridCol>
                <a:gridCol w="432000">
                  <a:extLst>
                    <a:ext uri="{9D8B030D-6E8A-4147-A177-3AD203B41FA5}">
                      <a16:colId xmlns:a16="http://schemas.microsoft.com/office/drawing/2014/main" val="420957508"/>
                    </a:ext>
                  </a:extLst>
                </a:gridCol>
                <a:gridCol w="396000">
                  <a:extLst>
                    <a:ext uri="{9D8B030D-6E8A-4147-A177-3AD203B41FA5}">
                      <a16:colId xmlns:a16="http://schemas.microsoft.com/office/drawing/2014/main" val="1024669159"/>
                    </a:ext>
                  </a:extLst>
                </a:gridCol>
              </a:tblGrid>
              <a:tr h="0">
                <a:tc>
                  <a:txBody>
                    <a:bodyPr/>
                    <a:lstStyle/>
                    <a:p>
                      <a:pPr algn="ctr" fontAlgn="ctr">
                        <a:buNone/>
                      </a:pPr>
                      <a:r>
                        <a:rPr lang="ja-JP" altLang="en-US" sz="500" b="0" i="0" u="none" strike="noStrike">
                          <a:solidFill>
                            <a:srgbClr val="000000"/>
                          </a:solidFill>
                          <a:effectLst/>
                          <a:latin typeface="+mn-ea"/>
                          <a:ea typeface="+mn-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n-ea"/>
                          <a:ea typeface="+mn-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n-ea"/>
                          <a:ea typeface="+mn-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n-ea"/>
                          <a:ea typeface="+mn-ea"/>
                        </a:rPr>
                        <a:t>本番環境</a:t>
                      </a:r>
                      <a:br>
                        <a:rPr lang="en-US" altLang="ja-JP" sz="500" b="0" i="0" u="none" strike="noStrike" dirty="0">
                          <a:solidFill>
                            <a:srgbClr val="000000"/>
                          </a:solidFill>
                          <a:effectLst/>
                          <a:latin typeface="+mn-ea"/>
                          <a:ea typeface="+mn-ea"/>
                        </a:rPr>
                      </a:br>
                      <a:r>
                        <a:rPr lang="ja-JP" altLang="en-US" sz="500" b="0" i="0" u="none" strike="noStrike">
                          <a:solidFill>
                            <a:srgbClr val="000000"/>
                          </a:solidFill>
                          <a:effectLst/>
                          <a:latin typeface="+mn-ea"/>
                          <a:ea typeface="+mn-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n-ea"/>
                          <a:ea typeface="+mn-ea"/>
                          <a:cs typeface="+mn-cs"/>
                        </a:rPr>
                        <a:t>接続検証環境</a:t>
                      </a:r>
                      <a:br>
                        <a:rPr kumimoji="1" lang="en-US" altLang="ja-JP" sz="500" b="0" i="0" u="none" strike="noStrike" kern="1200" dirty="0">
                          <a:solidFill>
                            <a:srgbClr val="000000"/>
                          </a:solidFill>
                          <a:effectLst/>
                          <a:latin typeface="+mn-ea"/>
                          <a:ea typeface="+mn-ea"/>
                          <a:cs typeface="+mn-cs"/>
                        </a:rPr>
                      </a:br>
                      <a:r>
                        <a:rPr kumimoji="1" lang="ja-JP" altLang="en-US" sz="500" b="0" i="0" u="none" strike="noStrike" kern="1200">
                          <a:solidFill>
                            <a:srgbClr val="000000"/>
                          </a:solidFill>
                          <a:effectLst/>
                          <a:latin typeface="+mn-ea"/>
                          <a:ea typeface="+mn-ea"/>
                          <a:cs typeface="+mn-cs"/>
                        </a:rPr>
                        <a:t>反映日</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n-ea"/>
                          <a:ea typeface="+mn-ea"/>
                          <a:cs typeface="+mn-cs"/>
                        </a:rPr>
                        <a:t>接続検証環境</a:t>
                      </a:r>
                      <a:br>
                        <a:rPr kumimoji="1" lang="en-US" altLang="ja-JP" sz="500" b="0" i="0" u="none" strike="noStrike" kern="1200" dirty="0">
                          <a:solidFill>
                            <a:srgbClr val="000000"/>
                          </a:solidFill>
                          <a:effectLst/>
                          <a:latin typeface="+mn-ea"/>
                          <a:ea typeface="+mn-ea"/>
                          <a:cs typeface="+mn-cs"/>
                        </a:rPr>
                      </a:br>
                      <a:r>
                        <a:rPr kumimoji="1" lang="ja-JP" altLang="en-US" sz="500" b="0" i="0" u="none" strike="noStrike" kern="1200">
                          <a:solidFill>
                            <a:srgbClr val="000000"/>
                          </a:solidFill>
                          <a:effectLst/>
                          <a:latin typeface="+mn-ea"/>
                          <a:ea typeface="+mn-ea"/>
                          <a:cs typeface="+mn-cs"/>
                        </a:rPr>
                        <a:t>第二反映日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n-ea"/>
                          <a:ea typeface="+mn-ea"/>
                          <a:cs typeface="+mn-cs"/>
                        </a:rPr>
                        <a:t>適用終了日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0">
                <a:tc>
                  <a:txBody>
                    <a:bodyPr/>
                    <a:lstStyle/>
                    <a:p>
                      <a:pPr algn="ctr" fontAlgn="ctr">
                        <a:buNone/>
                      </a:pPr>
                      <a:r>
                        <a:rPr lang="en-US" altLang="ja-JP" sz="500" b="0" i="0" u="none" strike="noStrike" dirty="0">
                          <a:solidFill>
                            <a:srgbClr val="000000"/>
                          </a:solidFill>
                          <a:effectLst/>
                          <a:latin typeface="+mn-ea"/>
                          <a:ea typeface="+mn-ea"/>
                        </a:rPr>
                        <a:t>202507</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2025/07/16</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n-ea"/>
                          <a:ea typeface="+mn-ea"/>
                        </a:rPr>
                        <a:t>ダウンロード</a:t>
                      </a:r>
                      <a:r>
                        <a:rPr lang="ja-JP" altLang="en-US" sz="500" b="0" i="0" u="none" strike="noStrike">
                          <a:solidFill>
                            <a:srgbClr val="000000"/>
                          </a:solidFill>
                          <a:effectLst/>
                          <a:latin typeface="+mn-ea"/>
                          <a:ea typeface="+mn-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2025/08/04</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2025/08/01</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2025/07/17</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2026/03/22</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787336866"/>
                  </a:ext>
                </a:extLst>
              </a:tr>
              <a:tr h="0">
                <a:tc>
                  <a:txBody>
                    <a:bodyPr/>
                    <a:lstStyle/>
                    <a:p>
                      <a:pPr algn="ctr" fontAlgn="ctr">
                        <a:buNone/>
                      </a:pPr>
                      <a:r>
                        <a:rPr lang="en-US" altLang="ja-JP" sz="500" b="0" i="0" u="none" strike="noStrike" dirty="0">
                          <a:solidFill>
                            <a:srgbClr val="000000"/>
                          </a:solidFill>
                          <a:effectLst/>
                          <a:latin typeface="+mn-ea"/>
                          <a:ea typeface="+mn-ea"/>
                        </a:rPr>
                        <a:t>202502</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2025/03/21</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n-ea"/>
                          <a:ea typeface="+mn-ea"/>
                        </a:rPr>
                        <a:t>ダウンロード</a:t>
                      </a:r>
                      <a:r>
                        <a:rPr lang="ja-JP" altLang="en-US" sz="500" b="0" i="0" u="none" strike="noStrike">
                          <a:solidFill>
                            <a:srgbClr val="000000"/>
                          </a:solidFill>
                          <a:effectLst/>
                          <a:latin typeface="+mn-ea"/>
                          <a:ea typeface="+mn-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2025/03/24</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2025/02/27</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n-ea"/>
                          <a:ea typeface="+mn-ea"/>
                          <a:cs typeface="+mn-cs"/>
                        </a:rPr>
                        <a:t>ー</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2025/08/04</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27" name="正方形/長方形 26">
            <a:extLst>
              <a:ext uri="{FF2B5EF4-FFF2-40B4-BE49-F238E27FC236}">
                <a16:creationId xmlns:a16="http://schemas.microsoft.com/office/drawing/2014/main" id="{5595EDEC-C869-741C-F9FC-870CBE177218}"/>
              </a:ext>
            </a:extLst>
          </p:cNvPr>
          <p:cNvSpPr/>
          <p:nvPr/>
        </p:nvSpPr>
        <p:spPr>
          <a:xfrm>
            <a:off x="1305504" y="12362072"/>
            <a:ext cx="2738530" cy="854547"/>
          </a:xfrm>
          <a:prstGeom prst="rect">
            <a:avLst/>
          </a:prstGeom>
          <a:solidFill>
            <a:schemeClr val="bg1"/>
          </a:solidFill>
          <a:ln>
            <a:noFill/>
          </a:ln>
        </p:spPr>
        <p:txBody>
          <a:bodyPr lIns="0" rIns="0" rtlCol="0" anchor="t" anchorCtr="0"/>
          <a:lstStyle/>
          <a:p>
            <a:pPr marL="0" marR="0" lvl="0" indent="0" algn="l" defTabSz="457200"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適用終了日以降に利用すると、コードによってはエラーが生じる場合がございます。</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ctr" latinLnBrk="0" hangingPunct="1">
              <a:lnSpc>
                <a:spcPct val="100000"/>
              </a:lnSpc>
              <a:spcBef>
                <a:spcPts val="0"/>
              </a:spcBef>
              <a:spcAft>
                <a:spcPts val="0"/>
              </a:spcAft>
              <a:buClrTx/>
              <a:buSzTx/>
              <a:buFontTx/>
              <a:buNone/>
              <a:tabLst/>
              <a:defRPr/>
            </a:pPr>
            <a:endPar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endParaRPr>
          </a:p>
          <a:p>
            <a:pPr marL="0" marR="0" lvl="0" indent="0" algn="l" defTabSz="457200"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※202502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版に記載されている次の</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FHIR</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項目名称のコードについて、より適切な</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FHIR</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項目名称を検討中であったため、電子カルテ情報共有サービスでは登録ができませんでした。当該コードは、令和</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8</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年</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3</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月</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23</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日より電子カルテ情報共有サービスへ登録できるようになりました。新しい</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FHIR</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項目名称の詳細につきましては、</a:t>
            </a:r>
            <a:r>
              <a:rPr kumimoji="0" lang="en-US" altLang="ja-JP" sz="500" b="0" i="0" u="none" strike="noStrike" kern="1200" cap="none" spc="0" normalizeH="0" baseline="0" noProof="0" dirty="0">
                <a:ln>
                  <a:noFill/>
                </a:ln>
                <a:solidFill>
                  <a:srgbClr val="000000"/>
                </a:solidFill>
                <a:effectLst/>
                <a:uLnTx/>
                <a:uFillTx/>
                <a:latin typeface="Meiryo UI (Body)"/>
                <a:ea typeface="Meiryo UI"/>
                <a:cs typeface="+mn-cs"/>
              </a:rPr>
              <a:t>202603</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版をご確認ください。</a:t>
            </a:r>
          </a:p>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定性</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定量</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陽性コントロール比</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吸光度</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p:txBody>
      </p:sp>
      <p:pic>
        <p:nvPicPr>
          <p:cNvPr id="28" name="図 27">
            <a:extLst>
              <a:ext uri="{FF2B5EF4-FFF2-40B4-BE49-F238E27FC236}">
                <a16:creationId xmlns:a16="http://schemas.microsoft.com/office/drawing/2014/main" id="{72C0D614-19DC-310B-043A-DC3FC34FE575}"/>
              </a:ext>
            </a:extLst>
          </p:cNvPr>
          <p:cNvPicPr>
            <a:picLocks noChangeAspect="1"/>
          </p:cNvPicPr>
          <p:nvPr/>
        </p:nvPicPr>
        <p:blipFill>
          <a:blip r:embed="rId5"/>
          <a:stretch>
            <a:fillRect/>
          </a:stretch>
        </p:blipFill>
        <p:spPr>
          <a:xfrm>
            <a:off x="1280741" y="13440678"/>
            <a:ext cx="2247420" cy="680085"/>
          </a:xfrm>
          <a:prstGeom prst="rect">
            <a:avLst/>
          </a:prstGeom>
        </p:spPr>
      </p:pic>
      <p:sp>
        <p:nvSpPr>
          <p:cNvPr id="29" name="正方形/長方形 28">
            <a:extLst>
              <a:ext uri="{FF2B5EF4-FFF2-40B4-BE49-F238E27FC236}">
                <a16:creationId xmlns:a16="http://schemas.microsoft.com/office/drawing/2014/main" id="{1310E2AF-C6FD-0EE7-2E78-38986733DF06}"/>
              </a:ext>
            </a:extLst>
          </p:cNvPr>
          <p:cNvSpPr/>
          <p:nvPr/>
        </p:nvSpPr>
        <p:spPr>
          <a:xfrm>
            <a:off x="1215094" y="11241645"/>
            <a:ext cx="2828940" cy="544409"/>
          </a:xfrm>
          <a:prstGeom prst="rect">
            <a:avLst/>
          </a:prstGeom>
          <a:solidFill>
            <a:schemeClr val="bg1"/>
          </a:solidFill>
          <a:ln>
            <a:noFill/>
          </a:ln>
        </p:spPr>
        <p:txBody>
          <a:bodyPr lIns="0" rIns="0" rtlCol="0" anchor="t" anchorCtr="0"/>
          <a:lstStyle/>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・令和</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8</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3</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月</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23</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日から、電子カルテ情報共有サービスで適用される電子カルテ情報共有サービス対応</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JLAC</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コード表のレイアウトが変更となりました。</a:t>
            </a:r>
            <a:b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旧レイアウトからの変更点は以下のとおりです。</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▸「表示用単位</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」項目の新規追加</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XML</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用単位</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」項目の新規追加</a:t>
            </a:r>
            <a:b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XML</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用単位「</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{COI}</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」から「</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{C.O.I}</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」へ変更</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30" name="正方形/長方形 29">
            <a:extLst>
              <a:ext uri="{FF2B5EF4-FFF2-40B4-BE49-F238E27FC236}">
                <a16:creationId xmlns:a16="http://schemas.microsoft.com/office/drawing/2014/main" id="{F222CB7F-8CEE-374C-8696-EE4D6E218097}"/>
              </a:ext>
            </a:extLst>
          </p:cNvPr>
          <p:cNvSpPr/>
          <p:nvPr/>
        </p:nvSpPr>
        <p:spPr>
          <a:xfrm>
            <a:off x="1648656" y="11833462"/>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バージョン情報・公開日・ダウンロードリンク・環境反映日・適用終了日</a:t>
            </a:r>
            <a:endParaRPr kumimoji="1" lang="en-US" altLang="ja-JP" sz="500" b="1" i="0" u="none" strike="noStrike" kern="1200" cap="none" spc="0" normalizeH="0" baseline="0" noProof="0" dirty="0">
              <a:ln>
                <a:noFill/>
              </a:ln>
              <a:solidFill>
                <a:prstClr val="black"/>
              </a:solidFill>
              <a:effectLst/>
              <a:uLnTx/>
              <a:uFillTx/>
              <a:latin typeface="Meiryo UI"/>
              <a:ea typeface="Meiryo UI"/>
              <a:cs typeface="+mn-cs"/>
            </a:endParaRPr>
          </a:p>
        </p:txBody>
      </p:sp>
      <p:grpSp>
        <p:nvGrpSpPr>
          <p:cNvPr id="53" name="グループ化 52">
            <a:extLst>
              <a:ext uri="{FF2B5EF4-FFF2-40B4-BE49-F238E27FC236}">
                <a16:creationId xmlns:a16="http://schemas.microsoft.com/office/drawing/2014/main" id="{C524175E-5AE6-BCEF-0938-3000090DABB3}"/>
              </a:ext>
            </a:extLst>
          </p:cNvPr>
          <p:cNvGrpSpPr/>
          <p:nvPr/>
        </p:nvGrpSpPr>
        <p:grpSpPr>
          <a:xfrm>
            <a:off x="1152740" y="10986192"/>
            <a:ext cx="2743961" cy="213343"/>
            <a:chOff x="8168173" y="4422050"/>
            <a:chExt cx="2743961" cy="213343"/>
          </a:xfrm>
        </p:grpSpPr>
        <p:pic>
          <p:nvPicPr>
            <p:cNvPr id="54" name="図 53">
              <a:extLst>
                <a:ext uri="{FF2B5EF4-FFF2-40B4-BE49-F238E27FC236}">
                  <a16:creationId xmlns:a16="http://schemas.microsoft.com/office/drawing/2014/main" id="{B4253E48-D4A1-7645-18A2-D1F25740B274}"/>
                </a:ext>
              </a:extLst>
            </p:cNvPr>
            <p:cNvPicPr>
              <a:picLocks noChangeAspect="1"/>
            </p:cNvPicPr>
            <p:nvPr/>
          </p:nvPicPr>
          <p:blipFill>
            <a:blip r:embed="rId6"/>
            <a:srcRect l="1910" t="81326" r="2535" b="8895"/>
            <a:stretch>
              <a:fillRect/>
            </a:stretch>
          </p:blipFill>
          <p:spPr>
            <a:xfrm>
              <a:off x="8168173" y="4422050"/>
              <a:ext cx="2743961" cy="213343"/>
            </a:xfrm>
            <a:prstGeom prst="rect">
              <a:avLst/>
            </a:prstGeom>
          </p:spPr>
        </p:pic>
        <p:sp>
          <p:nvSpPr>
            <p:cNvPr id="55" name="正方形/長方形 54">
              <a:extLst>
                <a:ext uri="{FF2B5EF4-FFF2-40B4-BE49-F238E27FC236}">
                  <a16:creationId xmlns:a16="http://schemas.microsoft.com/office/drawing/2014/main" id="{5414F7BC-4D0F-7EBB-085E-7AA6FBFD1F24}"/>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令和</a:t>
              </a:r>
              <a:r>
                <a:rPr kumimoji="1" lang="en-US" altLang="ja-JP" sz="500" b="1" i="0" u="none" strike="noStrike" kern="1200" cap="none" spc="0" normalizeH="0" baseline="0" noProof="0" dirty="0">
                  <a:ln>
                    <a:noFill/>
                  </a:ln>
                  <a:solidFill>
                    <a:prstClr val="black"/>
                  </a:solidFill>
                  <a:effectLst/>
                  <a:uLnTx/>
                  <a:uFillTx/>
                  <a:latin typeface="Meiryo UI"/>
                  <a:ea typeface="Meiryo UI"/>
                  <a:cs typeface="+mn-cs"/>
                </a:rPr>
                <a:t>8</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500" b="1" i="0" u="none" strike="noStrike" kern="1200" cap="none" spc="0" normalizeH="0" baseline="0" noProof="0" dirty="0">
                  <a:ln>
                    <a:noFill/>
                  </a:ln>
                  <a:solidFill>
                    <a:prstClr val="black"/>
                  </a:solidFill>
                  <a:effectLst/>
                  <a:uLnTx/>
                  <a:uFillTx/>
                  <a:latin typeface="Meiryo UI"/>
                  <a:ea typeface="Meiryo UI"/>
                  <a:cs typeface="+mn-cs"/>
                </a:rPr>
                <a:t>3</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月</a:t>
              </a:r>
              <a:r>
                <a:rPr kumimoji="1" lang="en-US" altLang="ja-JP" sz="500" b="1" i="0" u="none" strike="noStrike" kern="1200" cap="none" spc="0" normalizeH="0" baseline="0" noProof="0" dirty="0">
                  <a:ln>
                    <a:noFill/>
                  </a:ln>
                  <a:solidFill>
                    <a:prstClr val="black"/>
                  </a:solidFill>
                  <a:effectLst/>
                  <a:uLnTx/>
                  <a:uFillTx/>
                  <a:latin typeface="Meiryo UI"/>
                  <a:ea typeface="Meiryo UI"/>
                  <a:cs typeface="+mn-cs"/>
                </a:rPr>
                <a:t>22</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日まで適用の旧レイアウトのマスタのダウンロードリンク</a:t>
              </a:r>
            </a:p>
          </p:txBody>
        </p:sp>
      </p:grpSp>
      <p:sp>
        <p:nvSpPr>
          <p:cNvPr id="56" name="左中かっこ 55">
            <a:extLst>
              <a:ext uri="{FF2B5EF4-FFF2-40B4-BE49-F238E27FC236}">
                <a16:creationId xmlns:a16="http://schemas.microsoft.com/office/drawing/2014/main" id="{29AD74C5-F1E5-E18B-68D6-4DB205AD1060}"/>
              </a:ext>
            </a:extLst>
          </p:cNvPr>
          <p:cNvSpPr/>
          <p:nvPr/>
        </p:nvSpPr>
        <p:spPr bwMode="auto">
          <a:xfrm>
            <a:off x="995352" y="10946007"/>
            <a:ext cx="112816" cy="2434346"/>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57" name="正方形/長方形 56">
            <a:extLst>
              <a:ext uri="{FF2B5EF4-FFF2-40B4-BE49-F238E27FC236}">
                <a16:creationId xmlns:a16="http://schemas.microsoft.com/office/drawing/2014/main" id="{66363A11-1E3C-85AB-A8DD-64F1F0D01916}"/>
              </a:ext>
            </a:extLst>
          </p:cNvPr>
          <p:cNvSpPr/>
          <p:nvPr/>
        </p:nvSpPr>
        <p:spPr>
          <a:xfrm>
            <a:off x="1162527" y="8269260"/>
            <a:ext cx="2828940" cy="523351"/>
          </a:xfrm>
          <a:prstGeom prst="rect">
            <a:avLst/>
          </a:prstGeom>
          <a:solidFill>
            <a:schemeClr val="bg1"/>
          </a:solidFill>
          <a:ln>
            <a:noFill/>
          </a:ln>
        </p:spPr>
        <p:txBody>
          <a:bodyPr lIns="0" tIns="0" rIns="0" bIns="0" rtlCol="0" anchor="t" anchorCtr="0"/>
          <a:lstStyle/>
          <a:p>
            <a:pPr lvl="0" fontAlgn="base">
              <a:spcBef>
                <a:spcPct val="20000"/>
              </a:spcBef>
              <a:spcAft>
                <a:spcPct val="0"/>
              </a:spcAf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・一定の移行期間においては、本マスタが適用され</a:t>
            </a:r>
            <a:r>
              <a:rPr kumimoji="1" lang="ja-JP" altLang="en-US" sz="500">
                <a:solidFill>
                  <a:prstClr val="black"/>
                </a:solidFill>
                <a:latin typeface="Meiryo UI"/>
              </a:rPr>
              <a:t>、原則的には新旧コードの双方を受け付けます</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。例外として、</a:t>
            </a:r>
            <a:r>
              <a:rPr kumimoji="1" lang="en-US" altLang="ja-JP" sz="500" b="1" dirty="0">
                <a:solidFill>
                  <a:prstClr val="black"/>
                </a:solidFill>
                <a:latin typeface="Meiryo UI"/>
              </a:rPr>
              <a:t>【</a:t>
            </a:r>
            <a:r>
              <a:rPr kumimoji="1" lang="ja-JP" altLang="en-US" sz="500" b="1">
                <a:solidFill>
                  <a:prstClr val="black"/>
                </a:solidFill>
                <a:latin typeface="Meiryo UI"/>
              </a:rPr>
              <a:t>留意事項</a:t>
            </a:r>
            <a:r>
              <a:rPr kumimoji="1" lang="en-US" altLang="ja-JP" sz="500" b="1" dirty="0">
                <a:solidFill>
                  <a:prstClr val="black"/>
                </a:solidFill>
                <a:latin typeface="Meiryo UI"/>
              </a:rPr>
              <a:t>】</a:t>
            </a:r>
            <a:r>
              <a:rPr kumimoji="1" lang="ja-JP" altLang="en-US" sz="500">
                <a:solidFill>
                  <a:prstClr val="black"/>
                </a:solidFill>
                <a:latin typeface="Meiryo UI"/>
              </a:rPr>
              <a:t>に記載したコードで登録するとエラーとなる点にご注意ください。</a:t>
            </a:r>
            <a:br>
              <a:rPr kumimoji="1" lang="en-US" altLang="ja-JP" sz="500" dirty="0">
                <a:solidFill>
                  <a:prstClr val="black"/>
                </a:solidFill>
                <a:latin typeface="Meiryo UI"/>
              </a:rPr>
            </a:br>
            <a:r>
              <a:rPr kumimoji="1" lang="ja-JP" altLang="en-US" sz="500">
                <a:solidFill>
                  <a:prstClr val="black"/>
                </a:solidFill>
                <a:latin typeface="Meiryo UI"/>
              </a:rPr>
              <a:t>・</a:t>
            </a:r>
            <a:r>
              <a:rPr kumimoji="1" lang="ja-JP" altLang="en-US" sz="500">
                <a:solidFill>
                  <a:prstClr val="black"/>
                </a:solidFill>
                <a:latin typeface="Meiryo UI"/>
                <a:ea typeface="Meiryo UI"/>
              </a:rPr>
              <a:t>適用終了日が記載されている</a:t>
            </a:r>
            <a:r>
              <a:rPr kumimoji="1" lang="en-US" altLang="ja-JP" sz="500" dirty="0">
                <a:solidFill>
                  <a:prstClr val="black"/>
                </a:solidFill>
                <a:latin typeface="Meiryo UI"/>
                <a:ea typeface="Meiryo UI"/>
              </a:rPr>
              <a:t>JLAC</a:t>
            </a:r>
            <a:r>
              <a:rPr kumimoji="1" lang="ja-JP" altLang="en-US" sz="500">
                <a:solidFill>
                  <a:prstClr val="black"/>
                </a:solidFill>
                <a:latin typeface="Meiryo UI"/>
                <a:ea typeface="Meiryo UI"/>
              </a:rPr>
              <a:t>コードは今後</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廃止され、移行期間の後は利用できなくなるためご注意ください</a:t>
            </a:r>
            <a:r>
              <a:rPr kumimoji="1" lang="ja-JP" altLang="en-US" sz="500">
                <a:solidFill>
                  <a:prstClr val="black"/>
                </a:solidFill>
                <a:latin typeface="Meiryo UI"/>
                <a:ea typeface="Meiryo UI"/>
              </a:rPr>
              <a:t>。なお、移行期間は本サービスの全国的な運用開始までを予定しています。</a:t>
            </a:r>
            <a:endParaRPr kumimoji="1" lang="en-US" altLang="ja-JP" sz="500" b="1" dirty="0">
              <a:solidFill>
                <a:prstClr val="black"/>
              </a:solidFill>
              <a:latin typeface="Meiryo UI"/>
              <a:ea typeface="Meiryo UI"/>
            </a:endParaRPr>
          </a:p>
          <a:p>
            <a:pPr lvl="0" fontAlgn="base">
              <a:spcBef>
                <a:spcPct val="20000"/>
              </a:spcBef>
              <a:spcAft>
                <a:spcPct val="0"/>
              </a:spcAft>
              <a:defRPr/>
            </a:pP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「新・旧コードが混合されたマスタ」の公開期間</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予定</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a:t>
            </a:r>
            <a:r>
              <a:rPr kumimoji="1" lang="en-US" altLang="ja-JP" sz="500" dirty="0">
                <a:solidFill>
                  <a:prstClr val="black"/>
                </a:solidFill>
                <a:latin typeface="Meiryo UI"/>
              </a:rPr>
              <a:t> 2026</a:t>
            </a:r>
            <a:r>
              <a:rPr kumimoji="1" lang="ja-JP" altLang="en-US" sz="500">
                <a:solidFill>
                  <a:prstClr val="black"/>
                </a:solidFill>
                <a:latin typeface="Meiryo UI"/>
              </a:rPr>
              <a:t>年</a:t>
            </a:r>
            <a:r>
              <a:rPr kumimoji="1" lang="en-US" altLang="ja-JP" sz="500" dirty="0">
                <a:solidFill>
                  <a:prstClr val="black"/>
                </a:solidFill>
                <a:latin typeface="Meiryo UI"/>
              </a:rPr>
              <a:t>9</a:t>
            </a:r>
            <a:r>
              <a:rPr kumimoji="1" lang="ja-JP" altLang="en-US" sz="500">
                <a:solidFill>
                  <a:prstClr val="black"/>
                </a:solidFill>
                <a:latin typeface="Meiryo UI"/>
              </a:rPr>
              <a:t>月末まで</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58" name="正方形/長方形 57">
            <a:extLst>
              <a:ext uri="{FF2B5EF4-FFF2-40B4-BE49-F238E27FC236}">
                <a16:creationId xmlns:a16="http://schemas.microsoft.com/office/drawing/2014/main" id="{7E68B8BE-811F-1D3E-3AA4-64E785B0B0E9}"/>
              </a:ext>
            </a:extLst>
          </p:cNvPr>
          <p:cNvSpPr/>
          <p:nvPr/>
        </p:nvSpPr>
        <p:spPr>
          <a:xfrm>
            <a:off x="1082916" y="4994914"/>
            <a:ext cx="2299514" cy="89423"/>
          </a:xfrm>
          <a:prstGeom prst="rect">
            <a:avLst/>
          </a:prstGeom>
          <a:solidFill>
            <a:schemeClr val="bg1"/>
          </a:solidFill>
          <a:ln>
            <a:noFill/>
          </a:ln>
        </p:spPr>
        <p:txBody>
          <a:bodyPr lIns="0" rIns="0" rtlCol="0" anchor="ctr"/>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500" b="1" i="0" u="none" strike="noStrike" kern="1200" cap="none" spc="0" normalizeH="0" baseline="0" noProof="0" dirty="0">
                <a:ln>
                  <a:noFill/>
                </a:ln>
                <a:solidFill>
                  <a:srgbClr val="FF0000"/>
                </a:solidFill>
                <a:effectLst/>
                <a:uLnTx/>
                <a:uFillTx/>
                <a:latin typeface="Meiryo UI"/>
                <a:ea typeface="Meiryo UI"/>
                <a:cs typeface="+mn-cs"/>
              </a:rPr>
              <a:t>※</a:t>
            </a:r>
            <a:r>
              <a:rPr kumimoji="1" lang="en-US" altLang="ja-JP" sz="500" b="1" dirty="0">
                <a:solidFill>
                  <a:srgbClr val="FF0000"/>
                </a:solidFill>
                <a:latin typeface="Meiryo UI"/>
                <a:ea typeface="Meiryo UI"/>
              </a:rPr>
              <a:t>2026</a:t>
            </a:r>
            <a:r>
              <a:rPr kumimoji="1" lang="ja-JP" altLang="en-US" sz="500" b="1">
                <a:solidFill>
                  <a:srgbClr val="FF0000"/>
                </a:solidFill>
                <a:latin typeface="Meiryo UI"/>
                <a:ea typeface="Meiryo UI"/>
              </a:rPr>
              <a:t>年</a:t>
            </a:r>
            <a:r>
              <a:rPr kumimoji="1" lang="en-US" altLang="ja-JP" sz="500" b="1" i="0" u="none" strike="noStrike" kern="1200" cap="none" spc="0" normalizeH="0" baseline="0" noProof="0" dirty="0">
                <a:ln>
                  <a:noFill/>
                </a:ln>
                <a:solidFill>
                  <a:srgbClr val="FF0000"/>
                </a:solidFill>
                <a:effectLst/>
                <a:uLnTx/>
                <a:uFillTx/>
                <a:latin typeface="Meiryo UI"/>
                <a:ea typeface="Meiryo UI"/>
                <a:cs typeface="+mn-cs"/>
              </a:rPr>
              <a:t>9</a:t>
            </a:r>
            <a:r>
              <a:rPr kumimoji="1" lang="ja-JP" altLang="en-US" sz="500" b="1" i="0" u="none" strike="noStrike" kern="1200" cap="none" spc="0" normalizeH="0" baseline="0" noProof="0">
                <a:ln>
                  <a:noFill/>
                </a:ln>
                <a:solidFill>
                  <a:srgbClr val="FF0000"/>
                </a:solidFill>
                <a:effectLst/>
                <a:uLnTx/>
                <a:uFillTx/>
                <a:latin typeface="Meiryo UI"/>
                <a:ea typeface="Meiryo UI"/>
                <a:cs typeface="+mn-cs"/>
              </a:rPr>
              <a:t>月末頃までは本番環境でご利用いただけません</a:t>
            </a:r>
          </a:p>
        </p:txBody>
      </p:sp>
      <p:sp>
        <p:nvSpPr>
          <p:cNvPr id="59" name="正方形/長方形 58">
            <a:extLst>
              <a:ext uri="{FF2B5EF4-FFF2-40B4-BE49-F238E27FC236}">
                <a16:creationId xmlns:a16="http://schemas.microsoft.com/office/drawing/2014/main" id="{51464A71-2268-EA0F-E6E6-60BD00B9A287}"/>
              </a:ext>
            </a:extLst>
          </p:cNvPr>
          <p:cNvSpPr/>
          <p:nvPr/>
        </p:nvSpPr>
        <p:spPr>
          <a:xfrm>
            <a:off x="1082916" y="4041414"/>
            <a:ext cx="2036816" cy="119022"/>
          </a:xfrm>
          <a:prstGeom prst="rect">
            <a:avLst/>
          </a:prstGeom>
          <a:solidFill>
            <a:schemeClr val="accent6">
              <a:lumMod val="20000"/>
              <a:lumOff val="80000"/>
            </a:schemeClr>
          </a:solidFill>
          <a:ln>
            <a:solidFill>
              <a:schemeClr val="accent6"/>
            </a:solid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800" b="1" i="0" u="none" strike="noStrike" kern="1200" cap="none" spc="0" normalizeH="0" baseline="0" noProof="0">
                <a:ln>
                  <a:noFill/>
                </a:ln>
                <a:solidFill>
                  <a:prstClr val="black"/>
                </a:solidFill>
                <a:effectLst/>
                <a:uLnTx/>
                <a:uFillTx/>
                <a:latin typeface="Meiryo UI"/>
                <a:ea typeface="Meiryo UI"/>
                <a:cs typeface="+mn-cs"/>
              </a:rPr>
              <a:t>現在本番環境にて利用できるマスタ</a:t>
            </a:r>
          </a:p>
        </p:txBody>
      </p:sp>
      <p:sp>
        <p:nvSpPr>
          <p:cNvPr id="60" name="正方形/長方形 59">
            <a:extLst>
              <a:ext uri="{FF2B5EF4-FFF2-40B4-BE49-F238E27FC236}">
                <a16:creationId xmlns:a16="http://schemas.microsoft.com/office/drawing/2014/main" id="{9C15ED14-F983-8AF2-2B34-4B305EB8508A}"/>
              </a:ext>
            </a:extLst>
          </p:cNvPr>
          <p:cNvSpPr/>
          <p:nvPr/>
        </p:nvSpPr>
        <p:spPr>
          <a:xfrm>
            <a:off x="1054287" y="4849532"/>
            <a:ext cx="2187846" cy="119022"/>
          </a:xfrm>
          <a:prstGeom prst="rect">
            <a:avLst/>
          </a:prstGeom>
          <a:solidFill>
            <a:schemeClr val="accent6">
              <a:lumMod val="20000"/>
              <a:lumOff val="80000"/>
            </a:schemeClr>
          </a:solidFill>
          <a:ln>
            <a:solidFill>
              <a:schemeClr val="accent6"/>
            </a:solid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800" b="1" dirty="0">
                <a:solidFill>
                  <a:prstClr val="black"/>
                </a:solidFill>
                <a:latin typeface="Meiryo UI"/>
                <a:ea typeface="Meiryo UI"/>
              </a:rPr>
              <a:t>2026</a:t>
            </a:r>
            <a:r>
              <a:rPr kumimoji="1" lang="ja-JP" altLang="en-US" sz="800" b="1">
                <a:solidFill>
                  <a:prstClr val="black"/>
                </a:solidFill>
                <a:latin typeface="Meiryo UI"/>
                <a:ea typeface="Meiryo UI"/>
              </a:rPr>
              <a:t>年</a:t>
            </a:r>
            <a:r>
              <a:rPr kumimoji="1" lang="en-US" altLang="ja-JP" sz="800" b="1" i="0" u="none" strike="noStrike" kern="1200" cap="none" spc="0" normalizeH="0" baseline="0" noProof="0" dirty="0">
                <a:ln>
                  <a:noFill/>
                </a:ln>
                <a:solidFill>
                  <a:prstClr val="black"/>
                </a:solidFill>
                <a:effectLst/>
                <a:uLnTx/>
                <a:uFillTx/>
                <a:latin typeface="Meiryo UI"/>
                <a:ea typeface="Meiryo UI"/>
                <a:cs typeface="+mn-cs"/>
              </a:rPr>
              <a:t>9</a:t>
            </a:r>
            <a:r>
              <a:rPr kumimoji="1" lang="ja-JP" altLang="en-US" sz="800" b="1" i="0" u="none" strike="noStrike" kern="1200" cap="none" spc="0" normalizeH="0" baseline="0" noProof="0">
                <a:ln>
                  <a:noFill/>
                </a:ln>
                <a:solidFill>
                  <a:prstClr val="black"/>
                </a:solidFill>
                <a:effectLst/>
                <a:uLnTx/>
                <a:uFillTx/>
                <a:latin typeface="Meiryo UI"/>
                <a:ea typeface="Meiryo UI"/>
                <a:cs typeface="+mn-cs"/>
              </a:rPr>
              <a:t>月末以降本番環境にて利用できるマスタ</a:t>
            </a:r>
          </a:p>
        </p:txBody>
      </p:sp>
      <p:sp>
        <p:nvSpPr>
          <p:cNvPr id="61" name="正方形/長方形 60">
            <a:extLst>
              <a:ext uri="{FF2B5EF4-FFF2-40B4-BE49-F238E27FC236}">
                <a16:creationId xmlns:a16="http://schemas.microsoft.com/office/drawing/2014/main" id="{18C10567-15F1-314E-0F5D-01C991D33AC2}"/>
              </a:ext>
            </a:extLst>
          </p:cNvPr>
          <p:cNvSpPr/>
          <p:nvPr/>
        </p:nvSpPr>
        <p:spPr>
          <a:xfrm>
            <a:off x="1429677" y="7431018"/>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a:t>
            </a:r>
          </a:p>
        </p:txBody>
      </p:sp>
      <p:graphicFrame>
        <p:nvGraphicFramePr>
          <p:cNvPr id="62" name="表 61">
            <a:extLst>
              <a:ext uri="{FF2B5EF4-FFF2-40B4-BE49-F238E27FC236}">
                <a16:creationId xmlns:a16="http://schemas.microsoft.com/office/drawing/2014/main" id="{C59E6A79-F6C9-BD32-F090-48FF405437C2}"/>
              </a:ext>
            </a:extLst>
          </p:cNvPr>
          <p:cNvGraphicFramePr>
            <a:graphicFrameLocks noGrp="1"/>
          </p:cNvGraphicFramePr>
          <p:nvPr/>
        </p:nvGraphicFramePr>
        <p:xfrm>
          <a:off x="1383070" y="7533951"/>
          <a:ext cx="2387855" cy="439993"/>
        </p:xfrm>
        <a:graphic>
          <a:graphicData uri="http://schemas.openxmlformats.org/drawingml/2006/table">
            <a:tbl>
              <a:tblPr/>
              <a:tblGrid>
                <a:gridCol w="267911">
                  <a:extLst>
                    <a:ext uri="{9D8B030D-6E8A-4147-A177-3AD203B41FA5}">
                      <a16:colId xmlns:a16="http://schemas.microsoft.com/office/drawing/2014/main" val="4058772077"/>
                    </a:ext>
                  </a:extLst>
                </a:gridCol>
                <a:gridCol w="432000">
                  <a:extLst>
                    <a:ext uri="{9D8B030D-6E8A-4147-A177-3AD203B41FA5}">
                      <a16:colId xmlns:a16="http://schemas.microsoft.com/office/drawing/2014/main" val="154882630"/>
                    </a:ext>
                  </a:extLst>
                </a:gridCol>
                <a:gridCol w="391944">
                  <a:extLst>
                    <a:ext uri="{9D8B030D-6E8A-4147-A177-3AD203B41FA5}">
                      <a16:colId xmlns:a16="http://schemas.microsoft.com/office/drawing/2014/main" val="2721471254"/>
                    </a:ext>
                  </a:extLst>
                </a:gridCol>
                <a:gridCol w="432000">
                  <a:extLst>
                    <a:ext uri="{9D8B030D-6E8A-4147-A177-3AD203B41FA5}">
                      <a16:colId xmlns:a16="http://schemas.microsoft.com/office/drawing/2014/main" val="227139091"/>
                    </a:ext>
                  </a:extLst>
                </a:gridCol>
                <a:gridCol w="432000">
                  <a:extLst>
                    <a:ext uri="{9D8B030D-6E8A-4147-A177-3AD203B41FA5}">
                      <a16:colId xmlns:a16="http://schemas.microsoft.com/office/drawing/2014/main" val="892848932"/>
                    </a:ext>
                  </a:extLst>
                </a:gridCol>
                <a:gridCol w="432000">
                  <a:extLst>
                    <a:ext uri="{9D8B030D-6E8A-4147-A177-3AD203B41FA5}">
                      <a16:colId xmlns:a16="http://schemas.microsoft.com/office/drawing/2014/main" val="420957508"/>
                    </a:ext>
                  </a:extLst>
                </a:gridCol>
              </a:tblGrid>
              <a:tr h="139034">
                <a:tc>
                  <a:txBody>
                    <a:bodyPr/>
                    <a:lstStyle/>
                    <a:p>
                      <a:pPr algn="ctr" fontAlgn="ctr">
                        <a:buNone/>
                      </a:pPr>
                      <a:r>
                        <a:rPr lang="ja-JP" altLang="en-US" sz="5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本番環境</a:t>
                      </a:r>
                      <a:br>
                        <a:rPr lang="en-US" altLang="ja-JP" sz="500" b="0" i="0" u="none" strike="noStrike" dirty="0">
                          <a:solidFill>
                            <a:srgbClr val="000000"/>
                          </a:solidFill>
                          <a:effectLst/>
                          <a:latin typeface="+mj-ea"/>
                          <a:ea typeface="+mj-ea"/>
                        </a:rPr>
                      </a:br>
                      <a:r>
                        <a:rPr lang="ja-JP" altLang="en-US" sz="5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反映日</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39034">
                <a:tc>
                  <a:txBody>
                    <a:bodyPr/>
                    <a:lstStyle/>
                    <a:p>
                      <a:pPr algn="ctr" fontAlgn="ctr">
                        <a:buNone/>
                      </a:pPr>
                      <a:r>
                        <a:rPr lang="en-US" altLang="ja-JP" sz="500" b="0" i="0" u="none" strike="noStrike" dirty="0">
                          <a:solidFill>
                            <a:srgbClr val="000000"/>
                          </a:solidFill>
                          <a:effectLst/>
                          <a:latin typeface="+mj-ea"/>
                          <a:ea typeface="+mj-ea"/>
                        </a:rPr>
                        <a:t>202608</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2026/08/27</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9</a:t>
                      </a:r>
                      <a:r>
                        <a:rPr lang="ja-JP" altLang="en-US" sz="500" b="0" i="0" u="none" strike="noStrike">
                          <a:solidFill>
                            <a:srgbClr val="000000"/>
                          </a:solidFill>
                          <a:effectLst/>
                          <a:latin typeface="+mn-ea"/>
                          <a:ea typeface="+mn-ea"/>
                        </a:rPr>
                        <a:t>月末頃</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9</a:t>
                      </a:r>
                      <a:r>
                        <a:rPr lang="ja-JP" altLang="en-US" sz="500" b="0" i="0" u="none" strike="noStrike">
                          <a:solidFill>
                            <a:srgbClr val="000000"/>
                          </a:solidFill>
                          <a:effectLst/>
                          <a:latin typeface="+mn-ea"/>
                          <a:ea typeface="+mn-ea"/>
                        </a:rPr>
                        <a:t>月末頃</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2026/08/27</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r h="139034">
                <a:tc>
                  <a:txBody>
                    <a:bodyPr/>
                    <a:lstStyle/>
                    <a:p>
                      <a:pPr algn="ctr" fontAlgn="ctr">
                        <a:buNone/>
                      </a:pPr>
                      <a:r>
                        <a:rPr lang="en-US" altLang="ja-JP" sz="500" b="0" i="0" u="none" strike="noStrike" dirty="0">
                          <a:solidFill>
                            <a:srgbClr val="000000"/>
                          </a:solidFill>
                          <a:effectLst/>
                          <a:latin typeface="+mj-ea"/>
                          <a:ea typeface="+mj-ea"/>
                        </a:rPr>
                        <a:t>202606</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2026/06/30</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500" b="0" i="0" u="none" strike="noStrike" kern="1200" cap="none" spc="0" normalizeH="0" baseline="0" noProof="0">
                          <a:ln>
                            <a:noFill/>
                          </a:ln>
                          <a:solidFill>
                            <a:srgbClr val="000000"/>
                          </a:solidFill>
                          <a:effectLst/>
                          <a:uLnTx/>
                          <a:uFillTx/>
                          <a:latin typeface="Meiryo UI"/>
                          <a:ea typeface="Meiryo UI"/>
                          <a:cs typeface="+mn-cs"/>
                        </a:rPr>
                        <a:t>ー</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500" b="0" i="0" u="none" strike="noStrike" kern="1200" cap="none" spc="0" normalizeH="0" baseline="0" noProof="0">
                          <a:ln>
                            <a:noFill/>
                          </a:ln>
                          <a:solidFill>
                            <a:srgbClr val="000000"/>
                          </a:solidFill>
                          <a:effectLst/>
                          <a:uLnTx/>
                          <a:uFillTx/>
                          <a:latin typeface="Meiryo UI"/>
                          <a:ea typeface="Meiryo UI"/>
                          <a:cs typeface="+mn-cs"/>
                        </a:rPr>
                        <a:t>ー</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2026/08/13</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06660808"/>
                  </a:ext>
                </a:extLst>
              </a:tr>
            </a:tbl>
          </a:graphicData>
        </a:graphic>
      </p:graphicFrame>
      <p:sp>
        <p:nvSpPr>
          <p:cNvPr id="63" name="正方形/長方形 62">
            <a:extLst>
              <a:ext uri="{FF2B5EF4-FFF2-40B4-BE49-F238E27FC236}">
                <a16:creationId xmlns:a16="http://schemas.microsoft.com/office/drawing/2014/main" id="{1BB47CC4-F802-56CC-51FE-7B3EADD13427}"/>
              </a:ext>
            </a:extLst>
          </p:cNvPr>
          <p:cNvSpPr/>
          <p:nvPr/>
        </p:nvSpPr>
        <p:spPr>
          <a:xfrm>
            <a:off x="1073075" y="5097734"/>
            <a:ext cx="2749921" cy="2102282"/>
          </a:xfrm>
          <a:prstGeom prst="rect">
            <a:avLst/>
          </a:prstGeom>
          <a:solidFill>
            <a:schemeClr val="bg1"/>
          </a:solidFill>
          <a:ln>
            <a:noFill/>
          </a:ln>
        </p:spPr>
        <p:txBody>
          <a:bodyPr lIns="0" rIns="0" rtlCol="0" anchor="t"/>
          <a:lstStyle/>
          <a:p>
            <a:pPr lvl="0" fontAlgn="base">
              <a:spcBef>
                <a:spcPct val="20000"/>
              </a:spcBef>
              <a:spcAft>
                <a:spcPct val="0"/>
              </a:spcAft>
              <a:defRPr/>
            </a:pPr>
            <a:r>
              <a:rPr kumimoji="1" lang="ja-JP" altLang="en-US" sz="500">
                <a:solidFill>
                  <a:prstClr val="black"/>
                </a:solidFill>
                <a:latin typeface="Meiryo UI"/>
              </a:rPr>
              <a:t>電子カルテ情報共有サービス対応 </a:t>
            </a:r>
            <a:r>
              <a:rPr kumimoji="1" lang="en-US" altLang="ja-JP" sz="500" dirty="0">
                <a:solidFill>
                  <a:prstClr val="black"/>
                </a:solidFill>
                <a:latin typeface="Meiryo UI"/>
              </a:rPr>
              <a:t>JLAC</a:t>
            </a:r>
            <a:r>
              <a:rPr kumimoji="1" lang="ja-JP" altLang="en-US" sz="500">
                <a:solidFill>
                  <a:prstClr val="black"/>
                </a:solidFill>
                <a:latin typeface="Meiryo UI"/>
              </a:rPr>
              <a:t>コード表</a:t>
            </a:r>
            <a:r>
              <a:rPr kumimoji="1" lang="en-US" altLang="ja-JP" sz="500" dirty="0">
                <a:solidFill>
                  <a:prstClr val="black"/>
                </a:solidFill>
                <a:latin typeface="Meiryo UI"/>
              </a:rPr>
              <a:t>(</a:t>
            </a:r>
            <a:r>
              <a:rPr kumimoji="1" lang="ja-JP" altLang="en-US" sz="500">
                <a:solidFill>
                  <a:prstClr val="black"/>
                </a:solidFill>
                <a:latin typeface="Meiryo UI"/>
              </a:rPr>
              <a:t>共有項目</a:t>
            </a:r>
            <a:r>
              <a:rPr kumimoji="1" lang="en-US" altLang="ja-JP" sz="500" dirty="0">
                <a:solidFill>
                  <a:prstClr val="black"/>
                </a:solidFill>
                <a:latin typeface="Meiryo UI"/>
              </a:rPr>
              <a:t>JLAC</a:t>
            </a:r>
            <a:r>
              <a:rPr kumimoji="1" lang="ja-JP" altLang="en-US" sz="500">
                <a:solidFill>
                  <a:prstClr val="black"/>
                </a:solidFill>
                <a:latin typeface="Meiryo UI"/>
              </a:rPr>
              <a:t>コードマスタ</a:t>
            </a:r>
            <a:r>
              <a:rPr kumimoji="1" lang="en-US" altLang="ja-JP" sz="500" dirty="0">
                <a:solidFill>
                  <a:prstClr val="black"/>
                </a:solidFill>
                <a:latin typeface="Meiryo UI"/>
              </a:rPr>
              <a:t>)</a:t>
            </a:r>
            <a:r>
              <a:rPr kumimoji="1" lang="ja-JP" altLang="en-US" sz="500">
                <a:solidFill>
                  <a:prstClr val="black"/>
                </a:solidFill>
                <a:latin typeface="Meiryo UI"/>
              </a:rPr>
              <a:t>は、</a:t>
            </a:r>
            <a:r>
              <a:rPr kumimoji="1" lang="en-US" altLang="ja-JP" sz="500" dirty="0">
                <a:solidFill>
                  <a:prstClr val="black"/>
                </a:solidFill>
                <a:latin typeface="Meiryo UI"/>
              </a:rPr>
              <a:t>202606</a:t>
            </a:r>
            <a:r>
              <a:rPr kumimoji="1" lang="ja-JP" altLang="en-US" sz="500">
                <a:solidFill>
                  <a:prstClr val="black"/>
                </a:solidFill>
                <a:latin typeface="Meiryo UI"/>
              </a:rPr>
              <a:t>版の更新に際し、コードの見直しを実施しております。そのため、</a:t>
            </a:r>
            <a:r>
              <a:rPr kumimoji="1" lang="en-US" altLang="ja-JP" sz="500" dirty="0">
                <a:solidFill>
                  <a:prstClr val="black"/>
                </a:solidFill>
                <a:latin typeface="Meiryo UI"/>
              </a:rPr>
              <a:t>202603</a:t>
            </a:r>
            <a:r>
              <a:rPr kumimoji="1" lang="ja-JP" altLang="en-US" sz="500">
                <a:solidFill>
                  <a:prstClr val="black"/>
                </a:solidFill>
                <a:latin typeface="Meiryo UI"/>
              </a:rPr>
              <a:t>版以前の版で登録している場合、</a:t>
            </a:r>
            <a:r>
              <a:rPr kumimoji="1" lang="en-US" altLang="ja-JP" sz="500" dirty="0">
                <a:solidFill>
                  <a:prstClr val="black"/>
                </a:solidFill>
                <a:latin typeface="Meiryo UI"/>
              </a:rPr>
              <a:t>202606</a:t>
            </a:r>
            <a:r>
              <a:rPr kumimoji="1" lang="ja-JP" altLang="en-US" sz="500">
                <a:solidFill>
                  <a:prstClr val="black"/>
                </a:solidFill>
                <a:latin typeface="Meiryo UI"/>
              </a:rPr>
              <a:t>版以降の新しいマスタへの移行をお願いいたします。</a:t>
            </a:r>
            <a:endParaRPr kumimoji="1" lang="en-US" altLang="ja-JP" sz="500" dirty="0">
              <a:solidFill>
                <a:prstClr val="black"/>
              </a:solidFill>
              <a:latin typeface="Meiryo UI"/>
            </a:endParaRPr>
          </a:p>
          <a:p>
            <a:pPr lvl="0" fontAlgn="base">
              <a:spcBef>
                <a:spcPct val="20000"/>
              </a:spcBef>
              <a:spcAft>
                <a:spcPct val="0"/>
              </a:spcAft>
              <a:defRPr/>
            </a:pPr>
            <a:endParaRPr kumimoji="1" lang="en-US" altLang="ja-JP" sz="500" dirty="0">
              <a:latin typeface="Meiryo UI"/>
              <a:ea typeface="Meiryo UI"/>
            </a:endParaRPr>
          </a:p>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500" b="1" dirty="0">
                <a:solidFill>
                  <a:srgbClr val="FF0000"/>
                </a:solidFill>
                <a:latin typeface="Meiryo UI"/>
                <a:ea typeface="Meiryo UI"/>
              </a:rPr>
              <a:t>【</a:t>
            </a:r>
            <a:r>
              <a:rPr kumimoji="1" lang="ja-JP" altLang="en-US" sz="500" b="1">
                <a:solidFill>
                  <a:srgbClr val="FF0000"/>
                </a:solidFill>
                <a:latin typeface="Meiryo UI"/>
                <a:ea typeface="Meiryo UI"/>
              </a:rPr>
              <a:t>ご留意事項</a:t>
            </a:r>
            <a:r>
              <a:rPr kumimoji="1" lang="en-US" altLang="ja-JP" sz="500" b="1" dirty="0">
                <a:solidFill>
                  <a:srgbClr val="FF0000"/>
                </a:solidFill>
                <a:latin typeface="Meiryo UI"/>
                <a:ea typeface="Meiryo UI"/>
              </a:rPr>
              <a:t>】</a:t>
            </a:r>
          </a:p>
          <a:p>
            <a:pPr lvl="0" fontAlgn="base">
              <a:spcBef>
                <a:spcPct val="20000"/>
              </a:spcBef>
              <a:spcAft>
                <a:spcPct val="0"/>
              </a:spcAft>
              <a:defRPr/>
            </a:pPr>
            <a:r>
              <a:rPr kumimoji="1" lang="ja-JP" altLang="en-US" sz="500">
                <a:latin typeface="Meiryo UI"/>
                <a:ea typeface="Meiryo UI"/>
              </a:rPr>
              <a:t>①</a:t>
            </a:r>
            <a:r>
              <a:rPr kumimoji="1" lang="en-US" altLang="ja-JP" sz="500" dirty="0">
                <a:latin typeface="Meiryo UI"/>
                <a:ea typeface="Meiryo UI"/>
              </a:rPr>
              <a:t>2026</a:t>
            </a:r>
            <a:r>
              <a:rPr kumimoji="1" lang="ja-JP" altLang="en-US" sz="500">
                <a:latin typeface="Meiryo UI"/>
                <a:ea typeface="Meiryo UI"/>
              </a:rPr>
              <a:t>年</a:t>
            </a:r>
            <a:r>
              <a:rPr kumimoji="1" lang="en-US" altLang="ja-JP" sz="500" i="0" u="none" strike="noStrike" kern="1200" cap="none" spc="0" normalizeH="0" baseline="0" noProof="0" dirty="0">
                <a:ln>
                  <a:noFill/>
                </a:ln>
                <a:effectLst/>
                <a:uLnTx/>
                <a:uFillTx/>
                <a:latin typeface="Meiryo UI"/>
                <a:ea typeface="Meiryo UI"/>
                <a:cs typeface="+mn-cs"/>
              </a:rPr>
              <a:t>9</a:t>
            </a:r>
            <a:r>
              <a:rPr kumimoji="1" lang="ja-JP" altLang="en-US" sz="500" i="0" u="none" strike="noStrike" kern="1200" cap="none" spc="0" normalizeH="0" baseline="0" noProof="0">
                <a:ln>
                  <a:noFill/>
                </a:ln>
                <a:effectLst/>
                <a:uLnTx/>
                <a:uFillTx/>
                <a:latin typeface="Meiryo UI"/>
                <a:ea typeface="Meiryo UI"/>
                <a:cs typeface="+mn-cs"/>
              </a:rPr>
              <a:t>月末以降は、</a:t>
            </a:r>
            <a:r>
              <a:rPr kumimoji="1" lang="en-US" altLang="ja-JP" sz="500" i="0" u="none" strike="noStrike" kern="1200" cap="none" spc="0" normalizeH="0" baseline="0" noProof="0" dirty="0">
                <a:ln>
                  <a:noFill/>
                </a:ln>
                <a:effectLst/>
                <a:uLnTx/>
                <a:uFillTx/>
                <a:latin typeface="Meiryo UI"/>
                <a:ea typeface="Meiryo UI"/>
                <a:cs typeface="+mn-cs"/>
              </a:rPr>
              <a:t>202603</a:t>
            </a:r>
            <a:r>
              <a:rPr kumimoji="1" lang="ja-JP" altLang="en-US" sz="500" i="0" u="none" strike="noStrike" kern="1200" cap="none" spc="0" normalizeH="0" baseline="0" noProof="0">
                <a:ln>
                  <a:noFill/>
                </a:ln>
                <a:effectLst/>
                <a:uLnTx/>
                <a:uFillTx/>
                <a:latin typeface="Meiryo UI"/>
                <a:ea typeface="Meiryo UI"/>
                <a:cs typeface="+mn-cs"/>
              </a:rPr>
              <a:t>版に記載されている次の</a:t>
            </a:r>
            <a:r>
              <a:rPr kumimoji="1" lang="en-US" altLang="ja-JP" sz="500" i="0" u="none" strike="noStrike" kern="1200" cap="none" spc="0" normalizeH="0" baseline="0" noProof="0" dirty="0">
                <a:ln>
                  <a:noFill/>
                </a:ln>
                <a:effectLst/>
                <a:uLnTx/>
                <a:uFillTx/>
                <a:latin typeface="Meiryo UI"/>
                <a:ea typeface="Meiryo UI"/>
                <a:cs typeface="+mn-cs"/>
              </a:rPr>
              <a:t>FHIR</a:t>
            </a:r>
            <a:r>
              <a:rPr kumimoji="1" lang="ja-JP" altLang="en-US" sz="500" i="0" u="none" strike="noStrike" kern="1200" cap="none" spc="0" normalizeH="0" baseline="0" noProof="0">
                <a:ln>
                  <a:noFill/>
                </a:ln>
                <a:effectLst/>
                <a:uLnTx/>
                <a:uFillTx/>
                <a:latin typeface="Meiryo UI"/>
                <a:ea typeface="Meiryo UI"/>
                <a:cs typeface="+mn-cs"/>
              </a:rPr>
              <a:t>項目名称のコードについてより適切な</a:t>
            </a:r>
            <a:r>
              <a:rPr kumimoji="1" lang="en-US" altLang="ja-JP" sz="500" i="0" u="none" strike="noStrike" kern="1200" cap="none" spc="0" normalizeH="0" baseline="0" noProof="0" dirty="0">
                <a:ln>
                  <a:noFill/>
                </a:ln>
                <a:effectLst/>
                <a:uLnTx/>
                <a:uFillTx/>
                <a:latin typeface="Meiryo UI"/>
                <a:ea typeface="Meiryo UI"/>
                <a:cs typeface="+mn-cs"/>
              </a:rPr>
              <a:t>FHIR</a:t>
            </a:r>
            <a:r>
              <a:rPr kumimoji="1" lang="ja-JP" altLang="en-US" sz="500" i="0" u="none" strike="noStrike" kern="1200" cap="none" spc="0" normalizeH="0" baseline="0" noProof="0">
                <a:ln>
                  <a:noFill/>
                </a:ln>
                <a:effectLst/>
                <a:uLnTx/>
                <a:uFillTx/>
                <a:latin typeface="Meiryo UI"/>
                <a:ea typeface="Meiryo UI"/>
                <a:cs typeface="+mn-cs"/>
              </a:rPr>
              <a:t>項目名称に変更となったため、電子カルテ情報共有サービスに登録できなくなります。</a:t>
            </a:r>
            <a:r>
              <a:rPr kumimoji="1" lang="ja-JP" altLang="en-US" sz="500">
                <a:solidFill>
                  <a:prstClr val="black"/>
                </a:solidFill>
                <a:latin typeface="Meiryo UI (Body)"/>
              </a:rPr>
              <a:t>新しい</a:t>
            </a:r>
            <a:r>
              <a:rPr kumimoji="1" lang="en-US" altLang="ja-JP" sz="500" dirty="0">
                <a:solidFill>
                  <a:prstClr val="black"/>
                </a:solidFill>
                <a:latin typeface="Meiryo UI (Body)"/>
              </a:rPr>
              <a:t>FHIR</a:t>
            </a:r>
            <a:r>
              <a:rPr kumimoji="1" lang="ja-JP" altLang="en-US" sz="500">
                <a:solidFill>
                  <a:prstClr val="black"/>
                </a:solidFill>
                <a:latin typeface="Meiryo UI (Body)"/>
              </a:rPr>
              <a:t>項目名称の詳細につきましては、</a:t>
            </a:r>
            <a:r>
              <a:rPr lang="en-US" altLang="ja-JP" sz="500" dirty="0">
                <a:solidFill>
                  <a:srgbClr val="000000"/>
                </a:solidFill>
                <a:latin typeface="Meiryo UI (Body)"/>
              </a:rPr>
              <a:t>202606</a:t>
            </a:r>
            <a:r>
              <a:rPr kumimoji="1" lang="ja-JP" altLang="en-US" sz="500">
                <a:solidFill>
                  <a:prstClr val="black"/>
                </a:solidFill>
                <a:latin typeface="Meiryo UI (Body)"/>
              </a:rPr>
              <a:t>版以降の版をご確認ください。 </a:t>
            </a:r>
            <a:endParaRPr kumimoji="1" lang="en-US" altLang="ja-JP" sz="500" dirty="0">
              <a:solidFill>
                <a:prstClr val="black"/>
              </a:solidFill>
              <a:latin typeface="Meiryo UI (Body)"/>
            </a:endParaRPr>
          </a:p>
          <a:p>
            <a:pPr lvl="0" fontAlgn="base">
              <a:spcBef>
                <a:spcPct val="20000"/>
              </a:spcBef>
              <a:spcAft>
                <a:spcPct val="0"/>
              </a:spcAft>
              <a:defRPr/>
            </a:pPr>
            <a:r>
              <a:rPr kumimoji="1" lang="ja-JP" altLang="en-US" sz="500">
                <a:latin typeface="Meiryo UI"/>
                <a:ea typeface="Meiryo UI"/>
              </a:rPr>
              <a:t>　</a:t>
            </a:r>
            <a:r>
              <a:rPr kumimoji="1" lang="en-US" altLang="ja-JP" sz="500" dirty="0">
                <a:latin typeface="Meiryo UI"/>
                <a:ea typeface="Meiryo UI"/>
              </a:rPr>
              <a:t>-</a:t>
            </a:r>
            <a:r>
              <a:rPr kumimoji="1" lang="ja-JP" altLang="en-US" sz="500">
                <a:latin typeface="Meiryo UI"/>
                <a:ea typeface="Meiryo UI"/>
              </a:rPr>
              <a:t>尿中蛋白</a:t>
            </a:r>
            <a:r>
              <a:rPr kumimoji="1" lang="en-US" altLang="ja-JP" sz="500" dirty="0">
                <a:latin typeface="Meiryo UI"/>
                <a:ea typeface="Meiryo UI"/>
              </a:rPr>
              <a:t>/</a:t>
            </a:r>
            <a:r>
              <a:rPr kumimoji="1" lang="ja-JP" altLang="en-US" sz="500">
                <a:latin typeface="Meiryo UI"/>
                <a:ea typeface="Meiryo UI"/>
              </a:rPr>
              <a:t>クレアチニン比</a:t>
            </a:r>
            <a:r>
              <a:rPr kumimoji="1" lang="en-US" altLang="ja-JP" sz="500" dirty="0">
                <a:latin typeface="Meiryo UI"/>
                <a:ea typeface="Meiryo UI"/>
              </a:rPr>
              <a:t>(P/C</a:t>
            </a:r>
            <a:r>
              <a:rPr kumimoji="1" lang="ja-JP" altLang="en-US" sz="500">
                <a:latin typeface="Meiryo UI"/>
                <a:ea typeface="Meiryo UI"/>
              </a:rPr>
              <a:t>比</a:t>
            </a:r>
            <a:r>
              <a:rPr kumimoji="1" lang="en-US" altLang="ja-JP" sz="500" dirty="0">
                <a:latin typeface="Meiryo UI"/>
                <a:ea typeface="Meiryo UI"/>
              </a:rPr>
              <a:t>)</a:t>
            </a:r>
          </a:p>
          <a:p>
            <a:pPr lvl="0" fontAlgn="base">
              <a:spcBef>
                <a:spcPct val="20000"/>
              </a:spcBef>
              <a:spcAft>
                <a:spcPct val="0"/>
              </a:spcAft>
              <a:defRPr/>
            </a:pPr>
            <a:r>
              <a:rPr kumimoji="1" lang="ja-JP" altLang="en-US" sz="500" i="0" u="none" strike="noStrike" kern="1200" cap="none" spc="0" normalizeH="0" baseline="0" noProof="0">
                <a:ln>
                  <a:noFill/>
                </a:ln>
                <a:effectLst/>
                <a:uLnTx/>
                <a:uFillTx/>
                <a:latin typeface="Meiryo UI"/>
                <a:ea typeface="Meiryo UI"/>
                <a:cs typeface="+mn-cs"/>
              </a:rPr>
              <a:t>　</a:t>
            </a:r>
            <a:r>
              <a:rPr kumimoji="1" lang="en-US" altLang="ja-JP" sz="500" i="0" u="none" strike="noStrike" kern="1200" cap="none" spc="0" normalizeH="0" baseline="0" noProof="0" dirty="0">
                <a:ln>
                  <a:noFill/>
                </a:ln>
                <a:effectLst/>
                <a:uLnTx/>
                <a:uFillTx/>
                <a:latin typeface="Meiryo UI"/>
                <a:ea typeface="Meiryo UI"/>
                <a:cs typeface="+mn-cs"/>
              </a:rPr>
              <a:t>-</a:t>
            </a:r>
            <a:r>
              <a:rPr kumimoji="1" lang="ja-JP" altLang="en-US" sz="500" i="0" u="none" strike="noStrike" kern="1200" cap="none" spc="0" normalizeH="0" baseline="0" noProof="0">
                <a:ln>
                  <a:noFill/>
                </a:ln>
                <a:effectLst/>
                <a:uLnTx/>
                <a:uFillTx/>
                <a:latin typeface="Meiryo UI"/>
                <a:ea typeface="Meiryo UI"/>
                <a:cs typeface="+mn-cs"/>
              </a:rPr>
              <a:t>尿中アルブミン</a:t>
            </a:r>
            <a:r>
              <a:rPr kumimoji="1" lang="en-US" altLang="ja-JP" sz="500" i="0" u="none" strike="noStrike" kern="1200" cap="none" spc="0" normalizeH="0" baseline="0" noProof="0" dirty="0">
                <a:ln>
                  <a:noFill/>
                </a:ln>
                <a:effectLst/>
                <a:uLnTx/>
                <a:uFillTx/>
                <a:latin typeface="Meiryo UI"/>
                <a:ea typeface="Meiryo UI"/>
                <a:cs typeface="+mn-cs"/>
              </a:rPr>
              <a:t>/</a:t>
            </a:r>
            <a:r>
              <a:rPr kumimoji="1" lang="ja-JP" altLang="en-US" sz="500" i="0" u="none" strike="noStrike" kern="1200" cap="none" spc="0" normalizeH="0" baseline="0" noProof="0">
                <a:ln>
                  <a:noFill/>
                </a:ln>
                <a:effectLst/>
                <a:uLnTx/>
                <a:uFillTx/>
                <a:latin typeface="Meiryo UI"/>
                <a:ea typeface="Meiryo UI"/>
                <a:cs typeface="+mn-cs"/>
              </a:rPr>
              <a:t>クレアチニン比</a:t>
            </a:r>
            <a:r>
              <a:rPr kumimoji="1" lang="en-US" altLang="ja-JP" sz="500" dirty="0">
                <a:latin typeface="Meiryo UI"/>
              </a:rPr>
              <a:t>(A/C</a:t>
            </a:r>
            <a:r>
              <a:rPr kumimoji="1" lang="ja-JP" altLang="en-US" sz="500">
                <a:latin typeface="Meiryo UI"/>
              </a:rPr>
              <a:t>比</a:t>
            </a:r>
            <a:r>
              <a:rPr kumimoji="1" lang="en-US" altLang="ja-JP" sz="500" dirty="0">
                <a:latin typeface="Meiryo UI"/>
              </a:rPr>
              <a:t>)</a:t>
            </a:r>
          </a:p>
          <a:p>
            <a:pPr lvl="0" fontAlgn="base">
              <a:spcBef>
                <a:spcPct val="20000"/>
              </a:spcBef>
              <a:spcAft>
                <a:spcPct val="0"/>
              </a:spcAft>
              <a:defRPr/>
            </a:pPr>
            <a:endParaRPr kumimoji="1" lang="en-US" altLang="ja-JP" sz="500" i="0" u="none" strike="noStrike" kern="1200" cap="none" spc="0" normalizeH="0" baseline="0" noProof="0" dirty="0">
              <a:ln>
                <a:noFill/>
              </a:ln>
              <a:effectLst/>
              <a:uLnTx/>
              <a:uFillTx/>
              <a:latin typeface="Meiryo UI"/>
              <a:ea typeface="Meiryo UI"/>
              <a:cs typeface="+mn-cs"/>
            </a:endParaRPr>
          </a:p>
          <a:p>
            <a:pPr lvl="0" fontAlgn="base">
              <a:spcBef>
                <a:spcPct val="20000"/>
              </a:spcBef>
              <a:spcAft>
                <a:spcPct val="0"/>
              </a:spcAft>
              <a:defRPr/>
            </a:pPr>
            <a:r>
              <a:rPr kumimoji="1" lang="ja-JP" altLang="en-US" sz="500" i="0" u="none" strike="noStrike" kern="1200" cap="none" spc="0" normalizeH="0" baseline="0" noProof="0">
                <a:ln>
                  <a:noFill/>
                </a:ln>
                <a:effectLst/>
                <a:uLnTx/>
                <a:uFillTx/>
                <a:latin typeface="Meiryo UI"/>
                <a:ea typeface="Meiryo UI"/>
                <a:cs typeface="+mn-cs"/>
              </a:rPr>
              <a:t>②</a:t>
            </a:r>
            <a:r>
              <a:rPr kumimoji="1" lang="en-US" altLang="ja-JP" sz="500" i="0" u="none" strike="noStrike" kern="1200" cap="none" spc="0" normalizeH="0" baseline="0" noProof="0" dirty="0">
                <a:ln>
                  <a:noFill/>
                </a:ln>
                <a:effectLst/>
                <a:uLnTx/>
                <a:uFillTx/>
                <a:latin typeface="Meiryo UI"/>
                <a:ea typeface="Meiryo UI"/>
                <a:cs typeface="+mn-cs"/>
              </a:rPr>
              <a:t>JLAC</a:t>
            </a:r>
            <a:r>
              <a:rPr kumimoji="1" lang="ja-JP" altLang="en-US" sz="500">
                <a:latin typeface="Meiryo UI"/>
                <a:ea typeface="Meiryo UI"/>
              </a:rPr>
              <a:t>コードの見直しにより、一部の</a:t>
            </a:r>
            <a:r>
              <a:rPr kumimoji="1" lang="en-US" altLang="ja-JP" sz="500" dirty="0">
                <a:latin typeface="Meiryo UI"/>
                <a:ea typeface="Meiryo UI"/>
              </a:rPr>
              <a:t>JLAC10</a:t>
            </a:r>
            <a:r>
              <a:rPr kumimoji="1" lang="ja-JP" altLang="en-US" sz="500">
                <a:latin typeface="Meiryo UI"/>
                <a:ea typeface="Meiryo UI"/>
              </a:rPr>
              <a:t>コードについて登録できなくなります。該当コードや変更先の詳細は新旧コード対応表</a:t>
            </a:r>
            <a:r>
              <a:rPr kumimoji="1" lang="en-US" altLang="ja-JP" sz="500" dirty="0">
                <a:latin typeface="Meiryo UI"/>
                <a:ea typeface="Meiryo UI"/>
              </a:rPr>
              <a:t>(</a:t>
            </a:r>
            <a:r>
              <a:rPr kumimoji="1" lang="ja-JP" altLang="en-US" sz="500">
                <a:latin typeface="Meiryo UI"/>
                <a:ea typeface="Meiryo UI"/>
              </a:rPr>
              <a:t>準備中</a:t>
            </a:r>
            <a:r>
              <a:rPr kumimoji="1" lang="en-US" altLang="ja-JP" sz="500" dirty="0">
                <a:latin typeface="Meiryo UI"/>
                <a:ea typeface="Meiryo UI"/>
              </a:rPr>
              <a:t>)</a:t>
            </a:r>
            <a:r>
              <a:rPr kumimoji="1" lang="ja-JP" altLang="en-US" sz="500">
                <a:latin typeface="Meiryo UI"/>
                <a:ea typeface="Meiryo UI"/>
              </a:rPr>
              <a:t>を参照ください。</a:t>
            </a:r>
            <a:endParaRPr kumimoji="1" lang="en-US" altLang="ja-JP" sz="500" dirty="0">
              <a:latin typeface="Meiryo UI"/>
              <a:ea typeface="Meiryo UI"/>
            </a:endParaRPr>
          </a:p>
          <a:p>
            <a:pPr fontAlgn="base">
              <a:spcBef>
                <a:spcPct val="20000"/>
              </a:spcBef>
              <a:spcAft>
                <a:spcPct val="0"/>
              </a:spcAft>
              <a:defRPr/>
            </a:pPr>
            <a:endParaRPr kumimoji="1" lang="en-US" altLang="ja-JP" sz="500" i="0" u="none" strike="noStrike" kern="1200" cap="none" spc="0" normalizeH="0" baseline="0" noProof="0" dirty="0">
              <a:ln>
                <a:noFill/>
              </a:ln>
              <a:effectLst/>
              <a:uLnTx/>
              <a:uFillTx/>
              <a:latin typeface="Meiryo UI"/>
              <a:ea typeface="Meiryo UI"/>
              <a:cs typeface="+mn-cs"/>
            </a:endParaRPr>
          </a:p>
          <a:p>
            <a:pPr fontAlgn="base">
              <a:spcBef>
                <a:spcPct val="20000"/>
              </a:spcBef>
              <a:spcAft>
                <a:spcPct val="0"/>
              </a:spcAft>
              <a:defRPr/>
            </a:pPr>
            <a:r>
              <a:rPr kumimoji="1" lang="ja-JP" altLang="en-US" sz="500" i="0" u="none" strike="noStrike" kern="1200" cap="none" spc="0" normalizeH="0" baseline="0" noProof="0">
                <a:ln>
                  <a:noFill/>
                </a:ln>
                <a:effectLst/>
                <a:uLnTx/>
                <a:uFillTx/>
                <a:latin typeface="Meiryo UI"/>
                <a:ea typeface="Meiryo UI"/>
                <a:cs typeface="+mn-cs"/>
              </a:rPr>
              <a:t>③当該試薬のコードにつきまして</a:t>
            </a:r>
            <a:r>
              <a:rPr kumimoji="1" lang="en-US" altLang="ja-JP" sz="500" i="0" u="none" strike="noStrike" kern="1200" cap="none" spc="0" normalizeH="0" baseline="0" noProof="0" dirty="0">
                <a:ln>
                  <a:noFill/>
                </a:ln>
                <a:effectLst/>
                <a:uLnTx/>
                <a:uFillTx/>
                <a:latin typeface="Meiryo UI"/>
                <a:ea typeface="Meiryo UI"/>
                <a:cs typeface="+mn-cs"/>
              </a:rPr>
              <a:t>FHIR</a:t>
            </a:r>
            <a:r>
              <a:rPr kumimoji="1" lang="ja-JP" altLang="en-US" sz="500" i="0" u="none" strike="noStrike" kern="1200" cap="none" spc="0" normalizeH="0" baseline="0" noProof="0">
                <a:ln>
                  <a:noFill/>
                </a:ln>
                <a:effectLst/>
                <a:uLnTx/>
                <a:uFillTx/>
                <a:latin typeface="Meiryo UI"/>
                <a:ea typeface="Meiryo UI"/>
                <a:cs typeface="+mn-cs"/>
              </a:rPr>
              <a:t>項目名称が変更となりました。</a:t>
            </a:r>
            <a:r>
              <a:rPr kumimoji="1" lang="en-US" altLang="ja-JP" sz="500" dirty="0">
                <a:latin typeface="Meiryo UI"/>
              </a:rPr>
              <a:t>2026</a:t>
            </a:r>
            <a:r>
              <a:rPr kumimoji="1" lang="ja-JP" altLang="en-US" sz="500">
                <a:latin typeface="Meiryo UI"/>
              </a:rPr>
              <a:t>年</a:t>
            </a:r>
            <a:r>
              <a:rPr kumimoji="1" lang="en-US" altLang="ja-JP" sz="500" dirty="0">
                <a:latin typeface="Meiryo UI"/>
              </a:rPr>
              <a:t>9</a:t>
            </a:r>
            <a:r>
              <a:rPr kumimoji="1" lang="ja-JP" altLang="en-US" sz="500">
                <a:latin typeface="Meiryo UI"/>
              </a:rPr>
              <a:t>月末以降は、</a:t>
            </a:r>
            <a:r>
              <a:rPr kumimoji="1" lang="en-US" altLang="ja-JP" sz="500" dirty="0">
                <a:latin typeface="Meiryo UI"/>
              </a:rPr>
              <a:t>202603</a:t>
            </a:r>
            <a:r>
              <a:rPr kumimoji="1" lang="ja-JP" altLang="en-US" sz="500">
                <a:latin typeface="Meiryo UI"/>
              </a:rPr>
              <a:t>版に記載されている次の</a:t>
            </a:r>
            <a:r>
              <a:rPr kumimoji="1" lang="en-US" altLang="ja-JP" sz="500" dirty="0">
                <a:latin typeface="Meiryo UI"/>
              </a:rPr>
              <a:t>FHIR</a:t>
            </a:r>
            <a:r>
              <a:rPr kumimoji="1" lang="ja-JP" altLang="en-US" sz="500">
                <a:latin typeface="Meiryo UI"/>
              </a:rPr>
              <a:t>項目名称のコードについてより適切な</a:t>
            </a:r>
            <a:r>
              <a:rPr kumimoji="1" lang="en-US" altLang="ja-JP" sz="500" dirty="0">
                <a:latin typeface="Meiryo UI"/>
              </a:rPr>
              <a:t>FHIR</a:t>
            </a:r>
            <a:r>
              <a:rPr kumimoji="1" lang="ja-JP" altLang="en-US" sz="500">
                <a:latin typeface="Meiryo UI"/>
              </a:rPr>
              <a:t>項目名称に変更となったため、電子カルテ情報共有サービスに登録できなくなります。当該試薬を利用している医療機関においては</a:t>
            </a:r>
            <a:r>
              <a:rPr kumimoji="1" lang="ja-JP" altLang="en-US" sz="500">
                <a:solidFill>
                  <a:prstClr val="black"/>
                </a:solidFill>
                <a:latin typeface="Meiryo UI (Body)"/>
              </a:rPr>
              <a:t>新しい</a:t>
            </a:r>
            <a:r>
              <a:rPr kumimoji="1" lang="en-US" altLang="ja-JP" sz="500" dirty="0">
                <a:solidFill>
                  <a:prstClr val="black"/>
                </a:solidFill>
                <a:latin typeface="Meiryo UI (Body)"/>
              </a:rPr>
              <a:t>FHIR</a:t>
            </a:r>
            <a:r>
              <a:rPr kumimoji="1" lang="ja-JP" altLang="en-US" sz="500">
                <a:solidFill>
                  <a:prstClr val="black"/>
                </a:solidFill>
                <a:latin typeface="Meiryo UI (Body)"/>
              </a:rPr>
              <a:t>項目名称を確認の上登録ください。詳細につきましては、</a:t>
            </a:r>
            <a:r>
              <a:rPr lang="en-US" altLang="ja-JP" sz="500" dirty="0">
                <a:solidFill>
                  <a:srgbClr val="000000"/>
                </a:solidFill>
                <a:latin typeface="Meiryo UI (Body)"/>
              </a:rPr>
              <a:t>202606</a:t>
            </a:r>
            <a:r>
              <a:rPr kumimoji="1" lang="ja-JP" altLang="en-US" sz="500">
                <a:solidFill>
                  <a:prstClr val="black"/>
                </a:solidFill>
                <a:latin typeface="Meiryo UI (Body)"/>
              </a:rPr>
              <a:t>版をご確認ください。 </a:t>
            </a:r>
            <a:endParaRPr kumimoji="1" lang="en-US" altLang="ja-JP" sz="500" dirty="0">
              <a:solidFill>
                <a:prstClr val="black"/>
              </a:solidFill>
              <a:latin typeface="Meiryo UI (Body)"/>
            </a:endParaRPr>
          </a:p>
          <a:p>
            <a:pPr fontAlgn="base">
              <a:spcBef>
                <a:spcPct val="20000"/>
              </a:spcBef>
              <a:spcAft>
                <a:spcPct val="0"/>
              </a:spcAft>
              <a:defRPr/>
            </a:pPr>
            <a:r>
              <a:rPr kumimoji="1" lang="en-US" altLang="ja-JP" sz="500" dirty="0">
                <a:solidFill>
                  <a:prstClr val="black"/>
                </a:solidFill>
                <a:latin typeface="Meiryo UI (Body)"/>
              </a:rPr>
              <a:t> -</a:t>
            </a:r>
            <a:r>
              <a:rPr kumimoji="1" lang="ja-JP" altLang="en-US" sz="500">
                <a:solidFill>
                  <a:prstClr val="black"/>
                </a:solidFill>
                <a:latin typeface="Meiryo UI (Body)"/>
              </a:rPr>
              <a:t>エルジア･</a:t>
            </a:r>
            <a:r>
              <a:rPr kumimoji="1" lang="en-US" altLang="ja-JP" sz="500" dirty="0">
                <a:solidFill>
                  <a:prstClr val="black"/>
                </a:solidFill>
                <a:latin typeface="Meiryo UI (Body)"/>
              </a:rPr>
              <a:t>F-HBS</a:t>
            </a:r>
            <a:r>
              <a:rPr kumimoji="1" lang="ja-JP" altLang="en-US" sz="500">
                <a:solidFill>
                  <a:prstClr val="black"/>
                </a:solidFill>
                <a:latin typeface="Meiryo UI (Body)"/>
              </a:rPr>
              <a:t>抗体</a:t>
            </a:r>
            <a:endParaRPr kumimoji="1" lang="en-US" altLang="ja-JP" sz="500" dirty="0">
              <a:solidFill>
                <a:prstClr val="black"/>
              </a:solidFill>
              <a:latin typeface="Meiryo UI (Body)"/>
            </a:endParaRPr>
          </a:p>
          <a:p>
            <a:pPr fontAlgn="base">
              <a:spcBef>
                <a:spcPct val="20000"/>
              </a:spcBef>
              <a:spcAft>
                <a:spcPct val="0"/>
              </a:spcAft>
              <a:defRPr/>
            </a:pPr>
            <a:endParaRPr kumimoji="1" lang="en-US" altLang="ja-JP" sz="500" dirty="0">
              <a:solidFill>
                <a:prstClr val="black"/>
              </a:solidFill>
              <a:latin typeface="Meiryo UI (Body)"/>
            </a:endParaRPr>
          </a:p>
          <a:p>
            <a:pPr fontAlgn="base">
              <a:spcBef>
                <a:spcPct val="20000"/>
              </a:spcBef>
              <a:spcAft>
                <a:spcPct val="0"/>
              </a:spcAft>
              <a:defRPr/>
            </a:pPr>
            <a:r>
              <a:rPr kumimoji="1" lang="ja-JP" altLang="en-US" sz="500">
                <a:solidFill>
                  <a:prstClr val="black"/>
                </a:solidFill>
                <a:latin typeface="Meiryo UI (Body)"/>
              </a:rPr>
              <a:t>④</a:t>
            </a:r>
            <a:r>
              <a:rPr kumimoji="1" lang="en-US" altLang="ja-JP" sz="500" b="1" dirty="0">
                <a:solidFill>
                  <a:srgbClr val="FF0000"/>
                </a:solidFill>
                <a:latin typeface="Meiryo UI (Body)"/>
              </a:rPr>
              <a:t>&lt;202608xx</a:t>
            </a:r>
            <a:r>
              <a:rPr kumimoji="1" lang="ja-JP" altLang="en-US" sz="500" b="1">
                <a:solidFill>
                  <a:srgbClr val="FF0000"/>
                </a:solidFill>
                <a:latin typeface="Meiryo UI (Body)"/>
              </a:rPr>
              <a:t>追記</a:t>
            </a:r>
            <a:r>
              <a:rPr kumimoji="1" lang="en-US" altLang="ja-JP" sz="500" b="1" dirty="0">
                <a:solidFill>
                  <a:srgbClr val="FF0000"/>
                </a:solidFill>
                <a:latin typeface="Meiryo UI (Body)"/>
              </a:rPr>
              <a:t>&gt;</a:t>
            </a:r>
            <a:r>
              <a:rPr kumimoji="1" lang="en-US" altLang="ja-JP" sz="500" dirty="0">
                <a:solidFill>
                  <a:prstClr val="black"/>
                </a:solidFill>
                <a:latin typeface="Meiryo UI (Body)"/>
              </a:rPr>
              <a:t>202606</a:t>
            </a:r>
            <a:r>
              <a:rPr kumimoji="1" lang="ja-JP" altLang="en-US" sz="500">
                <a:solidFill>
                  <a:prstClr val="black"/>
                </a:solidFill>
                <a:latin typeface="Meiryo UI (Body)"/>
              </a:rPr>
              <a:t>版に記載されている次の</a:t>
            </a:r>
            <a:r>
              <a:rPr kumimoji="1" lang="en-US" altLang="ja-JP" sz="500" dirty="0">
                <a:solidFill>
                  <a:prstClr val="black"/>
                </a:solidFill>
                <a:latin typeface="Meiryo UI (Body)"/>
              </a:rPr>
              <a:t>XML</a:t>
            </a:r>
            <a:r>
              <a:rPr kumimoji="1" lang="ja-JP" altLang="en-US" sz="500">
                <a:solidFill>
                  <a:prstClr val="black"/>
                </a:solidFill>
                <a:latin typeface="Meiryo UI (Body)"/>
              </a:rPr>
              <a:t>用単位のコードについてより適切な</a:t>
            </a:r>
            <a:r>
              <a:rPr kumimoji="1" lang="en-US" altLang="ja-JP" sz="500" dirty="0">
                <a:solidFill>
                  <a:prstClr val="black"/>
                </a:solidFill>
                <a:latin typeface="Meiryo UI (Body)"/>
              </a:rPr>
              <a:t>XML</a:t>
            </a:r>
            <a:r>
              <a:rPr kumimoji="1" lang="ja-JP" altLang="en-US" sz="500">
                <a:solidFill>
                  <a:prstClr val="black"/>
                </a:solidFill>
                <a:latin typeface="Meiryo UI (Body)"/>
              </a:rPr>
              <a:t>用単位に変更となったため、電子カルテ情報共有サービスに登録できなくなります。新しい</a:t>
            </a:r>
            <a:r>
              <a:rPr kumimoji="1" lang="en-US" altLang="ja-JP" sz="500" dirty="0">
                <a:solidFill>
                  <a:prstClr val="black"/>
                </a:solidFill>
                <a:latin typeface="Meiryo UI (Body)"/>
              </a:rPr>
              <a:t>XML</a:t>
            </a:r>
            <a:r>
              <a:rPr kumimoji="1" lang="ja-JP" altLang="en-US" sz="500">
                <a:solidFill>
                  <a:prstClr val="black"/>
                </a:solidFill>
                <a:latin typeface="Meiryo UI (Body)"/>
              </a:rPr>
              <a:t>用単位の詳細につきましては、</a:t>
            </a:r>
            <a:r>
              <a:rPr kumimoji="1" lang="en-US" altLang="ja-JP" sz="500" dirty="0">
                <a:solidFill>
                  <a:prstClr val="black"/>
                </a:solidFill>
                <a:latin typeface="Meiryo UI (Body)"/>
              </a:rPr>
              <a:t>202608</a:t>
            </a:r>
            <a:r>
              <a:rPr kumimoji="1" lang="ja-JP" altLang="en-US" sz="500">
                <a:solidFill>
                  <a:prstClr val="black"/>
                </a:solidFill>
                <a:latin typeface="Meiryo UI (Body)"/>
              </a:rPr>
              <a:t>版をご確認ください。</a:t>
            </a:r>
            <a:endParaRPr kumimoji="1" lang="en-US" altLang="ja-JP" sz="500" dirty="0">
              <a:solidFill>
                <a:prstClr val="black"/>
              </a:solidFill>
              <a:latin typeface="Meiryo UI (Body)"/>
            </a:endParaRPr>
          </a:p>
          <a:p>
            <a:pPr fontAlgn="base">
              <a:spcBef>
                <a:spcPct val="20000"/>
              </a:spcBef>
              <a:spcAft>
                <a:spcPct val="0"/>
              </a:spcAft>
              <a:defRPr/>
            </a:pPr>
            <a:r>
              <a:rPr kumimoji="1" lang="ja-JP" altLang="en-US" sz="500">
                <a:latin typeface="Meiryo UI"/>
              </a:rPr>
              <a:t>　</a:t>
            </a:r>
            <a:r>
              <a:rPr kumimoji="1" lang="en-US" altLang="ja-JP" sz="500" dirty="0">
                <a:latin typeface="Meiryo UI"/>
              </a:rPr>
              <a:t>-KU/L</a:t>
            </a:r>
            <a:r>
              <a:rPr kumimoji="1" lang="ja-JP" altLang="en-US" sz="500">
                <a:latin typeface="Meiryo UI"/>
              </a:rPr>
              <a:t>（該当試薬：</a:t>
            </a:r>
            <a:r>
              <a:rPr kumimoji="1" lang="en-US" altLang="ja-JP" sz="500" dirty="0">
                <a:latin typeface="Meiryo UI"/>
              </a:rPr>
              <a:t>E</a:t>
            </a:r>
            <a:r>
              <a:rPr kumimoji="1" lang="ja-JP" altLang="en-US" sz="500">
                <a:latin typeface="Meiryo UI"/>
              </a:rPr>
              <a:t>テスト「</a:t>
            </a:r>
            <a:r>
              <a:rPr kumimoji="1" lang="en-US" altLang="ja-JP" sz="500" dirty="0">
                <a:latin typeface="Meiryo UI"/>
              </a:rPr>
              <a:t>TOSOH</a:t>
            </a:r>
            <a:r>
              <a:rPr kumimoji="1" lang="ja-JP" altLang="en-US" sz="500">
                <a:latin typeface="Meiryo UI"/>
              </a:rPr>
              <a:t>」</a:t>
            </a:r>
            <a:r>
              <a:rPr kumimoji="1" lang="en-US" altLang="ja-JP" sz="500" dirty="0">
                <a:latin typeface="Meiryo UI"/>
              </a:rPr>
              <a:t>II(HBsAg)</a:t>
            </a:r>
            <a:r>
              <a:rPr kumimoji="1" lang="ja-JP" altLang="en-US" sz="500">
                <a:latin typeface="Meiryo UI"/>
              </a:rPr>
              <a:t>）</a:t>
            </a:r>
            <a:endParaRPr kumimoji="1" lang="en-US" altLang="ja-JP" sz="500" dirty="0">
              <a:solidFill>
                <a:prstClr val="black"/>
              </a:solidFill>
              <a:latin typeface="Meiryo UI (Body)"/>
            </a:endParaRPr>
          </a:p>
          <a:p>
            <a:pPr lvl="0" fontAlgn="base">
              <a:spcBef>
                <a:spcPct val="20000"/>
              </a:spcBef>
              <a:spcAft>
                <a:spcPct val="0"/>
              </a:spcAft>
              <a:defRPr/>
            </a:pPr>
            <a:endParaRPr kumimoji="1" lang="en-US" altLang="ja-JP" sz="500" i="0" u="none" strike="noStrike" kern="1200" cap="none" spc="0" normalizeH="0" baseline="0" noProof="0" dirty="0">
              <a:ln>
                <a:noFill/>
              </a:ln>
              <a:effectLst/>
              <a:uLnTx/>
              <a:uFillTx/>
              <a:latin typeface="Meiryo UI"/>
              <a:ea typeface="Meiryo UI"/>
              <a:cs typeface="+mn-cs"/>
            </a:endParaRPr>
          </a:p>
          <a:p>
            <a:pPr marL="0" marR="0" lvl="0" indent="0" defTabSz="457200" rtl="0" eaLnBrk="1" fontAlgn="base" latinLnBrk="0" hangingPunct="1">
              <a:lnSpc>
                <a:spcPct val="100000"/>
              </a:lnSpc>
              <a:spcBef>
                <a:spcPct val="20000"/>
              </a:spcBef>
              <a:spcAft>
                <a:spcPct val="0"/>
              </a:spcAft>
              <a:buClrTx/>
              <a:buSzTx/>
              <a:buFontTx/>
              <a:buNone/>
              <a:tabLst/>
              <a:defRPr/>
            </a:pPr>
            <a:endParaRPr kumimoji="1" lang="ja-JP" altLang="en-US" sz="500" i="0" u="none" strike="noStrike" kern="1200" cap="none" spc="0" normalizeH="0" baseline="0" noProof="0">
              <a:ln>
                <a:noFill/>
              </a:ln>
              <a:effectLst/>
              <a:uLnTx/>
              <a:uFillTx/>
              <a:latin typeface="Meiryo UI"/>
              <a:ea typeface="Meiryo UI"/>
              <a:cs typeface="+mn-cs"/>
            </a:endParaRPr>
          </a:p>
        </p:txBody>
      </p:sp>
      <p:sp>
        <p:nvSpPr>
          <p:cNvPr id="64" name="正方形/長方形 63">
            <a:extLst>
              <a:ext uri="{FF2B5EF4-FFF2-40B4-BE49-F238E27FC236}">
                <a16:creationId xmlns:a16="http://schemas.microsoft.com/office/drawing/2014/main" id="{24F71EEE-C8A4-0679-2EC1-87C747EE0BAE}"/>
              </a:ext>
            </a:extLst>
          </p:cNvPr>
          <p:cNvSpPr/>
          <p:nvPr/>
        </p:nvSpPr>
        <p:spPr>
          <a:xfrm>
            <a:off x="1108168" y="7259758"/>
            <a:ext cx="2299514" cy="125205"/>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ja-JP" altLang="en-US" sz="500" b="1">
                <a:latin typeface="Meiryo UI"/>
                <a:ea typeface="Meiryo UI"/>
              </a:rPr>
              <a:t>●新コードのみのマスタ</a:t>
            </a:r>
            <a:endParaRPr kumimoji="1" lang="ja-JP" altLang="en-US" sz="500" b="1" i="0" u="none" strike="noStrike" kern="1200" cap="none" spc="0" normalizeH="0" baseline="0" noProof="0">
              <a:ln>
                <a:noFill/>
              </a:ln>
              <a:effectLst/>
              <a:uLnTx/>
              <a:uFillTx/>
              <a:latin typeface="Meiryo UI"/>
              <a:ea typeface="Meiryo UI"/>
              <a:cs typeface="+mn-cs"/>
            </a:endParaRPr>
          </a:p>
        </p:txBody>
      </p:sp>
      <p:sp>
        <p:nvSpPr>
          <p:cNvPr id="65" name="正方形/長方形 64">
            <a:extLst>
              <a:ext uri="{FF2B5EF4-FFF2-40B4-BE49-F238E27FC236}">
                <a16:creationId xmlns:a16="http://schemas.microsoft.com/office/drawing/2014/main" id="{37A327D2-F7EE-FA20-B90C-1EE2F5F41081}"/>
              </a:ext>
            </a:extLst>
          </p:cNvPr>
          <p:cNvSpPr/>
          <p:nvPr/>
        </p:nvSpPr>
        <p:spPr>
          <a:xfrm>
            <a:off x="1100863" y="8076717"/>
            <a:ext cx="2299514" cy="125205"/>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ja-JP" altLang="en-US" sz="500" b="1">
                <a:latin typeface="Meiryo UI"/>
                <a:ea typeface="Meiryo UI"/>
              </a:rPr>
              <a:t>●新・旧コードが混合されたマスタ</a:t>
            </a:r>
            <a:endParaRPr kumimoji="1" lang="ja-JP" altLang="en-US" sz="500" b="1" i="0" u="none" strike="noStrike" kern="1200" cap="none" spc="0" normalizeH="0" baseline="0" noProof="0">
              <a:ln>
                <a:noFill/>
              </a:ln>
              <a:effectLst/>
              <a:uLnTx/>
              <a:uFillTx/>
              <a:latin typeface="Meiryo UI"/>
              <a:ea typeface="Meiryo UI"/>
              <a:cs typeface="+mn-cs"/>
            </a:endParaRPr>
          </a:p>
        </p:txBody>
      </p:sp>
      <p:sp>
        <p:nvSpPr>
          <p:cNvPr id="66" name="正方形/長方形 65">
            <a:extLst>
              <a:ext uri="{FF2B5EF4-FFF2-40B4-BE49-F238E27FC236}">
                <a16:creationId xmlns:a16="http://schemas.microsoft.com/office/drawing/2014/main" id="{A67B490F-7229-BFF5-3645-BD119AD314BC}"/>
              </a:ext>
            </a:extLst>
          </p:cNvPr>
          <p:cNvSpPr/>
          <p:nvPr/>
        </p:nvSpPr>
        <p:spPr>
          <a:xfrm>
            <a:off x="1429677" y="8746233"/>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a:t>
            </a:r>
          </a:p>
        </p:txBody>
      </p:sp>
      <p:graphicFrame>
        <p:nvGraphicFramePr>
          <p:cNvPr id="67" name="表 66">
            <a:extLst>
              <a:ext uri="{FF2B5EF4-FFF2-40B4-BE49-F238E27FC236}">
                <a16:creationId xmlns:a16="http://schemas.microsoft.com/office/drawing/2014/main" id="{98E4E9EC-A738-9C0D-8890-FA0BF2B7D3B0}"/>
              </a:ext>
            </a:extLst>
          </p:cNvPr>
          <p:cNvGraphicFramePr>
            <a:graphicFrameLocks noGrp="1"/>
          </p:cNvGraphicFramePr>
          <p:nvPr/>
        </p:nvGraphicFramePr>
        <p:xfrm>
          <a:off x="1130314" y="8864653"/>
          <a:ext cx="2719534" cy="439993"/>
        </p:xfrm>
        <a:graphic>
          <a:graphicData uri="http://schemas.openxmlformats.org/drawingml/2006/table">
            <a:tbl>
              <a:tblPr/>
              <a:tblGrid>
                <a:gridCol w="288000">
                  <a:extLst>
                    <a:ext uri="{9D8B030D-6E8A-4147-A177-3AD203B41FA5}">
                      <a16:colId xmlns:a16="http://schemas.microsoft.com/office/drawing/2014/main" val="4058772077"/>
                    </a:ext>
                  </a:extLst>
                </a:gridCol>
                <a:gridCol w="468000">
                  <a:extLst>
                    <a:ext uri="{9D8B030D-6E8A-4147-A177-3AD203B41FA5}">
                      <a16:colId xmlns:a16="http://schemas.microsoft.com/office/drawing/2014/main" val="154882630"/>
                    </a:ext>
                  </a:extLst>
                </a:gridCol>
                <a:gridCol w="331898">
                  <a:extLst>
                    <a:ext uri="{9D8B030D-6E8A-4147-A177-3AD203B41FA5}">
                      <a16:colId xmlns:a16="http://schemas.microsoft.com/office/drawing/2014/main" val="2721471254"/>
                    </a:ext>
                  </a:extLst>
                </a:gridCol>
                <a:gridCol w="365818">
                  <a:extLst>
                    <a:ext uri="{9D8B030D-6E8A-4147-A177-3AD203B41FA5}">
                      <a16:colId xmlns:a16="http://schemas.microsoft.com/office/drawing/2014/main" val="227139091"/>
                    </a:ext>
                  </a:extLst>
                </a:gridCol>
                <a:gridCol w="432000">
                  <a:extLst>
                    <a:ext uri="{9D8B030D-6E8A-4147-A177-3AD203B41FA5}">
                      <a16:colId xmlns:a16="http://schemas.microsoft.com/office/drawing/2014/main" val="892848932"/>
                    </a:ext>
                  </a:extLst>
                </a:gridCol>
                <a:gridCol w="468000">
                  <a:extLst>
                    <a:ext uri="{9D8B030D-6E8A-4147-A177-3AD203B41FA5}">
                      <a16:colId xmlns:a16="http://schemas.microsoft.com/office/drawing/2014/main" val="420957508"/>
                    </a:ext>
                  </a:extLst>
                </a:gridCol>
                <a:gridCol w="365818">
                  <a:extLst>
                    <a:ext uri="{9D8B030D-6E8A-4147-A177-3AD203B41FA5}">
                      <a16:colId xmlns:a16="http://schemas.microsoft.com/office/drawing/2014/main" val="2222112419"/>
                    </a:ext>
                  </a:extLst>
                </a:gridCol>
              </a:tblGrid>
              <a:tr h="139034">
                <a:tc>
                  <a:txBody>
                    <a:bodyPr/>
                    <a:lstStyle/>
                    <a:p>
                      <a:pPr algn="ctr" fontAlgn="ctr">
                        <a:buNone/>
                      </a:pPr>
                      <a:r>
                        <a:rPr lang="ja-JP" altLang="en-US" sz="5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本番環境</a:t>
                      </a:r>
                      <a:br>
                        <a:rPr lang="en-US" altLang="ja-JP" sz="500" b="0" i="0" u="none" strike="noStrike" dirty="0">
                          <a:solidFill>
                            <a:srgbClr val="000000"/>
                          </a:solidFill>
                          <a:effectLst/>
                          <a:latin typeface="+mj-ea"/>
                          <a:ea typeface="+mj-ea"/>
                        </a:rPr>
                      </a:br>
                      <a:r>
                        <a:rPr lang="ja-JP" altLang="en-US" sz="5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反映日</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適用終了日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39034">
                <a:tc>
                  <a:txBody>
                    <a:bodyPr/>
                    <a:lstStyle/>
                    <a:p>
                      <a:pPr algn="ctr" fontAlgn="ctr">
                        <a:buNone/>
                      </a:pPr>
                      <a:r>
                        <a:rPr lang="en-US" altLang="ja-JP" sz="500" b="0" i="0" u="none" strike="noStrike" dirty="0">
                          <a:solidFill>
                            <a:srgbClr val="000000"/>
                          </a:solidFill>
                          <a:effectLst/>
                          <a:latin typeface="+mj-ea"/>
                          <a:ea typeface="+mj-ea"/>
                        </a:rPr>
                        <a:t>202608</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2026/08/XX</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9</a:t>
                      </a:r>
                      <a:r>
                        <a:rPr lang="ja-JP" altLang="en-US" sz="500" b="0" i="0" u="none" strike="noStrike">
                          <a:solidFill>
                            <a:srgbClr val="000000"/>
                          </a:solidFill>
                          <a:effectLst/>
                          <a:latin typeface="+mn-ea"/>
                          <a:ea typeface="+mn-ea"/>
                        </a:rPr>
                        <a:t>月末頃</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9</a:t>
                      </a:r>
                      <a:r>
                        <a:rPr lang="ja-JP" altLang="en-US" sz="500" b="0" i="0" u="none" strike="noStrike">
                          <a:solidFill>
                            <a:srgbClr val="000000"/>
                          </a:solidFill>
                          <a:effectLst/>
                          <a:latin typeface="+mn-ea"/>
                          <a:ea typeface="+mn-ea"/>
                        </a:rPr>
                        <a:t>月末頃</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2026/08/27</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none" strike="noStrike">
                          <a:solidFill>
                            <a:srgbClr val="000000"/>
                          </a:solidFill>
                          <a:effectLst/>
                          <a:latin typeface="+mn-ea"/>
                          <a:ea typeface="+mn-ea"/>
                        </a:rPr>
                        <a:t>調整中</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r h="139034">
                <a:tc>
                  <a:txBody>
                    <a:bodyPr/>
                    <a:lstStyle/>
                    <a:p>
                      <a:pPr algn="ctr" fontAlgn="ctr">
                        <a:buNone/>
                      </a:pPr>
                      <a:r>
                        <a:rPr lang="en-US" altLang="ja-JP" sz="500" b="0" i="0" u="none" strike="noStrike" dirty="0">
                          <a:solidFill>
                            <a:srgbClr val="000000"/>
                          </a:solidFill>
                          <a:effectLst/>
                          <a:latin typeface="+mj-ea"/>
                          <a:ea typeface="+mj-ea"/>
                        </a:rPr>
                        <a:t>202606</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2026/06/30</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500" b="0" i="0" u="none" strike="noStrike" kern="1200" cap="none" spc="0" normalizeH="0" baseline="0" noProof="0">
                          <a:ln>
                            <a:noFill/>
                          </a:ln>
                          <a:solidFill>
                            <a:srgbClr val="000000"/>
                          </a:solidFill>
                          <a:effectLst/>
                          <a:uLnTx/>
                          <a:uFillTx/>
                          <a:latin typeface="Meiryo UI"/>
                          <a:ea typeface="Meiryo UI"/>
                          <a:cs typeface="+mn-cs"/>
                        </a:rPr>
                        <a:t>ー</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500" b="0" i="0" u="none" strike="noStrike" kern="1200" cap="none" spc="0" normalizeH="0" baseline="0" noProof="0">
                          <a:ln>
                            <a:noFill/>
                          </a:ln>
                          <a:solidFill>
                            <a:srgbClr val="000000"/>
                          </a:solidFill>
                          <a:effectLst/>
                          <a:uLnTx/>
                          <a:uFillTx/>
                          <a:latin typeface="Meiryo UI"/>
                          <a:ea typeface="Meiryo UI"/>
                          <a:cs typeface="+mn-cs"/>
                        </a:rPr>
                        <a:t>ー</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2026/08/13</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none" strike="noStrike">
                          <a:solidFill>
                            <a:srgbClr val="000000"/>
                          </a:solidFill>
                          <a:effectLst/>
                          <a:latin typeface="+mn-ea"/>
                          <a:ea typeface="+mn-ea"/>
                        </a:rPr>
                        <a:t>調整中</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699521008"/>
                  </a:ext>
                </a:extLst>
              </a:tr>
            </a:tbl>
          </a:graphicData>
        </a:graphic>
      </p:graphicFrame>
      <p:sp>
        <p:nvSpPr>
          <p:cNvPr id="68" name="正方形/長方形 67">
            <a:extLst>
              <a:ext uri="{FF2B5EF4-FFF2-40B4-BE49-F238E27FC236}">
                <a16:creationId xmlns:a16="http://schemas.microsoft.com/office/drawing/2014/main" id="{3DAE6C39-1BE5-A83F-7827-5651C5D43A95}"/>
              </a:ext>
            </a:extLst>
          </p:cNvPr>
          <p:cNvSpPr/>
          <p:nvPr/>
        </p:nvSpPr>
        <p:spPr>
          <a:xfrm>
            <a:off x="1082916" y="9426211"/>
            <a:ext cx="2299514" cy="125205"/>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ja-JP" altLang="en-US" sz="500" b="1">
                <a:latin typeface="Meiryo UI"/>
                <a:ea typeface="Meiryo UI"/>
              </a:rPr>
              <a:t>●新・旧コードの対応表</a:t>
            </a:r>
            <a:endParaRPr kumimoji="1" lang="ja-JP" altLang="en-US" sz="500" b="1" i="0" u="none" strike="noStrike" kern="1200" cap="none" spc="0" normalizeH="0" baseline="0" noProof="0">
              <a:ln>
                <a:noFill/>
              </a:ln>
              <a:effectLst/>
              <a:uLnTx/>
              <a:uFillTx/>
              <a:latin typeface="Meiryo UI"/>
              <a:ea typeface="Meiryo UI"/>
              <a:cs typeface="+mn-cs"/>
            </a:endParaRPr>
          </a:p>
        </p:txBody>
      </p:sp>
      <p:graphicFrame>
        <p:nvGraphicFramePr>
          <p:cNvPr id="69" name="表 68">
            <a:extLst>
              <a:ext uri="{FF2B5EF4-FFF2-40B4-BE49-F238E27FC236}">
                <a16:creationId xmlns:a16="http://schemas.microsoft.com/office/drawing/2014/main" id="{876CE99A-96A9-5839-7E82-A74C1B8FA819}"/>
              </a:ext>
            </a:extLst>
          </p:cNvPr>
          <p:cNvGraphicFramePr>
            <a:graphicFrameLocks noGrp="1"/>
          </p:cNvGraphicFramePr>
          <p:nvPr/>
        </p:nvGraphicFramePr>
        <p:xfrm>
          <a:off x="1838643" y="10480127"/>
          <a:ext cx="1470452" cy="283482"/>
        </p:xfrm>
        <a:graphic>
          <a:graphicData uri="http://schemas.openxmlformats.org/drawingml/2006/table">
            <a:tbl>
              <a:tblPr/>
              <a:tblGrid>
                <a:gridCol w="711007">
                  <a:extLst>
                    <a:ext uri="{9D8B030D-6E8A-4147-A177-3AD203B41FA5}">
                      <a16:colId xmlns:a16="http://schemas.microsoft.com/office/drawing/2014/main" val="154882630"/>
                    </a:ext>
                  </a:extLst>
                </a:gridCol>
                <a:gridCol w="759445">
                  <a:extLst>
                    <a:ext uri="{9D8B030D-6E8A-4147-A177-3AD203B41FA5}">
                      <a16:colId xmlns:a16="http://schemas.microsoft.com/office/drawing/2014/main" val="2721471254"/>
                    </a:ext>
                  </a:extLst>
                </a:gridCol>
              </a:tblGrid>
              <a:tr h="141741">
                <a:tc>
                  <a:txBody>
                    <a:bodyPr/>
                    <a:lstStyle/>
                    <a:p>
                      <a:pPr algn="ctr" fontAlgn="ctr">
                        <a:buNone/>
                      </a:pPr>
                      <a:r>
                        <a:rPr lang="ja-JP" altLang="en-US" sz="600" b="0" i="0" u="none" strike="noStrike">
                          <a:solidFill>
                            <a:srgbClr val="000000"/>
                          </a:solidFill>
                          <a:effectLst/>
                          <a:latin typeface="+mj-ea"/>
                          <a:ea typeface="+mj-ea"/>
                        </a:rPr>
                        <a:t>公開日</a:t>
                      </a: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ダウンロード</a:t>
                      </a: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41741">
                <a:tc>
                  <a:txBody>
                    <a:bodyPr/>
                    <a:lstStyle/>
                    <a:p>
                      <a:pPr algn="ctr" fontAlgn="ctr">
                        <a:buNone/>
                      </a:pPr>
                      <a:r>
                        <a:rPr lang="en-US" altLang="ja-JP" sz="600" b="0" i="0" u="none" strike="noStrike" dirty="0">
                          <a:solidFill>
                            <a:srgbClr val="000000"/>
                          </a:solidFill>
                          <a:effectLst/>
                          <a:latin typeface="+mj-ea"/>
                          <a:ea typeface="+mj-ea"/>
                        </a:rPr>
                        <a:t>2026/08/27</a:t>
                      </a:r>
                      <a:endParaRPr lang="ja-JP" altLang="en-US" sz="600" b="0" i="0" u="none" strike="noStrike">
                        <a:solidFill>
                          <a:srgbClr val="000000"/>
                        </a:solidFill>
                        <a:effectLst/>
                        <a:latin typeface="+mj-ea"/>
                        <a:ea typeface="+mj-ea"/>
                      </a:endParaRP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600" b="0" i="0" u="sng" strike="noStrike" kern="1200">
                          <a:solidFill>
                            <a:srgbClr val="3516FF"/>
                          </a:solidFill>
                          <a:effectLst/>
                          <a:latin typeface="+mj-ea"/>
                          <a:ea typeface="+mn-ea"/>
                          <a:cs typeface="+mn-cs"/>
                        </a:rPr>
                        <a:t>ダウンロード</a:t>
                      </a:r>
                      <a:endParaRPr kumimoji="1" lang="ja-JP" altLang="en-US" sz="600" b="0" i="0" u="none" strike="noStrike" kern="1200">
                        <a:solidFill>
                          <a:srgbClr val="000000"/>
                        </a:solidFill>
                        <a:effectLst/>
                        <a:latin typeface="+mj-ea"/>
                        <a:ea typeface="+mn-ea"/>
                        <a:cs typeface="+mn-cs"/>
                      </a:endParaRP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70" name="正方形/長方形 69">
            <a:extLst>
              <a:ext uri="{FF2B5EF4-FFF2-40B4-BE49-F238E27FC236}">
                <a16:creationId xmlns:a16="http://schemas.microsoft.com/office/drawing/2014/main" id="{062023EF-6290-C4DA-3CCC-35A7ED5867FE}"/>
              </a:ext>
            </a:extLst>
          </p:cNvPr>
          <p:cNvSpPr/>
          <p:nvPr/>
        </p:nvSpPr>
        <p:spPr>
          <a:xfrm>
            <a:off x="1454860" y="10374921"/>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a:t>
            </a:r>
          </a:p>
        </p:txBody>
      </p:sp>
      <p:sp>
        <p:nvSpPr>
          <p:cNvPr id="71" name="正方形/長方形 70">
            <a:extLst>
              <a:ext uri="{FF2B5EF4-FFF2-40B4-BE49-F238E27FC236}">
                <a16:creationId xmlns:a16="http://schemas.microsoft.com/office/drawing/2014/main" id="{678D025A-C63D-5172-B565-B9FEA252BFA6}"/>
              </a:ext>
            </a:extLst>
          </p:cNvPr>
          <p:cNvSpPr/>
          <p:nvPr/>
        </p:nvSpPr>
        <p:spPr>
          <a:xfrm>
            <a:off x="1075611" y="9570294"/>
            <a:ext cx="2828940" cy="750821"/>
          </a:xfrm>
          <a:prstGeom prst="rect">
            <a:avLst/>
          </a:prstGeom>
          <a:solidFill>
            <a:schemeClr val="bg1"/>
          </a:solidFill>
          <a:ln>
            <a:noFill/>
          </a:ln>
        </p:spPr>
        <p:txBody>
          <a:bodyPr lIns="0" tIns="0" rIns="0" bIns="0" rtlCol="0" anchor="t" anchorCtr="0"/>
          <a:lstStyle/>
          <a:p>
            <a:pPr lvl="0" fontAlgn="base">
              <a:spcBef>
                <a:spcPct val="20000"/>
              </a:spcBef>
              <a:spcAft>
                <a:spcPct val="0"/>
              </a:spcAf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JLAC</a:t>
            </a:r>
            <a:r>
              <a:rPr kumimoji="1" lang="ja-JP" altLang="en-US" sz="500">
                <a:solidFill>
                  <a:prstClr val="black"/>
                </a:solidFill>
                <a:latin typeface="Meiryo UI"/>
                <a:ea typeface="Meiryo UI"/>
              </a:rPr>
              <a:t>マスタの</a:t>
            </a:r>
            <a:r>
              <a:rPr kumimoji="1" lang="ja-JP" altLang="en-US" sz="500">
                <a:solidFill>
                  <a:prstClr val="black"/>
                </a:solidFill>
                <a:latin typeface="Meiryo UI"/>
              </a:rPr>
              <a:t>見直しによって変更が生じたコードについて、</a:t>
            </a:r>
            <a:r>
              <a:rPr kumimoji="1" lang="en-US" altLang="ja-JP" sz="500" dirty="0">
                <a:solidFill>
                  <a:prstClr val="black"/>
                </a:solidFill>
                <a:latin typeface="Meiryo UI"/>
              </a:rPr>
              <a:t>202603</a:t>
            </a:r>
            <a:r>
              <a:rPr kumimoji="1" lang="ja-JP" altLang="en-US" sz="500">
                <a:solidFill>
                  <a:prstClr val="black"/>
                </a:solidFill>
                <a:latin typeface="Meiryo UI"/>
              </a:rPr>
              <a:t>版までに公開していたコードから</a:t>
            </a:r>
            <a:r>
              <a:rPr kumimoji="1" lang="en-US" altLang="ja-JP" sz="500" dirty="0">
                <a:solidFill>
                  <a:prstClr val="black"/>
                </a:solidFill>
                <a:latin typeface="Meiryo UI"/>
              </a:rPr>
              <a:t>202606</a:t>
            </a:r>
            <a:r>
              <a:rPr kumimoji="1" lang="ja-JP" altLang="en-US" sz="500">
                <a:solidFill>
                  <a:prstClr val="black"/>
                </a:solidFill>
                <a:latin typeface="Meiryo UI"/>
              </a:rPr>
              <a:t>版のコードに移行いただく際の対応表をご提供します。</a:t>
            </a:r>
            <a:br>
              <a:rPr kumimoji="1" lang="en-US" altLang="ja-JP" sz="500" dirty="0">
                <a:solidFill>
                  <a:prstClr val="black"/>
                </a:solidFill>
                <a:latin typeface="Meiryo UI"/>
              </a:rPr>
            </a:br>
            <a:r>
              <a:rPr kumimoji="1" lang="en-US" altLang="ja-JP" sz="500" dirty="0">
                <a:solidFill>
                  <a:prstClr val="black"/>
                </a:solidFill>
                <a:latin typeface="Meiryo UI"/>
              </a:rPr>
              <a:t>202603</a:t>
            </a:r>
            <a:r>
              <a:rPr kumimoji="1" lang="ja-JP" altLang="en-US" sz="500">
                <a:solidFill>
                  <a:prstClr val="black"/>
                </a:solidFill>
                <a:latin typeface="Meiryo UI"/>
              </a:rPr>
              <a:t>版までに公開していたコードを用いていた医療機関においては、新コードへのマッピング作業を行っていただく際にご参照ください。</a:t>
            </a:r>
            <a:endParaRPr kumimoji="1" lang="en-US" altLang="ja-JP" sz="500" dirty="0">
              <a:solidFill>
                <a:prstClr val="black"/>
              </a:solidFill>
              <a:latin typeface="Meiryo UI"/>
            </a:endParaRPr>
          </a:p>
          <a:p>
            <a:pPr lvl="0" fontAlgn="base">
              <a:spcBef>
                <a:spcPct val="20000"/>
              </a:spcBef>
              <a:spcAft>
                <a:spcPct val="0"/>
              </a:spcAf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500" b="1" dirty="0">
                <a:solidFill>
                  <a:srgbClr val="FF0000"/>
                </a:solidFill>
                <a:latin typeface="Meiryo UI (Body)"/>
              </a:rPr>
              <a:t> &lt;20260827</a:t>
            </a:r>
            <a:r>
              <a:rPr kumimoji="1" lang="ja-JP" altLang="en-US" sz="500" b="1">
                <a:solidFill>
                  <a:srgbClr val="FF0000"/>
                </a:solidFill>
                <a:latin typeface="Meiryo UI (Body)"/>
              </a:rPr>
              <a:t>追記</a:t>
            </a:r>
            <a:r>
              <a:rPr kumimoji="1" lang="en-US" altLang="ja-JP" sz="500" b="1" dirty="0">
                <a:solidFill>
                  <a:srgbClr val="FF0000"/>
                </a:solidFill>
                <a:latin typeface="Meiryo UI (Body)"/>
              </a:rPr>
              <a:t>&gt; </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2026/08/XX</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に新・旧コードの対応表を更新しました。</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留意事項 ④</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に記載のとおり</a:t>
            </a:r>
            <a:r>
              <a:rPr kumimoji="1" lang="en-US" altLang="ja-JP" sz="500" dirty="0">
                <a:solidFill>
                  <a:prstClr val="black"/>
                </a:solidFill>
                <a:latin typeface="Meiryo UI"/>
              </a:rPr>
              <a:t> </a:t>
            </a:r>
            <a:r>
              <a:rPr kumimoji="1" lang="ja-JP" altLang="en-US" sz="500">
                <a:solidFill>
                  <a:prstClr val="black"/>
                </a:solidFill>
                <a:latin typeface="Meiryo UI"/>
              </a:rPr>
              <a:t>、以下の</a:t>
            </a:r>
            <a:r>
              <a:rPr kumimoji="1" lang="en-US" altLang="ja-JP" sz="500" dirty="0">
                <a:solidFill>
                  <a:prstClr val="black"/>
                </a:solidFill>
                <a:latin typeface="Meiryo UI"/>
              </a:rPr>
              <a:t>XML</a:t>
            </a:r>
            <a:r>
              <a:rPr kumimoji="1" lang="ja-JP" altLang="en-US" sz="500">
                <a:solidFill>
                  <a:prstClr val="black"/>
                </a:solidFill>
                <a:latin typeface="Meiryo UI"/>
              </a:rPr>
              <a:t>用単位をより適切な</a:t>
            </a:r>
            <a:r>
              <a:rPr kumimoji="1" lang="en-US" altLang="ja-JP" sz="500" dirty="0">
                <a:solidFill>
                  <a:prstClr val="black"/>
                </a:solidFill>
                <a:latin typeface="Meiryo UI"/>
              </a:rPr>
              <a:t>XML</a:t>
            </a:r>
            <a:r>
              <a:rPr kumimoji="1" lang="ja-JP" altLang="en-US" sz="500">
                <a:solidFill>
                  <a:prstClr val="black"/>
                </a:solidFill>
                <a:latin typeface="Meiryo UI"/>
              </a:rPr>
              <a:t>用単位に変更しております。新しい</a:t>
            </a:r>
            <a:r>
              <a:rPr kumimoji="1" lang="en-US" altLang="ja-JP" sz="500" dirty="0">
                <a:solidFill>
                  <a:prstClr val="black"/>
                </a:solidFill>
                <a:latin typeface="Meiryo UI"/>
              </a:rPr>
              <a:t>XML</a:t>
            </a:r>
            <a:r>
              <a:rPr kumimoji="1" lang="ja-JP" altLang="en-US" sz="500">
                <a:solidFill>
                  <a:prstClr val="black"/>
                </a:solidFill>
                <a:latin typeface="Meiryo UI"/>
              </a:rPr>
              <a:t>用単位の詳細につきましては、</a:t>
            </a:r>
            <a:r>
              <a:rPr kumimoji="1" lang="en-US" altLang="ja-JP" sz="500" dirty="0">
                <a:solidFill>
                  <a:prstClr val="black"/>
                </a:solidFill>
                <a:latin typeface="Meiryo UI"/>
              </a:rPr>
              <a:t>2026/08/XX</a:t>
            </a:r>
            <a:r>
              <a:rPr kumimoji="1" lang="ja-JP" altLang="en-US" sz="500">
                <a:solidFill>
                  <a:prstClr val="black"/>
                </a:solidFill>
                <a:latin typeface="Meiryo UI"/>
              </a:rPr>
              <a:t>公開の表をご確認ください。</a:t>
            </a:r>
            <a:endParaRPr kumimoji="1" lang="en-US" altLang="ja-JP" sz="500" dirty="0">
              <a:solidFill>
                <a:prstClr val="black"/>
              </a:solidFill>
              <a:latin typeface="Meiryo UI"/>
            </a:endParaRPr>
          </a:p>
          <a:p>
            <a:pPr fontAlgn="base">
              <a:spcBef>
                <a:spcPct val="20000"/>
              </a:spcBef>
              <a:spcAft>
                <a:spcPct val="0"/>
              </a:spcAft>
              <a:defRPr/>
            </a:pPr>
            <a:r>
              <a:rPr kumimoji="1" lang="ja-JP" altLang="en-US" sz="500">
                <a:latin typeface="Meiryo UI"/>
              </a:rPr>
              <a:t>　</a:t>
            </a:r>
            <a:r>
              <a:rPr kumimoji="1" lang="en-US" altLang="ja-JP" sz="500" dirty="0">
                <a:latin typeface="Meiryo UI"/>
              </a:rPr>
              <a:t>-KU/L</a:t>
            </a:r>
            <a:r>
              <a:rPr kumimoji="1" lang="ja-JP" altLang="en-US" sz="500">
                <a:latin typeface="Meiryo UI"/>
              </a:rPr>
              <a:t>（該当試薬：</a:t>
            </a:r>
            <a:r>
              <a:rPr kumimoji="1" lang="en-US" altLang="ja-JP" sz="500" dirty="0">
                <a:latin typeface="Meiryo UI"/>
              </a:rPr>
              <a:t>E</a:t>
            </a:r>
            <a:r>
              <a:rPr kumimoji="1" lang="ja-JP" altLang="en-US" sz="500">
                <a:latin typeface="Meiryo UI"/>
              </a:rPr>
              <a:t>テスト「</a:t>
            </a:r>
            <a:r>
              <a:rPr kumimoji="1" lang="en-US" altLang="ja-JP" sz="500" dirty="0">
                <a:latin typeface="Meiryo UI"/>
              </a:rPr>
              <a:t>TOSOH</a:t>
            </a:r>
            <a:r>
              <a:rPr kumimoji="1" lang="ja-JP" altLang="en-US" sz="500">
                <a:latin typeface="Meiryo UI"/>
              </a:rPr>
              <a:t>」</a:t>
            </a:r>
            <a:r>
              <a:rPr kumimoji="1" lang="en-US" altLang="ja-JP" sz="500" dirty="0">
                <a:latin typeface="Meiryo UI"/>
              </a:rPr>
              <a:t>II(HBsAg)</a:t>
            </a:r>
            <a:r>
              <a:rPr kumimoji="1" lang="ja-JP" altLang="en-US" sz="500">
                <a:latin typeface="Meiryo UI"/>
              </a:rPr>
              <a:t>）</a:t>
            </a:r>
            <a:endParaRPr kumimoji="1" lang="en-US" altLang="ja-JP" sz="500" dirty="0">
              <a:solidFill>
                <a:prstClr val="black"/>
              </a:solidFill>
              <a:latin typeface="Meiryo UI (Body)"/>
            </a:endParaRPr>
          </a:p>
          <a:p>
            <a:pPr lvl="0" fontAlgn="base">
              <a:spcBef>
                <a:spcPct val="20000"/>
              </a:spcBef>
              <a:spcAft>
                <a:spcPct val="0"/>
              </a:spcAft>
              <a:defRPr/>
            </a:pP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p:txBody>
      </p:sp>
      <p:graphicFrame>
        <p:nvGraphicFramePr>
          <p:cNvPr id="95" name="表 94">
            <a:extLst>
              <a:ext uri="{FF2B5EF4-FFF2-40B4-BE49-F238E27FC236}">
                <a16:creationId xmlns:a16="http://schemas.microsoft.com/office/drawing/2014/main" id="{D195A5CA-1586-9F92-9571-A3D621285636}"/>
              </a:ext>
            </a:extLst>
          </p:cNvPr>
          <p:cNvGraphicFramePr>
            <a:graphicFrameLocks noGrp="1"/>
          </p:cNvGraphicFramePr>
          <p:nvPr/>
        </p:nvGraphicFramePr>
        <p:xfrm>
          <a:off x="5710238" y="12755753"/>
          <a:ext cx="2664000" cy="333375"/>
        </p:xfrm>
        <a:graphic>
          <a:graphicData uri="http://schemas.openxmlformats.org/drawingml/2006/table">
            <a:tbl>
              <a:tblPr/>
              <a:tblGrid>
                <a:gridCol w="288000">
                  <a:extLst>
                    <a:ext uri="{9D8B030D-6E8A-4147-A177-3AD203B41FA5}">
                      <a16:colId xmlns:a16="http://schemas.microsoft.com/office/drawing/2014/main" val="4058772077"/>
                    </a:ext>
                  </a:extLst>
                </a:gridCol>
                <a:gridCol w="396000">
                  <a:extLst>
                    <a:ext uri="{9D8B030D-6E8A-4147-A177-3AD203B41FA5}">
                      <a16:colId xmlns:a16="http://schemas.microsoft.com/office/drawing/2014/main" val="154882630"/>
                    </a:ext>
                  </a:extLst>
                </a:gridCol>
                <a:gridCol w="324000">
                  <a:extLst>
                    <a:ext uri="{9D8B030D-6E8A-4147-A177-3AD203B41FA5}">
                      <a16:colId xmlns:a16="http://schemas.microsoft.com/office/drawing/2014/main" val="2721471254"/>
                    </a:ext>
                  </a:extLst>
                </a:gridCol>
                <a:gridCol w="396000">
                  <a:extLst>
                    <a:ext uri="{9D8B030D-6E8A-4147-A177-3AD203B41FA5}">
                      <a16:colId xmlns:a16="http://schemas.microsoft.com/office/drawing/2014/main" val="227139091"/>
                    </a:ext>
                  </a:extLst>
                </a:gridCol>
                <a:gridCol w="432000">
                  <a:extLst>
                    <a:ext uri="{9D8B030D-6E8A-4147-A177-3AD203B41FA5}">
                      <a16:colId xmlns:a16="http://schemas.microsoft.com/office/drawing/2014/main" val="892848932"/>
                    </a:ext>
                  </a:extLst>
                </a:gridCol>
                <a:gridCol w="432000">
                  <a:extLst>
                    <a:ext uri="{9D8B030D-6E8A-4147-A177-3AD203B41FA5}">
                      <a16:colId xmlns:a16="http://schemas.microsoft.com/office/drawing/2014/main" val="420957508"/>
                    </a:ext>
                  </a:extLst>
                </a:gridCol>
                <a:gridCol w="396000">
                  <a:extLst>
                    <a:ext uri="{9D8B030D-6E8A-4147-A177-3AD203B41FA5}">
                      <a16:colId xmlns:a16="http://schemas.microsoft.com/office/drawing/2014/main" val="1024669159"/>
                    </a:ext>
                  </a:extLst>
                </a:gridCol>
              </a:tblGrid>
              <a:tr h="0">
                <a:tc>
                  <a:txBody>
                    <a:bodyPr/>
                    <a:lstStyle/>
                    <a:p>
                      <a:pPr algn="ctr" fontAlgn="ctr">
                        <a:buNone/>
                      </a:pPr>
                      <a:r>
                        <a:rPr lang="ja-JP" altLang="en-US" sz="500" b="0" i="0" u="none" strike="noStrike">
                          <a:solidFill>
                            <a:srgbClr val="000000"/>
                          </a:solidFill>
                          <a:effectLst/>
                          <a:latin typeface="+mn-ea"/>
                          <a:ea typeface="+mn-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n-ea"/>
                          <a:ea typeface="+mn-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n-ea"/>
                          <a:ea typeface="+mn-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n-ea"/>
                          <a:ea typeface="+mn-ea"/>
                        </a:rPr>
                        <a:t>本番環境</a:t>
                      </a:r>
                      <a:br>
                        <a:rPr lang="en-US" altLang="ja-JP" sz="500" b="0" i="0" u="none" strike="noStrike" dirty="0">
                          <a:solidFill>
                            <a:srgbClr val="000000"/>
                          </a:solidFill>
                          <a:effectLst/>
                          <a:latin typeface="+mn-ea"/>
                          <a:ea typeface="+mn-ea"/>
                        </a:rPr>
                      </a:br>
                      <a:r>
                        <a:rPr lang="ja-JP" altLang="en-US" sz="500" b="0" i="0" u="none" strike="noStrike">
                          <a:solidFill>
                            <a:srgbClr val="000000"/>
                          </a:solidFill>
                          <a:effectLst/>
                          <a:latin typeface="+mn-ea"/>
                          <a:ea typeface="+mn-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n-ea"/>
                          <a:ea typeface="+mn-ea"/>
                          <a:cs typeface="+mn-cs"/>
                        </a:rPr>
                        <a:t>接続検証環境</a:t>
                      </a:r>
                      <a:br>
                        <a:rPr kumimoji="1" lang="en-US" altLang="ja-JP" sz="500" b="0" i="0" u="none" strike="noStrike" kern="1200" dirty="0">
                          <a:solidFill>
                            <a:srgbClr val="000000"/>
                          </a:solidFill>
                          <a:effectLst/>
                          <a:latin typeface="+mn-ea"/>
                          <a:ea typeface="+mn-ea"/>
                          <a:cs typeface="+mn-cs"/>
                        </a:rPr>
                      </a:br>
                      <a:r>
                        <a:rPr kumimoji="1" lang="ja-JP" altLang="en-US" sz="500" b="0" i="0" u="none" strike="noStrike" kern="1200">
                          <a:solidFill>
                            <a:srgbClr val="000000"/>
                          </a:solidFill>
                          <a:effectLst/>
                          <a:latin typeface="+mn-ea"/>
                          <a:ea typeface="+mn-ea"/>
                          <a:cs typeface="+mn-cs"/>
                        </a:rPr>
                        <a:t>反映日</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n-ea"/>
                          <a:ea typeface="+mn-ea"/>
                          <a:cs typeface="+mn-cs"/>
                        </a:rPr>
                        <a:t>接続検証環境</a:t>
                      </a:r>
                      <a:br>
                        <a:rPr kumimoji="1" lang="en-US" altLang="ja-JP" sz="500" b="0" i="0" u="none" strike="noStrike" kern="1200" dirty="0">
                          <a:solidFill>
                            <a:srgbClr val="000000"/>
                          </a:solidFill>
                          <a:effectLst/>
                          <a:latin typeface="+mn-ea"/>
                          <a:ea typeface="+mn-ea"/>
                          <a:cs typeface="+mn-cs"/>
                        </a:rPr>
                      </a:br>
                      <a:r>
                        <a:rPr kumimoji="1" lang="ja-JP" altLang="en-US" sz="500" b="0" i="0" u="none" strike="noStrike" kern="1200">
                          <a:solidFill>
                            <a:srgbClr val="000000"/>
                          </a:solidFill>
                          <a:effectLst/>
                          <a:latin typeface="+mn-ea"/>
                          <a:ea typeface="+mn-ea"/>
                          <a:cs typeface="+mn-cs"/>
                        </a:rPr>
                        <a:t>第二反映日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n-ea"/>
                          <a:ea typeface="+mn-ea"/>
                          <a:cs typeface="+mn-cs"/>
                        </a:rPr>
                        <a:t>適用終了日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0">
                <a:tc>
                  <a:txBody>
                    <a:bodyPr/>
                    <a:lstStyle/>
                    <a:p>
                      <a:pPr algn="ctr" fontAlgn="ctr">
                        <a:buNone/>
                      </a:pPr>
                      <a:r>
                        <a:rPr lang="en-US" altLang="ja-JP" sz="500" b="0" i="0" u="none" strike="noStrike" dirty="0">
                          <a:solidFill>
                            <a:srgbClr val="000000"/>
                          </a:solidFill>
                          <a:effectLst/>
                          <a:latin typeface="+mn-ea"/>
                          <a:ea typeface="+mn-ea"/>
                        </a:rPr>
                        <a:t>202507</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2025/07/16</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n-ea"/>
                          <a:ea typeface="+mn-ea"/>
                        </a:rPr>
                        <a:t>ダウンロード</a:t>
                      </a:r>
                      <a:r>
                        <a:rPr lang="ja-JP" altLang="en-US" sz="500" b="0" i="0" u="none" strike="noStrike">
                          <a:solidFill>
                            <a:srgbClr val="000000"/>
                          </a:solidFill>
                          <a:effectLst/>
                          <a:latin typeface="+mn-ea"/>
                          <a:ea typeface="+mn-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2025/08/04</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2025/08/01</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2025/07/17</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2026/03/22</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787336866"/>
                  </a:ext>
                </a:extLst>
              </a:tr>
              <a:tr h="0">
                <a:tc>
                  <a:txBody>
                    <a:bodyPr/>
                    <a:lstStyle/>
                    <a:p>
                      <a:pPr algn="ctr" fontAlgn="ctr">
                        <a:buNone/>
                      </a:pPr>
                      <a:r>
                        <a:rPr lang="en-US" altLang="ja-JP" sz="500" b="0" i="0" u="none" strike="noStrike" dirty="0">
                          <a:solidFill>
                            <a:srgbClr val="000000"/>
                          </a:solidFill>
                          <a:effectLst/>
                          <a:latin typeface="+mn-ea"/>
                          <a:ea typeface="+mn-ea"/>
                        </a:rPr>
                        <a:t>202502</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2025/03/21</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n-ea"/>
                          <a:ea typeface="+mn-ea"/>
                        </a:rPr>
                        <a:t>ダウンロード</a:t>
                      </a:r>
                      <a:r>
                        <a:rPr lang="ja-JP" altLang="en-US" sz="500" b="0" i="0" u="none" strike="noStrike">
                          <a:solidFill>
                            <a:srgbClr val="000000"/>
                          </a:solidFill>
                          <a:effectLst/>
                          <a:latin typeface="+mn-ea"/>
                          <a:ea typeface="+mn-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2025/03/24</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2025/02/27</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n-ea"/>
                          <a:ea typeface="+mn-ea"/>
                          <a:cs typeface="+mn-cs"/>
                        </a:rPr>
                        <a:t>ー</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2025/08/04</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109" name="正方形/長方形 108">
            <a:extLst>
              <a:ext uri="{FF2B5EF4-FFF2-40B4-BE49-F238E27FC236}">
                <a16:creationId xmlns:a16="http://schemas.microsoft.com/office/drawing/2014/main" id="{46A469DC-ABD6-4503-0948-344350DE9BF1}"/>
              </a:ext>
            </a:extLst>
          </p:cNvPr>
          <p:cNvSpPr/>
          <p:nvPr/>
        </p:nvSpPr>
        <p:spPr>
          <a:xfrm>
            <a:off x="5651639" y="13173894"/>
            <a:ext cx="2738530" cy="854547"/>
          </a:xfrm>
          <a:prstGeom prst="rect">
            <a:avLst/>
          </a:prstGeom>
          <a:solidFill>
            <a:schemeClr val="bg1"/>
          </a:solidFill>
          <a:ln>
            <a:noFill/>
          </a:ln>
        </p:spPr>
        <p:txBody>
          <a:bodyPr lIns="0" rIns="0" rtlCol="0" anchor="t" anchorCtr="0"/>
          <a:lstStyle/>
          <a:p>
            <a:pPr marL="0" marR="0" lvl="0" indent="0" algn="l" defTabSz="457200"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適用終了日以降に利用すると、コードによってはエラーが生じる場合がございます。</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ctr" latinLnBrk="0" hangingPunct="1">
              <a:lnSpc>
                <a:spcPct val="100000"/>
              </a:lnSpc>
              <a:spcBef>
                <a:spcPts val="0"/>
              </a:spcBef>
              <a:spcAft>
                <a:spcPts val="0"/>
              </a:spcAft>
              <a:buClrTx/>
              <a:buSzTx/>
              <a:buFontTx/>
              <a:buNone/>
              <a:tabLst/>
              <a:defRPr/>
            </a:pPr>
            <a:endPar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endParaRPr>
          </a:p>
          <a:p>
            <a:pPr marL="0" marR="0" lvl="0" indent="0" algn="l" defTabSz="457200"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※202502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版に記載されている次の</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FHIR</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項目名称のコードについて、より適切な</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FHIR</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項目名称を検討中であったため、電子カルテ情報共有サービスでは登録ができませんでした。当該コードは、令和</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8</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年</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3</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月</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23</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日より電子カルテ情報共有サービスへ登録できるようになりました。新しい</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FHIR</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項目名称の詳細につきましては、</a:t>
            </a:r>
            <a:r>
              <a:rPr kumimoji="0" lang="en-US" altLang="ja-JP" sz="500" b="0" i="0" u="none" strike="noStrike" kern="1200" cap="none" spc="0" normalizeH="0" baseline="0" noProof="0" dirty="0">
                <a:ln>
                  <a:noFill/>
                </a:ln>
                <a:solidFill>
                  <a:srgbClr val="000000"/>
                </a:solidFill>
                <a:effectLst/>
                <a:uLnTx/>
                <a:uFillTx/>
                <a:latin typeface="Meiryo UI (Body)"/>
                <a:ea typeface="Meiryo UI"/>
                <a:cs typeface="+mn-cs"/>
              </a:rPr>
              <a:t>202603</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版をご確認ください。</a:t>
            </a:r>
          </a:p>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定性</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定量</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陽性コントロール比</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吸光度</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p:txBody>
      </p:sp>
      <p:sp>
        <p:nvSpPr>
          <p:cNvPr id="124" name="正方形/長方形 123">
            <a:extLst>
              <a:ext uri="{FF2B5EF4-FFF2-40B4-BE49-F238E27FC236}">
                <a16:creationId xmlns:a16="http://schemas.microsoft.com/office/drawing/2014/main" id="{508C7C22-F9B6-45C9-DDC8-AC6909FF453E}"/>
              </a:ext>
            </a:extLst>
          </p:cNvPr>
          <p:cNvSpPr/>
          <p:nvPr/>
        </p:nvSpPr>
        <p:spPr>
          <a:xfrm>
            <a:off x="5561229" y="12053467"/>
            <a:ext cx="2828940" cy="544409"/>
          </a:xfrm>
          <a:prstGeom prst="rect">
            <a:avLst/>
          </a:prstGeom>
          <a:solidFill>
            <a:schemeClr val="bg1"/>
          </a:solidFill>
          <a:ln>
            <a:noFill/>
          </a:ln>
        </p:spPr>
        <p:txBody>
          <a:bodyPr lIns="0" rIns="0" rtlCol="0" anchor="t" anchorCtr="0"/>
          <a:lstStyle/>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・令和</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8</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3</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月</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23</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日から、電子カルテ情報共有サービスで適用される電子カルテ情報共有サービス対応</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JLAC</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コード表のレイアウトが変更となりました。</a:t>
            </a:r>
            <a:b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旧レイアウトからの変更点は以下のとおりです。</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▸「表示用単位</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」項目の新規追加</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XML</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用単位</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」項目の新規追加</a:t>
            </a:r>
            <a:b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XML</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用単位「</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{COI}</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」から「</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{C.O.I}</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」へ変更</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125" name="正方形/長方形 124">
            <a:extLst>
              <a:ext uri="{FF2B5EF4-FFF2-40B4-BE49-F238E27FC236}">
                <a16:creationId xmlns:a16="http://schemas.microsoft.com/office/drawing/2014/main" id="{65DD1DED-1EC0-A288-2E77-E63EA96CB44D}"/>
              </a:ext>
            </a:extLst>
          </p:cNvPr>
          <p:cNvSpPr/>
          <p:nvPr/>
        </p:nvSpPr>
        <p:spPr>
          <a:xfrm>
            <a:off x="5994791" y="12645284"/>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バージョン情報・公開日・ダウンロードリンク・環境反映日・適用終了日</a:t>
            </a:r>
            <a:endParaRPr kumimoji="1" lang="en-US" altLang="ja-JP" sz="500" b="1" i="0" u="none" strike="noStrike" kern="1200" cap="none" spc="0" normalizeH="0" baseline="0" noProof="0" dirty="0">
              <a:ln>
                <a:noFill/>
              </a:ln>
              <a:solidFill>
                <a:prstClr val="black"/>
              </a:solidFill>
              <a:effectLst/>
              <a:uLnTx/>
              <a:uFillTx/>
              <a:latin typeface="Meiryo UI"/>
              <a:ea typeface="Meiryo UI"/>
              <a:cs typeface="+mn-cs"/>
            </a:endParaRPr>
          </a:p>
        </p:txBody>
      </p:sp>
      <p:grpSp>
        <p:nvGrpSpPr>
          <p:cNvPr id="126" name="グループ化 125">
            <a:extLst>
              <a:ext uri="{FF2B5EF4-FFF2-40B4-BE49-F238E27FC236}">
                <a16:creationId xmlns:a16="http://schemas.microsoft.com/office/drawing/2014/main" id="{EBB87B13-C443-C5D7-63DF-2060E09A1398}"/>
              </a:ext>
            </a:extLst>
          </p:cNvPr>
          <p:cNvGrpSpPr/>
          <p:nvPr/>
        </p:nvGrpSpPr>
        <p:grpSpPr>
          <a:xfrm>
            <a:off x="5498875" y="11798014"/>
            <a:ext cx="2743961" cy="213343"/>
            <a:chOff x="8168173" y="4422050"/>
            <a:chExt cx="2743961" cy="213343"/>
          </a:xfrm>
        </p:grpSpPr>
        <p:pic>
          <p:nvPicPr>
            <p:cNvPr id="127" name="図 126">
              <a:extLst>
                <a:ext uri="{FF2B5EF4-FFF2-40B4-BE49-F238E27FC236}">
                  <a16:creationId xmlns:a16="http://schemas.microsoft.com/office/drawing/2014/main" id="{4955F119-A2BA-5D29-7D5A-C96880D2C79B}"/>
                </a:ext>
              </a:extLst>
            </p:cNvPr>
            <p:cNvPicPr>
              <a:picLocks noChangeAspect="1"/>
            </p:cNvPicPr>
            <p:nvPr/>
          </p:nvPicPr>
          <p:blipFill>
            <a:blip r:embed="rId6"/>
            <a:srcRect l="1910" t="81326" r="2535" b="8895"/>
            <a:stretch>
              <a:fillRect/>
            </a:stretch>
          </p:blipFill>
          <p:spPr>
            <a:xfrm>
              <a:off x="8168173" y="4422050"/>
              <a:ext cx="2743961" cy="213343"/>
            </a:xfrm>
            <a:prstGeom prst="rect">
              <a:avLst/>
            </a:prstGeom>
          </p:spPr>
        </p:pic>
        <p:sp>
          <p:nvSpPr>
            <p:cNvPr id="128" name="正方形/長方形 127">
              <a:extLst>
                <a:ext uri="{FF2B5EF4-FFF2-40B4-BE49-F238E27FC236}">
                  <a16:creationId xmlns:a16="http://schemas.microsoft.com/office/drawing/2014/main" id="{170F216D-EFF1-5E3A-7D05-110A327D6411}"/>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令和</a:t>
              </a:r>
              <a:r>
                <a:rPr kumimoji="1" lang="en-US" altLang="ja-JP" sz="500" b="1" i="0" u="none" strike="noStrike" kern="1200" cap="none" spc="0" normalizeH="0" baseline="0" noProof="0" dirty="0">
                  <a:ln>
                    <a:noFill/>
                  </a:ln>
                  <a:solidFill>
                    <a:prstClr val="black"/>
                  </a:solidFill>
                  <a:effectLst/>
                  <a:uLnTx/>
                  <a:uFillTx/>
                  <a:latin typeface="Meiryo UI"/>
                  <a:ea typeface="Meiryo UI"/>
                  <a:cs typeface="+mn-cs"/>
                </a:rPr>
                <a:t>8</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500" b="1" i="0" u="none" strike="noStrike" kern="1200" cap="none" spc="0" normalizeH="0" baseline="0" noProof="0" dirty="0">
                  <a:ln>
                    <a:noFill/>
                  </a:ln>
                  <a:solidFill>
                    <a:prstClr val="black"/>
                  </a:solidFill>
                  <a:effectLst/>
                  <a:uLnTx/>
                  <a:uFillTx/>
                  <a:latin typeface="Meiryo UI"/>
                  <a:ea typeface="Meiryo UI"/>
                  <a:cs typeface="+mn-cs"/>
                </a:rPr>
                <a:t>3</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月</a:t>
              </a:r>
              <a:r>
                <a:rPr kumimoji="1" lang="en-US" altLang="ja-JP" sz="500" b="1" i="0" u="none" strike="noStrike" kern="1200" cap="none" spc="0" normalizeH="0" baseline="0" noProof="0" dirty="0">
                  <a:ln>
                    <a:noFill/>
                  </a:ln>
                  <a:solidFill>
                    <a:prstClr val="black"/>
                  </a:solidFill>
                  <a:effectLst/>
                  <a:uLnTx/>
                  <a:uFillTx/>
                  <a:latin typeface="Meiryo UI"/>
                  <a:ea typeface="Meiryo UI"/>
                  <a:cs typeface="+mn-cs"/>
                </a:rPr>
                <a:t>22</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日まで適用の旧レイアウトのマスタのダウンロードリンク</a:t>
              </a:r>
            </a:p>
          </p:txBody>
        </p:sp>
      </p:grpSp>
      <p:sp>
        <p:nvSpPr>
          <p:cNvPr id="129" name="左中かっこ 128">
            <a:extLst>
              <a:ext uri="{FF2B5EF4-FFF2-40B4-BE49-F238E27FC236}">
                <a16:creationId xmlns:a16="http://schemas.microsoft.com/office/drawing/2014/main" id="{C5CDDD22-6E1C-B7ED-1992-7E2CCA42DEAC}"/>
              </a:ext>
            </a:extLst>
          </p:cNvPr>
          <p:cNvSpPr/>
          <p:nvPr/>
        </p:nvSpPr>
        <p:spPr bwMode="auto">
          <a:xfrm>
            <a:off x="5341487" y="11757829"/>
            <a:ext cx="112816" cy="2434346"/>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73" name="左中かっこ 72">
            <a:extLst>
              <a:ext uri="{FF2B5EF4-FFF2-40B4-BE49-F238E27FC236}">
                <a16:creationId xmlns:a16="http://schemas.microsoft.com/office/drawing/2014/main" id="{88712F5F-E1F9-4611-1A16-62C49295D485}"/>
              </a:ext>
            </a:extLst>
          </p:cNvPr>
          <p:cNvSpPr/>
          <p:nvPr/>
        </p:nvSpPr>
        <p:spPr bwMode="auto">
          <a:xfrm>
            <a:off x="5026219" y="6625844"/>
            <a:ext cx="155448" cy="408240"/>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pic>
        <p:nvPicPr>
          <p:cNvPr id="75" name="図 74">
            <a:extLst>
              <a:ext uri="{FF2B5EF4-FFF2-40B4-BE49-F238E27FC236}">
                <a16:creationId xmlns:a16="http://schemas.microsoft.com/office/drawing/2014/main" id="{A7C11FC2-63B3-B675-A24E-F16389368A56}"/>
              </a:ext>
            </a:extLst>
          </p:cNvPr>
          <p:cNvPicPr>
            <a:picLocks noChangeAspect="1"/>
          </p:cNvPicPr>
          <p:nvPr/>
        </p:nvPicPr>
        <p:blipFill>
          <a:blip r:embed="rId7"/>
          <a:srcRect t="59419" b="34917"/>
          <a:stretch>
            <a:fillRect/>
          </a:stretch>
        </p:blipFill>
        <p:spPr>
          <a:xfrm>
            <a:off x="5443428" y="6528817"/>
            <a:ext cx="2653245" cy="159180"/>
          </a:xfrm>
          <a:prstGeom prst="rect">
            <a:avLst/>
          </a:prstGeom>
        </p:spPr>
      </p:pic>
      <p:graphicFrame>
        <p:nvGraphicFramePr>
          <p:cNvPr id="77" name="表 76">
            <a:extLst>
              <a:ext uri="{FF2B5EF4-FFF2-40B4-BE49-F238E27FC236}">
                <a16:creationId xmlns:a16="http://schemas.microsoft.com/office/drawing/2014/main" id="{70A72199-FC01-3D2F-04B3-1B902DDEB8F1}"/>
              </a:ext>
            </a:extLst>
          </p:cNvPr>
          <p:cNvGraphicFramePr>
            <a:graphicFrameLocks noGrp="1"/>
          </p:cNvGraphicFramePr>
          <p:nvPr/>
        </p:nvGraphicFramePr>
        <p:xfrm>
          <a:off x="5452166" y="6703356"/>
          <a:ext cx="2627289" cy="302895"/>
        </p:xfrm>
        <a:graphic>
          <a:graphicData uri="http://schemas.openxmlformats.org/drawingml/2006/table">
            <a:tbl>
              <a:tblPr/>
              <a:tblGrid>
                <a:gridCol w="1124455">
                  <a:extLst>
                    <a:ext uri="{9D8B030D-6E8A-4147-A177-3AD203B41FA5}">
                      <a16:colId xmlns:a16="http://schemas.microsoft.com/office/drawing/2014/main" val="4058772077"/>
                    </a:ext>
                  </a:extLst>
                </a:gridCol>
                <a:gridCol w="494834">
                  <a:extLst>
                    <a:ext uri="{9D8B030D-6E8A-4147-A177-3AD203B41FA5}">
                      <a16:colId xmlns:a16="http://schemas.microsoft.com/office/drawing/2014/main" val="154882630"/>
                    </a:ext>
                  </a:extLst>
                </a:gridCol>
                <a:gridCol w="1008000">
                  <a:extLst>
                    <a:ext uri="{9D8B030D-6E8A-4147-A177-3AD203B41FA5}">
                      <a16:colId xmlns:a16="http://schemas.microsoft.com/office/drawing/2014/main" val="2721471254"/>
                    </a:ext>
                  </a:extLst>
                </a:gridCol>
              </a:tblGrid>
              <a:tr h="0">
                <a:tc>
                  <a:txBody>
                    <a:bodyPr/>
                    <a:lstStyle/>
                    <a:p>
                      <a:pPr algn="ctr" fontAlgn="ctr">
                        <a:buNone/>
                      </a:pPr>
                      <a:r>
                        <a:rPr lang="ja-JP" altLang="en-US" sz="6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0">
                <a:tc>
                  <a:txBody>
                    <a:bodyPr/>
                    <a:lstStyle/>
                    <a:p>
                      <a:pPr algn="ctr" fontAlgn="ctr">
                        <a:buNone/>
                      </a:pPr>
                      <a:r>
                        <a:rPr lang="en-US" altLang="ja-JP" sz="600" b="0" i="0" u="none" strike="noStrike" dirty="0">
                          <a:solidFill>
                            <a:srgbClr val="000000"/>
                          </a:solidFill>
                          <a:effectLst/>
                          <a:latin typeface="+mj-ea"/>
                          <a:ea typeface="+mj-ea"/>
                        </a:rPr>
                        <a:t>202608</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j-ea"/>
                          <a:ea typeface="+mj-ea"/>
                        </a:rPr>
                        <a:t>2026/08/27</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600" b="0" i="0" u="sng" strike="noStrike" kern="1200" cap="none" spc="0" normalizeH="0" baseline="0" noProof="0">
                          <a:ln>
                            <a:noFill/>
                          </a:ln>
                          <a:solidFill>
                            <a:srgbClr val="3516FF"/>
                          </a:solidFill>
                          <a:effectLst/>
                          <a:uLnTx/>
                          <a:uFillTx/>
                          <a:latin typeface="Meiryo UI"/>
                          <a:ea typeface="Meiryo UI"/>
                          <a:cs typeface="+mn-cs"/>
                        </a:rPr>
                        <a:t>ダウンロード</a:t>
                      </a:r>
                      <a:r>
                        <a:rPr kumimoji="1" lang="ja-JP" altLang="en-US" sz="600" b="0" i="0" u="none" strike="noStrike" kern="1200" cap="none" spc="0" normalizeH="0" baseline="0" noProof="0">
                          <a:ln>
                            <a:noFill/>
                          </a:ln>
                          <a:solidFill>
                            <a:srgbClr val="000000"/>
                          </a:solidFill>
                          <a:effectLst/>
                          <a:uLnTx/>
                          <a:uFillTx/>
                          <a:latin typeface="Meiryo UI"/>
                          <a:ea typeface="Meiryo UI"/>
                          <a:cs typeface="+mn-cs"/>
                        </a:rPr>
                        <a:t>　</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24145824"/>
                  </a:ext>
                </a:extLst>
              </a:tr>
              <a:tr h="0">
                <a:tc>
                  <a:txBody>
                    <a:bodyPr/>
                    <a:lstStyle/>
                    <a:p>
                      <a:pPr algn="ctr" fontAlgn="ctr">
                        <a:buNone/>
                      </a:pPr>
                      <a:r>
                        <a:rPr lang="en-US" altLang="ja-JP" sz="600" b="0" i="0" u="none" strike="noStrike" dirty="0">
                          <a:solidFill>
                            <a:srgbClr val="000000"/>
                          </a:solidFill>
                          <a:effectLst/>
                          <a:latin typeface="+mj-ea"/>
                          <a:ea typeface="+mj-ea"/>
                        </a:rPr>
                        <a:t>202606</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j-ea"/>
                          <a:ea typeface="+mj-ea"/>
                        </a:rPr>
                        <a:t>2026/06/30</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600" b="0" i="0" u="sng" strike="noStrike" kern="1200" cap="none" spc="0" normalizeH="0" baseline="0" noProof="0">
                          <a:ln>
                            <a:noFill/>
                          </a:ln>
                          <a:solidFill>
                            <a:srgbClr val="3516FF"/>
                          </a:solidFill>
                          <a:effectLst/>
                          <a:uLnTx/>
                          <a:uFillTx/>
                          <a:latin typeface="Meiryo UI"/>
                          <a:ea typeface="Meiryo UI"/>
                          <a:cs typeface="+mn-cs"/>
                        </a:rPr>
                        <a:t>ダウンロード</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785047829"/>
                  </a:ext>
                </a:extLst>
              </a:tr>
            </a:tbl>
          </a:graphicData>
        </a:graphic>
      </p:graphicFrame>
      <p:sp>
        <p:nvSpPr>
          <p:cNvPr id="78" name="正方形/長方形 77">
            <a:extLst>
              <a:ext uri="{FF2B5EF4-FFF2-40B4-BE49-F238E27FC236}">
                <a16:creationId xmlns:a16="http://schemas.microsoft.com/office/drawing/2014/main" id="{10B6A1E6-94B5-6090-E4F4-22B5377DACBF}"/>
              </a:ext>
            </a:extLst>
          </p:cNvPr>
          <p:cNvSpPr/>
          <p:nvPr/>
        </p:nvSpPr>
        <p:spPr>
          <a:xfrm>
            <a:off x="4510296" y="6764345"/>
            <a:ext cx="557695" cy="150532"/>
          </a:xfrm>
          <a:prstGeom prst="rect">
            <a:avLst/>
          </a:prstGeom>
          <a:solidFill>
            <a:schemeClr val="bg1"/>
          </a:solidFill>
          <a:ln>
            <a:noFill/>
          </a:ln>
        </p:spPr>
        <p:txBody>
          <a:bodyPr lIns="0" tIns="0" rIns="0" bIns="0" rtlCol="0" anchor="t" anchorCtr="0"/>
          <a:lstStyle/>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en-US" altLang="ja-JP" sz="500" dirty="0">
                <a:latin typeface="Meiryo UI"/>
              </a:rPr>
              <a:t>(</a:t>
            </a:r>
            <a:r>
              <a:rPr kumimoji="1" lang="ja-JP" altLang="en-US" sz="500">
                <a:latin typeface="Meiryo UI"/>
              </a:rPr>
              <a:t>イメージ図上はアコーディオン開の状態</a:t>
            </a:r>
            <a:r>
              <a:rPr kumimoji="1" lang="en-US" altLang="ja-JP" sz="500" dirty="0">
                <a:latin typeface="Meiryo UI"/>
              </a:rPr>
              <a:t>)</a:t>
            </a:r>
          </a:p>
        </p:txBody>
      </p:sp>
      <p:sp>
        <p:nvSpPr>
          <p:cNvPr id="80" name="正方形/長方形 79">
            <a:extLst>
              <a:ext uri="{FF2B5EF4-FFF2-40B4-BE49-F238E27FC236}">
                <a16:creationId xmlns:a16="http://schemas.microsoft.com/office/drawing/2014/main" id="{A7F33422-91D2-3760-BAEF-1142BEE716C8}"/>
              </a:ext>
            </a:extLst>
          </p:cNvPr>
          <p:cNvSpPr/>
          <p:nvPr/>
        </p:nvSpPr>
        <p:spPr>
          <a:xfrm>
            <a:off x="5460932" y="5940795"/>
            <a:ext cx="2299514" cy="125205"/>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ja-JP" altLang="en-US" sz="500" b="1">
                <a:highlight>
                  <a:srgbClr val="FFFF00"/>
                </a:highlight>
                <a:latin typeface="Meiryo UI"/>
                <a:ea typeface="Meiryo UI"/>
              </a:rPr>
              <a:t>●新コードのみのマスタ</a:t>
            </a:r>
            <a:endParaRPr kumimoji="1" lang="ja-JP" altLang="en-US" sz="500" b="1" i="0" u="none" strike="noStrike" kern="1200" cap="none" spc="0" normalizeH="0" baseline="0" noProof="0">
              <a:ln>
                <a:noFill/>
              </a:ln>
              <a:effectLst/>
              <a:highlight>
                <a:srgbClr val="FFFF00"/>
              </a:highlight>
              <a:uLnTx/>
              <a:uFillTx/>
              <a:latin typeface="Meiryo UI"/>
              <a:ea typeface="Meiryo UI"/>
              <a:cs typeface="+mn-cs"/>
            </a:endParaRPr>
          </a:p>
        </p:txBody>
      </p:sp>
      <p:pic>
        <p:nvPicPr>
          <p:cNvPr id="82" name="図 81">
            <a:extLst>
              <a:ext uri="{FF2B5EF4-FFF2-40B4-BE49-F238E27FC236}">
                <a16:creationId xmlns:a16="http://schemas.microsoft.com/office/drawing/2014/main" id="{EA39A4C7-CC49-939B-C644-7ACB64525557}"/>
              </a:ext>
            </a:extLst>
          </p:cNvPr>
          <p:cNvPicPr>
            <a:picLocks noChangeAspect="1"/>
          </p:cNvPicPr>
          <p:nvPr/>
        </p:nvPicPr>
        <p:blipFill>
          <a:blip r:embed="rId7"/>
          <a:srcRect t="59419" b="34917"/>
          <a:stretch>
            <a:fillRect/>
          </a:stretch>
        </p:blipFill>
        <p:spPr>
          <a:xfrm>
            <a:off x="5443428" y="8294496"/>
            <a:ext cx="2653245" cy="159180"/>
          </a:xfrm>
          <a:prstGeom prst="rect">
            <a:avLst/>
          </a:prstGeom>
        </p:spPr>
      </p:pic>
      <p:graphicFrame>
        <p:nvGraphicFramePr>
          <p:cNvPr id="83" name="表 82">
            <a:extLst>
              <a:ext uri="{FF2B5EF4-FFF2-40B4-BE49-F238E27FC236}">
                <a16:creationId xmlns:a16="http://schemas.microsoft.com/office/drawing/2014/main" id="{57590150-256B-942A-E53A-1F185823E7B1}"/>
              </a:ext>
            </a:extLst>
          </p:cNvPr>
          <p:cNvGraphicFramePr>
            <a:graphicFrameLocks noGrp="1"/>
          </p:cNvGraphicFramePr>
          <p:nvPr/>
        </p:nvGraphicFramePr>
        <p:xfrm>
          <a:off x="5452166" y="8469035"/>
          <a:ext cx="2627289" cy="302895"/>
        </p:xfrm>
        <a:graphic>
          <a:graphicData uri="http://schemas.openxmlformats.org/drawingml/2006/table">
            <a:tbl>
              <a:tblPr/>
              <a:tblGrid>
                <a:gridCol w="1124455">
                  <a:extLst>
                    <a:ext uri="{9D8B030D-6E8A-4147-A177-3AD203B41FA5}">
                      <a16:colId xmlns:a16="http://schemas.microsoft.com/office/drawing/2014/main" val="4058772077"/>
                    </a:ext>
                  </a:extLst>
                </a:gridCol>
                <a:gridCol w="494834">
                  <a:extLst>
                    <a:ext uri="{9D8B030D-6E8A-4147-A177-3AD203B41FA5}">
                      <a16:colId xmlns:a16="http://schemas.microsoft.com/office/drawing/2014/main" val="154882630"/>
                    </a:ext>
                  </a:extLst>
                </a:gridCol>
                <a:gridCol w="1008000">
                  <a:extLst>
                    <a:ext uri="{9D8B030D-6E8A-4147-A177-3AD203B41FA5}">
                      <a16:colId xmlns:a16="http://schemas.microsoft.com/office/drawing/2014/main" val="2721471254"/>
                    </a:ext>
                  </a:extLst>
                </a:gridCol>
              </a:tblGrid>
              <a:tr h="0">
                <a:tc>
                  <a:txBody>
                    <a:bodyPr/>
                    <a:lstStyle/>
                    <a:p>
                      <a:pPr algn="ctr" fontAlgn="ctr">
                        <a:buNone/>
                      </a:pPr>
                      <a:r>
                        <a:rPr lang="ja-JP" altLang="en-US" sz="6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0">
                <a:tc>
                  <a:txBody>
                    <a:bodyPr/>
                    <a:lstStyle/>
                    <a:p>
                      <a:pPr algn="ctr" fontAlgn="ctr">
                        <a:buNone/>
                      </a:pPr>
                      <a:r>
                        <a:rPr lang="en-US" altLang="ja-JP" sz="600" b="0" i="0" u="none" strike="noStrike" dirty="0">
                          <a:solidFill>
                            <a:srgbClr val="000000"/>
                          </a:solidFill>
                          <a:effectLst/>
                          <a:latin typeface="+mj-ea"/>
                          <a:ea typeface="+mj-ea"/>
                        </a:rPr>
                        <a:t>202608</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j-ea"/>
                          <a:ea typeface="+mj-ea"/>
                        </a:rPr>
                        <a:t>2026/08/27</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600" b="0" i="0" u="sng" strike="noStrike" kern="1200" cap="none" spc="0" normalizeH="0" baseline="0" noProof="0">
                          <a:ln>
                            <a:noFill/>
                          </a:ln>
                          <a:solidFill>
                            <a:srgbClr val="3516FF"/>
                          </a:solidFill>
                          <a:effectLst/>
                          <a:uLnTx/>
                          <a:uFillTx/>
                          <a:latin typeface="Meiryo UI"/>
                          <a:ea typeface="Meiryo UI"/>
                          <a:cs typeface="+mn-cs"/>
                        </a:rPr>
                        <a:t>ダウンロード</a:t>
                      </a:r>
                      <a:r>
                        <a:rPr kumimoji="1" lang="ja-JP" altLang="en-US" sz="600" b="0" i="0" u="none" strike="noStrike" kern="1200" cap="none" spc="0" normalizeH="0" baseline="0" noProof="0">
                          <a:ln>
                            <a:noFill/>
                          </a:ln>
                          <a:solidFill>
                            <a:srgbClr val="000000"/>
                          </a:solidFill>
                          <a:effectLst/>
                          <a:uLnTx/>
                          <a:uFillTx/>
                          <a:latin typeface="Meiryo UI"/>
                          <a:ea typeface="Meiryo UI"/>
                          <a:cs typeface="+mn-cs"/>
                        </a:rPr>
                        <a:t>　</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24145824"/>
                  </a:ext>
                </a:extLst>
              </a:tr>
              <a:tr h="0">
                <a:tc>
                  <a:txBody>
                    <a:bodyPr/>
                    <a:lstStyle/>
                    <a:p>
                      <a:pPr algn="ctr" fontAlgn="ctr">
                        <a:buNone/>
                      </a:pPr>
                      <a:r>
                        <a:rPr lang="en-US" altLang="ja-JP" sz="600" b="0" i="0" u="none" strike="noStrike" dirty="0">
                          <a:solidFill>
                            <a:srgbClr val="000000"/>
                          </a:solidFill>
                          <a:effectLst/>
                          <a:latin typeface="+mj-ea"/>
                          <a:ea typeface="+mj-ea"/>
                        </a:rPr>
                        <a:t>202606</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j-ea"/>
                          <a:ea typeface="+mj-ea"/>
                        </a:rPr>
                        <a:t>2026/06/30</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600" b="0" i="0" u="sng" strike="noStrike" kern="1200" cap="none" spc="0" normalizeH="0" baseline="0" noProof="0">
                          <a:ln>
                            <a:noFill/>
                          </a:ln>
                          <a:solidFill>
                            <a:srgbClr val="3516FF"/>
                          </a:solidFill>
                          <a:effectLst/>
                          <a:uLnTx/>
                          <a:uFillTx/>
                          <a:latin typeface="Meiryo UI"/>
                          <a:ea typeface="Meiryo UI"/>
                          <a:cs typeface="+mn-cs"/>
                        </a:rPr>
                        <a:t>ダウンロード</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785047829"/>
                  </a:ext>
                </a:extLst>
              </a:tr>
            </a:tbl>
          </a:graphicData>
        </a:graphic>
      </p:graphicFrame>
      <p:graphicFrame>
        <p:nvGraphicFramePr>
          <p:cNvPr id="84" name="表 83">
            <a:extLst>
              <a:ext uri="{FF2B5EF4-FFF2-40B4-BE49-F238E27FC236}">
                <a16:creationId xmlns:a16="http://schemas.microsoft.com/office/drawing/2014/main" id="{FC53C774-1E03-976E-5AE0-15219696B28F}"/>
              </a:ext>
            </a:extLst>
          </p:cNvPr>
          <p:cNvGraphicFramePr>
            <a:graphicFrameLocks noGrp="1"/>
          </p:cNvGraphicFramePr>
          <p:nvPr/>
        </p:nvGraphicFramePr>
        <p:xfrm>
          <a:off x="5473495" y="7931245"/>
          <a:ext cx="2387855" cy="300959"/>
        </p:xfrm>
        <a:graphic>
          <a:graphicData uri="http://schemas.openxmlformats.org/drawingml/2006/table">
            <a:tbl>
              <a:tblPr/>
              <a:tblGrid>
                <a:gridCol w="267911">
                  <a:extLst>
                    <a:ext uri="{9D8B030D-6E8A-4147-A177-3AD203B41FA5}">
                      <a16:colId xmlns:a16="http://schemas.microsoft.com/office/drawing/2014/main" val="4058772077"/>
                    </a:ext>
                  </a:extLst>
                </a:gridCol>
                <a:gridCol w="432000">
                  <a:extLst>
                    <a:ext uri="{9D8B030D-6E8A-4147-A177-3AD203B41FA5}">
                      <a16:colId xmlns:a16="http://schemas.microsoft.com/office/drawing/2014/main" val="154882630"/>
                    </a:ext>
                  </a:extLst>
                </a:gridCol>
                <a:gridCol w="391944">
                  <a:extLst>
                    <a:ext uri="{9D8B030D-6E8A-4147-A177-3AD203B41FA5}">
                      <a16:colId xmlns:a16="http://schemas.microsoft.com/office/drawing/2014/main" val="2721471254"/>
                    </a:ext>
                  </a:extLst>
                </a:gridCol>
                <a:gridCol w="432000">
                  <a:extLst>
                    <a:ext uri="{9D8B030D-6E8A-4147-A177-3AD203B41FA5}">
                      <a16:colId xmlns:a16="http://schemas.microsoft.com/office/drawing/2014/main" val="227139091"/>
                    </a:ext>
                  </a:extLst>
                </a:gridCol>
                <a:gridCol w="432000">
                  <a:extLst>
                    <a:ext uri="{9D8B030D-6E8A-4147-A177-3AD203B41FA5}">
                      <a16:colId xmlns:a16="http://schemas.microsoft.com/office/drawing/2014/main" val="892848932"/>
                    </a:ext>
                  </a:extLst>
                </a:gridCol>
                <a:gridCol w="432000">
                  <a:extLst>
                    <a:ext uri="{9D8B030D-6E8A-4147-A177-3AD203B41FA5}">
                      <a16:colId xmlns:a16="http://schemas.microsoft.com/office/drawing/2014/main" val="420957508"/>
                    </a:ext>
                  </a:extLst>
                </a:gridCol>
              </a:tblGrid>
              <a:tr h="139034">
                <a:tc>
                  <a:txBody>
                    <a:bodyPr/>
                    <a:lstStyle/>
                    <a:p>
                      <a:pPr algn="ctr" fontAlgn="ctr">
                        <a:buNone/>
                      </a:pPr>
                      <a:r>
                        <a:rPr lang="ja-JP" altLang="en-US" sz="5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本番環境</a:t>
                      </a:r>
                      <a:br>
                        <a:rPr lang="en-US" altLang="ja-JP" sz="500" b="0" i="0" u="none" strike="noStrike" dirty="0">
                          <a:solidFill>
                            <a:srgbClr val="000000"/>
                          </a:solidFill>
                          <a:effectLst/>
                          <a:latin typeface="+mj-ea"/>
                          <a:ea typeface="+mj-ea"/>
                        </a:rPr>
                      </a:br>
                      <a:r>
                        <a:rPr lang="ja-JP" altLang="en-US" sz="5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反映日</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39034">
                <a:tc>
                  <a:txBody>
                    <a:bodyPr/>
                    <a:lstStyle/>
                    <a:p>
                      <a:pPr algn="ctr" fontAlgn="ctr">
                        <a:buNone/>
                      </a:pPr>
                      <a:r>
                        <a:rPr lang="en-US" altLang="ja-JP" sz="500" b="0" i="0" u="none" strike="noStrike" dirty="0">
                          <a:solidFill>
                            <a:srgbClr val="000000"/>
                          </a:solidFill>
                          <a:effectLst/>
                          <a:latin typeface="+mj-ea"/>
                          <a:ea typeface="+mj-ea"/>
                        </a:rPr>
                        <a:t>202609</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2026/09/XX</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highlight>
                            <a:srgbClr val="FFFF00"/>
                          </a:highlight>
                          <a:latin typeface="+mn-ea"/>
                          <a:ea typeface="+mn-ea"/>
                        </a:rPr>
                        <a:t>2026/9/28</a:t>
                      </a:r>
                      <a:endParaRPr lang="ja-JP" altLang="en-US" sz="500" b="0" i="0" u="none" strike="noStrike">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highlight>
                            <a:srgbClr val="FFFF00"/>
                          </a:highlight>
                          <a:latin typeface="+mn-ea"/>
                          <a:ea typeface="+mn-ea"/>
                        </a:rPr>
                        <a:t>2026/9/24</a:t>
                      </a:r>
                      <a:endParaRPr lang="ja-JP" altLang="en-US" sz="500" b="0" i="0" u="none" strike="noStrike">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2026/08/27</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92" name="左中かっこ 91">
            <a:extLst>
              <a:ext uri="{FF2B5EF4-FFF2-40B4-BE49-F238E27FC236}">
                <a16:creationId xmlns:a16="http://schemas.microsoft.com/office/drawing/2014/main" id="{262B8919-6051-CFE8-981A-21DB14E62AA2}"/>
              </a:ext>
            </a:extLst>
          </p:cNvPr>
          <p:cNvSpPr/>
          <p:nvPr/>
        </p:nvSpPr>
        <p:spPr bwMode="auto">
          <a:xfrm>
            <a:off x="5026219" y="8365027"/>
            <a:ext cx="155448" cy="408240"/>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93" name="正方形/長方形 92">
            <a:extLst>
              <a:ext uri="{FF2B5EF4-FFF2-40B4-BE49-F238E27FC236}">
                <a16:creationId xmlns:a16="http://schemas.microsoft.com/office/drawing/2014/main" id="{66D79ABC-22C6-072C-A302-94D052A83D34}"/>
              </a:ext>
            </a:extLst>
          </p:cNvPr>
          <p:cNvSpPr/>
          <p:nvPr/>
        </p:nvSpPr>
        <p:spPr>
          <a:xfrm>
            <a:off x="4510296" y="8503528"/>
            <a:ext cx="557695" cy="150532"/>
          </a:xfrm>
          <a:prstGeom prst="rect">
            <a:avLst/>
          </a:prstGeom>
          <a:solidFill>
            <a:schemeClr val="bg1"/>
          </a:solidFill>
          <a:ln>
            <a:noFill/>
          </a:ln>
        </p:spPr>
        <p:txBody>
          <a:bodyPr lIns="0" tIns="0" rIns="0" bIns="0" rtlCol="0" anchor="t" anchorCtr="0"/>
          <a:lstStyle/>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en-US" altLang="ja-JP" sz="500" dirty="0">
                <a:latin typeface="Meiryo UI"/>
              </a:rPr>
              <a:t>(</a:t>
            </a:r>
            <a:r>
              <a:rPr kumimoji="1" lang="ja-JP" altLang="en-US" sz="500">
                <a:latin typeface="Meiryo UI"/>
              </a:rPr>
              <a:t>イメージ図上はアコーディオン開の状態</a:t>
            </a:r>
            <a:r>
              <a:rPr kumimoji="1" lang="en-US" altLang="ja-JP" sz="500" dirty="0">
                <a:latin typeface="Meiryo UI"/>
              </a:rPr>
              <a:t>)</a:t>
            </a:r>
          </a:p>
        </p:txBody>
      </p:sp>
      <p:sp>
        <p:nvSpPr>
          <p:cNvPr id="94" name="正方形/長方形 93">
            <a:extLst>
              <a:ext uri="{FF2B5EF4-FFF2-40B4-BE49-F238E27FC236}">
                <a16:creationId xmlns:a16="http://schemas.microsoft.com/office/drawing/2014/main" id="{308A8034-27BC-A381-1C84-461DBEBB2D6D}"/>
              </a:ext>
            </a:extLst>
          </p:cNvPr>
          <p:cNvSpPr/>
          <p:nvPr/>
        </p:nvSpPr>
        <p:spPr>
          <a:xfrm>
            <a:off x="5388035" y="8945315"/>
            <a:ext cx="2299514" cy="125205"/>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ja-JP" altLang="en-US" sz="500" b="1">
                <a:highlight>
                  <a:srgbClr val="FFFF00"/>
                </a:highlight>
                <a:latin typeface="Meiryo UI"/>
                <a:ea typeface="Meiryo UI"/>
              </a:rPr>
              <a:t>●新・旧コードの対応表</a:t>
            </a:r>
            <a:endParaRPr kumimoji="1" lang="ja-JP" altLang="en-US" sz="500" b="1" i="0" u="none" strike="noStrike" kern="1200" cap="none" spc="0" normalizeH="0" baseline="0" noProof="0">
              <a:ln>
                <a:noFill/>
              </a:ln>
              <a:effectLst/>
              <a:highlight>
                <a:srgbClr val="FFFF00"/>
              </a:highlight>
              <a:uLnTx/>
              <a:uFillTx/>
              <a:latin typeface="Meiryo UI"/>
              <a:ea typeface="Meiryo UI"/>
              <a:cs typeface="+mn-cs"/>
            </a:endParaRPr>
          </a:p>
        </p:txBody>
      </p:sp>
      <p:grpSp>
        <p:nvGrpSpPr>
          <p:cNvPr id="5" name="グループ化 4">
            <a:extLst>
              <a:ext uri="{FF2B5EF4-FFF2-40B4-BE49-F238E27FC236}">
                <a16:creationId xmlns:a16="http://schemas.microsoft.com/office/drawing/2014/main" id="{5314887E-962C-1D4F-5542-546453B05473}"/>
              </a:ext>
            </a:extLst>
          </p:cNvPr>
          <p:cNvGrpSpPr/>
          <p:nvPr/>
        </p:nvGrpSpPr>
        <p:grpSpPr>
          <a:xfrm>
            <a:off x="5498875" y="11053589"/>
            <a:ext cx="2743961" cy="213343"/>
            <a:chOff x="8168173" y="4422050"/>
            <a:chExt cx="2743961" cy="213343"/>
          </a:xfrm>
        </p:grpSpPr>
        <p:pic>
          <p:nvPicPr>
            <p:cNvPr id="9" name="図 8">
              <a:extLst>
                <a:ext uri="{FF2B5EF4-FFF2-40B4-BE49-F238E27FC236}">
                  <a16:creationId xmlns:a16="http://schemas.microsoft.com/office/drawing/2014/main" id="{5D6BBC9D-7E42-94F0-03FA-6084C4811490}"/>
                </a:ext>
              </a:extLst>
            </p:cNvPr>
            <p:cNvPicPr>
              <a:picLocks noChangeAspect="1"/>
            </p:cNvPicPr>
            <p:nvPr/>
          </p:nvPicPr>
          <p:blipFill>
            <a:blip r:embed="rId6"/>
            <a:srcRect l="1910" t="81326" r="2535" b="8895"/>
            <a:stretch>
              <a:fillRect/>
            </a:stretch>
          </p:blipFill>
          <p:spPr>
            <a:xfrm>
              <a:off x="8168173" y="4422050"/>
              <a:ext cx="2743961" cy="213343"/>
            </a:xfrm>
            <a:prstGeom prst="rect">
              <a:avLst/>
            </a:prstGeom>
          </p:spPr>
        </p:pic>
        <p:sp>
          <p:nvSpPr>
            <p:cNvPr id="14" name="正方形/長方形 13">
              <a:extLst>
                <a:ext uri="{FF2B5EF4-FFF2-40B4-BE49-F238E27FC236}">
                  <a16:creationId xmlns:a16="http://schemas.microsoft.com/office/drawing/2014/main" id="{975C3EB3-F6E6-4998-F0A0-A902520C728E}"/>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highlight>
                    <a:srgbClr val="FFFF00"/>
                  </a:highlight>
                  <a:uLnTx/>
                  <a:uFillTx/>
                  <a:latin typeface="Meiryo UI"/>
                  <a:ea typeface="Meiryo UI"/>
                  <a:cs typeface="+mn-cs"/>
                </a:rPr>
                <a:t>令和</a:t>
              </a:r>
              <a:r>
                <a:rPr kumimoji="1" lang="en-US" altLang="ja-JP" sz="500" b="1" i="0" u="none" strike="noStrike" kern="1200" cap="none" spc="0" normalizeH="0" baseline="0" noProof="0" dirty="0">
                  <a:ln>
                    <a:noFill/>
                  </a:ln>
                  <a:solidFill>
                    <a:prstClr val="black"/>
                  </a:solidFill>
                  <a:effectLst/>
                  <a:highlight>
                    <a:srgbClr val="FFFF00"/>
                  </a:highlight>
                  <a:uLnTx/>
                  <a:uFillTx/>
                  <a:latin typeface="Meiryo UI"/>
                  <a:ea typeface="Meiryo UI"/>
                  <a:cs typeface="+mn-cs"/>
                </a:rPr>
                <a:t>8</a:t>
              </a:r>
              <a:r>
                <a:rPr kumimoji="1" lang="ja-JP" altLang="en-US" sz="500" b="1" i="0" u="none" strike="noStrike" kern="1200" cap="none" spc="0" normalizeH="0" baseline="0" noProof="0">
                  <a:ln>
                    <a:noFill/>
                  </a:ln>
                  <a:solidFill>
                    <a:prstClr val="black"/>
                  </a:solidFill>
                  <a:effectLst/>
                  <a:highlight>
                    <a:srgbClr val="FFFF00"/>
                  </a:highlight>
                  <a:uLnTx/>
                  <a:uFillTx/>
                  <a:latin typeface="Meiryo UI"/>
                  <a:ea typeface="Meiryo UI"/>
                  <a:cs typeface="+mn-cs"/>
                </a:rPr>
                <a:t>年</a:t>
              </a:r>
              <a:r>
                <a:rPr kumimoji="1" lang="en-US" altLang="ja-JP" sz="500" b="1" dirty="0">
                  <a:solidFill>
                    <a:prstClr val="black"/>
                  </a:solidFill>
                  <a:highlight>
                    <a:srgbClr val="FFFF00"/>
                  </a:highlight>
                  <a:latin typeface="Meiryo UI"/>
                  <a:ea typeface="Meiryo UI"/>
                </a:rPr>
                <a:t>9</a:t>
              </a:r>
              <a:r>
                <a:rPr kumimoji="1" lang="ja-JP" altLang="en-US" sz="500" b="1" i="0" u="none" strike="noStrike" kern="1200" cap="none" spc="0" normalizeH="0" baseline="0" noProof="0">
                  <a:ln>
                    <a:noFill/>
                  </a:ln>
                  <a:solidFill>
                    <a:prstClr val="black"/>
                  </a:solidFill>
                  <a:effectLst/>
                  <a:highlight>
                    <a:srgbClr val="FFFF00"/>
                  </a:highlight>
                  <a:uLnTx/>
                  <a:uFillTx/>
                  <a:latin typeface="Meiryo UI"/>
                  <a:ea typeface="Meiryo UI"/>
                  <a:cs typeface="+mn-cs"/>
                </a:rPr>
                <a:t>月</a:t>
              </a:r>
              <a:r>
                <a:rPr kumimoji="1" lang="en-US" altLang="ja-JP" sz="500" b="1" i="0" u="none" strike="noStrike" kern="1200" cap="none" spc="0" normalizeH="0" baseline="0" noProof="0" dirty="0">
                  <a:ln>
                    <a:noFill/>
                  </a:ln>
                  <a:solidFill>
                    <a:prstClr val="black"/>
                  </a:solidFill>
                  <a:effectLst/>
                  <a:highlight>
                    <a:srgbClr val="FFFF00"/>
                  </a:highlight>
                  <a:uLnTx/>
                  <a:uFillTx/>
                  <a:latin typeface="Meiryo UI"/>
                  <a:ea typeface="Meiryo UI"/>
                  <a:cs typeface="+mn-cs"/>
                </a:rPr>
                <a:t>27</a:t>
              </a:r>
              <a:r>
                <a:rPr kumimoji="1" lang="ja-JP" altLang="en-US" sz="500" b="1" i="0" u="none" strike="noStrike" kern="1200" cap="none" spc="0" normalizeH="0" baseline="0" noProof="0">
                  <a:ln>
                    <a:noFill/>
                  </a:ln>
                  <a:solidFill>
                    <a:prstClr val="black"/>
                  </a:solidFill>
                  <a:effectLst/>
                  <a:highlight>
                    <a:srgbClr val="FFFF00"/>
                  </a:highlight>
                  <a:uLnTx/>
                  <a:uFillTx/>
                  <a:latin typeface="Meiryo UI"/>
                  <a:ea typeface="Meiryo UI"/>
                  <a:cs typeface="+mn-cs"/>
                </a:rPr>
                <a:t>日まで適用の旧コードのマスタのダウンロードリンク</a:t>
              </a:r>
            </a:p>
          </p:txBody>
        </p:sp>
      </p:grpSp>
      <p:graphicFrame>
        <p:nvGraphicFramePr>
          <p:cNvPr id="74" name="表 73">
            <a:extLst>
              <a:ext uri="{FF2B5EF4-FFF2-40B4-BE49-F238E27FC236}">
                <a16:creationId xmlns:a16="http://schemas.microsoft.com/office/drawing/2014/main" id="{76DE4270-7C5B-2EC1-6A37-0AA44169C4CD}"/>
              </a:ext>
            </a:extLst>
          </p:cNvPr>
          <p:cNvGraphicFramePr>
            <a:graphicFrameLocks noGrp="1"/>
          </p:cNvGraphicFramePr>
          <p:nvPr/>
        </p:nvGraphicFramePr>
        <p:xfrm>
          <a:off x="5486288" y="11283370"/>
          <a:ext cx="2842488" cy="300959"/>
        </p:xfrm>
        <a:graphic>
          <a:graphicData uri="http://schemas.openxmlformats.org/drawingml/2006/table">
            <a:tbl>
              <a:tblPr/>
              <a:tblGrid>
                <a:gridCol w="282542">
                  <a:extLst>
                    <a:ext uri="{9D8B030D-6E8A-4147-A177-3AD203B41FA5}">
                      <a16:colId xmlns:a16="http://schemas.microsoft.com/office/drawing/2014/main" val="4058772077"/>
                    </a:ext>
                  </a:extLst>
                </a:gridCol>
                <a:gridCol w="417113">
                  <a:extLst>
                    <a:ext uri="{9D8B030D-6E8A-4147-A177-3AD203B41FA5}">
                      <a16:colId xmlns:a16="http://schemas.microsoft.com/office/drawing/2014/main" val="154882630"/>
                    </a:ext>
                  </a:extLst>
                </a:gridCol>
                <a:gridCol w="320040">
                  <a:extLst>
                    <a:ext uri="{9D8B030D-6E8A-4147-A177-3AD203B41FA5}">
                      <a16:colId xmlns:a16="http://schemas.microsoft.com/office/drawing/2014/main" val="2721471254"/>
                    </a:ext>
                  </a:extLst>
                </a:gridCol>
                <a:gridCol w="414332">
                  <a:extLst>
                    <a:ext uri="{9D8B030D-6E8A-4147-A177-3AD203B41FA5}">
                      <a16:colId xmlns:a16="http://schemas.microsoft.com/office/drawing/2014/main" val="227139091"/>
                    </a:ext>
                  </a:extLst>
                </a:gridCol>
                <a:gridCol w="455593">
                  <a:extLst>
                    <a:ext uri="{9D8B030D-6E8A-4147-A177-3AD203B41FA5}">
                      <a16:colId xmlns:a16="http://schemas.microsoft.com/office/drawing/2014/main" val="892848932"/>
                    </a:ext>
                  </a:extLst>
                </a:gridCol>
                <a:gridCol w="455593">
                  <a:extLst>
                    <a:ext uri="{9D8B030D-6E8A-4147-A177-3AD203B41FA5}">
                      <a16:colId xmlns:a16="http://schemas.microsoft.com/office/drawing/2014/main" val="420957508"/>
                    </a:ext>
                  </a:extLst>
                </a:gridCol>
                <a:gridCol w="497275">
                  <a:extLst>
                    <a:ext uri="{9D8B030D-6E8A-4147-A177-3AD203B41FA5}">
                      <a16:colId xmlns:a16="http://schemas.microsoft.com/office/drawing/2014/main" val="1312447125"/>
                    </a:ext>
                  </a:extLst>
                </a:gridCol>
              </a:tblGrid>
              <a:tr h="139034">
                <a:tc>
                  <a:txBody>
                    <a:bodyPr/>
                    <a:lstStyle/>
                    <a:p>
                      <a:pPr algn="ctr" fontAlgn="ctr">
                        <a:buNone/>
                      </a:pPr>
                      <a:r>
                        <a:rPr lang="ja-JP" altLang="en-US" sz="5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本番環境</a:t>
                      </a:r>
                      <a:br>
                        <a:rPr lang="en-US" altLang="ja-JP" sz="500" b="0" i="0" u="none" strike="noStrike" dirty="0">
                          <a:solidFill>
                            <a:srgbClr val="000000"/>
                          </a:solidFill>
                          <a:effectLst/>
                          <a:latin typeface="+mj-ea"/>
                          <a:ea typeface="+mj-ea"/>
                        </a:rPr>
                      </a:br>
                      <a:r>
                        <a:rPr lang="ja-JP" altLang="en-US" sz="5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反映日</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適用終了日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39034">
                <a:tc>
                  <a:txBody>
                    <a:bodyPr/>
                    <a:lstStyle/>
                    <a:p>
                      <a:pPr algn="ctr" fontAlgn="ctr">
                        <a:buNone/>
                      </a:pPr>
                      <a:r>
                        <a:rPr lang="en-US" altLang="ja-JP" sz="500" b="0" i="0" u="none" strike="noStrike" dirty="0">
                          <a:solidFill>
                            <a:srgbClr val="000000"/>
                          </a:solidFill>
                          <a:effectLst/>
                          <a:latin typeface="+mj-ea"/>
                          <a:ea typeface="+mj-ea"/>
                        </a:rPr>
                        <a:t>202603</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j-ea"/>
                          <a:ea typeface="+mj-ea"/>
                        </a:rPr>
                        <a:t>2026/03/31</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2026/03/23</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2026/03/19</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2026/02/16</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2026/09/27</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76" name="左中かっこ 75">
            <a:extLst>
              <a:ext uri="{FF2B5EF4-FFF2-40B4-BE49-F238E27FC236}">
                <a16:creationId xmlns:a16="http://schemas.microsoft.com/office/drawing/2014/main" id="{5747FF2B-D600-22E9-5033-60670172D8A8}"/>
              </a:ext>
            </a:extLst>
          </p:cNvPr>
          <p:cNvSpPr/>
          <p:nvPr/>
        </p:nvSpPr>
        <p:spPr bwMode="auto">
          <a:xfrm>
            <a:off x="5341487" y="11068550"/>
            <a:ext cx="112816" cy="582764"/>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32" name="四角形: 角を丸くする 31">
            <a:extLst>
              <a:ext uri="{FF2B5EF4-FFF2-40B4-BE49-F238E27FC236}">
                <a16:creationId xmlns:a16="http://schemas.microsoft.com/office/drawing/2014/main" id="{11017705-0101-BB40-30E2-0FDF1E4FF2BC}"/>
              </a:ext>
            </a:extLst>
          </p:cNvPr>
          <p:cNvSpPr/>
          <p:nvPr/>
        </p:nvSpPr>
        <p:spPr>
          <a:xfrm>
            <a:off x="8522930" y="6764345"/>
            <a:ext cx="1912790" cy="783541"/>
          </a:xfrm>
          <a:prstGeom prst="roundRect">
            <a:avLst/>
          </a:prstGeom>
          <a:solidFill>
            <a:schemeClr val="tx2">
              <a:lumMod val="20000"/>
              <a:lumOff val="80000"/>
            </a:schemeClr>
          </a:solidFill>
          <a:ln>
            <a:noFill/>
            <a:prstDash val="dash"/>
          </a:ln>
        </p:spPr>
        <p:txBody>
          <a:bodyPr wrap="square" lIns="36000" tIns="108000" rIns="36000" bIns="36000" rtlCol="0" anchor="ctr">
            <a:noAutofit/>
          </a:bodyP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上堀さん確認</a:t>
            </a:r>
            <a:endParaRPr kumimoji="1" lang="en-US" altLang="ja-JP" sz="1050" b="0" i="0" u="none" strike="noStrike" kern="1200" cap="none" spc="0" normalizeH="0" baseline="0" noProof="0" dirty="0">
              <a:ln>
                <a:noFill/>
              </a:ln>
              <a:solidFill>
                <a:prstClr val="black"/>
              </a:solidFill>
              <a:effectLst/>
              <a:uLnTx/>
              <a:uFillTx/>
              <a:latin typeface="Meiryo UI"/>
              <a:ea typeface="Meiryo UI"/>
              <a:cs typeface="+mn-cs"/>
            </a:endParaRPr>
          </a:p>
          <a:p>
            <a:pPr lvl="0" algn="ctr" fontAlgn="base">
              <a:spcBef>
                <a:spcPct val="20000"/>
              </a:spcBef>
              <a:spcAft>
                <a:spcPct val="0"/>
              </a:spcAft>
              <a:defRPr/>
            </a:pPr>
            <a:r>
              <a:rPr lang="ja-JP" altLang="ja-JP" sz="1050"/>
              <a:t>JLACセンターからの修正依頼分（適用終了日の扱いについて誤解を招かないよう記載する）</a:t>
            </a:r>
            <a:endParaRPr kumimoji="1" lang="en-US" altLang="ja-JP" sz="1050" b="0" i="0" u="none" strike="noStrike" kern="1200" cap="none" spc="0" normalizeH="0" baseline="0" noProof="0" dirty="0">
              <a:ln>
                <a:noFill/>
              </a:ln>
              <a:solidFill>
                <a:prstClr val="black"/>
              </a:solidFill>
              <a:effectLst/>
              <a:uLnTx/>
              <a:uFillTx/>
              <a:latin typeface="Meiryo UI"/>
              <a:ea typeface="Meiryo UI"/>
              <a:cs typeface="+mn-cs"/>
            </a:endParaRPr>
          </a:p>
        </p:txBody>
      </p:sp>
      <p:cxnSp>
        <p:nvCxnSpPr>
          <p:cNvPr id="33" name="直線コネクタ 32">
            <a:extLst>
              <a:ext uri="{FF2B5EF4-FFF2-40B4-BE49-F238E27FC236}">
                <a16:creationId xmlns:a16="http://schemas.microsoft.com/office/drawing/2014/main" id="{D34E6463-0BF3-D96E-F7BF-6AB6205AF5BC}"/>
              </a:ext>
            </a:extLst>
          </p:cNvPr>
          <p:cNvCxnSpPr>
            <a:cxnSpLocks/>
          </p:cNvCxnSpPr>
          <p:nvPr/>
        </p:nvCxnSpPr>
        <p:spPr bwMode="auto">
          <a:xfrm flipH="1">
            <a:off x="8169986" y="7319979"/>
            <a:ext cx="335981" cy="78887"/>
          </a:xfrm>
          <a:prstGeom prst="line">
            <a:avLst/>
          </a:prstGeom>
          <a:solidFill>
            <a:schemeClr val="bg1"/>
          </a:solidFill>
          <a:ln w="9525" cap="flat" cmpd="sng" algn="ctr">
            <a:solidFill>
              <a:schemeClr val="accent1"/>
            </a:solidFill>
            <a:prstDash val="solid"/>
            <a:round/>
            <a:headEnd type="none" w="med" len="med"/>
            <a:tailEnd type="none" w="med" len="med"/>
          </a:ln>
          <a:effectLst/>
        </p:spPr>
      </p:cxnSp>
    </p:spTree>
    <p:extLst>
      <p:ext uri="{BB962C8B-B14F-4D97-AF65-F5344CB8AC3E}">
        <p14:creationId xmlns:p14="http://schemas.microsoft.com/office/powerpoint/2010/main" val="3977856509"/>
      </p:ext>
    </p:extLst>
  </p:cSld>
  <p:clrMapOvr>
    <a:masterClrMapping/>
  </p:clrMapOvr>
  <p:extLst>
    <p:ext uri="{6950BFC3-D8DA-4A85-94F7-54DA5524770B}">
      <p188:commentRel xmlns:p188="http://schemas.microsoft.com/office/powerpoint/2018/8/main" r:id="rId2"/>
    </p:ext>
  </p:extLs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DATE" val="2025/09/10 16:00:42"/>
  <p:tag name="STYLE" val="AcnSubjectTitle"/>
</p:tagLst>
</file>

<file path=ppt/tags/tag3.xml><?xml version="1.0" encoding="utf-8"?>
<p:tagLst xmlns:a="http://schemas.openxmlformats.org/drawingml/2006/main" xmlns:r="http://schemas.openxmlformats.org/officeDocument/2006/relationships" xmlns:p="http://schemas.openxmlformats.org/presentationml/2006/main">
  <p:tag name="DATE" val="2025/09/10 16:00:42"/>
  <p:tag name="STYLE" val="AcnFootnote"/>
</p:tagLst>
</file>

<file path=ppt/theme/theme1.xml><?xml version="1.0" encoding="utf-8"?>
<a:theme xmlns:a="http://schemas.openxmlformats.org/drawingml/2006/main" name="6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a:noFill/>
        </a:ln>
      </a:spPr>
      <a:bodyPr rtlCol="0" anchor="ctr"/>
      <a:lstStyle>
        <a:defPPr algn="l" fontAlgn="base">
          <a:spcBef>
            <a:spcPct val="20000"/>
          </a:spcBef>
          <a:spcAft>
            <a:spcPct val="0"/>
          </a:spcAft>
          <a:defRPr sz="1400" dirty="0" err="1" smtClean="0">
            <a:latin typeface="+mj-ea"/>
            <a:ea typeface="+mj-ea"/>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2.xml><?xml version="1.0" encoding="utf-8"?>
<a:theme xmlns:a="http://schemas.openxmlformats.org/drawingml/2006/main" name="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lIns="36000" tIns="36000" rIns="36000" bIns="36000">
        <a:noAutofit/>
      </a:bodyPr>
      <a:lstStyle>
        <a:defPPr algn="l">
          <a:defRPr i="0" dirty="0" smtClean="0">
            <a:latin typeface="+mn-ea"/>
            <a:ea typeface="+mn-ea"/>
            <a:cs typeface="Arial" charset="0"/>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4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cap="flat" cmpd="sng" algn="ctr">
          <a:solidFill>
            <a:srgbClr val="FF0000"/>
          </a:solidFill>
          <a:prstDash val="solid"/>
        </a:ln>
        <a:effectLst/>
      </a:spPr>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defPPr algn="ctr" eaLnBrk="0" hangingPunct="0">
          <a:lnSpc>
            <a:spcPct val="100000"/>
          </a:lnSpc>
          <a:defRPr kumimoji="0" sz="800" i="0" ker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4.xml><?xml version="1.0" encoding="utf-8"?>
<a:theme xmlns:a="http://schemas.openxmlformats.org/drawingml/2006/main" name="1_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bg1">
              <a:lumMod val="65000"/>
            </a:schemeClr>
          </a:solidFill>
          <a:prstDash val="dash"/>
        </a:ln>
      </a:spPr>
      <a:bodyPr wrap="none" lIns="36000" tIns="108000" rIns="36000" bIns="36000" rtlCol="0" anchor="t">
        <a:noAutofit/>
      </a:bodyPr>
      <a:lstStyle>
        <a:defPPr algn="ctr">
          <a:lnSpc>
            <a:spcPct val="100000"/>
          </a:lnSpc>
          <a:defRPr kumimoji="1" sz="1050" i="0" kern="0" dirty="0">
            <a:solidFill>
              <a:prstClr val="black"/>
            </a:solidFill>
            <a:latin typeface="Meiryo UI"/>
            <a:ea typeface="Meiryo UI"/>
            <a:cs typeface="Arial" charset="0"/>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2_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spPr>
      <a:bodyPr wrap="square" lIns="36000" tIns="36000" rIns="36000" bIns="36000" rtlCol="0" anchor="ctr">
        <a:noAutofit/>
      </a:bodyPr>
      <a:lstStyle>
        <a:defPPr algn="l">
          <a:defRPr kumimoji="1" i="0" dirty="0" smtClean="0">
            <a:latin typeface="+mn-ea"/>
            <a:ea typeface="+mn-ea"/>
            <a:cs typeface="Arial" charset="0"/>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0c72344-a901-41cd-a6da-bfcf15d570e1">
      <Terms xmlns="http://schemas.microsoft.com/office/infopath/2007/PartnerControls"/>
    </lcf76f155ced4ddcb4097134ff3c332f>
    <TaxCatchAll xmlns="22093b91-50a3-4498-82d5-91368db29ba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05F1B5A1E0F1943BC6DE70F45133712" ma:contentTypeVersion="12" ma:contentTypeDescription="Create a new document." ma:contentTypeScope="" ma:versionID="20a18e3ff9fb0cc056a84525e9061d4f">
  <xsd:schema xmlns:xsd="http://www.w3.org/2001/XMLSchema" xmlns:xs="http://www.w3.org/2001/XMLSchema" xmlns:p="http://schemas.microsoft.com/office/2006/metadata/properties" xmlns:ns2="70c72344-a901-41cd-a6da-bfcf15d570e1" xmlns:ns3="22093b91-50a3-4498-82d5-91368db29ba4" targetNamespace="http://schemas.microsoft.com/office/2006/metadata/properties" ma:root="true" ma:fieldsID="31e3050130c87086719ba5c54b2edc86" ns2:_="" ns3:_="">
    <xsd:import namespace="70c72344-a901-41cd-a6da-bfcf15d570e1"/>
    <xsd:import namespace="22093b91-50a3-4498-82d5-91368db29ba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GenerationTime" minOccurs="0"/>
                <xsd:element ref="ns2:MediaServiceEventHashCode" minOccurs="0"/>
                <xsd:element ref="ns2:MediaLengthInSeconds" minOccurs="0"/>
                <xsd:element ref="ns2:MediaServiceDateTaken"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c72344-a901-41cd-a6da-bfcf15d570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2093b91-50a3-4498-82d5-91368db29ba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75ea22b-104f-4a38-8a21-90e040114398}" ma:internalName="TaxCatchAll" ma:showField="CatchAllData" ma:web="22093b91-50a3-4498-82d5-91368db29ba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C7117E3-5D6D-4DFE-B5FA-CEEB495DBB1E}">
  <ds:schemaRefs>
    <ds:schemaRef ds:uri="http://schemas.microsoft.com/sharepoint/v3/contenttype/forms"/>
  </ds:schemaRefs>
</ds:datastoreItem>
</file>

<file path=customXml/itemProps2.xml><?xml version="1.0" encoding="utf-8"?>
<ds:datastoreItem xmlns:ds="http://schemas.openxmlformats.org/officeDocument/2006/customXml" ds:itemID="{5979119A-D14C-46E0-8020-320CEF218B6A}">
  <ds:schemaRefs>
    <ds:schemaRef ds:uri="http://purl.org/dc/terms/"/>
    <ds:schemaRef ds:uri="http://schemas.microsoft.com/office/2006/documentManagement/types"/>
    <ds:schemaRef ds:uri="http://purl.org/dc/dcmitype/"/>
    <ds:schemaRef ds:uri="22093b91-50a3-4498-82d5-91368db29ba4"/>
    <ds:schemaRef ds:uri="70c72344-a901-41cd-a6da-bfcf15d570e1"/>
    <ds:schemaRef ds:uri="http://purl.org/dc/elements/1.1/"/>
    <ds:schemaRef ds:uri="http://schemas.microsoft.com/office/infopath/2007/PartnerControls"/>
    <ds:schemaRef ds:uri="http://schemas.openxmlformats.org/package/2006/metadata/core-propertie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D409072A-7BC2-4EE0-B73C-67CCB35B9F2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0c72344-a901-41cd-a6da-bfcf15d570e1"/>
    <ds:schemaRef ds:uri="22093b91-50a3-4498-82d5-91368db29ba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パワーポイント統一様式_A4横標準v17</Template>
  <TotalTime>137</TotalTime>
  <Words>5374</Words>
  <Application>Microsoft Office PowerPoint</Application>
  <PresentationFormat>A4 210 x 297 mm</PresentationFormat>
  <Paragraphs>605</Paragraphs>
  <Slides>7</Slides>
  <Notes>0</Notes>
  <HiddenSlides>2</HiddenSlides>
  <MMClips>0</MMClips>
  <ScaleCrop>false</ScaleCrop>
  <HeadingPairs>
    <vt:vector size="8" baseType="variant">
      <vt:variant>
        <vt:lpstr>使用されているフォント</vt:lpstr>
      </vt:variant>
      <vt:variant>
        <vt:i4>9</vt:i4>
      </vt:variant>
      <vt:variant>
        <vt:lpstr>テーマ</vt:lpstr>
      </vt:variant>
      <vt:variant>
        <vt:i4>5</vt:i4>
      </vt:variant>
      <vt:variant>
        <vt:lpstr>埋め込まれた OLE サーバー</vt:lpstr>
      </vt:variant>
      <vt:variant>
        <vt:i4>1</vt:i4>
      </vt:variant>
      <vt:variant>
        <vt:lpstr>スライド タイトル</vt:lpstr>
      </vt:variant>
      <vt:variant>
        <vt:i4>7</vt:i4>
      </vt:variant>
    </vt:vector>
  </HeadingPairs>
  <TitlesOfParts>
    <vt:vector size="22" baseType="lpstr">
      <vt:lpstr>Meiryo UI</vt:lpstr>
      <vt:lpstr>Meiryo UI (Body)</vt:lpstr>
      <vt:lpstr>ＭＳ Ｐゴシック</vt:lpstr>
      <vt:lpstr>メイリオ</vt:lpstr>
      <vt:lpstr>游ゴシック</vt:lpstr>
      <vt:lpstr>Arial</vt:lpstr>
      <vt:lpstr>Calibri</vt:lpstr>
      <vt:lpstr>Times New Roman</vt:lpstr>
      <vt:lpstr>Wingdings</vt:lpstr>
      <vt:lpstr>6_テーマ２（ACN用）</vt:lpstr>
      <vt:lpstr>0</vt:lpstr>
      <vt:lpstr>4_テーマ２（ACN用）</vt:lpstr>
      <vt:lpstr>1_0</vt:lpstr>
      <vt:lpstr>2_0</vt:lpstr>
      <vt:lpstr>think-cellスライド</vt:lpstr>
      <vt:lpstr>ポータルサイト更新依頼 　各マスタページの具体的な公開イメージ – 目次</vt:lpstr>
      <vt:lpstr>ポータルサイト更新依頼 　各マスタページの具体的な公開イメージ – J-FAGYアレルゲンコードマスタ</vt:lpstr>
      <vt:lpstr>ポータルサイト更新依頼 　各マスタページの具体的な公開イメージ – J-FAGYアレルゲンコードマスタ</vt:lpstr>
      <vt:lpstr>スレッド確認事項#5_J-FAGYコードについて</vt:lpstr>
      <vt:lpstr>ポータルサイト更新依頼 　各マスタページの具体的な公開イメージ – J-FAGYアレルゲンコードマスタ</vt:lpstr>
      <vt:lpstr>ポータルサイト更新依頼 　各マスタページの具体的な公開イメージ – 【参考表】『一般名処方マスタ』と 『剤形・規格・銘柄不明コードマスタ』との対応表</vt:lpstr>
      <vt:lpstr>ポータルサイト更新依頼 　各マスタページの具体的な公開イメージ – 電子カルテ情報共有サービス対応 JLACコード表</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Nakazawa, Masato</cp:lastModifiedBy>
  <cp:revision>2</cp:revision>
  <dcterms:created xsi:type="dcterms:W3CDTF">2026-01-23T08:26:56Z</dcterms:created>
  <dcterms:modified xsi:type="dcterms:W3CDTF">2026-10-06T12:07:23Z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0x010100A05F1B5A1E0F1943BC6DE70F45133712</vt:lpwstr>
  </property>
  <property fmtid="{D5CDD505-2E9C-101B-9397-08002B2CF9AE}" pid="3" name="MediaServiceImageTags">
    <vt:lpwstr/>
  </property>
  <property fmtid="{D5CDD505-2E9C-101B-9397-08002B2CF9AE}" pid="4" name="Order">
    <vt:r8>6828900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