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omments/modernComment_12C_2776E0F4.xml" ContentType="application/vnd.ms-powerpoint.comments+xml"/>
  <Override PartName="/ppt/comments/modernComment_12F_46651541.xml" ContentType="application/vnd.ms-powerpoint.comments+xml"/>
  <Override PartName="/ppt/comments/modernComment_130_ED1945F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4"/>
    <p:sldMasterId id="2147483737" r:id="rId5"/>
    <p:sldMasterId id="2147483747" r:id="rId6"/>
    <p:sldMasterId id="2147483761" r:id="rId7"/>
    <p:sldMasterId id="2147483773" r:id="rId8"/>
  </p:sldMasterIdLst>
  <p:notesMasterIdLst>
    <p:notesMasterId r:id="rId16"/>
  </p:notesMasterIdLst>
  <p:handoutMasterIdLst>
    <p:handoutMasterId r:id="rId17"/>
  </p:handoutMasterIdLst>
  <p:sldIdLst>
    <p:sldId id="302" r:id="rId9"/>
    <p:sldId id="306" r:id="rId10"/>
    <p:sldId id="300" r:id="rId11"/>
    <p:sldId id="273" r:id="rId12"/>
    <p:sldId id="303" r:id="rId13"/>
    <p:sldId id="301" r:id="rId14"/>
    <p:sldId id="304" r:id="rId1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目次" id="{CFEF274E-72F5-4E11-B587-514BE1A233BB}">
          <p14:sldIdLst>
            <p14:sldId id="302"/>
          </p14:sldIdLst>
        </p14:section>
        <p14:section name="202610送付(JFAGY)" id="{C75EFA3D-A6E9-441E-8261-615440F15AE4}">
          <p14:sldIdLst>
            <p14:sldId id="306"/>
            <p14:sldId id="300"/>
            <p14:sldId id="273"/>
            <p14:sldId id="303"/>
          </p14:sldIdLst>
        </p14:section>
        <p14:section name="20260911送付(一般名処方とのマッピング)" id="{856F88F6-A777-4F38-8528-7B4DCE67EA0A}">
          <p14:sldIdLst>
            <p14:sldId id="301"/>
          </p14:sldIdLst>
        </p14:section>
        <p14:section name="20260911送付(JLACマスタ)" id="{D7D7233E-BE2B-4532-881B-9555A82B6493}">
          <p14:sldIdLst>
            <p14:sldId id="304"/>
          </p14:sldIdLst>
        </p14:section>
      </p14:sectionLst>
    </p:ext>
    <p:ext uri="{EFAFB233-063F-42B5-8137-9DF3F51BA10A}">
      <p15:sldGuideLst xmlns:p15="http://schemas.microsoft.com/office/powerpoint/2012/main">
        <p15:guide id="1" orient="horz" pos="1228" userDrawn="1">
          <p15:clr>
            <a:srgbClr val="A4A3A4"/>
          </p15:clr>
        </p15:guide>
        <p15:guide id="2" pos="192" userDrawn="1">
          <p15:clr>
            <a:srgbClr val="A4A3A4"/>
          </p15:clr>
        </p15:guide>
        <p15:guide id="3" pos="3216" userDrawn="1">
          <p15:clr>
            <a:srgbClr val="A4A3A4"/>
          </p15:clr>
        </p15:guide>
        <p15:guide id="4" pos="6068" userDrawn="1">
          <p15:clr>
            <a:srgbClr val="A4A3A4"/>
          </p15:clr>
        </p15:guide>
        <p15:guide id="5" pos="3024" userDrawn="1">
          <p15:clr>
            <a:srgbClr val="A4A3A4"/>
          </p15:clr>
        </p15:guide>
        <p15:guide id="6" pos="4560" userDrawn="1">
          <p15:clr>
            <a:srgbClr val="A4A3A4"/>
          </p15:clr>
        </p15:guide>
        <p15:guide id="7" pos="4735" userDrawn="1">
          <p15:clr>
            <a:srgbClr val="A4A3A4"/>
          </p15:clr>
        </p15:guide>
        <p15:guide id="8" pos="1513" userDrawn="1">
          <p15:clr>
            <a:srgbClr val="A4A3A4"/>
          </p15:clr>
        </p15:guide>
        <p15:guide id="9" pos="1696" userDrawn="1">
          <p15:clr>
            <a:srgbClr val="A4A3A4"/>
          </p15:clr>
        </p15:guide>
        <p15:guide id="10" orient="horz" pos="4127" userDrawn="1">
          <p15:clr>
            <a:srgbClr val="A4A3A4"/>
          </p15:clr>
        </p15:guide>
        <p15:guide id="11" pos="2016" userDrawn="1">
          <p15:clr>
            <a:srgbClr val="A4A3A4"/>
          </p15:clr>
        </p15:guide>
        <p15:guide id="12" pos="2208" userDrawn="1">
          <p15:clr>
            <a:srgbClr val="A4A3A4"/>
          </p15:clr>
        </p15:guide>
        <p15:guide id="13" pos="4051" userDrawn="1">
          <p15:clr>
            <a:srgbClr val="A4A3A4"/>
          </p15:clr>
        </p15:guide>
        <p15:guide id="14" pos="42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6ECA532E-61E6-26D5-2715-F415BEA539F7}" name="Honda, Keiko" initials="KH" userId="S::keiko.honda@accenture.com::375496db-4b17-4194-84b5-e6f9bb884af8"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10EB5CEE-279F-C1A6-6148-0C38680EEDD2}" name="Yamakawa, Rion" initials="RY" userId="S::rion.yamakawa@accenture.com::5623036d-59d7-4fb8-b6b7-e50aa9ebf0c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3516FF"/>
    <a:srgbClr val="C2E0F4"/>
    <a:srgbClr val="4F81BD"/>
    <a:srgbClr val="EBE9F3"/>
    <a:srgbClr val="DF637E"/>
    <a:srgbClr val="7EC4C1"/>
    <a:srgbClr val="E4E2ED"/>
    <a:srgbClr val="E57F95"/>
    <a:srgbClr val="FDF3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3404" y="-5036"/>
      </p:cViewPr>
      <p:guideLst>
        <p:guide orient="horz" pos="1228"/>
        <p:guide pos="192"/>
        <p:guide pos="3216"/>
        <p:guide pos="6068"/>
        <p:guide pos="3024"/>
        <p:guide pos="4560"/>
        <p:guide pos="4735"/>
        <p:guide pos="1513"/>
        <p:guide pos="1696"/>
        <p:guide orient="horz" pos="4127"/>
        <p:guide pos="2016"/>
        <p:guide pos="2208"/>
        <p:guide pos="4051"/>
        <p:guide pos="42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8/10/relationships/authors" Target="authors.xml"/></Relationships>
</file>

<file path=ppt/comments/modernComment_12C_2776E0F4.xml><?xml version="1.0" encoding="utf-8"?>
<p188:cmLst xmlns:a="http://schemas.openxmlformats.org/drawingml/2006/main" xmlns:r="http://schemas.openxmlformats.org/officeDocument/2006/relationships" xmlns:p188="http://schemas.microsoft.com/office/powerpoint/2018/8/main">
  <p188:cm id="{BBE5AA59-EC84-4844-B6DD-942FCC026925}" authorId="{CF79BF5C-DD7D-70F1-BE74-C4007AFBFD61}" created="2026-10-02T09:15:12.699">
    <ac:txMkLst xmlns:ac="http://schemas.microsoft.com/office/drawing/2013/main/command">
      <pc:docMk xmlns:pc="http://schemas.microsoft.com/office/powerpoint/2013/main/command"/>
      <pc:sldMk xmlns:pc="http://schemas.microsoft.com/office/powerpoint/2013/main/command" cId="662102260" sldId="300"/>
      <ac:graphicFrameMk id="32" creationId="{F3BBB89E-33F2-FCCC-F87A-7050881086E4}"/>
      <ac:tblMk/>
      <ac:tcMk rowId="967970454" colId="420957508"/>
      <ac:txMk cp="0" len="10">
        <ac:context len="11" hash="4228211846"/>
      </ac:txMk>
    </ac:txMkLst>
    <p188:pos x="3426073" y="459041"/>
    <p188:txBody>
      <a:bodyPr/>
      <a:lstStyle/>
      <a:p>
        <a:r>
          <a:rPr lang="ja-JP" altLang="en-US"/>
          <a:t>Rvいただきたい点
・各環境への反映日については、他マスタの更新周知同様に基金にて記載いただく想定で「XX」としておりますが、こちらの対応で問題ないかご確認いただけないでしょうか。</a:t>
        </a:r>
      </a:p>
    </p188:txBody>
  </p188:cm>
  <p188:cm id="{8E42D984-7930-4BBD-B05A-8C7F7D92AC8D}" authorId="{CF79BF5C-DD7D-70F1-BE74-C4007AFBFD61}" created="2026-10-02T09:15:25.649">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8" len="11">
        <ac:context len="265" hash="3376963194"/>
      </ac:txMk>
    </ac:txMkLst>
    <p188:pos x="652903" y="361275"/>
    <p188:txBody>
      <a:bodyPr/>
      <a:lstStyle/>
      <a:p>
        <a:r>
          <a:rPr lang="ja-JP" altLang="en-US"/>
          <a:t>Rvいただきたい点（同上）
・各環境への反映日については、他マスタの更新周知同様に基金にて記載いただく想定で「XX」としておりますが、こちらの対応で問題ないかご確認いただけないでしょうか。</a:t>
        </a:r>
      </a:p>
    </p188:txBody>
  </p188:cm>
  <p188:cm id="{FE1A79DB-C222-4032-9675-356140AD46F7}" authorId="{CF79BF5C-DD7D-70F1-BE74-C4007AFBFD61}" created="2026-10-02T09:17:27.174">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59" len="9">
        <ac:context len="265" hash="3376963194"/>
      </ac:txMk>
    </ac:txMkLst>
    <p188:pos x="3430079" y="284617"/>
    <p188:txBody>
      <a:bodyPr/>
      <a:lstStyle/>
      <a:p>
        <a:r>
          <a:rPr lang="ja-JP" altLang="en-US"/>
          <a:t>Rvいただきたい点
・今回は版上げであることから、トーンを「見直さないと登録できなくなります」から「変更になりました」に落としています。トーンについて問題ないかご確認いただけないでしょうか。</a:t>
        </a:r>
      </a:p>
    </p188:txBody>
  </p188:cm>
  <p188:cm id="{D6040BB4-7A76-4EF5-935D-5401A85648FB}" authorId="{CF79BF5C-DD7D-70F1-BE74-C4007AFBFD61}" created="2026-10-02T09:18:24.748">
    <ac:deMkLst xmlns:ac="http://schemas.microsoft.com/office/drawing/2013/main/command">
      <pc:docMk xmlns:pc="http://schemas.microsoft.com/office/powerpoint/2013/main/command"/>
      <pc:sldMk xmlns:pc="http://schemas.microsoft.com/office/powerpoint/2013/main/command" cId="662102260" sldId="300"/>
      <ac:spMk id="17" creationId="{47EF6A54-1A87-F04E-5522-65F3A29F10D9}"/>
    </ac:deMkLst>
    <p188:txBody>
      <a:bodyPr/>
      <a:lstStyle/>
      <a:p>
        <a:r>
          <a:rPr lang="ja-JP" altLang="en-US"/>
          <a:t>記載対象については、次スライドに参考として9/25WBS資料を差し込んでいますので、ご参照ください。</a:t>
        </a:r>
      </a:p>
    </p188:txBody>
  </p188:cm>
</p188:cmLst>
</file>

<file path=ppt/comments/modernComment_12F_46651541.xml><?xml version="1.0" encoding="utf-8"?>
<p188:cmLst xmlns:a="http://schemas.openxmlformats.org/drawingml/2006/main" xmlns:r="http://schemas.openxmlformats.org/officeDocument/2006/relationships" xmlns:p188="http://schemas.microsoft.com/office/powerpoint/2018/8/main">
  <p188:cm id="{5E1D2C92-CB61-4E42-873B-A13024E53F92}" authorId="{CF79BF5C-DD7D-70F1-BE74-C4007AFBFD61}" created="2026-09-09T04:46:02.844">
    <ac:txMkLst xmlns:ac="http://schemas.microsoft.com/office/drawing/2013/main/command">
      <pc:docMk xmlns:pc="http://schemas.microsoft.com/office/powerpoint/2013/main/command"/>
      <pc:sldMk xmlns:pc="http://schemas.microsoft.com/office/powerpoint/2013/main/command" cId="1181029697" sldId="303"/>
      <ac:spMk id="17" creationId="{FA06BA32-19E2-5F8F-225C-FC0F7A0D9B99}"/>
      <ac:txMk cp="69" len="63">
        <ac:context len="202" hash="2439750846"/>
      </ac:txMk>
    </ac:txMkLst>
    <p188:pos x="3830129" y="248105"/>
    <p188:txBody>
      <a:bodyPr/>
      <a:lstStyle/>
      <a:p>
        <a:r>
          <a:rPr lang="ja-JP" altLang="en-US"/>
          <a:t>日本語の修正のみ</a:t>
        </a:r>
      </a:p>
    </p188:txBody>
  </p188:cm>
</p188:cmLst>
</file>

<file path=ppt/comments/modernComment_130_ED1945FD.xml><?xml version="1.0" encoding="utf-8"?>
<p188:cmLst xmlns:a="http://schemas.openxmlformats.org/drawingml/2006/main" xmlns:r="http://schemas.openxmlformats.org/officeDocument/2006/relationships" xmlns:p188="http://schemas.microsoft.com/office/powerpoint/2018/8/main">
  <p188:cm id="{27FC26AA-5187-4652-B9CB-4C6B6F4DC9C7}" authorId="{00000000-0000-0000-0000-000000000000}" created="2026-09-09T03:09:47.254">
    <ac:tx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txMk cp="68">
        <ac:context len="221" hash="4291247471"/>
      </ac:txMk>
    </ac:txMkLst>
    <p188:replyLst>
      <p188:reply id="{8F5B68FF-CC19-4052-99EF-C2D8F2162B7A}" authorId="{8272DF57-0B53-32E1-54F0-8A71B081A01F}" created="2026-09-09T04:23:30.815">
        <p188:txBody>
          <a:bodyPr/>
          <a:lstStyle/>
          <a:p>
            <a:r>
              <a:rPr lang="ja-JP" altLang="en-US"/>
              <a:t>この日付は公開日ではなく環境反映日＝リリース日で決まっているため、リリース日を入れていただけますと幸いです</a:t>
            </a:r>
          </a:p>
        </p188:txBody>
        <p188:extLst>
          <p:ext xmlns:p="http://schemas.openxmlformats.org/presentationml/2006/main" uri="{57CB4572-C831-44C2-8A1C-0ADB6CCDFE69}">
            <p223:reactions xmlns:p223="http://schemas.microsoft.com/office/powerpoint/2022/03/main">
              <p223:rxn type="👍">
                <p223:instance time="2026-09-09T04:49:00.490" authorId="{CF79BF5C-DD7D-70F1-BE74-C4007AFBFD61}"/>
              </p223:rxn>
            </p223:reactions>
          </p:ext>
        </p188:extLst>
      </p188:reply>
      <p188:reply id="{76FCD13B-F75B-4B91-93C5-C3BCABF6B887}" authorId="{8272DF57-0B53-32E1-54F0-8A71B081A01F}" created="2026-09-09T04:24:50.435">
        <p188:txBody>
          <a:bodyPr/>
          <a:lstStyle/>
          <a:p>
            <a:r>
              <a:rPr lang="ja-JP" altLang="en-US"/>
              <a:t>※公開日：ポータルサイト上にマスタのファイルを公開する日。基金の作業により数日前後する。
※反映日：環境への取り込み日。9月はマスケで決まっている。（普段のルーチンの時は前後あり）</a:t>
            </a:r>
          </a:p>
        </p188:txBody>
        <p188:extLst>
          <p:ext xmlns:p="http://schemas.openxmlformats.org/presentationml/2006/main" uri="{57CB4572-C831-44C2-8A1C-0ADB6CCDFE69}">
            <p223:reactions xmlns:p223="http://schemas.microsoft.com/office/powerpoint/2022/03/main">
              <p223:rxn type="👍">
                <p223:instance time="2026-09-09T04:49:01.685" authorId="{CF79BF5C-DD7D-70F1-BE74-C4007AFBFD61}"/>
              </p223:rxn>
            </p223:reactions>
          </p:ext>
        </p188:extLst>
      </p188:reply>
    </p188:replyLst>
    <p188:txBody>
      <a:bodyPr/>
      <a:lstStyle/>
      <a:p>
        <a:r>
          <a:rPr lang="ja-JP" altLang="en-US"/>
          <a:t>【確認事項】
こちらは基金側の中央基盤の取り込み次第の日付になるため空欄でよい（基金側で埋める）認識ですが相違ないですか</a:t>
        </a:r>
      </a:p>
    </p188:txBody>
  </p188:cm>
  <p188:cm id="{4023A3B8-C98F-4DDA-A1C0-43D2D653AF40}" authorId="{CF79BF5C-DD7D-70F1-BE74-C4007AFBFD61}" status="resolved" created="2026-09-09T04:34:24.408">
    <ac:txMkLst xmlns:ac="http://schemas.microsoft.com/office/drawing/2013/main/command">
      <pc:docMk xmlns:pc="http://schemas.microsoft.com/office/powerpoint/2013/main/command"/>
      <pc:sldMk xmlns:pc="http://schemas.microsoft.com/office/powerpoint/2013/main/command" cId="3977856509" sldId="304"/>
      <ac:spMk id="123" creationId="{F93B5BFF-A91A-8A97-2BA3-A5A47B6E46CF}"/>
      <ac:txMk cp="85" len="68">
        <ac:context len="550" hash="283476527"/>
      </ac:txMk>
    </ac:txMkLst>
    <p188:pos x="2827887" y="266539"/>
    <p188:replyLst>
      <p188:reply id="{238FFFCB-3CD7-40AD-B74D-A0E125C06097}" authorId="{8272DF57-0B53-32E1-54F0-8A71B081A01F}" created="2026-09-09T04:38:14.492">
        <p188:txBody>
          <a:bodyPr/>
          <a:lstStyle/>
          <a:p>
            <a:r>
              <a:rPr lang="ja-JP" altLang="en-US"/>
              <a:t>「おかれましてが」になっているようなのでご確認ください！</a:t>
            </a:r>
          </a:p>
        </p188:txBody>
        <p188:extLst>
          <p:ext xmlns:p="http://schemas.openxmlformats.org/presentationml/2006/main" uri="{57CB4572-C831-44C2-8A1C-0ADB6CCDFE69}">
            <p223:reactions xmlns:p223="http://schemas.microsoft.com/office/powerpoint/2022/03/main">
              <p223:rxn type="👍">
                <p223:instance time="2026-09-09T04:48:57.954" authorId="{CF79BF5C-DD7D-70F1-BE74-C4007AFBFD61}"/>
              </p223:rxn>
            </p223:reactions>
          </p:ext>
        </p188:extLst>
      </p188:reply>
    </p188:replyLst>
    <p188:txBody>
      <a:bodyPr/>
      <a:lstStyle/>
      <a:p>
        <a:r>
          <a:rPr lang="ja-JP" altLang="en-US"/>
          <a:t>日本語の修正のみ</a:t>
        </a:r>
      </a:p>
    </p188:txBody>
  </p188:cm>
  <p188:cm id="{ABE3CCEC-8F57-4E60-BDC6-DAC6B4122F8F}" authorId="{CF79BF5C-DD7D-70F1-BE74-C4007AFBFD61}" status="resolved" created="2026-09-09T05:15:13.791">
    <pc:sldMkLst xmlns:pc="http://schemas.microsoft.com/office/powerpoint/2013/main/command">
      <pc:docMk/>
      <pc:sldMk cId="524680870" sldId="299"/>
    </pc:sldMkLst>
    <p188:txBody>
      <a:bodyPr/>
      <a:lstStyle/>
      <a:p>
        <a:r>
          <a:rPr lang="ja-JP" altLang="en-US"/>
          <a:t>【内部相談事項】
新旧対応表のバージョン情報について、記載が必要か。（これまで記載なし）</a:t>
        </a:r>
      </a:p>
    </p188:txBody>
  </p188:cm>
  <p188:cm id="{41A15827-773D-4E05-8FC2-D45F705C7191}" authorId="{10EB5CEE-279F-C1A6-6148-0C38680EEDD2}" created="2026-09-09T09:26:54.783">
    <ac:de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deMkLst>
    <p188:txBody>
      <a:bodyPr/>
      <a:lstStyle/>
      <a:p>
        <a:r>
          <a:rPr lang="ja-JP" altLang="en-US"/>
          <a:t>本田さんと会話の上、「9/28以降202603版は利用できません」という書きぶりは誤解を招きかねないため、「9/28以降は202606版をご利用ください」という書きぶりに戻しました。</a:t>
        </a:r>
      </a:p>
    </p188:txBody>
    <p188:extLst>
      <p:ext xmlns:p="http://schemas.openxmlformats.org/presentationml/2006/main" uri="{57CB4572-C831-44C2-8A1C-0ADB6CCDFE69}">
        <p223:reactions xmlns:p223="http://schemas.microsoft.com/office/powerpoint/2022/03/main">
          <p223:rxn type="👍">
            <p223:instance time="2026-09-10T02:18:00.416" authorId="{6ECA532E-61E6-26D5-2715-F415BEA539F7}"/>
          </p223:rxn>
        </p223:reactions>
      </p:ext>
    </p188:extLst>
  </p188:cm>
  <p188:cm id="{63CC2848-7C77-4025-A565-ADB27806EF3C}" authorId="{10EB5CEE-279F-C1A6-6148-0C38680EEDD2}" created="2026-09-09T09:29:57.760">
    <ac:txMkLst xmlns:ac="http://schemas.microsoft.com/office/drawing/2013/main/command">
      <pc:docMk xmlns:pc="http://schemas.microsoft.com/office/powerpoint/2013/main/command"/>
      <pc:sldMk xmlns:pc="http://schemas.microsoft.com/office/powerpoint/2013/main/command" cId="3977856509" sldId="304"/>
      <ac:spMk id="108" creationId="{217C8C9F-F113-D54D-2B90-B3AB72DBC6AB}"/>
      <ac:txMk cp="102" len="194">
        <ac:context len="332" hash="2408389025"/>
      </ac:txMk>
    </ac:txMkLst>
    <p188:pos x="2852594" y="261000"/>
    <p188:txBody>
      <a:bodyPr/>
      <a:lstStyle/>
      <a:p>
        <a:r>
          <a:rPr lang="ja-JP" altLang="en-US"/>
          <a:t>JLACセンターからの修正依頼分（適用終了日の扱いについて誤解を招かないよう記載する）です</a:t>
        </a:r>
      </a:p>
    </p188:txBody>
    <p188:extLst>
      <p:ext xmlns:p="http://schemas.openxmlformats.org/presentationml/2006/main" uri="{57CB4572-C831-44C2-8A1C-0ADB6CCDFE69}">
        <p223:reactions xmlns:p223="http://schemas.microsoft.com/office/powerpoint/2022/03/main">
          <p223:rxn type="👍">
            <p223:instance time="2026-09-10T02:20:58.967" authorId="{6ECA532E-61E6-26D5-2715-F415BEA539F7}"/>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8462B45-3B19-644E-AD02-C8057219CE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83D6E86-57B2-8C4B-A4A6-B815EB7BC0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100692-EAF4-2D4D-8CB7-4A95778DD0E4}" type="datetimeFigureOut">
              <a:rPr kumimoji="1" lang="ja-JP" altLang="en-US" smtClean="0"/>
              <a:t>2026/10/6</a:t>
            </a:fld>
            <a:endParaRPr kumimoji="1" lang="ja-JP" altLang="en-US"/>
          </a:p>
        </p:txBody>
      </p:sp>
      <p:sp>
        <p:nvSpPr>
          <p:cNvPr id="4" name="フッター プレースホルダー 3">
            <a:extLst>
              <a:ext uri="{FF2B5EF4-FFF2-40B4-BE49-F238E27FC236}">
                <a16:creationId xmlns:a16="http://schemas.microsoft.com/office/drawing/2014/main" id="{C8B21570-7BD7-0C4B-8425-70205C7AD7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C85AC23-07E1-0E46-9EE9-96123763DA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3031F9-2228-CB40-9934-33F673688A70}" type="slidenum">
              <a:rPr kumimoji="1" lang="ja-JP" altLang="en-US" smtClean="0"/>
              <a:t>‹#›</a:t>
            </a:fld>
            <a:endParaRPr kumimoji="1" lang="ja-JP" altLang="en-US"/>
          </a:p>
        </p:txBody>
      </p:sp>
    </p:spTree>
    <p:extLst>
      <p:ext uri="{BB962C8B-B14F-4D97-AF65-F5344CB8AC3E}">
        <p14:creationId xmlns:p14="http://schemas.microsoft.com/office/powerpoint/2010/main" val="2534536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A305E-D807-3946-A1A4-56C9B77AFB38}" type="datetimeFigureOut">
              <a:rPr kumimoji="1" lang="ja-JP" altLang="en-US" smtClean="0"/>
              <a:t>2026/10/6</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F3F95-1DE9-F948-9ABE-A8F6E5B8157B}" type="slidenum">
              <a:rPr kumimoji="1" lang="ja-JP" altLang="en-US" smtClean="0"/>
              <a:t>‹#›</a:t>
            </a:fld>
            <a:endParaRPr kumimoji="1" lang="ja-JP" altLang="en-US"/>
          </a:p>
        </p:txBody>
      </p:sp>
    </p:spTree>
    <p:extLst>
      <p:ext uri="{BB962C8B-B14F-4D97-AF65-F5344CB8AC3E}">
        <p14:creationId xmlns:p14="http://schemas.microsoft.com/office/powerpoint/2010/main" val="2294022621"/>
      </p:ext>
    </p:extLst>
  </p:cSld>
  <p:clrMap bg1="lt1" tx1="dk1" bg2="lt2" tx2="dk2" accent1="accent1" accent2="accent2" accent3="accent3" accent4="accent4" accent5="accent5" accent6="accent6" hlink="hlink" folHlink="folHlink"/>
  <p:notesStyle>
    <a:lvl1pPr marL="0" algn="l" defTabSz="914373" rtl="0" eaLnBrk="1" latinLnBrk="0" hangingPunct="1">
      <a:defRPr kumimoji="1" sz="1200" kern="1200">
        <a:solidFill>
          <a:schemeClr val="tx1"/>
        </a:solidFill>
        <a:latin typeface="+mn-lt"/>
        <a:ea typeface="+mn-ea"/>
        <a:cs typeface="+mn-cs"/>
      </a:defRPr>
    </a:lvl1pPr>
    <a:lvl2pPr marL="457187" algn="l" defTabSz="914373" rtl="0" eaLnBrk="1" latinLnBrk="0" hangingPunct="1">
      <a:defRPr kumimoji="1" sz="1200" kern="1200">
        <a:solidFill>
          <a:schemeClr val="tx1"/>
        </a:solidFill>
        <a:latin typeface="+mn-lt"/>
        <a:ea typeface="+mn-ea"/>
        <a:cs typeface="+mn-cs"/>
      </a:defRPr>
    </a:lvl2pPr>
    <a:lvl3pPr marL="914373" algn="l" defTabSz="914373" rtl="0" eaLnBrk="1" latinLnBrk="0" hangingPunct="1">
      <a:defRPr kumimoji="1" sz="1200" kern="1200">
        <a:solidFill>
          <a:schemeClr val="tx1"/>
        </a:solidFill>
        <a:latin typeface="+mn-lt"/>
        <a:ea typeface="+mn-ea"/>
        <a:cs typeface="+mn-cs"/>
      </a:defRPr>
    </a:lvl3pPr>
    <a:lvl4pPr marL="1371560" algn="l" defTabSz="914373" rtl="0" eaLnBrk="1" latinLnBrk="0" hangingPunct="1">
      <a:defRPr kumimoji="1" sz="1200" kern="1200">
        <a:solidFill>
          <a:schemeClr val="tx1"/>
        </a:solidFill>
        <a:latin typeface="+mn-lt"/>
        <a:ea typeface="+mn-ea"/>
        <a:cs typeface="+mn-cs"/>
      </a:defRPr>
    </a:lvl4pPr>
    <a:lvl5pPr marL="1828747" algn="l" defTabSz="914373" rtl="0" eaLnBrk="1" latinLnBrk="0" hangingPunct="1">
      <a:defRPr kumimoji="1" sz="1200" kern="1200">
        <a:solidFill>
          <a:schemeClr val="tx1"/>
        </a:solidFill>
        <a:latin typeface="+mn-lt"/>
        <a:ea typeface="+mn-ea"/>
        <a:cs typeface="+mn-cs"/>
      </a:defRPr>
    </a:lvl5pPr>
    <a:lvl6pPr marL="2285933" algn="l" defTabSz="914373" rtl="0" eaLnBrk="1" latinLnBrk="0" hangingPunct="1">
      <a:defRPr kumimoji="1" sz="1200" kern="1200">
        <a:solidFill>
          <a:schemeClr val="tx1"/>
        </a:solidFill>
        <a:latin typeface="+mn-lt"/>
        <a:ea typeface="+mn-ea"/>
        <a:cs typeface="+mn-cs"/>
      </a:defRPr>
    </a:lvl6pPr>
    <a:lvl7pPr marL="2743120" algn="l" defTabSz="914373" rtl="0" eaLnBrk="1" latinLnBrk="0" hangingPunct="1">
      <a:defRPr kumimoji="1" sz="1200" kern="1200">
        <a:solidFill>
          <a:schemeClr val="tx1"/>
        </a:solidFill>
        <a:latin typeface="+mn-lt"/>
        <a:ea typeface="+mn-ea"/>
        <a:cs typeface="+mn-cs"/>
      </a:defRPr>
    </a:lvl7pPr>
    <a:lvl8pPr marL="3200307" algn="l" defTabSz="914373" rtl="0" eaLnBrk="1" latinLnBrk="0" hangingPunct="1">
      <a:defRPr kumimoji="1" sz="1200" kern="1200">
        <a:solidFill>
          <a:schemeClr val="tx1"/>
        </a:solidFill>
        <a:latin typeface="+mn-lt"/>
        <a:ea typeface="+mn-ea"/>
        <a:cs typeface="+mn-cs"/>
      </a:defRPr>
    </a:lvl8pPr>
    <a:lvl9pPr marL="3657494" algn="l" defTabSz="914373"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81614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63822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9988275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99376935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73051409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176047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29364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815723713"/>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208732935"/>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329777725"/>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82525771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91996855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991164507"/>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705838387"/>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83515738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24043074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338394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83191338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315961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dirty="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1219216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702212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508072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41815498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887596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17299351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dirty="0"/>
              <a:t>Copyright © 202</a:t>
            </a:r>
            <a:r>
              <a:rPr lang="en-US" altLang="ja-JP" dirty="0"/>
              <a:t>2</a:t>
            </a:r>
            <a:r>
              <a:rPr lang="en-AU" dirty="0"/>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098198212"/>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2B2E2AD-30EA-4392-9E57-A05A6E6C41F4}" type="slidenum">
              <a:rPr kumimoji="1" lang="ja-JP" altLang="en-US" sz="900" b="0" i="0" u="none" strike="noStrike" kern="1200" cap="none" spc="0" normalizeH="0" baseline="0" noProof="0" smtClean="0">
                <a:ln>
                  <a:noFill/>
                </a:ln>
                <a:solidFill>
                  <a:prstClr val="black"/>
                </a:solidFill>
                <a:effectLst/>
                <a:uLnTx/>
                <a:uFillTx/>
                <a:latin typeface="Meiryo UI"/>
                <a:ea typeface="Meiryo UI"/>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2619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85750" indent="-285750" algn="l">
              <a:spcBef>
                <a:spcPts val="0"/>
              </a:spcBef>
              <a:buFont typeface="Wingdings" panose="05000000000000000000" pitchFamily="2" charset="2"/>
              <a:buChar char="ü"/>
              <a:defRPr sz="1400">
                <a:latin typeface="+mj-ea"/>
                <a:ea typeface="+mj-ea"/>
              </a:defRPr>
            </a:lvl1pPr>
            <a:lvl2pPr marL="765037" indent="-285699">
              <a:buFont typeface="Wingdings" panose="05000000000000000000" pitchFamily="2" charset="2"/>
              <a:buChar char="Ø"/>
              <a:defRPr sz="1400">
                <a:latin typeface="+mn-ea"/>
                <a:ea typeface="+mn-ea"/>
              </a:defRPr>
            </a:lvl2pPr>
            <a:lvl3pPr marL="1241253" indent="-285750">
              <a:buFont typeface="Arial" panose="020B0604020202020204" pitchFamily="34" charset="0"/>
              <a:buChar char="•"/>
              <a:defRPr sz="1400">
                <a:latin typeface="+mn-ea"/>
                <a:ea typeface="+mn-ea"/>
              </a:defRPr>
            </a:lvl3pPr>
          </a:lstStyle>
          <a:p>
            <a:pPr lvl="0"/>
            <a:r>
              <a:rPr lang="en-US" altLang="ja-JP"/>
              <a:t>Click to edit Master text styles</a:t>
            </a:r>
          </a:p>
          <a:p>
            <a:pPr lvl="1"/>
            <a:r>
              <a:rPr lang="en-US" altLang="ja-JP"/>
              <a:t>Aa</a:t>
            </a:r>
          </a:p>
          <a:p>
            <a:pPr lvl="2"/>
            <a:r>
              <a:rPr lang="en-US" altLang="ja-JP" sz="1400">
                <a:latin typeface="+mn-ea"/>
                <a:ea typeface="+mn-ea"/>
              </a:rPr>
              <a:t>Bb</a:t>
            </a:r>
          </a:p>
          <a:p>
            <a:pPr lvl="2"/>
            <a:endParaRPr lang="en-US" altLang="ja-JP"/>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spTree>
    <p:extLst>
      <p:ext uri="{BB962C8B-B14F-4D97-AF65-F5344CB8AC3E}">
        <p14:creationId xmlns:p14="http://schemas.microsoft.com/office/powerpoint/2010/main" val="201567892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20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70222040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大）">
    <p:spTree>
      <p:nvGrpSpPr>
        <p:cNvPr id="1" name=""/>
        <p:cNvGrpSpPr/>
        <p:nvPr/>
      </p:nvGrpSpPr>
      <p:grpSpPr>
        <a:xfrm>
          <a:off x="0" y="0"/>
          <a:ext cx="0" cy="0"/>
          <a:chOff x="0" y="0"/>
          <a:chExt cx="0" cy="0"/>
        </a:xfrm>
      </p:grpSpPr>
      <p:sp>
        <p:nvSpPr>
          <p:cNvPr id="2" name="Title 1"/>
          <p:cNvSpPr>
            <a:spLocks noGrp="1"/>
          </p:cNvSpPr>
          <p:nvPr>
            <p:ph type="title"/>
          </p:nvPr>
        </p:nvSpPr>
        <p:spPr>
          <a:xfrm>
            <a:off x="248809" y="165600"/>
            <a:ext cx="9657193" cy="360000"/>
          </a:xfrm>
          <a:solidFill>
            <a:srgbClr val="00B0F0"/>
          </a:solidFill>
        </p:spPr>
        <p:txBody>
          <a:bodyPr lIns="72000" tIns="108000" rIns="72000" bIns="72000">
            <a:noAutofit/>
          </a:bodyPr>
          <a:lstStyle>
            <a:lvl1pPr marL="0">
              <a:defRPr sz="2200"/>
            </a:lvl1pPr>
          </a:lstStyle>
          <a:p>
            <a:endParaRPr lang="en-US"/>
          </a:p>
        </p:txBody>
      </p:sp>
      <p:sp>
        <p:nvSpPr>
          <p:cNvPr id="3" name="正方形/長方形 2"/>
          <p:cNvSpPr/>
          <p:nvPr userDrawn="1"/>
        </p:nvSpPr>
        <p:spPr>
          <a:xfrm>
            <a:off x="0" y="165600"/>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4" name="テキスト プレースホルダー 14"/>
          <p:cNvSpPr>
            <a:spLocks noGrp="1"/>
          </p:cNvSpPr>
          <p:nvPr>
            <p:ph type="body" sz="quarter" idx="10"/>
          </p:nvPr>
        </p:nvSpPr>
        <p:spPr>
          <a:xfrm>
            <a:off x="272135" y="692958"/>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1pPr>
            <a:lvl2pPr marL="368875" indent="-175655">
              <a:buFont typeface="Arial" panose="020B0604020202020204" pitchFamily="34" charset="0"/>
              <a:buChar char="‒"/>
              <a:defRPr sz="1600">
                <a:solidFill>
                  <a:schemeClr val="tx1"/>
                </a:solidFill>
                <a:latin typeface="メイリオ" panose="020B0604030504040204" pitchFamily="50" charset="-128"/>
                <a:ea typeface="メイリオ" panose="020B0604030504040204" pitchFamily="50" charset="-128"/>
              </a:defRPr>
            </a:lvl2pPr>
            <a:lvl3pPr marL="544531"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3pPr>
            <a:lvl4pPr marL="720186" indent="-175655">
              <a:buFont typeface="Calibri" panose="020F0502020204030204" pitchFamily="34" charset="0"/>
              <a:buChar char="‐"/>
              <a:defRPr sz="1600">
                <a:solidFill>
                  <a:schemeClr val="tx1"/>
                </a:solidFill>
                <a:latin typeface="メイリオ" panose="020B0604030504040204" pitchFamily="50" charset="-128"/>
                <a:ea typeface="メイリオ" panose="020B0604030504040204" pitchFamily="50" charset="-128"/>
              </a:defRPr>
            </a:lvl4pPr>
            <a:lvl5pPr marL="895842"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41134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108725129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41295743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3131732"/>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46515212"/>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47494234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749058045"/>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04640089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201370265"/>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593496442"/>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8009679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25860574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63841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689411270"/>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567376059"/>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5509890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1925305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4555327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6199230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52584662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482922804"/>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3.xml"/><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10" Type="http://schemas.openxmlformats.org/officeDocument/2006/relationships/theme" Target="../theme/theme5.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9"/>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2" imgW="360" imgH="360" progId="TCLayout.ActiveDocument.1">
                  <p:embed/>
                </p:oleObj>
              </mc:Choice>
              <mc:Fallback>
                <p:oleObj name="think-cellスライド" r:id="rId12"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3"/>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dirty="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0"/>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dirty="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1"/>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758218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14180561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11209627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212223839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000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39806392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microsoft.com/office/2018/10/relationships/comments" Target="../comments/modernComment_12C_2776E0F4.xml"/><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png"/><Relationship Id="rId2" Type="http://schemas.microsoft.com/office/2018/10/relationships/comments" Target="../comments/modernComment_12F_46651541.xml"/><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0.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microsoft.com/office/2018/10/relationships/comments" Target="../comments/modernComment_130_ED1945FD.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868-485A-BBCC-5C1F-9F4ED6FF6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71FCF-3184-6BD8-6085-E0C1EA6C242A}"/>
              </a:ext>
            </a:extLst>
          </p:cNvPr>
          <p:cNvSpPr>
            <a:spLocks noGrp="1"/>
          </p:cNvSpPr>
          <p:nvPr>
            <p:ph type="title"/>
          </p:nvPr>
        </p:nvSpPr>
        <p:spPr/>
        <p:txBody>
          <a:bodyPr/>
          <a:lstStyle/>
          <a:p>
            <a:r>
              <a:rPr lang="ja-JP" altLang="en-US"/>
              <a:t>ポータルサイト更新依頼</a:t>
            </a:r>
            <a:br>
              <a:rPr lang="en-US" altLang="ja-JP" dirty="0"/>
            </a:br>
            <a:r>
              <a:rPr kumimoji="1" lang="ja-JP" altLang="en-US"/>
              <a:t>　各マスタページの具体的な公開イメージ</a:t>
            </a:r>
            <a:r>
              <a:rPr kumimoji="1" lang="en-US" altLang="ja-JP" dirty="0"/>
              <a:t> – </a:t>
            </a:r>
            <a:r>
              <a:rPr kumimoji="1" lang="ja-JP" altLang="en-US"/>
              <a:t>目次</a:t>
            </a:r>
            <a:endParaRPr lang="en-US" dirty="0"/>
          </a:p>
        </p:txBody>
      </p:sp>
      <p:graphicFrame>
        <p:nvGraphicFramePr>
          <p:cNvPr id="6" name="表 5">
            <a:extLst>
              <a:ext uri="{FF2B5EF4-FFF2-40B4-BE49-F238E27FC236}">
                <a16:creationId xmlns:a16="http://schemas.microsoft.com/office/drawing/2014/main" id="{455B1CDA-87AD-56E0-000F-D84954B22D28}"/>
              </a:ext>
            </a:extLst>
          </p:cNvPr>
          <p:cNvGraphicFramePr>
            <a:graphicFrameLocks noGrp="1"/>
          </p:cNvGraphicFramePr>
          <p:nvPr/>
        </p:nvGraphicFramePr>
        <p:xfrm>
          <a:off x="513052" y="1124744"/>
          <a:ext cx="7819336" cy="3267720"/>
        </p:xfrm>
        <a:graphic>
          <a:graphicData uri="http://schemas.openxmlformats.org/drawingml/2006/table">
            <a:tbl>
              <a:tblPr/>
              <a:tblGrid>
                <a:gridCol w="1156697">
                  <a:extLst>
                    <a:ext uri="{9D8B030D-6E8A-4147-A177-3AD203B41FA5}">
                      <a16:colId xmlns:a16="http://schemas.microsoft.com/office/drawing/2014/main" val="1750773779"/>
                    </a:ext>
                  </a:extLst>
                </a:gridCol>
                <a:gridCol w="630515">
                  <a:extLst>
                    <a:ext uri="{9D8B030D-6E8A-4147-A177-3AD203B41FA5}">
                      <a16:colId xmlns:a16="http://schemas.microsoft.com/office/drawing/2014/main" val="2495594122"/>
                    </a:ext>
                  </a:extLst>
                </a:gridCol>
                <a:gridCol w="2342667">
                  <a:extLst>
                    <a:ext uri="{9D8B030D-6E8A-4147-A177-3AD203B41FA5}">
                      <a16:colId xmlns:a16="http://schemas.microsoft.com/office/drawing/2014/main" val="1953968192"/>
                    </a:ext>
                  </a:extLst>
                </a:gridCol>
                <a:gridCol w="3689457">
                  <a:extLst>
                    <a:ext uri="{9D8B030D-6E8A-4147-A177-3AD203B41FA5}">
                      <a16:colId xmlns:a16="http://schemas.microsoft.com/office/drawing/2014/main" val="4104317919"/>
                    </a:ext>
                  </a:extLst>
                </a:gridCol>
              </a:tblGrid>
              <a:tr h="0">
                <a:tc gridSpan="3">
                  <a:txBody>
                    <a:bodyPr/>
                    <a:lstStyle/>
                    <a:p>
                      <a:pPr algn="ctr" fontAlgn="ctr"/>
                      <a:r>
                        <a:rPr lang="ja-JP" altLang="en-US" sz="900" b="1" i="0" u="none" strike="noStrike">
                          <a:solidFill>
                            <a:srgbClr val="FFFFFF"/>
                          </a:solidFill>
                          <a:effectLst/>
                          <a:latin typeface="ＭＳ Ｐゴシック"/>
                          <a:ea typeface="ＭＳ Ｐゴシック"/>
                        </a:rPr>
                        <a:t>マスタの情報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05496"/>
                    </a:solidFill>
                  </a:tcPr>
                </a:tc>
                <a:tc hMerge="1">
                  <a:txBody>
                    <a:bodyPr/>
                    <a:lstStyle/>
                    <a:p>
                      <a:endParaRPr kumimoji="1" lang="ja-JP" altLang="en-US"/>
                    </a:p>
                  </a:txBody>
                  <a:tcPr/>
                </a:tc>
                <a:tc hMerge="1">
                  <a:txBody>
                    <a:bodyPr/>
                    <a:lstStyle/>
                    <a:p>
                      <a:endParaRPr kumimoji="1" lang="ja-JP" altLang="en-US"/>
                    </a:p>
                  </a:txBody>
                  <a:tcPr/>
                </a:tc>
                <a:tc rowSpan="2">
                  <a:txBody>
                    <a:bodyPr/>
                    <a:lstStyle/>
                    <a:p>
                      <a:pPr marL="0" algn="ctr" defTabSz="843930" rtl="0" eaLnBrk="1" fontAlgn="ctr" latinLnBrk="0" hangingPunct="1"/>
                      <a:r>
                        <a:rPr kumimoji="1" lang="ja-JP" altLang="en-US" sz="900" b="1" i="0" u="none" strike="noStrike" kern="1200">
                          <a:solidFill>
                            <a:schemeClr val="tx1"/>
                          </a:solidFill>
                          <a:effectLst/>
                          <a:latin typeface="Meiryo UI"/>
                          <a:ea typeface="Meiryo UI"/>
                          <a:cs typeface="+mn-cs"/>
                        </a:rPr>
                        <a:t>更新イメージ図</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51321819"/>
                  </a:ext>
                </a:extLst>
              </a:tr>
              <a:tr h="0">
                <a:tc gridSpan="2">
                  <a:txBody>
                    <a:bodyPr/>
                    <a:lstStyle/>
                    <a:p>
                      <a:pPr algn="ctr" fontAlgn="ctr"/>
                      <a:r>
                        <a:rPr lang="ja-JP" altLang="en-US" sz="900" b="0" i="0" u="none" strike="noStrike">
                          <a:effectLst/>
                          <a:latin typeface="Meiryo UI"/>
                          <a:ea typeface="Meiryo UI"/>
                        </a:rPr>
                        <a:t>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hMerge="1">
                  <a:txBody>
                    <a:bodyPr/>
                    <a:lstStyle/>
                    <a:p>
                      <a:endParaRPr kumimoji="1" lang="ja-JP" altLang="en-US"/>
                    </a:p>
                  </a:txBody>
                  <a:tcPr/>
                </a:tc>
                <a:tc>
                  <a:txBody>
                    <a:bodyPr/>
                    <a:lstStyle/>
                    <a:p>
                      <a:pPr algn="ctr" fontAlgn="ctr"/>
                      <a:r>
                        <a:rPr lang="ja-JP" altLang="en-US" sz="900" b="0" i="0" u="none" strike="noStrike">
                          <a:effectLst/>
                          <a:latin typeface="Meiryo UI"/>
                          <a:ea typeface="Meiryo UI"/>
                        </a:rPr>
                        <a:t>名称</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vMerge="1">
                  <a:txBody>
                    <a:bodyPr/>
                    <a:lstStyle/>
                    <a:p>
                      <a:pPr algn="ctr" fontAlgn="ctr"/>
                      <a:endParaRPr lang="ja-JP" altLang="en-US" sz="1050" b="0" i="0" u="none" strike="noStrike">
                        <a:effectLst/>
                        <a:latin typeface="Meiryo UI" panose="020B0604030504040204" pitchFamily="50" charset="-128"/>
                        <a:ea typeface="Meiryo UI" panose="020B0604030504040204" pitchFamily="50" charset="-128"/>
                      </a:endParaRPr>
                    </a:p>
                  </a:txBody>
                  <a:tcPr marL="6389" marR="6389" marT="638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0100623"/>
                  </a:ext>
                </a:extLst>
              </a:tr>
              <a:tr h="0">
                <a:tc rowSpan="2">
                  <a:txBody>
                    <a:bodyPr/>
                    <a:lstStyle/>
                    <a:p>
                      <a:pPr algn="l" fontAlgn="ctr"/>
                      <a:r>
                        <a:rPr lang="ja-JP" altLang="en-US" sz="900" b="0" i="0" u="none" strike="noStrike">
                          <a:effectLst/>
                          <a:latin typeface="Meiryo UI"/>
                          <a:ea typeface="Meiryo UI"/>
                        </a:rPr>
                        <a:t>傷病名</a:t>
                      </a:r>
                    </a:p>
                    <a:p>
                      <a:pPr algn="l" fontAlgn="ctr"/>
                      <a:r>
                        <a:rPr lang="ja-JP" altLang="en-US" sz="900" b="0" i="0" u="none" strike="noStrike">
                          <a:effectLst/>
                          <a:latin typeface="Meiryo UI"/>
                          <a:ea typeface="Meiryo UI"/>
                        </a:rPr>
                        <a:t>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傷病名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panose="020B0604030504040204" pitchFamily="50" charset="-128"/>
                          <a:ea typeface="Meiryo UI" panose="020B0604030504040204" pitchFamily="50" charset="-128"/>
                        </a:rPr>
                        <a:t>標準</a:t>
                      </a:r>
                      <a:r>
                        <a:rPr lang="zh-CN" altLang="en-US" sz="900" b="0" i="0" u="none" strike="noStrike">
                          <a:solidFill>
                            <a:schemeClr val="tx1"/>
                          </a:solidFill>
                          <a:effectLst/>
                          <a:latin typeface="Meiryo UI" panose="020B0604030504040204" pitchFamily="50" charset="-128"/>
                          <a:ea typeface="Meiryo UI" panose="020B0604030504040204" pitchFamily="50" charset="-128"/>
                        </a:rPr>
                        <a:t>病名</a:t>
                      </a:r>
                      <a:r>
                        <a:rPr lang="ja-JP" altLang="en-US" sz="900" b="0" i="0" u="none" strike="noStrike">
                          <a:solidFill>
                            <a:schemeClr val="tx1"/>
                          </a:solidFill>
                          <a:effectLst/>
                          <a:latin typeface="Meiryo UI" panose="020B0604030504040204" pitchFamily="50" charset="-128"/>
                          <a:ea typeface="Meiryo UI" panose="020B0604030504040204" pitchFamily="50" charset="-128"/>
                        </a:rPr>
                        <a:t>履歴マスタ</a:t>
                      </a:r>
                      <a:endParaRPr lang="zh-CN"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a:t>
                      </a: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56998166"/>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修飾語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zh-TW" altLang="en-US" sz="900" b="0" i="0" u="none" strike="noStrike">
                          <a:solidFill>
                            <a:schemeClr val="tx1"/>
                          </a:solidFill>
                          <a:effectLst/>
                          <a:latin typeface="Meiryo UI" panose="020B0604030504040204" pitchFamily="50" charset="-128"/>
                          <a:ea typeface="Meiryo UI" panose="020B0604030504040204" pitchFamily="50" charset="-128"/>
                        </a:rPr>
                        <a:t>修飾語</a:t>
                      </a:r>
                      <a:r>
                        <a:rPr lang="ja-JP" altLang="en-US" sz="900" b="0" i="0" u="none" strike="noStrike">
                          <a:solidFill>
                            <a:schemeClr val="tx1"/>
                          </a:solidFill>
                          <a:effectLst/>
                          <a:latin typeface="Meiryo UI" panose="020B0604030504040204" pitchFamily="50" charset="-128"/>
                          <a:ea typeface="Meiryo UI" panose="020B0604030504040204" pitchFamily="50" charset="-128"/>
                        </a:rPr>
                        <a:t>マスタ</a:t>
                      </a:r>
                      <a:endParaRPr lang="zh-TW"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64451565"/>
                  </a:ext>
                </a:extLst>
              </a:tr>
              <a:tr h="0">
                <a:tc rowSpan="4" gridSpan="2">
                  <a:txBody>
                    <a:bodyPr/>
                    <a:lstStyle/>
                    <a:p>
                      <a:pPr algn="l" fontAlgn="ctr"/>
                      <a:r>
                        <a:rPr lang="ja-JP" altLang="en-US" sz="900" b="0" i="0" u="none" strike="noStrike" dirty="0">
                          <a:solidFill>
                            <a:schemeClr val="tx1"/>
                          </a:solidFill>
                          <a:effectLst/>
                          <a:latin typeface="Meiryo UI"/>
                          <a:ea typeface="Meiryo UI"/>
                        </a:rPr>
                        <a:t>薬剤アレルギー等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a:ea typeface="Meiryo UI"/>
                        </a:rPr>
                        <a:t>薬剤アレルギー用コードマスタ</a:t>
                      </a:r>
                      <a:endParaRPr kumimoji="1" lang="en-US" altLang="ja-JP" sz="900" dirty="0">
                        <a:latin typeface="Meiryo UI"/>
                        <a:ea typeface="Meiryo UI"/>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26355900"/>
                  </a:ext>
                </a:extLst>
              </a:tr>
              <a:tr h="0">
                <a:tc gridSpan="2"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hMerge="1"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900" kern="1200">
                          <a:solidFill>
                            <a:schemeClr val="dk1"/>
                          </a:solidFill>
                          <a:effectLst/>
                          <a:latin typeface="+mn-lt"/>
                          <a:ea typeface="+mn-ea"/>
                          <a:cs typeface="+mn-cs"/>
                        </a:rPr>
                        <a:t>剤形・規格・銘柄不明</a:t>
                      </a:r>
                      <a:r>
                        <a:rPr kumimoji="1" lang="ja-JP" altLang="en-US" sz="900" kern="1200">
                          <a:solidFill>
                            <a:schemeClr val="dk1"/>
                          </a:solidFill>
                          <a:effectLst/>
                          <a:latin typeface="+mn-lt"/>
                          <a:ea typeface="+mn-ea"/>
                          <a:cs typeface="+mn-cs"/>
                        </a:rPr>
                        <a:t>コ</a:t>
                      </a:r>
                      <a:r>
                        <a:rPr kumimoji="1" lang="ja-JP" altLang="ja-JP" sz="900" kern="1200">
                          <a:solidFill>
                            <a:schemeClr val="dk1"/>
                          </a:solidFill>
                          <a:effectLst/>
                          <a:latin typeface="+mn-lt"/>
                          <a:ea typeface="+mn-ea"/>
                          <a:cs typeface="+mn-cs"/>
                        </a:rPr>
                        <a:t>ード</a:t>
                      </a:r>
                      <a:r>
                        <a:rPr kumimoji="1" lang="ja-JP" altLang="en-US" sz="900" kern="1200">
                          <a:solidFill>
                            <a:schemeClr val="dk1"/>
                          </a:solidFill>
                          <a:effectLst/>
                          <a:latin typeface="+mn-lt"/>
                          <a:ea typeface="+mn-ea"/>
                          <a:cs typeface="+mn-cs"/>
                        </a:rPr>
                        <a:t>マスタ</a:t>
                      </a:r>
                      <a:endParaRPr kumimoji="1" lang="ja-JP" altLang="en-US" sz="90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92246524"/>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参考表</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個別医薬品コード（</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YJ</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コードリスト）</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 </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剤形・規格・銘柄不明コードマスタ</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45735408"/>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lang="en-US" altLang="ja-JP" sz="900" b="0" i="0" u="none" strike="noStrike" dirty="0">
                          <a:solidFill>
                            <a:schemeClr val="tx1"/>
                          </a:solidFill>
                          <a:effectLst/>
                          <a:latin typeface="Meiryo UI"/>
                          <a:ea typeface="Meiryo UI"/>
                        </a:rPr>
                        <a:t>【</a:t>
                      </a:r>
                      <a:r>
                        <a:rPr lang="ja-JP" altLang="en-US" sz="900" b="0" i="0" u="none" strike="noStrike" dirty="0">
                          <a:solidFill>
                            <a:schemeClr val="tx1"/>
                          </a:solidFill>
                          <a:effectLst/>
                          <a:latin typeface="Meiryo UI"/>
                          <a:ea typeface="Meiryo UI"/>
                        </a:rPr>
                        <a:t>参考表</a:t>
                      </a:r>
                      <a:r>
                        <a:rPr lang="en-US" altLang="ja-JP" sz="900" b="0" i="0" u="none" strike="noStrike" dirty="0">
                          <a:solidFill>
                            <a:schemeClr val="tx1"/>
                          </a:solidFill>
                          <a:effectLst/>
                          <a:latin typeface="Meiryo UI"/>
                          <a:ea typeface="Meiryo UI"/>
                        </a:rPr>
                        <a:t>】</a:t>
                      </a:r>
                      <a:r>
                        <a:rPr kumimoji="1" lang="en-US" altLang="ja-JP" sz="900" dirty="0">
                          <a:solidFill>
                            <a:prstClr val="black"/>
                          </a:solidFill>
                          <a:latin typeface="Meiryo UI"/>
                        </a:rPr>
                        <a:t>】『</a:t>
                      </a:r>
                      <a:r>
                        <a:rPr kumimoji="1" lang="ja-JP" altLang="en-US" sz="900" dirty="0">
                          <a:solidFill>
                            <a:prstClr val="black"/>
                          </a:solidFill>
                          <a:latin typeface="Meiryo UI"/>
                        </a:rPr>
                        <a:t>一般名処方マスタ</a:t>
                      </a:r>
                      <a:r>
                        <a:rPr kumimoji="1" lang="en-US" altLang="ja-JP" sz="900" dirty="0">
                          <a:solidFill>
                            <a:prstClr val="black"/>
                          </a:solidFill>
                          <a:latin typeface="Meiryo UI"/>
                        </a:rPr>
                        <a:t>』</a:t>
                      </a:r>
                      <a:r>
                        <a:rPr kumimoji="1" lang="ja-JP" altLang="en-US" sz="900" dirty="0">
                          <a:solidFill>
                            <a:prstClr val="black"/>
                          </a:solidFill>
                          <a:latin typeface="Meiryo UI"/>
                        </a:rPr>
                        <a:t>と </a:t>
                      </a:r>
                      <a:r>
                        <a:rPr kumimoji="1" lang="en-US" altLang="ja-JP" sz="900" dirty="0">
                          <a:solidFill>
                            <a:prstClr val="black"/>
                          </a:solidFill>
                          <a:latin typeface="Meiryo UI"/>
                        </a:rPr>
                        <a:t>『</a:t>
                      </a:r>
                      <a:r>
                        <a:rPr kumimoji="1" lang="ja-JP" altLang="en-US" sz="900" dirty="0">
                          <a:solidFill>
                            <a:prstClr val="black"/>
                          </a:solidFill>
                          <a:latin typeface="Meiryo UI"/>
                        </a:rPr>
                        <a:t>剤形・規格・銘柄不明コードマスタ</a:t>
                      </a:r>
                      <a:r>
                        <a:rPr kumimoji="1" lang="en-US" altLang="ja-JP" sz="900" dirty="0">
                          <a:solidFill>
                            <a:prstClr val="black"/>
                          </a:solidFill>
                          <a:latin typeface="Meiryo UI"/>
                        </a:rPr>
                        <a:t>』</a:t>
                      </a:r>
                      <a:r>
                        <a:rPr kumimoji="1" lang="ja-JP" altLang="en-US" sz="900" dirty="0">
                          <a:solidFill>
                            <a:prstClr val="black"/>
                          </a:solidFill>
                          <a:latin typeface="Meiryo UI"/>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P4</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（新規公開）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2153703"/>
                  </a:ext>
                </a:extLst>
              </a:tr>
              <a:tr h="0">
                <a:tc gridSpan="2">
                  <a:txBody>
                    <a:bodyPr/>
                    <a:lstStyle/>
                    <a:p>
                      <a:pPr algn="l" fontAlgn="ctr"/>
                      <a:r>
                        <a:rPr lang="ja-JP" altLang="en-US" sz="900" b="0" i="0" u="none" strike="noStrike">
                          <a:solidFill>
                            <a:schemeClr val="tx1"/>
                          </a:solidFill>
                          <a:effectLst/>
                          <a:latin typeface="Meiryo UI"/>
                          <a:ea typeface="Meiryo UI"/>
                        </a:rPr>
                        <a:t>その他アレルギー等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US" altLang="ja-JP" sz="900" b="0" i="0" u="none" strike="noStrike" dirty="0">
                          <a:solidFill>
                            <a:schemeClr val="tx1"/>
                          </a:solidFill>
                          <a:effectLst/>
                          <a:latin typeface="Meiryo UI"/>
                          <a:ea typeface="Meiryo UI"/>
                        </a:rPr>
                        <a:t>J-FAGY</a:t>
                      </a:r>
                      <a:r>
                        <a:rPr lang="ja-JP" altLang="en-US" sz="900" b="0" i="0" u="none" strike="noStrike">
                          <a:solidFill>
                            <a:schemeClr val="tx1"/>
                          </a:solidFill>
                          <a:effectLst/>
                          <a:latin typeface="Meiryo UI"/>
                          <a:ea typeface="Meiryo UI"/>
                        </a:rPr>
                        <a:t>アレルゲンコードマスタ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54357383"/>
                  </a:ext>
                </a:extLst>
              </a:tr>
              <a:tr h="0">
                <a:tc gridSpan="2">
                  <a:txBody>
                    <a:bodyPr/>
                    <a:lstStyle/>
                    <a:p>
                      <a:pPr algn="l" fontAlgn="ctr"/>
                      <a:r>
                        <a:rPr lang="ja-JP" altLang="en-US" sz="900" b="0" i="0" u="none" strike="noStrike">
                          <a:solidFill>
                            <a:schemeClr val="tx1"/>
                          </a:solidFill>
                          <a:effectLst/>
                          <a:latin typeface="Meiryo UI"/>
                          <a:ea typeface="Meiryo UI"/>
                        </a:rPr>
                        <a:t>検査・感染症</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電子カルテ情報共有サービス対応</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コード表</a:t>
                      </a:r>
                    </a:p>
                    <a:p>
                      <a:pPr algn="l" fontAlgn="t"/>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共有項目</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コードマスタ</a:t>
                      </a:r>
                      <a:r>
                        <a:rPr lang="en-US" altLang="ja-JP" sz="900" b="0" i="0" u="none" strike="noStrike" dirty="0">
                          <a:solidFill>
                            <a:schemeClr val="tx1"/>
                          </a:solidFill>
                          <a:effectLst/>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P2</a:t>
                      </a:r>
                      <a:endParaRPr lang="ja-JP" altLang="en-US" sz="900" b="0" i="0" u="none" strike="noStrike">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10783151"/>
                  </a:ext>
                </a:extLst>
              </a:tr>
              <a:tr h="0">
                <a:tc rowSpan="2">
                  <a:txBody>
                    <a:bodyPr/>
                    <a:lstStyle/>
                    <a:p>
                      <a:pPr algn="l" fontAlgn="ctr"/>
                      <a:r>
                        <a:rPr lang="ja-JP" altLang="en-US" sz="900" b="0" i="0" u="none" strike="noStrike">
                          <a:effectLst/>
                          <a:latin typeface="Meiryo UI"/>
                          <a:ea typeface="Meiryo UI"/>
                        </a:rPr>
                        <a:t>処方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医薬品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個別医薬品コード</a:t>
                      </a:r>
                      <a:r>
                        <a:rPr lang="en-US" altLang="ja-JP" sz="900" b="0" i="0" u="none" strike="noStrike" dirty="0">
                          <a:solidFill>
                            <a:schemeClr val="tx1"/>
                          </a:solidFill>
                          <a:effectLst/>
                          <a:latin typeface="Meiryo UI"/>
                          <a:ea typeface="Meiryo UI"/>
                        </a:rPr>
                        <a:t>(YJ</a:t>
                      </a:r>
                      <a:r>
                        <a:rPr lang="ja-JP" altLang="en-US" sz="900" b="0" i="0" u="none" strike="noStrike">
                          <a:solidFill>
                            <a:schemeClr val="tx1"/>
                          </a:solidFill>
                          <a:effectLst/>
                          <a:latin typeface="Meiryo UI"/>
                          <a:ea typeface="Meiryo UI"/>
                        </a:rPr>
                        <a:t>コード</a:t>
                      </a:r>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リスト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P3</a:t>
                      </a:r>
                      <a:endParaRPr kumimoji="1" lang="ja-JP" altLang="en-US" sz="900" b="0" i="0" u="none" strike="noStrike" kern="1200" cap="none" spc="0" normalizeH="0" baseline="0" noProof="0">
                        <a:ln>
                          <a:noFill/>
                        </a:ln>
                        <a:solidFill>
                          <a:schemeClr val="tx1"/>
                        </a:solidFill>
                        <a:effectLst/>
                        <a:uLnTx/>
                        <a:uFillTx/>
                        <a:latin typeface="Meiryo UI"/>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9602801"/>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用法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電子処方箋管理サービスの処方箋情報等を記録するための用法マスタ</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lang="ja-JP"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80448404"/>
                  </a:ext>
                </a:extLst>
              </a:tr>
              <a:tr h="0">
                <a:tc gridSpan="2">
                  <a:txBody>
                    <a:bodyPr/>
                    <a:lstStyle/>
                    <a:p>
                      <a:pPr algn="l" fontAlgn="ctr"/>
                      <a:r>
                        <a:rPr lang="ja-JP" altLang="en-US" sz="900" b="0" i="0" u="none" strike="noStrike">
                          <a:solidFill>
                            <a:schemeClr val="tx1"/>
                          </a:solidFill>
                          <a:effectLst/>
                          <a:latin typeface="Meiryo UI"/>
                          <a:ea typeface="Meiryo UI"/>
                        </a:rPr>
                        <a:t>健診文書</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電子カルテ情報共有サービス向け健診マスタ</a:t>
                      </a:r>
                      <a:endParaRPr lang="en-US" altLang="ja-JP"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3198476"/>
                  </a:ext>
                </a:extLst>
              </a:tr>
            </a:tbl>
          </a:graphicData>
        </a:graphic>
      </p:graphicFrame>
    </p:spTree>
    <p:extLst>
      <p:ext uri="{BB962C8B-B14F-4D97-AF65-F5344CB8AC3E}">
        <p14:creationId xmlns:p14="http://schemas.microsoft.com/office/powerpoint/2010/main" val="54415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6F6D4477-F59A-BB45-8E4F-561E9E3A0AEA}"/>
              </a:ext>
            </a:extLst>
          </p:cNvPr>
          <p:cNvSpPr/>
          <p:nvPr/>
        </p:nvSpPr>
        <p:spPr>
          <a:xfrm>
            <a:off x="5218219" y="9552029"/>
            <a:ext cx="4300396" cy="1496798"/>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2"/>
          <a:srcRect l="2946" t="103836" r="-2946" b="-15325"/>
          <a:stretch>
            <a:fillRect/>
          </a:stretch>
        </p:blipFill>
        <p:spPr>
          <a:xfrm>
            <a:off x="5213986" y="2817290"/>
            <a:ext cx="4300396" cy="8231538"/>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80959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8931861"/>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3"/>
          <a:stretch>
            <a:fillRect/>
          </a:stretch>
        </p:blipFill>
        <p:spPr>
          <a:xfrm>
            <a:off x="5204088"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a:t>
            </a:r>
            <a:endParaRPr kumimoji="1" lang="en-US" altLang="ja-JP" sz="600" dirty="0">
              <a:solidFill>
                <a:prstClr val="black"/>
              </a:solidFill>
              <a:latin typeface="Meiryo UI"/>
            </a:endParaRPr>
          </a:p>
          <a:p>
            <a:pPr fontAlgn="base">
              <a:spcBef>
                <a:spcPct val="20000"/>
              </a:spcBef>
              <a:spcAft>
                <a:spcPct val="0"/>
              </a:spcAft>
              <a:defRPr/>
            </a:pPr>
            <a:r>
              <a:rPr kumimoji="1" lang="ja-JP" altLang="en-US" sz="600" dirty="0">
                <a:solidFill>
                  <a:prstClr val="black"/>
                </a:solidFill>
                <a:latin typeface="Meiryo UI"/>
              </a:rPr>
              <a:t>そのため、</a:t>
            </a:r>
            <a:r>
              <a:rPr kumimoji="1" lang="en-US" altLang="ja-JP" sz="600" dirty="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highlight>
                  <a:srgbClr val="FFFF00"/>
                </a:highlight>
                <a:latin typeface="Meiryo UI"/>
              </a:rPr>
              <a:t> 2026</a:t>
            </a:r>
            <a:r>
              <a:rPr kumimoji="1" lang="ja-JP" altLang="en-US" sz="600" dirty="0">
                <a:highlight>
                  <a:srgbClr val="FFFF00"/>
                </a:highlight>
                <a:latin typeface="Meiryo UI"/>
              </a:rPr>
              <a:t>年</a:t>
            </a:r>
            <a:r>
              <a:rPr kumimoji="1" lang="en-US" altLang="ja-JP" sz="600" dirty="0">
                <a:highlight>
                  <a:srgbClr val="FFFF00"/>
                </a:highlight>
                <a:latin typeface="Meiryo UI"/>
              </a:rPr>
              <a:t>10</a:t>
            </a:r>
            <a:r>
              <a:rPr kumimoji="1" lang="ja-JP" altLang="en-US" sz="600" dirty="0">
                <a:highlight>
                  <a:srgbClr val="FFFF00"/>
                </a:highlight>
                <a:latin typeface="Meiryo UI"/>
              </a:rPr>
              <a:t>月</a:t>
            </a:r>
            <a:r>
              <a:rPr kumimoji="1" lang="en-US" altLang="ja-JP" sz="600" dirty="0">
                <a:highlight>
                  <a:srgbClr val="FFFF00"/>
                </a:highlight>
                <a:latin typeface="Meiryo UI"/>
              </a:rPr>
              <a:t>XX</a:t>
            </a:r>
            <a:r>
              <a:rPr kumimoji="1" lang="ja-JP" altLang="en-US" sz="600" dirty="0">
                <a:highlight>
                  <a:srgbClr val="FFFF00"/>
                </a:highlight>
                <a:latin typeface="Meiryo UI"/>
              </a:rPr>
              <a:t>日以降</a:t>
            </a:r>
            <a:r>
              <a:rPr kumimoji="1" lang="ja-JP" altLang="en-US" sz="600" dirty="0">
                <a:solidFill>
                  <a:prstClr val="black"/>
                </a:solidFill>
                <a:highlight>
                  <a:srgbClr val="FFFF00"/>
                </a:highlight>
                <a:latin typeface="Meiryo UI"/>
              </a:rPr>
              <a:t>、 </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4"/>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17202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変更となります。</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2742855083"/>
              </p:ext>
            </p:extLst>
          </p:nvPr>
        </p:nvGraphicFramePr>
        <p:xfrm>
          <a:off x="5444089" y="10155333"/>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645821" y="9874786"/>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5"/>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2"/>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3"/>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4"/>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444911397"/>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6"/>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5"/>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2040" y="10155333"/>
            <a:ext cx="183244" cy="368373"/>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grpSp>
        <p:nvGrpSpPr>
          <p:cNvPr id="7" name="グループ化 6">
            <a:extLst>
              <a:ext uri="{FF2B5EF4-FFF2-40B4-BE49-F238E27FC236}">
                <a16:creationId xmlns:a16="http://schemas.microsoft.com/office/drawing/2014/main" id="{942DED2F-51EF-DCA9-2D79-FF987330E969}"/>
              </a:ext>
            </a:extLst>
          </p:cNvPr>
          <p:cNvGrpSpPr/>
          <p:nvPr/>
        </p:nvGrpSpPr>
        <p:grpSpPr>
          <a:xfrm>
            <a:off x="5704268" y="7495851"/>
            <a:ext cx="3320193" cy="258145"/>
            <a:chOff x="8168173" y="4422050"/>
            <a:chExt cx="2743961" cy="213343"/>
          </a:xfrm>
        </p:grpSpPr>
        <p:pic>
          <p:nvPicPr>
            <p:cNvPr id="10" name="図 9">
              <a:extLst>
                <a:ext uri="{FF2B5EF4-FFF2-40B4-BE49-F238E27FC236}">
                  <a16:creationId xmlns:a16="http://schemas.microsoft.com/office/drawing/2014/main" id="{0D975D59-3383-239E-CD69-A68733F8A44B}"/>
                </a:ext>
              </a:extLst>
            </p:cNvPr>
            <p:cNvPicPr>
              <a:picLocks noChangeAspect="1"/>
            </p:cNvPicPr>
            <p:nvPr/>
          </p:nvPicPr>
          <p:blipFill>
            <a:blip r:embed="rId5"/>
            <a:srcRect l="1910" t="81326" r="2535" b="8895"/>
            <a:stretch>
              <a:fillRect/>
            </a:stretch>
          </p:blipFill>
          <p:spPr>
            <a:xfrm>
              <a:off x="8168173" y="4422050"/>
              <a:ext cx="2743961" cy="213343"/>
            </a:xfrm>
            <a:prstGeom prst="rect">
              <a:avLst/>
            </a:prstGeom>
          </p:spPr>
        </p:pic>
        <p:sp>
          <p:nvSpPr>
            <p:cNvPr id="13" name="正方形/長方形 12">
              <a:extLst>
                <a:ext uri="{FF2B5EF4-FFF2-40B4-BE49-F238E27FC236}">
                  <a16:creationId xmlns:a16="http://schemas.microsoft.com/office/drawing/2014/main" id="{25F3F708-BD2F-A196-19CE-5B0BD9A84B3C}"/>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0" cap="none" spc="0" normalizeH="0" baseline="0" noProof="0" dirty="0">
                  <a:ln>
                    <a:noFill/>
                  </a:ln>
                  <a:solidFill>
                    <a:prstClr val="black"/>
                  </a:solidFill>
                  <a:effectLst/>
                  <a:highlight>
                    <a:srgbClr val="FFFF00"/>
                  </a:highlight>
                  <a:uLnTx/>
                  <a:uFillTx/>
                  <a:latin typeface="Meiryo UI"/>
                  <a:ea typeface="Meiryo UI"/>
                </a:rPr>
                <a:t>令和8年10月XX日まで適用のマスタ（20260531版）のダウンロードリンク</a:t>
              </a:r>
            </a:p>
          </p:txBody>
        </p:sp>
      </p:grpSp>
      <p:pic>
        <p:nvPicPr>
          <p:cNvPr id="18" name="図 17">
            <a:extLst>
              <a:ext uri="{FF2B5EF4-FFF2-40B4-BE49-F238E27FC236}">
                <a16:creationId xmlns:a16="http://schemas.microsoft.com/office/drawing/2014/main" id="{D72ABFC0-BB3A-E5FA-BE8A-4FB7A8F6C59A}"/>
              </a:ext>
            </a:extLst>
          </p:cNvPr>
          <p:cNvPicPr>
            <a:picLocks noChangeAspect="1"/>
          </p:cNvPicPr>
          <p:nvPr/>
        </p:nvPicPr>
        <p:blipFill>
          <a:blip r:embed="rId4"/>
          <a:srcRect b="74573"/>
          <a:stretch>
            <a:fillRect/>
          </a:stretch>
        </p:blipFill>
        <p:spPr>
          <a:xfrm>
            <a:off x="5445697" y="7821554"/>
            <a:ext cx="3837337" cy="130290"/>
          </a:xfrm>
          <a:prstGeom prst="rect">
            <a:avLst/>
          </a:prstGeom>
        </p:spPr>
      </p:pic>
      <p:graphicFrame>
        <p:nvGraphicFramePr>
          <p:cNvPr id="21" name="表 20">
            <a:extLst>
              <a:ext uri="{FF2B5EF4-FFF2-40B4-BE49-F238E27FC236}">
                <a16:creationId xmlns:a16="http://schemas.microsoft.com/office/drawing/2014/main" id="{FFC5E34F-F245-7B67-6721-96013A2F39C5}"/>
              </a:ext>
            </a:extLst>
          </p:cNvPr>
          <p:cNvGraphicFramePr>
            <a:graphicFrameLocks noGrp="1"/>
          </p:cNvGraphicFramePr>
          <p:nvPr>
            <p:extLst>
              <p:ext uri="{D42A27DB-BD31-4B8C-83A1-F6EECF244321}">
                <p14:modId xmlns:p14="http://schemas.microsoft.com/office/powerpoint/2010/main" val="1640818595"/>
              </p:ext>
            </p:extLst>
          </p:nvPr>
        </p:nvGraphicFramePr>
        <p:xfrm>
          <a:off x="5445697" y="8002644"/>
          <a:ext cx="3708400" cy="349940"/>
        </p:xfrm>
        <a:graphic>
          <a:graphicData uri="http://schemas.openxmlformats.org/drawingml/2006/table">
            <a:tbl>
              <a:tblPr/>
              <a:tblGrid>
                <a:gridCol w="558800">
                  <a:extLst>
                    <a:ext uri="{9D8B030D-6E8A-4147-A177-3AD203B41FA5}">
                      <a16:colId xmlns:a16="http://schemas.microsoft.com/office/drawing/2014/main" val="4058772077"/>
                    </a:ext>
                  </a:extLst>
                </a:gridCol>
                <a:gridCol w="635000">
                  <a:extLst>
                    <a:ext uri="{9D8B030D-6E8A-4147-A177-3AD203B41FA5}">
                      <a16:colId xmlns:a16="http://schemas.microsoft.com/office/drawing/2014/main" val="154882630"/>
                    </a:ext>
                  </a:extLst>
                </a:gridCol>
                <a:gridCol w="635000">
                  <a:extLst>
                    <a:ext uri="{9D8B030D-6E8A-4147-A177-3AD203B41FA5}">
                      <a16:colId xmlns:a16="http://schemas.microsoft.com/office/drawing/2014/main" val="227139091"/>
                    </a:ext>
                  </a:extLst>
                </a:gridCol>
                <a:gridCol w="635000">
                  <a:extLst>
                    <a:ext uri="{9D8B030D-6E8A-4147-A177-3AD203B41FA5}">
                      <a16:colId xmlns:a16="http://schemas.microsoft.com/office/drawing/2014/main" val="892848932"/>
                    </a:ext>
                  </a:extLst>
                </a:gridCol>
                <a:gridCol w="635000">
                  <a:extLst>
                    <a:ext uri="{9D8B030D-6E8A-4147-A177-3AD203B41FA5}">
                      <a16:colId xmlns:a16="http://schemas.microsoft.com/office/drawing/2014/main" val="420957508"/>
                    </a:ext>
                  </a:extLst>
                </a:gridCol>
                <a:gridCol w="609600">
                  <a:extLst>
                    <a:ext uri="{9D8B030D-6E8A-4147-A177-3AD203B41FA5}">
                      <a16:colId xmlns:a16="http://schemas.microsoft.com/office/drawing/2014/main" val="573694680"/>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en-US" altLang="ja-JP" sz="600" b="0" i="0" u="none" strike="noStrike" kern="1200" cap="none" spc="0" normalizeH="0" baseline="0" noProof="0">
                          <a:ln>
                            <a:noFill/>
                          </a:ln>
                          <a:solidFill>
                            <a:srgbClr val="000000"/>
                          </a:solidFill>
                          <a:effectLst/>
                          <a:highlight>
                            <a:srgbClr val="FFFF00"/>
                          </a:highlight>
                          <a:uLnTx/>
                          <a:uFillTx/>
                          <a:latin typeface="+mn-ea"/>
                          <a:ea typeface="+mn-ea"/>
                          <a:cs typeface="+mn-cs"/>
                        </a:rPr>
                        <a:t>2026/10/XX</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28" name="正方形/長方形 27">
            <a:extLst>
              <a:ext uri="{FF2B5EF4-FFF2-40B4-BE49-F238E27FC236}">
                <a16:creationId xmlns:a16="http://schemas.microsoft.com/office/drawing/2014/main" id="{7EF2CAB2-C1A0-7969-40F0-0D1DAE98EAE6}"/>
              </a:ext>
            </a:extLst>
          </p:cNvPr>
          <p:cNvSpPr/>
          <p:nvPr/>
        </p:nvSpPr>
        <p:spPr>
          <a:xfrm>
            <a:off x="5355468" y="8428785"/>
            <a:ext cx="3725032" cy="213512"/>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highlight>
                  <a:srgbClr val="FFFF00"/>
                </a:highlight>
                <a:latin typeface="Meiryo UI"/>
              </a:rPr>
              <a:t>J-FAGY</a:t>
            </a:r>
            <a:r>
              <a:rPr kumimoji="1" lang="ja-JP" altLang="en-US" sz="600" dirty="0">
                <a:solidFill>
                  <a:prstClr val="black"/>
                </a:solidFill>
                <a:highlight>
                  <a:srgbClr val="FFFF00"/>
                </a:highlight>
                <a:latin typeface="Meiryo UI"/>
              </a:rPr>
              <a:t>アレルゲンコードマスタは、</a:t>
            </a:r>
            <a:r>
              <a:rPr kumimoji="1" lang="en-US" altLang="ja-JP" sz="600" dirty="0">
                <a:solidFill>
                  <a:prstClr val="black"/>
                </a:solidFill>
                <a:highlight>
                  <a:srgbClr val="FFFF00"/>
                </a:highlight>
                <a:latin typeface="Meiryo UI"/>
              </a:rPr>
              <a:t>20260531</a:t>
            </a:r>
            <a:r>
              <a:rPr kumimoji="1" lang="ja-JP" altLang="en-US" sz="600" dirty="0">
                <a:solidFill>
                  <a:prstClr val="black"/>
                </a:solidFill>
                <a:highlight>
                  <a:srgbClr val="FFFF00"/>
                </a:highlight>
                <a:latin typeface="Meiryo UI"/>
              </a:rPr>
              <a:t>版への更新に際し、一部コードの</a:t>
            </a:r>
            <a:r>
              <a:rPr lang="ja-JP" altLang="en-US" sz="600" dirty="0">
                <a:solidFill>
                  <a:srgbClr val="000000"/>
                </a:solidFill>
                <a:highlight>
                  <a:srgbClr val="FFFF00"/>
                </a:highlight>
                <a:latin typeface="Meiryo UI" panose="020B0604030504040204" pitchFamily="50" charset="-128"/>
                <a:ea typeface="Meiryo UI" panose="020B0604030504040204" pitchFamily="50" charset="-128"/>
              </a:rPr>
              <a:t>日本語表記</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dirty="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dirty="0">
                <a:solidFill>
                  <a:prstClr val="black"/>
                </a:solidFill>
                <a:highlight>
                  <a:srgbClr val="FFFF00"/>
                </a:highlight>
                <a:latin typeface="Meiryo UI"/>
              </a:rPr>
              <a:t>の見直しを実施いたしました。</a:t>
            </a:r>
            <a:endParaRPr kumimoji="1" lang="en-US" altLang="ja-JP" sz="600" dirty="0">
              <a:solidFill>
                <a:prstClr val="black"/>
              </a:solidFill>
              <a:highlight>
                <a:srgbClr val="FFFF00"/>
              </a:highlight>
              <a:latin typeface="Meiryo UI"/>
            </a:endParaRPr>
          </a:p>
        </p:txBody>
      </p:sp>
      <p:sp>
        <p:nvSpPr>
          <p:cNvPr id="41" name="正方形/長方形 40">
            <a:extLst>
              <a:ext uri="{FF2B5EF4-FFF2-40B4-BE49-F238E27FC236}">
                <a16:creationId xmlns:a16="http://schemas.microsoft.com/office/drawing/2014/main" id="{67A73D9C-381D-0769-36C9-9DDAEC17E0C9}"/>
              </a:ext>
            </a:extLst>
          </p:cNvPr>
          <p:cNvSpPr/>
          <p:nvPr/>
        </p:nvSpPr>
        <p:spPr>
          <a:xfrm>
            <a:off x="5359105" y="8687100"/>
            <a:ext cx="3893627" cy="1720277"/>
          </a:xfrm>
          <a:prstGeom prst="rect">
            <a:avLst/>
          </a:prstGeom>
          <a:noFill/>
          <a:ln>
            <a:noFill/>
          </a:ln>
        </p:spPr>
        <p:txBody>
          <a:bodyPr lIns="0" rIns="0" rtlCol="0" anchor="t"/>
          <a:lstStyle/>
          <a:p>
            <a:pPr lvl="0" fontAlgn="base">
              <a:spcBef>
                <a:spcPct val="20000"/>
              </a:spcBef>
              <a:spcAft>
                <a:spcPct val="0"/>
              </a:spcAft>
              <a:defRPr/>
            </a:pPr>
            <a:r>
              <a:rPr kumimoji="1" lang="en-US" altLang="ja-JP" sz="600" b="1" dirty="0">
                <a:solidFill>
                  <a:srgbClr val="FF0000"/>
                </a:solidFill>
                <a:latin typeface="Meiryo UI"/>
              </a:rPr>
              <a:t>【</a:t>
            </a:r>
            <a:r>
              <a:rPr kumimoji="1" lang="ja-JP" altLang="en-US" sz="600" b="1" dirty="0">
                <a:solidFill>
                  <a:srgbClr val="FF0000"/>
                </a:solidFill>
                <a:latin typeface="Meiryo UI"/>
              </a:rPr>
              <a:t>ご留意事項</a:t>
            </a:r>
            <a:r>
              <a:rPr kumimoji="1" lang="en-US" altLang="ja-JP" sz="600" b="1" dirty="0">
                <a:solidFill>
                  <a:srgbClr val="FF0000"/>
                </a:solidFill>
                <a:latin typeface="Meiryo UI"/>
              </a:rPr>
              <a:t>】</a:t>
            </a:r>
          </a:p>
          <a:p>
            <a:pPr lvl="0" fontAlgn="base">
              <a:spcBef>
                <a:spcPct val="20000"/>
              </a:spcBef>
              <a:spcAft>
                <a:spcPct val="0"/>
              </a:spcAft>
              <a:defRPr/>
            </a:pPr>
            <a:r>
              <a:rPr kumimoji="1" lang="en-US" altLang="ja-JP" sz="600" dirty="0">
                <a:latin typeface="Meiryo UI"/>
              </a:rPr>
              <a:t>2026</a:t>
            </a:r>
            <a:r>
              <a:rPr kumimoji="1" lang="ja-JP" altLang="en-US" sz="600" dirty="0">
                <a:latin typeface="Meiryo UI"/>
              </a:rPr>
              <a:t>年</a:t>
            </a:r>
            <a:r>
              <a:rPr kumimoji="1" lang="en-US" altLang="ja-JP" sz="600" dirty="0">
                <a:latin typeface="Meiryo UI"/>
              </a:rPr>
              <a:t>9</a:t>
            </a:r>
            <a:r>
              <a:rPr kumimoji="1" lang="ja-JP" altLang="en-US" sz="600" dirty="0">
                <a:latin typeface="Meiryo UI"/>
              </a:rPr>
              <a:t>月</a:t>
            </a:r>
            <a:r>
              <a:rPr kumimoji="1" lang="en-US" altLang="ja-JP" sz="600" dirty="0">
                <a:latin typeface="Meiryo UI"/>
              </a:rPr>
              <a:t>28</a:t>
            </a:r>
            <a:r>
              <a:rPr kumimoji="1" lang="ja-JP" altLang="en-US" sz="600" dirty="0">
                <a:latin typeface="Meiryo UI"/>
              </a:rPr>
              <a:t>日以降は、</a:t>
            </a:r>
            <a:r>
              <a:rPr kumimoji="1" lang="en-US" altLang="ja-JP" sz="600" dirty="0">
                <a:latin typeface="Meiryo UI"/>
              </a:rPr>
              <a:t>20250401</a:t>
            </a:r>
            <a:r>
              <a:rPr kumimoji="1" lang="ja-JP" altLang="en-US" sz="600" dirty="0">
                <a:latin typeface="Meiryo UI"/>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latin typeface="Meiryo UI"/>
              </a:rPr>
              <a:t>の</a:t>
            </a:r>
            <a:r>
              <a:rPr kumimoji="1" lang="en-US" altLang="ja-JP" sz="600" dirty="0">
                <a:latin typeface="Meiryo UI"/>
              </a:rPr>
              <a:t>J-FAGY</a:t>
            </a:r>
            <a:r>
              <a:rPr kumimoji="1" lang="ja-JP" altLang="en-US" sz="600" dirty="0">
                <a:latin typeface="Meiryo UI"/>
              </a:rPr>
              <a:t>コードが変更となったため、電子カルテ情報共有サービスに登録できなくなりました。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latin typeface="Meiryo UI"/>
              </a:rPr>
              <a:t>の詳細につきましては、</a:t>
            </a:r>
            <a:r>
              <a:rPr kumimoji="1" lang="en-US" altLang="ja-JP" sz="600" dirty="0">
                <a:latin typeface="Meiryo UI"/>
              </a:rPr>
              <a:t>20260531</a:t>
            </a:r>
            <a:r>
              <a:rPr kumimoji="1" lang="ja-JP" altLang="en-US" sz="600" dirty="0">
                <a:latin typeface="Meiryo UI"/>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食用鳥卵</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dirty="0">
              <a:latin typeface="Meiryo UI"/>
            </a:endParaRPr>
          </a:p>
        </p:txBody>
      </p:sp>
    </p:spTree>
    <p:extLst>
      <p:ext uri="{BB962C8B-B14F-4D97-AF65-F5344CB8AC3E}">
        <p14:creationId xmlns:p14="http://schemas.microsoft.com/office/powerpoint/2010/main" val="686682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3"/>
          <a:srcRect l="2946" t="103836" r="-2946" b="-15325"/>
          <a:stretch>
            <a:fillRect/>
          </a:stretch>
        </p:blipFill>
        <p:spPr>
          <a:xfrm>
            <a:off x="5218219" y="2802138"/>
            <a:ext cx="4300396" cy="5812613"/>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654849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17202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en-US" altLang="ja-JP" sz="600" dirty="0">
              <a:highlight>
                <a:srgbClr val="FFFF00"/>
              </a:highlight>
              <a:latin typeface="Meiryo UI"/>
            </a:endParaRPr>
          </a:p>
          <a:p>
            <a:pPr lvl="0" fontAlgn="base">
              <a:spcBef>
                <a:spcPct val="20000"/>
              </a:spcBef>
              <a:spcAft>
                <a:spcPct val="0"/>
              </a:spcAft>
              <a:defRPr/>
            </a:pPr>
            <a:endParaRPr kumimoji="1" lang="en-US" altLang="ja-JP" sz="600" dirty="0">
              <a:latin typeface="Meiryo UI"/>
            </a:endParaRPr>
          </a:p>
          <a:p>
            <a:pPr lvl="0" fontAlgn="base">
              <a:spcBef>
                <a:spcPct val="20000"/>
              </a:spcBef>
              <a:spcAft>
                <a:spcPct val="0"/>
              </a:spcAft>
              <a:defRPr/>
            </a:pP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pic>
        <p:nvPicPr>
          <p:cNvPr id="101" name="図 100">
            <a:extLst>
              <a:ext uri="{FF2B5EF4-FFF2-40B4-BE49-F238E27FC236}">
                <a16:creationId xmlns:a16="http://schemas.microsoft.com/office/drawing/2014/main" id="{FFBC44E1-216C-7EBE-0307-7464D3971133}"/>
              </a:ext>
            </a:extLst>
          </p:cNvPr>
          <p:cNvPicPr>
            <a:picLocks noChangeAspect="1"/>
          </p:cNvPicPr>
          <p:nvPr/>
        </p:nvPicPr>
        <p:blipFill>
          <a:blip r:embed="rId6"/>
          <a:srcRect t="91998" b="1648"/>
          <a:stretch>
            <a:fillRect/>
          </a:stretch>
        </p:blipFill>
        <p:spPr>
          <a:xfrm>
            <a:off x="5253936" y="8225038"/>
            <a:ext cx="4234676" cy="209249"/>
          </a:xfrm>
          <a:prstGeom prst="rect">
            <a:avLst/>
          </a:prstGeom>
        </p:spPr>
      </p:pic>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2383546386"/>
              </p:ext>
            </p:extLst>
          </p:nvPr>
        </p:nvGraphicFramePr>
        <p:xfrm>
          <a:off x="5445697" y="7755286"/>
          <a:ext cx="3710008" cy="491164"/>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20260531</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20260823</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8271639"/>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504803" y="7435350"/>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3"/>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4"/>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5"/>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990631694"/>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6"/>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5495" y="7755286"/>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Tree>
    <p:extLst>
      <p:ext uri="{BB962C8B-B14F-4D97-AF65-F5344CB8AC3E}">
        <p14:creationId xmlns:p14="http://schemas.microsoft.com/office/powerpoint/2010/main" val="662102260"/>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4F46248C-A9F9-1C5C-5E47-225900514BA5}"/>
              </a:ext>
            </a:extLst>
          </p:cNvPr>
          <p:cNvGraphicFramePr>
            <a:graphicFrameLocks noGrp="1"/>
          </p:cNvGraphicFramePr>
          <p:nvPr>
            <p:ph idx="1"/>
            <p:extLst>
              <p:ext uri="{D42A27DB-BD31-4B8C-83A1-F6EECF244321}">
                <p14:modId xmlns:p14="http://schemas.microsoft.com/office/powerpoint/2010/main" val="1868171512"/>
              </p:ext>
            </p:extLst>
          </p:nvPr>
        </p:nvGraphicFramePr>
        <p:xfrm>
          <a:off x="241704" y="1398643"/>
          <a:ext cx="7372279" cy="4480560"/>
        </p:xfrm>
        <a:graphic>
          <a:graphicData uri="http://schemas.openxmlformats.org/drawingml/2006/table">
            <a:tbl>
              <a:tblPr/>
              <a:tblGrid>
                <a:gridCol w="972000">
                  <a:extLst>
                    <a:ext uri="{9D8B030D-6E8A-4147-A177-3AD203B41FA5}">
                      <a16:colId xmlns:a16="http://schemas.microsoft.com/office/drawing/2014/main" val="1584273587"/>
                    </a:ext>
                  </a:extLst>
                </a:gridCol>
                <a:gridCol w="2412000">
                  <a:extLst>
                    <a:ext uri="{9D8B030D-6E8A-4147-A177-3AD203B41FA5}">
                      <a16:colId xmlns:a16="http://schemas.microsoft.com/office/drawing/2014/main" val="3824565766"/>
                    </a:ext>
                  </a:extLst>
                </a:gridCol>
                <a:gridCol w="2412000">
                  <a:extLst>
                    <a:ext uri="{9D8B030D-6E8A-4147-A177-3AD203B41FA5}">
                      <a16:colId xmlns:a16="http://schemas.microsoft.com/office/drawing/2014/main" val="1736615311"/>
                    </a:ext>
                  </a:extLst>
                </a:gridCol>
                <a:gridCol w="1576279">
                  <a:extLst>
                    <a:ext uri="{9D8B030D-6E8A-4147-A177-3AD203B41FA5}">
                      <a16:colId xmlns:a16="http://schemas.microsoft.com/office/drawing/2014/main" val="2598178170"/>
                    </a:ext>
                  </a:extLst>
                </a:gridCol>
              </a:tblGrid>
              <a:tr h="0">
                <a:tc>
                  <a:txBody>
                    <a:bodyPr/>
                    <a:lstStyle/>
                    <a:p>
                      <a:pPr algn="ctr">
                        <a:buNone/>
                      </a:pPr>
                      <a:r>
                        <a:rPr lang="ja-JP" sz="800" b="1"/>
                        <a:t>JFAGYCODE</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2026053</a:t>
                      </a:r>
                      <a:r>
                        <a:rPr lang="en-US" altLang="ja-JP" sz="800" b="1" dirty="0"/>
                        <a:t>1</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20260925</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altLang="en-US" sz="800" b="1"/>
                        <a:t>備考</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93133957"/>
                  </a:ext>
                </a:extLst>
              </a:tr>
              <a:tr h="0">
                <a:tc gridSpan="3">
                  <a:txBody>
                    <a:bodyPr/>
                    <a:lstStyle/>
                    <a:p>
                      <a:pPr>
                        <a:buNone/>
                      </a:pPr>
                      <a:r>
                        <a:rPr lang="ja-JP" altLang="en-US" sz="800" b="1"/>
                        <a:t>誤記</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0411356"/>
                  </a:ext>
                </a:extLst>
              </a:tr>
              <a:tr h="0">
                <a:tc>
                  <a:txBody>
                    <a:bodyPr/>
                    <a:lstStyle/>
                    <a:p>
                      <a:pPr>
                        <a:buNone/>
                      </a:pPr>
                      <a:r>
                        <a:rPr lang="ja-JP" sz="800">
                          <a:effectLst/>
                        </a:rPr>
                        <a:t>J9FA24190000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やまいも</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やま</a:t>
                      </a:r>
                      <a:r>
                        <a:rPr lang="ja-JP" sz="800" b="1">
                          <a:effectLst/>
                        </a:rPr>
                        <a:t>の</a:t>
                      </a:r>
                      <a:r>
                        <a:rPr lang="ja-JP" sz="800">
                          <a:effectLst/>
                        </a:rPr>
                        <a:t>いも</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過去の修正の先祖返りが発生している</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7072025"/>
                  </a:ext>
                </a:extLst>
              </a:tr>
              <a:tr h="0">
                <a:tc>
                  <a:txBody>
                    <a:bodyPr/>
                    <a:lstStyle/>
                    <a:p>
                      <a:pPr>
                        <a:buNone/>
                      </a:pPr>
                      <a:r>
                        <a:rPr lang="ja-JP" sz="800">
                          <a:effectLst/>
                        </a:rPr>
                        <a:t>J9FA32370000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マカダミアナッツ</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マカ</a:t>
                      </a:r>
                      <a:r>
                        <a:rPr lang="ja-JP" sz="800" b="1">
                          <a:effectLst/>
                        </a:rPr>
                        <a:t>デ</a:t>
                      </a:r>
                      <a:r>
                        <a:rPr lang="ja-JP" sz="800">
                          <a:effectLst/>
                        </a:rPr>
                        <a:t>ミアナッツ</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9503257"/>
                  </a:ext>
                </a:extLst>
              </a:tr>
              <a:tr h="0">
                <a:tc>
                  <a:txBody>
                    <a:bodyPr/>
                    <a:lstStyle/>
                    <a:p>
                      <a:pPr>
                        <a:buNone/>
                      </a:pPr>
                      <a:r>
                        <a:rPr lang="ja-JP" sz="800">
                          <a:effectLst/>
                        </a:rPr>
                        <a:t>J9FB12000015</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ヨーグルト</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ヨー</a:t>
                      </a:r>
                      <a:r>
                        <a:rPr lang="ja-JP" sz="800" b="1">
                          <a:effectLst/>
                        </a:rPr>
                        <a:t>ー</a:t>
                      </a:r>
                      <a:r>
                        <a:rPr lang="ja-JP" sz="800">
                          <a:effectLst/>
                        </a:rPr>
                        <a:t>グルト</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誤記のため修正依頼</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8693540"/>
                  </a:ext>
                </a:extLst>
              </a:tr>
              <a:tr h="0">
                <a:tc gridSpan="4">
                  <a:txBody>
                    <a:bodyPr/>
                    <a:lstStyle/>
                    <a:p>
                      <a:pPr>
                        <a:buNone/>
                      </a:pPr>
                      <a:r>
                        <a:rPr lang="ja-JP" altLang="en-US" sz="800" b="1"/>
                        <a:t>依頼以外の修正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16889739"/>
                  </a:ext>
                </a:extLst>
              </a:tr>
              <a:tr h="0">
                <a:tc>
                  <a:txBody>
                    <a:bodyPr/>
                    <a:lstStyle/>
                    <a:p>
                      <a:pPr>
                        <a:buNone/>
                      </a:pPr>
                      <a:r>
                        <a:rPr lang="ja-JP" sz="800">
                          <a:effectLst/>
                        </a:rPr>
                        <a:t>J9FA21131600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r>
                        <a:rPr lang="ja-JP" sz="800" b="1"/>
                        <a:t>豆</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0857517"/>
                  </a:ext>
                </a:extLst>
              </a:tr>
              <a:tr h="0">
                <a:tc>
                  <a:txBody>
                    <a:bodyPr/>
                    <a:lstStyle/>
                    <a:p>
                      <a:pPr>
                        <a:buNone/>
                      </a:pPr>
                      <a:r>
                        <a:rPr lang="ja-JP" sz="800">
                          <a:effectLst/>
                        </a:rPr>
                        <a:t>J9FA32000000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8807803"/>
                  </a:ext>
                </a:extLst>
              </a:tr>
              <a:tr h="0">
                <a:tc>
                  <a:txBody>
                    <a:bodyPr/>
                    <a:lstStyle/>
                    <a:p>
                      <a:pPr>
                        <a:buNone/>
                      </a:pPr>
                      <a:r>
                        <a:rPr lang="ja-JP" sz="800">
                          <a:effectLst/>
                        </a:rPr>
                        <a:t>J9FA32980000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9224601"/>
                  </a:ext>
                </a:extLst>
              </a:tr>
              <a:tr h="0">
                <a:tc>
                  <a:txBody>
                    <a:bodyPr/>
                    <a:lstStyle/>
                    <a:p>
                      <a:pPr>
                        <a:buNone/>
                      </a:pPr>
                      <a:r>
                        <a:rPr lang="ja-JP" sz="800">
                          <a:effectLst/>
                        </a:rPr>
                        <a:t>J9FA32990000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011650"/>
                  </a:ext>
                </a:extLst>
              </a:tr>
              <a:tr h="0">
                <a:tc>
                  <a:txBody>
                    <a:bodyPr/>
                    <a:lstStyle/>
                    <a:p>
                      <a:pPr>
                        <a:buNone/>
                      </a:pPr>
                      <a:r>
                        <a:rPr lang="ja-JP" sz="800">
                          <a:effectLst/>
                        </a:rPr>
                        <a:t>J9FG25000000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6121526"/>
                  </a:ext>
                </a:extLst>
              </a:tr>
              <a:tr h="0">
                <a:tc>
                  <a:txBody>
                    <a:bodyPr/>
                    <a:lstStyle/>
                    <a:p>
                      <a:pPr>
                        <a:buNone/>
                      </a:pPr>
                      <a:r>
                        <a:rPr lang="ja-JP" sz="800">
                          <a:effectLst/>
                        </a:rPr>
                        <a:t>J9FG25980000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50774275"/>
                  </a:ext>
                </a:extLst>
              </a:tr>
              <a:tr h="0">
                <a:tc>
                  <a:txBody>
                    <a:bodyPr/>
                    <a:lstStyle/>
                    <a:p>
                      <a:pPr>
                        <a:buNone/>
                      </a:pPr>
                      <a:r>
                        <a:rPr lang="ja-JP" sz="800">
                          <a:effectLst/>
                        </a:rPr>
                        <a:t>J9FG25990000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麦芽，麦芽抽出物及び麦芽</a:t>
                      </a:r>
                      <a:r>
                        <a:rPr lang="ja-JP" altLang="ja-JP" sz="800" dirty="0"/>
                        <a:t>シロップ（詳細不明）</a:t>
                      </a:r>
                      <a:endParaRPr lang="ja-JP" sz="800" dirty="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a:t>
                      </a:r>
                      <a:r>
                        <a:rPr lang="ja-JP" sz="800" b="1" dirty="0"/>
                        <a:t>、</a:t>
                      </a:r>
                      <a:r>
                        <a:rPr lang="ja-JP" sz="800" dirty="0"/>
                        <a:t>麦芽抽出物及び麦芽シロップ（詳細不明）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5670213"/>
                  </a:ext>
                </a:extLst>
              </a:tr>
              <a:tr h="0">
                <a:tc gridSpan="4">
                  <a:txBody>
                    <a:bodyPr/>
                    <a:lstStyle/>
                    <a:p>
                      <a:pPr>
                        <a:buNone/>
                      </a:pPr>
                      <a:r>
                        <a:rPr lang="ja-JP" altLang="en-US" sz="800" b="1"/>
                        <a:t>依頼および依頼に紐づく修正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9134803"/>
                  </a:ext>
                </a:extLst>
              </a:tr>
              <a:tr h="0">
                <a:tc>
                  <a:txBody>
                    <a:bodyPr/>
                    <a:lstStyle/>
                    <a:p>
                      <a:pPr>
                        <a:buNone/>
                      </a:pPr>
                      <a:r>
                        <a:rPr lang="ja-JP" sz="800"/>
                        <a:t>J9FA98000000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農産食品（その他）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ナッツ類の上位概念として追加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37622832"/>
                  </a:ext>
                </a:extLst>
              </a:tr>
              <a:tr h="0">
                <a:tc>
                  <a:txBody>
                    <a:bodyPr/>
                    <a:lstStyle/>
                    <a:p>
                      <a:pPr>
                        <a:buNone/>
                      </a:pPr>
                      <a:r>
                        <a:rPr lang="ja-JP" sz="800"/>
                        <a:t>J9FA98010000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ナッツ類</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ナッツ類・青魚の新規追加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8527977"/>
                  </a:ext>
                </a:extLst>
              </a:tr>
              <a:tr h="0">
                <a:tc>
                  <a:txBody>
                    <a:bodyPr/>
                    <a:lstStyle/>
                    <a:p>
                      <a:pPr>
                        <a:buNone/>
                      </a:pPr>
                      <a:r>
                        <a:rPr lang="ja-JP" sz="800"/>
                        <a:t>J9FC11981000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青魚</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546904"/>
                  </a:ext>
                </a:extLst>
              </a:tr>
              <a:tr h="0">
                <a:tc>
                  <a:txBody>
                    <a:bodyPr/>
                    <a:lstStyle/>
                    <a:p>
                      <a:pPr>
                        <a:buNone/>
                      </a:pPr>
                      <a:r>
                        <a:rPr lang="ja-JP" sz="800"/>
                        <a:t>J9FB13980000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a:buNone/>
                      </a:pPr>
                      <a:r>
                        <a:rPr lang="ja-JP" altLang="en-US" sz="800"/>
                        <a:t>食品衛生法の記載に合わせた依頼に基づく修正</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480673"/>
                  </a:ext>
                </a:extLst>
              </a:tr>
              <a:tr h="0">
                <a:tc>
                  <a:txBody>
                    <a:bodyPr/>
                    <a:lstStyle/>
                    <a:p>
                      <a:pPr>
                        <a:buNone/>
                      </a:pPr>
                      <a:r>
                        <a:rPr lang="ja-JP" sz="800"/>
                        <a:t>J9FB13990000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9776540"/>
                  </a:ext>
                </a:extLst>
              </a:tr>
              <a:tr h="0">
                <a:tc>
                  <a:txBody>
                    <a:bodyPr/>
                    <a:lstStyle/>
                    <a:p>
                      <a:pPr>
                        <a:buNone/>
                      </a:pPr>
                      <a:r>
                        <a:rPr lang="ja-JP" sz="800"/>
                        <a:t>J9FC13980000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24361369"/>
                  </a:ext>
                </a:extLst>
              </a:tr>
              <a:tr h="0">
                <a:tc>
                  <a:txBody>
                    <a:bodyPr/>
                    <a:lstStyle/>
                    <a:p>
                      <a:pPr>
                        <a:buNone/>
                      </a:pPr>
                      <a:r>
                        <a:rPr lang="ja-JP" sz="800"/>
                        <a:t>J9FC13990000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いか（詳細不明）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619574"/>
                  </a:ext>
                </a:extLst>
              </a:tr>
            </a:tbl>
          </a:graphicData>
        </a:graphic>
      </p:graphicFrame>
      <p:sp>
        <p:nvSpPr>
          <p:cNvPr id="3" name="タイトル 2">
            <a:extLst>
              <a:ext uri="{FF2B5EF4-FFF2-40B4-BE49-F238E27FC236}">
                <a16:creationId xmlns:a16="http://schemas.microsoft.com/office/drawing/2014/main" id="{47472C78-1FD5-9742-0C40-87A7F96FD253}"/>
              </a:ext>
            </a:extLst>
          </p:cNvPr>
          <p:cNvSpPr>
            <a:spLocks noGrp="1"/>
          </p:cNvSpPr>
          <p:nvPr>
            <p:ph type="title"/>
          </p:nvPr>
        </p:nvSpPr>
        <p:spPr/>
        <p:txBody>
          <a:bodyPr/>
          <a:lstStyle/>
          <a:p>
            <a:r>
              <a:rPr kumimoji="1" lang="ja-JP" altLang="en-US"/>
              <a:t>スレッド確認事項</a:t>
            </a:r>
            <a:r>
              <a:rPr kumimoji="1" lang="en-US" altLang="ja-JP" dirty="0"/>
              <a:t>#5_J-FAGY</a:t>
            </a:r>
            <a:r>
              <a:rPr kumimoji="1" lang="ja-JP" altLang="en-US"/>
              <a:t>コードについて</a:t>
            </a:r>
          </a:p>
        </p:txBody>
      </p:sp>
      <p:sp>
        <p:nvSpPr>
          <p:cNvPr id="6" name="矢印: 右 5">
            <a:extLst>
              <a:ext uri="{FF2B5EF4-FFF2-40B4-BE49-F238E27FC236}">
                <a16:creationId xmlns:a16="http://schemas.microsoft.com/office/drawing/2014/main" id="{3FC22211-A540-4A4A-EF85-232DDDC347DA}"/>
              </a:ext>
            </a:extLst>
          </p:cNvPr>
          <p:cNvSpPr/>
          <p:nvPr/>
        </p:nvSpPr>
        <p:spPr>
          <a:xfrm>
            <a:off x="3420874" y="1427851"/>
            <a:ext cx="342926" cy="154419"/>
          </a:xfrm>
          <a:prstGeom prst="rightArrow">
            <a:avLst/>
          </a:prstGeom>
          <a:solidFill>
            <a:schemeClr val="accent2"/>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7" name="右中かっこ 6">
            <a:extLst>
              <a:ext uri="{FF2B5EF4-FFF2-40B4-BE49-F238E27FC236}">
                <a16:creationId xmlns:a16="http://schemas.microsoft.com/office/drawing/2014/main" id="{E223C5C5-7FA2-F57B-CC7C-A808E953DDB6}"/>
              </a:ext>
            </a:extLst>
          </p:cNvPr>
          <p:cNvSpPr/>
          <p:nvPr/>
        </p:nvSpPr>
        <p:spPr bwMode="auto">
          <a:xfrm>
            <a:off x="7613983" y="2473361"/>
            <a:ext cx="155448" cy="1680509"/>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8" name="正方形/長方形 7">
            <a:extLst>
              <a:ext uri="{FF2B5EF4-FFF2-40B4-BE49-F238E27FC236}">
                <a16:creationId xmlns:a16="http://schemas.microsoft.com/office/drawing/2014/main" id="{E3CAEAD2-677F-2B76-384B-6C415AFE05AA}"/>
              </a:ext>
            </a:extLst>
          </p:cNvPr>
          <p:cNvSpPr/>
          <p:nvPr/>
        </p:nvSpPr>
        <p:spPr>
          <a:xfrm>
            <a:off x="7847330" y="3029730"/>
            <a:ext cx="1898650" cy="567771"/>
          </a:xfrm>
          <a:prstGeom prst="rect">
            <a:avLst/>
          </a:prstGeom>
          <a:solidFill>
            <a:schemeClr val="accent1">
              <a:lumMod val="20000"/>
              <a:lumOff val="80000"/>
            </a:schemeClr>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本内容を適用すると</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版の表記で登録していた場合にエラーとなる</a:t>
            </a:r>
          </a:p>
        </p:txBody>
      </p:sp>
      <p:sp>
        <p:nvSpPr>
          <p:cNvPr id="9" name="矢印: 下 8">
            <a:extLst>
              <a:ext uri="{FF2B5EF4-FFF2-40B4-BE49-F238E27FC236}">
                <a16:creationId xmlns:a16="http://schemas.microsoft.com/office/drawing/2014/main" id="{C00C35EC-EED3-4979-8A44-CF00AC18AB57}"/>
              </a:ext>
            </a:extLst>
          </p:cNvPr>
          <p:cNvSpPr/>
          <p:nvPr/>
        </p:nvSpPr>
        <p:spPr>
          <a:xfrm>
            <a:off x="8683613" y="3663231"/>
            <a:ext cx="226085" cy="255891"/>
          </a:xfrm>
          <a:prstGeom prst="downArrow">
            <a:avLst/>
          </a:prstGeom>
          <a:solidFill>
            <a:schemeClr val="accent1"/>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1" name="正方形/長方形 10">
            <a:extLst>
              <a:ext uri="{FF2B5EF4-FFF2-40B4-BE49-F238E27FC236}">
                <a16:creationId xmlns:a16="http://schemas.microsoft.com/office/drawing/2014/main" id="{12004AA3-135A-F3F0-215A-C91DC744813A}"/>
              </a:ext>
            </a:extLst>
          </p:cNvPr>
          <p:cNvSpPr/>
          <p:nvPr/>
        </p:nvSpPr>
        <p:spPr>
          <a:xfrm>
            <a:off x="7752398" y="3984852"/>
            <a:ext cx="2088515" cy="567771"/>
          </a:xfrm>
          <a:prstGeom prst="rect">
            <a:avLst/>
          </a:prstGeom>
          <a:noFill/>
          <a:ln>
            <a:noFill/>
          </a:ln>
        </p:spPr>
        <p:txBody>
          <a:bodyPr wrap="square" lIns="36000" tIns="36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ご相談事項</a:t>
            </a: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b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b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J-FAGY</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コードは変更がない前提ではあるが、ほとんど利用されていないコードであることから、変更を受け入れるかご相談させていただきたい。</a:t>
            </a:r>
          </a:p>
        </p:txBody>
      </p:sp>
      <p:sp>
        <p:nvSpPr>
          <p:cNvPr id="13" name="右中かっこ 12">
            <a:extLst>
              <a:ext uri="{FF2B5EF4-FFF2-40B4-BE49-F238E27FC236}">
                <a16:creationId xmlns:a16="http://schemas.microsoft.com/office/drawing/2014/main" id="{6F41F035-F815-4065-1736-49FF2B14524C}"/>
              </a:ext>
            </a:extLst>
          </p:cNvPr>
          <p:cNvSpPr/>
          <p:nvPr/>
        </p:nvSpPr>
        <p:spPr bwMode="auto">
          <a:xfrm>
            <a:off x="7613983" y="1633106"/>
            <a:ext cx="155448" cy="840255"/>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15" name="正方形/長方形 14">
            <a:extLst>
              <a:ext uri="{FF2B5EF4-FFF2-40B4-BE49-F238E27FC236}">
                <a16:creationId xmlns:a16="http://schemas.microsoft.com/office/drawing/2014/main" id="{1DDD91E4-09D0-F053-F24D-6F5B6F0C8541}"/>
              </a:ext>
            </a:extLst>
          </p:cNvPr>
          <p:cNvSpPr/>
          <p:nvPr/>
        </p:nvSpPr>
        <p:spPr>
          <a:xfrm>
            <a:off x="7799264" y="1806650"/>
            <a:ext cx="1898650" cy="567771"/>
          </a:xfrm>
          <a:prstGeom prst="rect">
            <a:avLst/>
          </a:prstGeom>
          <a:solidFill>
            <a:schemeClr val="bg1"/>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誤記であるため、修正依頼</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予定</a:t>
            </a:r>
          </a:p>
        </p:txBody>
      </p:sp>
      <p:sp>
        <p:nvSpPr>
          <p:cNvPr id="17" name="テキスト ボックス 16">
            <a:extLst>
              <a:ext uri="{FF2B5EF4-FFF2-40B4-BE49-F238E27FC236}">
                <a16:creationId xmlns:a16="http://schemas.microsoft.com/office/drawing/2014/main" id="{7C372C64-0309-0A83-AE6D-7DFDC5595C38}"/>
              </a:ext>
            </a:extLst>
          </p:cNvPr>
          <p:cNvSpPr txBox="1"/>
          <p:nvPr/>
        </p:nvSpPr>
        <p:spPr>
          <a:xfrm>
            <a:off x="495297" y="722208"/>
            <a:ext cx="8915399" cy="540767"/>
          </a:xfrm>
          <a:prstGeom prst="rect">
            <a:avLst/>
          </a:prstGeom>
          <a:noFill/>
        </p:spPr>
        <p:txBody>
          <a:bodyPr wrap="square" lIns="36000" tIns="36000" rIns="36000" bIns="36000" rtlCol="0" anchor="t">
            <a:noAutofit/>
          </a:bodyPr>
          <a:lstStyle/>
          <a:p>
            <a:pPr marL="173355" marR="0" lvl="0" indent="-173355" algn="l" defTabSz="914400" rtl="0" eaLnBrk="1" fontAlgn="auto" latinLnBrk="0" hangingPunct="1">
              <a:lnSpc>
                <a:spcPct val="100000"/>
              </a:lnSpc>
              <a:spcBef>
                <a:spcPts val="288"/>
              </a:spcBef>
              <a:spcAft>
                <a:spcPts val="0"/>
              </a:spcAft>
              <a:buClrTx/>
              <a:buSzPts val="1200"/>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J-FAGY</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コードについて、依頼以外の修正が含まれていた。依頼以外の修正の中には、</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版で登録していた医療機関はエラーとなる。</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変更が発生していた内容を踏まえてどのように取り扱うかご相談させていただきたい。</a:t>
            </a:r>
            <a:endParaRPr kumimoji="1" lang="en-US" altLang="ja-JP" sz="1200" b="0" i="0" u="none" strike="noStrike" kern="1200" cap="none" spc="0" normalizeH="0" baseline="0" noProof="0" dirty="0">
              <a:ln>
                <a:noFill/>
              </a:ln>
              <a:solidFill>
                <a:prstClr val="black"/>
              </a:solidFill>
              <a:effectLst/>
              <a:uLnTx/>
              <a:uFillTx/>
              <a:latin typeface="Meiryo UI"/>
              <a:ea typeface="Meiryo UI"/>
              <a:cs typeface="Arial"/>
            </a:endParaRPr>
          </a:p>
        </p:txBody>
      </p:sp>
      <p:sp>
        <p:nvSpPr>
          <p:cNvPr id="2" name="正方形/長方形 1">
            <a:extLst>
              <a:ext uri="{FF2B5EF4-FFF2-40B4-BE49-F238E27FC236}">
                <a16:creationId xmlns:a16="http://schemas.microsoft.com/office/drawing/2014/main" id="{F545B7A1-B63E-B6B5-C16A-212B675CFE3A}"/>
              </a:ext>
            </a:extLst>
          </p:cNvPr>
          <p:cNvSpPr/>
          <p:nvPr/>
        </p:nvSpPr>
        <p:spPr>
          <a:xfrm>
            <a:off x="8061960" y="205740"/>
            <a:ext cx="1577340" cy="395990"/>
          </a:xfrm>
          <a:prstGeom prst="rect">
            <a:avLst/>
          </a:prstGeom>
          <a:solidFill>
            <a:srgbClr val="FFFF00"/>
          </a:solidFill>
        </p:spPr>
        <p:txBody>
          <a:bodyPr wrap="square" lIns="36000" tIns="36000" rIns="36000" bIns="36000" rtlCol="0" anchor="ctr">
            <a:noAutofit/>
          </a:bodyPr>
          <a:lstStyle/>
          <a:p>
            <a:pPr algn="ctr"/>
            <a:r>
              <a:rPr kumimoji="1" lang="en-US" altLang="ja-JP" sz="1200" i="0" dirty="0">
                <a:latin typeface="+mn-ea"/>
                <a:ea typeface="+mn-ea"/>
                <a:cs typeface="Arial" charset="0"/>
              </a:rPr>
              <a:t>9/25WBS</a:t>
            </a:r>
            <a:r>
              <a:rPr kumimoji="1" lang="ja-JP" altLang="en-US" sz="1200" i="0" dirty="0">
                <a:latin typeface="+mn-ea"/>
                <a:ea typeface="+mn-ea"/>
                <a:cs typeface="Arial" charset="0"/>
              </a:rPr>
              <a:t>資料</a:t>
            </a:r>
          </a:p>
        </p:txBody>
      </p:sp>
    </p:spTree>
    <p:extLst>
      <p:ext uri="{BB962C8B-B14F-4D97-AF65-F5344CB8AC3E}">
        <p14:creationId xmlns:p14="http://schemas.microsoft.com/office/powerpoint/2010/main" val="723380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4FAB5C-B73D-A3B1-9DB1-4B3FC5AF0F91}"/>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57039CDB-D073-CDD2-E817-3A3C75D4270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71ECF1A6-D463-28E0-8B10-A98460002975}"/>
              </a:ext>
            </a:extLst>
          </p:cNvPr>
          <p:cNvPicPr preferRelativeResize="0">
            <a:picLocks/>
          </p:cNvPicPr>
          <p:nvPr/>
        </p:nvPicPr>
        <p:blipFill>
          <a:blip r:embed="rId3"/>
          <a:srcRect l="2946" t="103836" r="-2946" b="-15325"/>
          <a:stretch>
            <a:fillRect/>
          </a:stretch>
        </p:blipFill>
        <p:spPr>
          <a:xfrm>
            <a:off x="5218219" y="2802139"/>
            <a:ext cx="4300396" cy="5535950"/>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83FF9D3F-6718-04B8-8100-75C6B9B21AAD}"/>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019A5A91-3A0A-A80B-335A-54F95B16A752}"/>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339DF849-96EA-460F-966E-7EE5A1BBEB94}"/>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546791B2-3695-3CCB-7B48-99171355CDB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 name="左中かっこ 12">
            <a:extLst>
              <a:ext uri="{FF2B5EF4-FFF2-40B4-BE49-F238E27FC236}">
                <a16:creationId xmlns:a16="http://schemas.microsoft.com/office/drawing/2014/main" id="{8891CF71-196A-0130-D802-AF9C9918BB3C}"/>
              </a:ext>
            </a:extLst>
          </p:cNvPr>
          <p:cNvSpPr/>
          <p:nvPr/>
        </p:nvSpPr>
        <p:spPr bwMode="auto">
          <a:xfrm>
            <a:off x="4939137" y="7511015"/>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cxnSp>
        <p:nvCxnSpPr>
          <p:cNvPr id="14" name="直線コネクタ 13">
            <a:extLst>
              <a:ext uri="{FF2B5EF4-FFF2-40B4-BE49-F238E27FC236}">
                <a16:creationId xmlns:a16="http://schemas.microsoft.com/office/drawing/2014/main" id="{F041AEC7-D285-EDA2-B5E6-E93CE3FFF0D1}"/>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54AEA565-A5CD-8F1E-32D4-F9AD33C29DDC}"/>
              </a:ext>
            </a:extLst>
          </p:cNvPr>
          <p:cNvSpPr/>
          <p:nvPr/>
        </p:nvSpPr>
        <p:spPr>
          <a:xfrm>
            <a:off x="5148680" y="2176406"/>
            <a:ext cx="4431372" cy="6290846"/>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8A480FC8-266F-FA02-F06B-EAEECD947A3C}"/>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FA06BA32-19E2-5F8F-225C-FC0F7A0D9B9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アレルゲンコードマスタは、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版への更新に際し、一部コードの</a:t>
            </a:r>
            <a:r>
              <a:rPr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の見直しを実施いたしました。そのため、</a:t>
            </a:r>
            <a:r>
              <a:rPr kumimoji="1" lang="en-US" altLang="ja-JP" sz="600" dirty="0">
                <a:solidFill>
                  <a:prstClr val="black"/>
                </a:solidFill>
                <a:highlight>
                  <a:srgbClr val="FFFF00"/>
                </a:highlight>
                <a:latin typeface="Meiryo UI"/>
              </a:rPr>
              <a:t>20250401</a:t>
            </a:r>
            <a:r>
              <a:rPr kumimoji="1" lang="ja-JP" altLang="en-US" sz="600">
                <a:solidFill>
                  <a:prstClr val="black"/>
                </a:solidFill>
                <a:highlight>
                  <a:srgbClr val="FFFF00"/>
                </a:highlight>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版への移行をお願いいたします。</a:t>
            </a:r>
            <a:endParaRPr kumimoji="1" lang="en-US" altLang="ja-JP" sz="600" dirty="0">
              <a:solidFill>
                <a:prstClr val="black"/>
              </a:solidFill>
              <a:highlight>
                <a:srgbClr val="FFFF00"/>
              </a:highlight>
              <a:latin typeface="Meiryo UI"/>
            </a:endParaRPr>
          </a:p>
          <a:p>
            <a:pPr fontAlgn="base">
              <a:spcBef>
                <a:spcPct val="20000"/>
              </a:spcBef>
              <a:spcAft>
                <a:spcPct val="0"/>
              </a:spcAft>
              <a:defRPr/>
            </a:pPr>
            <a:r>
              <a:rPr kumimoji="1" lang="en-US" altLang="ja-JP" sz="600" dirty="0">
                <a:solidFill>
                  <a:prstClr val="black"/>
                </a:solidFill>
                <a:highlight>
                  <a:srgbClr val="FFFF00"/>
                </a:highlight>
                <a:latin typeface="Meiryo UI"/>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 </a:t>
            </a:r>
            <a:r>
              <a:rPr kumimoji="1"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の変更は、消費者庁が定める特定原材料等の表記に</a:t>
            </a: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コードの表記を合わせることを目的としています。</a:t>
            </a:r>
            <a:endParaRPr kumimoji="1" lang="en-US" altLang="ja-JP" sz="600" dirty="0">
              <a:solidFill>
                <a:prstClr val="black"/>
              </a:solidFill>
              <a:highlight>
                <a:srgbClr val="FFFF00"/>
              </a:highlight>
              <a:latin typeface="Meiryo UI"/>
            </a:endParaRPr>
          </a:p>
        </p:txBody>
      </p:sp>
      <p:pic>
        <p:nvPicPr>
          <p:cNvPr id="26" name="図 25">
            <a:extLst>
              <a:ext uri="{FF2B5EF4-FFF2-40B4-BE49-F238E27FC236}">
                <a16:creationId xmlns:a16="http://schemas.microsoft.com/office/drawing/2014/main" id="{FCFB6818-8E31-0A98-4E0A-5E03A3066B37}"/>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A9F4C09-6653-2C69-2058-07F0CC1FC4EB}"/>
              </a:ext>
            </a:extLst>
          </p:cNvPr>
          <p:cNvSpPr/>
          <p:nvPr/>
        </p:nvSpPr>
        <p:spPr>
          <a:xfrm>
            <a:off x="5351971"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a:highlight>
                  <a:srgbClr val="FFFF00"/>
                </a:highlight>
                <a:latin typeface="Meiryo UI"/>
                <a:ea typeface="Meiryo UI"/>
              </a:rPr>
              <a:t>年</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9</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月</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28</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日以降は、</a:t>
            </a:r>
            <a:r>
              <a:rPr kumimoji="1" lang="en-US" altLang="ja-JP" sz="600" dirty="0">
                <a:highlight>
                  <a:srgbClr val="FFFF00"/>
                </a:highlight>
                <a:latin typeface="Meiryo UI"/>
                <a:ea typeface="Meiryo UI"/>
              </a:rPr>
              <a:t>20250401</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版に記載されていた次の</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の</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J-FAGY</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コードに</a:t>
            </a:r>
            <a:r>
              <a:rPr kumimoji="1" lang="ja-JP" altLang="en-US" sz="600">
                <a:highlight>
                  <a:srgbClr val="FFFF00"/>
                </a:highlight>
                <a:latin typeface="Meiryo UI"/>
                <a:ea typeface="Meiryo UI"/>
              </a:rPr>
              <a:t>変更となったため</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B40FF68F-B9ED-2DD5-8230-1C2764ABB9FA}"/>
              </a:ext>
            </a:extLst>
          </p:cNvPr>
          <p:cNvGraphicFramePr>
            <a:graphicFrameLocks noGrp="1"/>
          </p:cNvGraphicFramePr>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反映日</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2026/9/28</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2026/9/24</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FC7F0B1D-6A38-56C9-1975-9DEE2C69A6E3}"/>
              </a:ext>
            </a:extLst>
          </p:cNvPr>
          <p:cNvSpPr/>
          <p:nvPr/>
        </p:nvSpPr>
        <p:spPr>
          <a:xfrm>
            <a:off x="7921000" y="2458168"/>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p>
        </p:txBody>
      </p:sp>
      <p:pic>
        <p:nvPicPr>
          <p:cNvPr id="7" name="図 6">
            <a:extLst>
              <a:ext uri="{FF2B5EF4-FFF2-40B4-BE49-F238E27FC236}">
                <a16:creationId xmlns:a16="http://schemas.microsoft.com/office/drawing/2014/main" id="{02C4F89B-1C79-EED4-CFE3-70C350D49F84}"/>
              </a:ext>
            </a:extLst>
          </p:cNvPr>
          <p:cNvPicPr>
            <a:picLocks noChangeAspect="1"/>
          </p:cNvPicPr>
          <p:nvPr/>
        </p:nvPicPr>
        <p:blipFill>
          <a:blip r:embed="rId6"/>
          <a:srcRect t="74089" b="20049"/>
          <a:stretch>
            <a:fillRect/>
          </a:stretch>
        </p:blipFill>
        <p:spPr>
          <a:xfrm>
            <a:off x="117927" y="8524853"/>
            <a:ext cx="4387076" cy="180577"/>
          </a:xfrm>
          <a:prstGeom prst="rect">
            <a:avLst/>
          </a:prstGeom>
        </p:spPr>
      </p:pic>
      <p:pic>
        <p:nvPicPr>
          <p:cNvPr id="18" name="図 17">
            <a:extLst>
              <a:ext uri="{FF2B5EF4-FFF2-40B4-BE49-F238E27FC236}">
                <a16:creationId xmlns:a16="http://schemas.microsoft.com/office/drawing/2014/main" id="{145BE9EA-C56D-0265-C559-CE6750F0ECEB}"/>
              </a:ext>
            </a:extLst>
          </p:cNvPr>
          <p:cNvPicPr>
            <a:picLocks noChangeAspect="1"/>
          </p:cNvPicPr>
          <p:nvPr/>
        </p:nvPicPr>
        <p:blipFill>
          <a:blip r:embed="rId7"/>
          <a:stretch>
            <a:fillRect/>
          </a:stretch>
        </p:blipFill>
        <p:spPr>
          <a:xfrm>
            <a:off x="224125" y="8225186"/>
            <a:ext cx="4106921" cy="299667"/>
          </a:xfrm>
          <a:prstGeom prst="rect">
            <a:avLst/>
          </a:prstGeom>
        </p:spPr>
      </p:pic>
      <p:pic>
        <p:nvPicPr>
          <p:cNvPr id="36" name="図 35">
            <a:extLst>
              <a:ext uri="{FF2B5EF4-FFF2-40B4-BE49-F238E27FC236}">
                <a16:creationId xmlns:a16="http://schemas.microsoft.com/office/drawing/2014/main" id="{F4638EF0-013A-ADC6-39E7-21670584A2F6}"/>
              </a:ext>
            </a:extLst>
          </p:cNvPr>
          <p:cNvPicPr>
            <a:picLocks noChangeAspect="1"/>
          </p:cNvPicPr>
          <p:nvPr/>
        </p:nvPicPr>
        <p:blipFill>
          <a:blip r:embed="rId6"/>
          <a:srcRect t="85325"/>
          <a:stretch>
            <a:fillRect/>
          </a:stretch>
        </p:blipFill>
        <p:spPr>
          <a:xfrm>
            <a:off x="117927" y="8697932"/>
            <a:ext cx="4387076" cy="452067"/>
          </a:xfrm>
          <a:prstGeom prst="rect">
            <a:avLst/>
          </a:prstGeom>
        </p:spPr>
      </p:pic>
      <p:sp>
        <p:nvSpPr>
          <p:cNvPr id="38" name="左中かっこ 37">
            <a:extLst>
              <a:ext uri="{FF2B5EF4-FFF2-40B4-BE49-F238E27FC236}">
                <a16:creationId xmlns:a16="http://schemas.microsoft.com/office/drawing/2014/main" id="{20B01D2A-42B7-B11D-32C3-561CEBFAC4B8}"/>
              </a:ext>
            </a:extLst>
          </p:cNvPr>
          <p:cNvSpPr/>
          <p:nvPr/>
        </p:nvSpPr>
        <p:spPr bwMode="auto">
          <a:xfrm>
            <a:off x="-12121" y="8467251"/>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42" name="図 41">
            <a:extLst>
              <a:ext uri="{FF2B5EF4-FFF2-40B4-BE49-F238E27FC236}">
                <a16:creationId xmlns:a16="http://schemas.microsoft.com/office/drawing/2014/main" id="{442B3A32-ED7B-BDB4-93F3-7F71673AA4E1}"/>
              </a:ext>
            </a:extLst>
          </p:cNvPr>
          <p:cNvPicPr>
            <a:picLocks noChangeAspect="1"/>
          </p:cNvPicPr>
          <p:nvPr/>
        </p:nvPicPr>
        <p:blipFill>
          <a:blip r:embed="rId4"/>
          <a:stretch>
            <a:fillRect/>
          </a:stretch>
        </p:blipFill>
        <p:spPr>
          <a:xfrm>
            <a:off x="191236" y="2772486"/>
            <a:ext cx="4317279" cy="1620406"/>
          </a:xfrm>
          <a:prstGeom prst="rect">
            <a:avLst/>
          </a:prstGeom>
        </p:spPr>
      </p:pic>
      <p:sp>
        <p:nvSpPr>
          <p:cNvPr id="44" name="正方形/長方形 43">
            <a:extLst>
              <a:ext uri="{FF2B5EF4-FFF2-40B4-BE49-F238E27FC236}">
                <a16:creationId xmlns:a16="http://schemas.microsoft.com/office/drawing/2014/main" id="{F2F32E2C-952C-F56B-01A0-CB2EF1FD2123}"/>
              </a:ext>
            </a:extLst>
          </p:cNvPr>
          <p:cNvSpPr/>
          <p:nvPr/>
        </p:nvSpPr>
        <p:spPr>
          <a:xfrm>
            <a:off x="363373" y="4414343"/>
            <a:ext cx="3725032" cy="638071"/>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6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月末頃までは、本サービスへの登録において利用いただけるのは、</a:t>
            </a:r>
            <a:r>
              <a:rPr kumimoji="1" lang="en-US" altLang="ja-JP" sz="600" dirty="0">
                <a:solidFill>
                  <a:prstClr val="black"/>
                </a:solidFill>
                <a:latin typeface="Meiryo UI"/>
                <a:ea typeface="Meiryo UI"/>
              </a:rPr>
              <a:t>20250401</a:t>
            </a:r>
            <a:r>
              <a:rPr kumimoji="1" lang="ja-JP" altLang="en-US" sz="600">
                <a:solidFill>
                  <a:prstClr val="black"/>
                </a:solidFill>
                <a:latin typeface="Meiryo UI"/>
                <a:ea typeface="Meiryo UI"/>
              </a:rPr>
              <a:t>版のマスタとなります。</a:t>
            </a:r>
            <a:endParaRPr kumimoji="1" lang="en-US" altLang="ja-JP" sz="600" dirty="0">
              <a:solidFill>
                <a:prstClr val="black"/>
              </a:solidFill>
              <a:latin typeface="Meiryo UI"/>
              <a:ea typeface="Meiryo UI"/>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600" dirty="0">
                <a:solidFill>
                  <a:prstClr val="black"/>
                </a:solidFill>
                <a:latin typeface="Meiryo UI"/>
                <a:ea typeface="Meiryo UI"/>
              </a:rPr>
              <a:t>2026</a:t>
            </a:r>
            <a:r>
              <a:rPr kumimoji="1" lang="ja-JP" altLang="en-US" sz="600">
                <a:solidFill>
                  <a:prstClr val="black"/>
                </a:solidFill>
                <a:latin typeface="Meiryo UI"/>
                <a:ea typeface="Meiryo UI"/>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詳細な日程は今後お知らせを予定</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以降には、</a:t>
            </a:r>
            <a:r>
              <a:rPr kumimoji="1" lang="en-US" altLang="ja-JP" sz="600" dirty="0">
                <a:solidFill>
                  <a:prstClr val="black"/>
                </a:solidFill>
                <a:latin typeface="Meiryo UI"/>
                <a:ea typeface="Meiryo UI"/>
              </a:rPr>
              <a:t>20260531</a:t>
            </a:r>
            <a:r>
              <a:rPr kumimoji="1" lang="ja-JP" altLang="en-US" sz="600">
                <a:solidFill>
                  <a:prstClr val="black"/>
                </a:solidFill>
                <a:latin typeface="Meiryo UI"/>
                <a:ea typeface="Meiryo UI"/>
              </a:rPr>
              <a:t>版をご利用ください。</a:t>
            </a:r>
            <a:endParaRPr kumimoji="1" lang="en-US" altLang="ja-JP" sz="600" dirty="0">
              <a:latin typeface="Meiryo UI"/>
            </a:endParaRPr>
          </a:p>
        </p:txBody>
      </p:sp>
      <p:pic>
        <p:nvPicPr>
          <p:cNvPr id="46" name="図 45">
            <a:extLst>
              <a:ext uri="{FF2B5EF4-FFF2-40B4-BE49-F238E27FC236}">
                <a16:creationId xmlns:a16="http://schemas.microsoft.com/office/drawing/2014/main" id="{9110B7D1-13FF-2A7A-6A77-8B2A138703AC}"/>
              </a:ext>
            </a:extLst>
          </p:cNvPr>
          <p:cNvPicPr>
            <a:picLocks noChangeAspect="1"/>
          </p:cNvPicPr>
          <p:nvPr/>
        </p:nvPicPr>
        <p:blipFill>
          <a:blip r:embed="rId5"/>
          <a:stretch>
            <a:fillRect/>
          </a:stretch>
        </p:blipFill>
        <p:spPr>
          <a:xfrm>
            <a:off x="368838" y="4968211"/>
            <a:ext cx="3837337" cy="512404"/>
          </a:xfrm>
          <a:prstGeom prst="rect">
            <a:avLst/>
          </a:prstGeom>
        </p:spPr>
      </p:pic>
      <p:sp>
        <p:nvSpPr>
          <p:cNvPr id="48" name="正方形/長方形 47">
            <a:extLst>
              <a:ext uri="{FF2B5EF4-FFF2-40B4-BE49-F238E27FC236}">
                <a16:creationId xmlns:a16="http://schemas.microsoft.com/office/drawing/2014/main" id="{F3080122-7342-8DC0-EB88-80166C6A337E}"/>
              </a:ext>
            </a:extLst>
          </p:cNvPr>
          <p:cNvSpPr/>
          <p:nvPr/>
        </p:nvSpPr>
        <p:spPr>
          <a:xfrm>
            <a:off x="382417" y="482246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50" name="正方形/長方形 49">
            <a:extLst>
              <a:ext uri="{FF2B5EF4-FFF2-40B4-BE49-F238E27FC236}">
                <a16:creationId xmlns:a16="http://schemas.microsoft.com/office/drawing/2014/main" id="{7A63549A-D9C8-4615-E981-562D7430EED9}"/>
              </a:ext>
            </a:extLst>
          </p:cNvPr>
          <p:cNvSpPr/>
          <p:nvPr/>
        </p:nvSpPr>
        <p:spPr>
          <a:xfrm>
            <a:off x="353788" y="563058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52" name="正方形/長方形 51">
            <a:extLst>
              <a:ext uri="{FF2B5EF4-FFF2-40B4-BE49-F238E27FC236}">
                <a16:creationId xmlns:a16="http://schemas.microsoft.com/office/drawing/2014/main" id="{4603A22F-776D-40CB-187E-D7BE60730259}"/>
              </a:ext>
            </a:extLst>
          </p:cNvPr>
          <p:cNvSpPr/>
          <p:nvPr/>
        </p:nvSpPr>
        <p:spPr>
          <a:xfrm>
            <a:off x="369717" y="58331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4" name="正方形/長方形 53">
            <a:extLst>
              <a:ext uri="{FF2B5EF4-FFF2-40B4-BE49-F238E27FC236}">
                <a16:creationId xmlns:a16="http://schemas.microsoft.com/office/drawing/2014/main" id="{C7C4CEA4-93EB-5CF2-F030-DFFC04905D60}"/>
              </a:ext>
            </a:extLst>
          </p:cNvPr>
          <p:cNvSpPr/>
          <p:nvPr/>
        </p:nvSpPr>
        <p:spPr>
          <a:xfrm>
            <a:off x="359876" y="5935935"/>
            <a:ext cx="3893627" cy="1330759"/>
          </a:xfrm>
          <a:prstGeom prst="rect">
            <a:avLst/>
          </a:prstGeom>
          <a:solidFill>
            <a:schemeClr val="bg1"/>
          </a:solidFill>
          <a:ln>
            <a:noFill/>
          </a:ln>
        </p:spPr>
        <p:txBody>
          <a:bodyPr lIns="0" rIns="0" rtlCol="0" anchor="t"/>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a:solidFill>
                  <a:prstClr val="black"/>
                </a:solidFill>
                <a:latin typeface="Meiryo UI"/>
              </a:rPr>
              <a:t>版への更新に際し、</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の見直しを実施しております。</a:t>
            </a:r>
            <a:endParaRPr kumimoji="1" lang="en-US" altLang="ja-JP" sz="600" dirty="0">
              <a:solidFill>
                <a:prstClr val="black"/>
              </a:solidFill>
              <a:latin typeface="Meiryo UI"/>
            </a:endParaRPr>
          </a:p>
          <a:p>
            <a:pPr lvl="0" fontAlgn="base">
              <a:spcBef>
                <a:spcPct val="20000"/>
              </a:spcBef>
              <a:spcAft>
                <a:spcPct val="0"/>
              </a:spcAft>
              <a:defRPr/>
            </a:pPr>
            <a:r>
              <a:rPr kumimoji="1" lang="ja-JP" altLang="en-US" sz="600">
                <a:solidFill>
                  <a:prstClr val="black"/>
                </a:solidFill>
                <a:latin typeface="Meiryo UI"/>
              </a:rPr>
              <a:t>そのため、</a:t>
            </a:r>
            <a:r>
              <a:rPr kumimoji="1" lang="en-US" altLang="ja-JP" sz="600" dirty="0">
                <a:solidFill>
                  <a:prstClr val="black"/>
                </a:solidFill>
                <a:latin typeface="Meiryo UI"/>
              </a:rPr>
              <a:t>20250401</a:t>
            </a:r>
            <a:r>
              <a:rPr kumimoji="1" lang="ja-JP" altLang="en-US" sz="600">
                <a:solidFill>
                  <a:prstClr val="black"/>
                </a:solidFill>
                <a:latin typeface="Meiryo UI"/>
              </a:rPr>
              <a:t>以前の版で登録している場合、新しいマスタへの移行をお願いいたします。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a:p>
            <a:pPr lvl="0" fontAlgn="base">
              <a:spcBef>
                <a:spcPct val="20000"/>
              </a:spcBef>
              <a:spcAft>
                <a:spcPct val="0"/>
              </a:spcAft>
              <a:defRPr/>
            </a:pPr>
            <a:endParaRPr kumimoji="1" lang="en-US" altLang="ja-JP" sz="6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a:ln>
                  <a:noFill/>
                </a:ln>
                <a:effectLst/>
                <a:uLnTx/>
                <a:uFillTx/>
                <a:latin typeface="Meiryo UI"/>
                <a:ea typeface="Meiryo UI"/>
                <a:cs typeface="+mn-cs"/>
              </a:rPr>
              <a:t>月末以降は、</a:t>
            </a:r>
            <a:r>
              <a:rPr kumimoji="1" lang="en-US" altLang="ja-JP" sz="600" dirty="0">
                <a:latin typeface="Meiryo UI"/>
                <a:ea typeface="Meiryo UI"/>
              </a:rPr>
              <a:t>20250401</a:t>
            </a:r>
            <a:r>
              <a:rPr kumimoji="1" lang="ja-JP" altLang="en-US" sz="600" i="0" u="none" strike="noStrike" kern="1200" cap="none" spc="0" normalizeH="0" baseline="0" noProof="0">
                <a:ln>
                  <a:noFill/>
                </a:ln>
                <a:effectLst/>
                <a:uLnTx/>
                <a:uFillTx/>
                <a:latin typeface="Meiryo UI"/>
                <a:ea typeface="Meiryo UI"/>
                <a:cs typeface="+mn-cs"/>
              </a:rPr>
              <a:t>版に記載されている次の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a:ln>
                  <a:noFill/>
                </a:ln>
                <a:effectLst/>
                <a:uLnTx/>
                <a:uFillTx/>
                <a:latin typeface="Meiryo UI"/>
                <a:ea typeface="Meiryo UI"/>
                <a:cs typeface="+mn-cs"/>
              </a:rPr>
              <a:t>コードについて変更となったため、電子カルテ情報共有サービスに登録できなくなります。</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pic>
        <p:nvPicPr>
          <p:cNvPr id="56" name="図 55">
            <a:extLst>
              <a:ext uri="{FF2B5EF4-FFF2-40B4-BE49-F238E27FC236}">
                <a16:creationId xmlns:a16="http://schemas.microsoft.com/office/drawing/2014/main" id="{A01801B4-B447-FA12-373D-00AD8164DBE0}"/>
              </a:ext>
            </a:extLst>
          </p:cNvPr>
          <p:cNvPicPr>
            <a:picLocks noChangeAspect="1"/>
          </p:cNvPicPr>
          <p:nvPr/>
        </p:nvPicPr>
        <p:blipFill>
          <a:blip r:embed="rId5"/>
          <a:srcRect b="70690"/>
          <a:stretch>
            <a:fillRect/>
          </a:stretch>
        </p:blipFill>
        <p:spPr>
          <a:xfrm>
            <a:off x="368838" y="7639411"/>
            <a:ext cx="3837337" cy="150183"/>
          </a:xfrm>
          <a:prstGeom prst="rect">
            <a:avLst/>
          </a:prstGeom>
        </p:spPr>
      </p:pic>
      <p:graphicFrame>
        <p:nvGraphicFramePr>
          <p:cNvPr id="58" name="表 57">
            <a:extLst>
              <a:ext uri="{FF2B5EF4-FFF2-40B4-BE49-F238E27FC236}">
                <a16:creationId xmlns:a16="http://schemas.microsoft.com/office/drawing/2014/main" id="{66F6E978-6CAE-B876-667E-999DF6F4D999}"/>
              </a:ext>
            </a:extLst>
          </p:cNvPr>
          <p:cNvGraphicFramePr>
            <a:graphicFrameLocks noGrp="1"/>
          </p:cNvGraphicFramePr>
          <p:nvPr/>
        </p:nvGraphicFramePr>
        <p:xfrm>
          <a:off x="968438" y="7838462"/>
          <a:ext cx="2370429" cy="333725"/>
        </p:xfrm>
        <a:graphic>
          <a:graphicData uri="http://schemas.openxmlformats.org/drawingml/2006/table">
            <a:tbl>
              <a:tblPr/>
              <a:tblGrid>
                <a:gridCol w="402204">
                  <a:extLst>
                    <a:ext uri="{9D8B030D-6E8A-4147-A177-3AD203B41FA5}">
                      <a16:colId xmlns:a16="http://schemas.microsoft.com/office/drawing/2014/main" val="4058772077"/>
                    </a:ext>
                  </a:extLst>
                </a:gridCol>
                <a:gridCol w="451791">
                  <a:extLst>
                    <a:ext uri="{9D8B030D-6E8A-4147-A177-3AD203B41FA5}">
                      <a16:colId xmlns:a16="http://schemas.microsoft.com/office/drawing/2014/main" val="154882630"/>
                    </a:ext>
                  </a:extLst>
                </a:gridCol>
                <a:gridCol w="505478">
                  <a:extLst>
                    <a:ext uri="{9D8B030D-6E8A-4147-A177-3AD203B41FA5}">
                      <a16:colId xmlns:a16="http://schemas.microsoft.com/office/drawing/2014/main" val="227139091"/>
                    </a:ext>
                  </a:extLst>
                </a:gridCol>
                <a:gridCol w="505478">
                  <a:extLst>
                    <a:ext uri="{9D8B030D-6E8A-4147-A177-3AD203B41FA5}">
                      <a16:colId xmlns:a16="http://schemas.microsoft.com/office/drawing/2014/main" val="892848932"/>
                    </a:ext>
                  </a:extLst>
                </a:gridCol>
                <a:gridCol w="505478">
                  <a:extLst>
                    <a:ext uri="{9D8B030D-6E8A-4147-A177-3AD203B41FA5}">
                      <a16:colId xmlns:a16="http://schemas.microsoft.com/office/drawing/2014/main" val="420957508"/>
                    </a:ext>
                  </a:extLst>
                </a:gridCol>
              </a:tblGrid>
              <a:tr h="176190">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500" b="0" i="0" u="none" strike="noStrike" dirty="0">
                          <a:solidFill>
                            <a:srgbClr val="000000"/>
                          </a:solidFill>
                          <a:effectLst/>
                          <a:latin typeface="+mj-ea"/>
                          <a:ea typeface="+mj-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60" name="図 19">
            <a:extLst>
              <a:ext uri="{FF2B5EF4-FFF2-40B4-BE49-F238E27FC236}">
                <a16:creationId xmlns:a16="http://schemas.microsoft.com/office/drawing/2014/main" id="{455159EE-04A4-16C3-1D00-0AF576DFF3CF}"/>
              </a:ext>
            </a:extLst>
          </p:cNvPr>
          <p:cNvPicPr preferRelativeResize="0">
            <a:picLocks/>
          </p:cNvPicPr>
          <p:nvPr/>
        </p:nvPicPr>
        <p:blipFill>
          <a:blip r:embed="rId3"/>
          <a:srcRect l="2946" t="103836" r="-2946" b="-15325"/>
          <a:stretch>
            <a:fillRect/>
          </a:stretch>
        </p:blipFill>
        <p:spPr>
          <a:xfrm>
            <a:off x="216242" y="2788607"/>
            <a:ext cx="4300396" cy="6356969"/>
          </a:xfrm>
          <a:prstGeom prst="rect">
            <a:avLst/>
          </a:prstGeom>
          <a:ln w="19050">
            <a:solidFill>
              <a:schemeClr val="bg1">
                <a:lumMod val="85000"/>
              </a:schemeClr>
            </a:solidFill>
          </a:ln>
        </p:spPr>
      </p:pic>
      <p:sp>
        <p:nvSpPr>
          <p:cNvPr id="95" name="正方形/長方形 94">
            <a:extLst>
              <a:ext uri="{FF2B5EF4-FFF2-40B4-BE49-F238E27FC236}">
                <a16:creationId xmlns:a16="http://schemas.microsoft.com/office/drawing/2014/main" id="{E772DFC0-AE3D-FD17-FA09-D52B0D2A6C02}"/>
              </a:ext>
            </a:extLst>
          </p:cNvPr>
          <p:cNvSpPr/>
          <p:nvPr/>
        </p:nvSpPr>
        <p:spPr>
          <a:xfrm>
            <a:off x="1205954" y="2261163"/>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strike="noStrike" kern="1200" cap="none" spc="0" normalizeH="0" baseline="0" noProof="0">
                <a:ln>
                  <a:noFill/>
                </a:ln>
                <a:solidFill>
                  <a:prstClr val="black"/>
                </a:solidFill>
                <a:effectLst/>
                <a:uLnTx/>
                <a:uFillTx/>
                <a:latin typeface="Meiryo UI"/>
                <a:ea typeface="Meiryo UI"/>
                <a:cs typeface="+mn-cs"/>
              </a:rPr>
              <a:t>参考</a:t>
            </a: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202606</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末～</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01" name="図 100">
            <a:extLst>
              <a:ext uri="{FF2B5EF4-FFF2-40B4-BE49-F238E27FC236}">
                <a16:creationId xmlns:a16="http://schemas.microsoft.com/office/drawing/2014/main" id="{470148AC-C6E2-4A96-A7A4-9B5623E691A1}"/>
              </a:ext>
            </a:extLst>
          </p:cNvPr>
          <p:cNvPicPr>
            <a:picLocks noChangeAspect="1"/>
          </p:cNvPicPr>
          <p:nvPr/>
        </p:nvPicPr>
        <p:blipFill>
          <a:blip r:embed="rId6"/>
          <a:srcRect t="91998" b="1648"/>
          <a:stretch>
            <a:fillRect/>
          </a:stretch>
        </p:blipFill>
        <p:spPr>
          <a:xfrm>
            <a:off x="5253936" y="8000868"/>
            <a:ext cx="4234676" cy="209249"/>
          </a:xfrm>
          <a:prstGeom prst="rect">
            <a:avLst/>
          </a:prstGeom>
        </p:spPr>
      </p:pic>
      <p:graphicFrame>
        <p:nvGraphicFramePr>
          <p:cNvPr id="105" name="表 104">
            <a:extLst>
              <a:ext uri="{FF2B5EF4-FFF2-40B4-BE49-F238E27FC236}">
                <a16:creationId xmlns:a16="http://schemas.microsoft.com/office/drawing/2014/main" id="{85F24275-3421-8E2B-9DFF-06BF78F0D88D}"/>
              </a:ext>
            </a:extLst>
          </p:cNvPr>
          <p:cNvGraphicFramePr>
            <a:graphicFrameLocks noGrp="1"/>
          </p:cNvGraphicFramePr>
          <p:nvPr/>
        </p:nvGraphicFramePr>
        <p:xfrm>
          <a:off x="5445697"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C482113C-E410-78F2-AE97-E3A339A2C4C6}"/>
              </a:ext>
            </a:extLst>
          </p:cNvPr>
          <p:cNvGrpSpPr/>
          <p:nvPr/>
        </p:nvGrpSpPr>
        <p:grpSpPr>
          <a:xfrm>
            <a:off x="5504803" y="7211180"/>
            <a:ext cx="3320193" cy="258145"/>
            <a:chOff x="8168173" y="4422050"/>
            <a:chExt cx="2743961" cy="213343"/>
          </a:xfrm>
        </p:grpSpPr>
        <p:pic>
          <p:nvPicPr>
            <p:cNvPr id="11" name="図 10">
              <a:extLst>
                <a:ext uri="{FF2B5EF4-FFF2-40B4-BE49-F238E27FC236}">
                  <a16:creationId xmlns:a16="http://schemas.microsoft.com/office/drawing/2014/main" id="{522D3D6E-E1C1-D154-8AA2-E8041294F691}"/>
                </a:ext>
              </a:extLst>
            </p:cNvPr>
            <p:cNvPicPr>
              <a:picLocks noChangeAspect="1"/>
            </p:cNvPicPr>
            <p:nvPr/>
          </p:nvPicPr>
          <p:blipFill>
            <a:blip r:embed="rId8"/>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1F28BBD8-97A6-3718-53A1-2634331B45C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600" b="1" dirty="0">
                  <a:solidFill>
                    <a:prstClr val="black"/>
                  </a:solidFill>
                  <a:highlight>
                    <a:srgbClr val="FFFF00"/>
                  </a:highlight>
                  <a:latin typeface="Meiryo UI"/>
                  <a:ea typeface="Meiryo UI"/>
                </a:rPr>
                <a:t>9</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日まで適用のマスタのダウンロードリンク</a:t>
              </a:r>
            </a:p>
          </p:txBody>
        </p:sp>
      </p:grpSp>
    </p:spTree>
    <p:extLst>
      <p:ext uri="{BB962C8B-B14F-4D97-AF65-F5344CB8AC3E}">
        <p14:creationId xmlns:p14="http://schemas.microsoft.com/office/powerpoint/2010/main" val="118102969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9C33-871F-52B8-8B5E-2C7EFC2E9886}"/>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2F61435-5D6D-5B90-95DA-BCB542F26403}"/>
              </a:ext>
            </a:extLst>
          </p:cNvPr>
          <p:cNvSpPr/>
          <p:nvPr/>
        </p:nvSpPr>
        <p:spPr>
          <a:xfrm>
            <a:off x="0" y="6639379"/>
            <a:ext cx="9906000" cy="1330760"/>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1A0C8E7-1EC8-7BA0-3DF6-C72D29990D09}"/>
              </a:ext>
            </a:extLst>
          </p:cNvPr>
          <p:cNvPicPr preferRelativeResize="0">
            <a:picLocks/>
          </p:cNvPicPr>
          <p:nvPr/>
        </p:nvPicPr>
        <p:blipFill>
          <a:blip r:embed="rId2"/>
          <a:srcRect l="2946" t="103836" r="-2946" b="-15325"/>
          <a:stretch>
            <a:fillRect/>
          </a:stretch>
        </p:blipFill>
        <p:spPr>
          <a:xfrm>
            <a:off x="5294421" y="2802139"/>
            <a:ext cx="4300396" cy="3062335"/>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3A9BBE56-A21F-E1F9-D22F-A61B6F1F339F}"/>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en-US" altLang="ja-JP" sz="1300" dirty="0"/>
              <a:t>【</a:t>
            </a:r>
            <a:r>
              <a:rPr kumimoji="1" lang="ja-JP" altLang="en-US" sz="1300"/>
              <a:t>参考表</a:t>
            </a:r>
            <a:r>
              <a:rPr kumimoji="1" lang="en-US" altLang="ja-JP" sz="1300" dirty="0"/>
              <a:t>】『</a:t>
            </a:r>
            <a:r>
              <a:rPr kumimoji="1" lang="ja-JP" altLang="en-US" sz="1300"/>
              <a:t>一般名処方マスタ</a:t>
            </a:r>
            <a:r>
              <a:rPr kumimoji="1" lang="en-US" altLang="ja-JP" sz="1300" dirty="0"/>
              <a:t>』</a:t>
            </a:r>
            <a:r>
              <a:rPr kumimoji="1" lang="ja-JP" altLang="en-US" sz="1300"/>
              <a:t>と </a:t>
            </a:r>
            <a:r>
              <a:rPr kumimoji="1" lang="en-US" altLang="ja-JP" sz="1300" dirty="0"/>
              <a:t>『</a:t>
            </a:r>
            <a:r>
              <a:rPr kumimoji="1" lang="ja-JP" altLang="en-US" sz="1300"/>
              <a:t>剤形・規格・銘柄不明コードマスタ</a:t>
            </a:r>
            <a:r>
              <a:rPr kumimoji="1" lang="en-US" altLang="ja-JP" sz="1300" dirty="0"/>
              <a:t>』</a:t>
            </a:r>
            <a:r>
              <a:rPr kumimoji="1" lang="ja-JP" altLang="en-US" sz="1300"/>
              <a:t>との対応表</a:t>
            </a:r>
          </a:p>
        </p:txBody>
      </p:sp>
      <p:sp>
        <p:nvSpPr>
          <p:cNvPr id="4" name="四角形: 角を丸くする 3">
            <a:extLst>
              <a:ext uri="{FF2B5EF4-FFF2-40B4-BE49-F238E27FC236}">
                <a16:creationId xmlns:a16="http://schemas.microsoft.com/office/drawing/2014/main" id="{DEBD4B99-2578-960E-61C3-7F09C7E57A62}"/>
              </a:ext>
            </a:extLst>
          </p:cNvPr>
          <p:cNvSpPr/>
          <p:nvPr/>
        </p:nvSpPr>
        <p:spPr>
          <a:xfrm>
            <a:off x="506999" y="793515"/>
            <a:ext cx="3135103" cy="501200"/>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lvl="0" algn="ctr" defTabSz="914400" eaLnBrk="0" hangingPunct="0">
              <a:defRPr/>
            </a:pP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左：</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記事番号</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KB0011216</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右：</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新規ページ追加依頼</a:t>
            </a:r>
          </a:p>
        </p:txBody>
      </p:sp>
      <p:sp>
        <p:nvSpPr>
          <p:cNvPr id="6" name="正方形/長方形 5">
            <a:extLst>
              <a:ext uri="{FF2B5EF4-FFF2-40B4-BE49-F238E27FC236}">
                <a16:creationId xmlns:a16="http://schemas.microsoft.com/office/drawing/2014/main" id="{B0D55BDA-FF15-5DEA-24C5-83B18268431F}"/>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●新たに「</a:t>
            </a:r>
            <a:r>
              <a:rPr kumimoji="1" lang="en-US" altLang="ja-JP" sz="1100" dirty="0">
                <a:solidFill>
                  <a:prstClr val="black"/>
                </a:solidFill>
                <a:latin typeface="Meiryo UI"/>
              </a:rPr>
              <a:t>【</a:t>
            </a:r>
            <a:r>
              <a:rPr kumimoji="1" lang="ja-JP" altLang="en-US" sz="1100">
                <a:solidFill>
                  <a:prstClr val="black"/>
                </a:solidFill>
                <a:latin typeface="Meiryo UI"/>
              </a:rPr>
              <a:t>参考表</a:t>
            </a:r>
            <a:r>
              <a:rPr kumimoji="1" lang="en-US" altLang="ja-JP" sz="1100" dirty="0">
                <a:solidFill>
                  <a:prstClr val="black"/>
                </a:solidFill>
                <a:latin typeface="Meiryo UI"/>
              </a:rPr>
              <a:t>】『</a:t>
            </a:r>
            <a:r>
              <a:rPr kumimoji="1" lang="ja-JP" altLang="en-US" sz="1100">
                <a:solidFill>
                  <a:prstClr val="black"/>
                </a:solidFill>
                <a:latin typeface="Meiryo UI"/>
              </a:rPr>
              <a:t>一般名処方マスタ</a:t>
            </a:r>
            <a:r>
              <a:rPr kumimoji="1" lang="en-US" altLang="ja-JP" sz="1100" dirty="0">
                <a:solidFill>
                  <a:prstClr val="black"/>
                </a:solidFill>
                <a:latin typeface="Meiryo UI"/>
              </a:rPr>
              <a:t>』</a:t>
            </a:r>
            <a:r>
              <a:rPr kumimoji="1" lang="ja-JP" altLang="en-US" sz="1100">
                <a:solidFill>
                  <a:prstClr val="black"/>
                </a:solidFill>
                <a:latin typeface="Meiryo UI"/>
              </a:rPr>
              <a:t>と </a:t>
            </a:r>
            <a:r>
              <a:rPr kumimoji="1" lang="en-US" altLang="ja-JP" sz="1100" dirty="0">
                <a:solidFill>
                  <a:prstClr val="black"/>
                </a:solidFill>
                <a:latin typeface="Meiryo UI"/>
              </a:rPr>
              <a:t>『</a:t>
            </a:r>
            <a:r>
              <a:rPr kumimoji="1" lang="ja-JP" altLang="en-US" sz="1100">
                <a:solidFill>
                  <a:prstClr val="black"/>
                </a:solidFill>
                <a:latin typeface="Meiryo UI"/>
              </a:rPr>
              <a:t>剤形・規格・銘柄不明コードマスタ</a:t>
            </a:r>
            <a:r>
              <a:rPr kumimoji="1" lang="en-US" altLang="ja-JP" sz="1100" dirty="0">
                <a:solidFill>
                  <a:prstClr val="black"/>
                </a:solidFill>
                <a:latin typeface="Meiryo UI"/>
              </a:rPr>
              <a:t>』</a:t>
            </a:r>
            <a:r>
              <a:rPr kumimoji="1" lang="ja-JP" altLang="en-US" sz="1100">
                <a:solidFill>
                  <a:prstClr val="black"/>
                </a:solidFill>
                <a:latin typeface="Meiryo UI"/>
              </a:rPr>
              <a:t>との対応表」を公開するため、以下のイメージのように、</a:t>
            </a:r>
            <a:r>
              <a:rPr kumimoji="1" lang="ja-JP" altLang="en-US" sz="1100" b="1">
                <a:solidFill>
                  <a:prstClr val="black"/>
                </a:solidFill>
                <a:latin typeface="Meiryo UI"/>
              </a:rPr>
              <a:t>既存ページへの追記</a:t>
            </a:r>
            <a:r>
              <a:rPr kumimoji="1" lang="ja-JP" altLang="en-US" sz="1100">
                <a:solidFill>
                  <a:prstClr val="black"/>
                </a:solidFill>
                <a:latin typeface="Meiryo UI"/>
              </a:rPr>
              <a:t>及び</a:t>
            </a:r>
            <a:r>
              <a:rPr kumimoji="1" lang="ja-JP" altLang="en-US" sz="1100" b="1">
                <a:solidFill>
                  <a:prstClr val="black"/>
                </a:solidFill>
                <a:latin typeface="Meiryo UI"/>
              </a:rPr>
              <a:t>新規ページの追加</a:t>
            </a:r>
            <a:r>
              <a:rPr kumimoji="1" lang="ja-JP" altLang="en-US" sz="1100">
                <a:solidFill>
                  <a:prstClr val="black"/>
                </a:solidFill>
                <a:latin typeface="Meiryo UI"/>
              </a:rPr>
              <a:t>をお願いいたします。</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8D5CC7C8-1950-523E-17EA-885E170EAFF5}"/>
              </a:ext>
            </a:extLst>
          </p:cNvPr>
          <p:cNvSpPr/>
          <p:nvPr/>
        </p:nvSpPr>
        <p:spPr>
          <a:xfrm>
            <a:off x="6427030" y="2258519"/>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b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br>
            <a:r>
              <a:rPr kumimoji="1" lang="ja-JP" altLang="en-US" sz="900" b="0" i="0" strike="noStrike" kern="1200" cap="none" spc="0" normalizeH="0" baseline="0" noProof="0">
                <a:ln>
                  <a:noFill/>
                </a:ln>
                <a:solidFill>
                  <a:prstClr val="black"/>
                </a:solidFill>
                <a:effectLst/>
                <a:uLnTx/>
                <a:uFillTx/>
                <a:latin typeface="Meiryo UI"/>
                <a:ea typeface="Meiryo UI"/>
                <a:cs typeface="+mn-cs"/>
              </a:rPr>
              <a:t>新規ページの追加</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291052C2-9B12-9882-7EA8-5AFAFFD9CBC4}"/>
              </a:ext>
            </a:extLst>
          </p:cNvPr>
          <p:cNvCxnSpPr>
            <a:cxnSpLocks/>
          </p:cNvCxnSpPr>
          <p:nvPr/>
        </p:nvCxnSpPr>
        <p:spPr bwMode="auto">
          <a:xfrm>
            <a:off x="4919731" y="1913205"/>
            <a:ext cx="0" cy="5806539"/>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608FA59A-DF42-07A7-60EC-71FAB57208A3}"/>
              </a:ext>
            </a:extLst>
          </p:cNvPr>
          <p:cNvSpPr/>
          <p:nvPr/>
        </p:nvSpPr>
        <p:spPr>
          <a:xfrm>
            <a:off x="5224882" y="2176407"/>
            <a:ext cx="4431372" cy="380411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40" name="正方形/長方形 39">
            <a:extLst>
              <a:ext uri="{FF2B5EF4-FFF2-40B4-BE49-F238E27FC236}">
                <a16:creationId xmlns:a16="http://schemas.microsoft.com/office/drawing/2014/main" id="{A83A3AB6-F3B1-0A45-AC1D-8728CECCB61A}"/>
              </a:ext>
            </a:extLst>
          </p:cNvPr>
          <p:cNvSpPr/>
          <p:nvPr/>
        </p:nvSpPr>
        <p:spPr>
          <a:xfrm>
            <a:off x="160873" y="2176405"/>
            <a:ext cx="4494819" cy="523460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95" name="正方形/長方形 94">
            <a:extLst>
              <a:ext uri="{FF2B5EF4-FFF2-40B4-BE49-F238E27FC236}">
                <a16:creationId xmlns:a16="http://schemas.microsoft.com/office/drawing/2014/main" id="{97ADA907-AB50-3F0D-4744-C884405320A3}"/>
              </a:ext>
            </a:extLst>
          </p:cNvPr>
          <p:cNvSpPr/>
          <p:nvPr/>
        </p:nvSpPr>
        <p:spPr>
          <a:xfrm>
            <a:off x="1282156" y="2218829"/>
            <a:ext cx="1895395" cy="300005"/>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i="0" strike="noStrike" kern="1200" cap="none" spc="0" normalizeH="0" baseline="0" noProof="0">
                <a:ln>
                  <a:noFill/>
                </a:ln>
                <a:solidFill>
                  <a:prstClr val="black"/>
                </a:solidFill>
                <a:effectLst/>
                <a:uLnTx/>
                <a:uFillTx/>
                <a:latin typeface="Meiryo UI"/>
                <a:ea typeface="Meiryo UI"/>
                <a:cs typeface="+mn-cs"/>
              </a:rPr>
              <a:t>既存ページへの追記</a:t>
            </a:r>
            <a:endParaRPr kumimoji="1" lang="en-US" altLang="ja-JP" sz="900" i="0" strike="noStrike" kern="1200" cap="none" spc="0" normalizeH="0" baseline="0" noProof="0" dirty="0">
              <a:ln>
                <a:noFill/>
              </a:ln>
              <a:solidFill>
                <a:prstClr val="black"/>
              </a:solidFill>
              <a:effectLst/>
              <a:uLnTx/>
              <a:uFillTx/>
              <a:latin typeface="Meiryo UI"/>
              <a:ea typeface="Meiryo UI"/>
              <a:cs typeface="+mn-cs"/>
            </a:endParaRPr>
          </a:p>
        </p:txBody>
      </p:sp>
      <p:pic>
        <p:nvPicPr>
          <p:cNvPr id="8" name="図 7">
            <a:extLst>
              <a:ext uri="{FF2B5EF4-FFF2-40B4-BE49-F238E27FC236}">
                <a16:creationId xmlns:a16="http://schemas.microsoft.com/office/drawing/2014/main" id="{93DFDBF9-F6D2-78CB-6053-3FD608988E2B}"/>
              </a:ext>
            </a:extLst>
          </p:cNvPr>
          <p:cNvPicPr>
            <a:picLocks noChangeAspect="1"/>
          </p:cNvPicPr>
          <p:nvPr/>
        </p:nvPicPr>
        <p:blipFill>
          <a:blip r:embed="rId3"/>
          <a:srcRect l="956" r="3172"/>
          <a:stretch>
            <a:fillRect/>
          </a:stretch>
        </p:blipFill>
        <p:spPr>
          <a:xfrm>
            <a:off x="248333" y="2754066"/>
            <a:ext cx="4393719" cy="4195374"/>
          </a:xfrm>
          <a:prstGeom prst="rect">
            <a:avLst/>
          </a:prstGeom>
        </p:spPr>
      </p:pic>
      <p:sp>
        <p:nvSpPr>
          <p:cNvPr id="10" name="四角形: 角を丸くする 9">
            <a:extLst>
              <a:ext uri="{FF2B5EF4-FFF2-40B4-BE49-F238E27FC236}">
                <a16:creationId xmlns:a16="http://schemas.microsoft.com/office/drawing/2014/main" id="{0B29B046-13D9-8D44-B621-D5E429537C61}"/>
              </a:ext>
            </a:extLst>
          </p:cNvPr>
          <p:cNvSpPr/>
          <p:nvPr/>
        </p:nvSpPr>
        <p:spPr>
          <a:xfrm>
            <a:off x="3898902" y="1885590"/>
            <a:ext cx="2084866" cy="656505"/>
          </a:xfrm>
          <a:prstGeom prst="roundRect">
            <a:avLst/>
          </a:prstGeom>
          <a:solidFill>
            <a:schemeClr val="accent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月の薬剤関連マスタ公開時にこちらのレイアウトに更新ください。</a:t>
            </a:r>
          </a:p>
        </p:txBody>
      </p:sp>
      <p:pic>
        <p:nvPicPr>
          <p:cNvPr id="22" name="図 21">
            <a:extLst>
              <a:ext uri="{FF2B5EF4-FFF2-40B4-BE49-F238E27FC236}">
                <a16:creationId xmlns:a16="http://schemas.microsoft.com/office/drawing/2014/main" id="{51D11E02-E7F3-A8CD-B594-49CDE8ACCCF8}"/>
              </a:ext>
            </a:extLst>
          </p:cNvPr>
          <p:cNvPicPr>
            <a:picLocks noChangeAspect="1"/>
          </p:cNvPicPr>
          <p:nvPr/>
        </p:nvPicPr>
        <p:blipFill>
          <a:blip r:embed="rId3"/>
          <a:srcRect l="956" t="87939" r="3172"/>
          <a:stretch>
            <a:fillRect/>
          </a:stretch>
        </p:blipFill>
        <p:spPr>
          <a:xfrm>
            <a:off x="248226" y="6747931"/>
            <a:ext cx="4393719" cy="506024"/>
          </a:xfrm>
          <a:prstGeom prst="rect">
            <a:avLst/>
          </a:prstGeom>
        </p:spPr>
      </p:pic>
      <p:sp>
        <p:nvSpPr>
          <p:cNvPr id="23" name="正方形/長方形 22">
            <a:extLst>
              <a:ext uri="{FF2B5EF4-FFF2-40B4-BE49-F238E27FC236}">
                <a16:creationId xmlns:a16="http://schemas.microsoft.com/office/drawing/2014/main" id="{348F3941-240F-1956-7691-EE7BF67E7FCA}"/>
              </a:ext>
            </a:extLst>
          </p:cNvPr>
          <p:cNvSpPr/>
          <p:nvPr/>
        </p:nvSpPr>
        <p:spPr>
          <a:xfrm>
            <a:off x="1751816" y="6498182"/>
            <a:ext cx="2264129" cy="249748"/>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700" i="0" u="none" strike="noStrike" kern="1200" cap="none" spc="0" normalizeH="0" baseline="0" noProof="0" dirty="0">
                <a:ln>
                  <a:noFill/>
                </a:ln>
                <a:effectLst/>
                <a:highlight>
                  <a:srgbClr val="FFFF00"/>
                </a:highlight>
                <a:uLnTx/>
                <a:uFillTx/>
                <a:latin typeface="Meiryo UI"/>
                <a:ea typeface="Meiryo UI"/>
                <a:cs typeface="+mn-cs"/>
              </a:rPr>
              <a:t>※</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参考として「一般名</a:t>
            </a:r>
            <a:r>
              <a:rPr kumimoji="1" lang="ja-JP" altLang="en-US" sz="700">
                <a:highlight>
                  <a:srgbClr val="FFFF00"/>
                </a:highlight>
                <a:latin typeface="Meiryo UI"/>
                <a:ea typeface="Meiryo UI"/>
              </a:rPr>
              <a:t>処方マスタ</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」との対応表は</a:t>
            </a:r>
            <a:r>
              <a:rPr kumimoji="1" lang="ja-JP" altLang="en-US" sz="700" i="0" u="sng" strike="noStrike" kern="1200" cap="none" spc="0" normalizeH="0" baseline="0" noProof="0">
                <a:ln>
                  <a:noFill/>
                </a:ln>
                <a:solidFill>
                  <a:srgbClr val="3516FF"/>
                </a:solidFill>
                <a:effectLst/>
                <a:highlight>
                  <a:srgbClr val="FFFF00"/>
                </a:highlight>
                <a:uLnTx/>
                <a:uFillTx/>
                <a:latin typeface="Meiryo UI"/>
                <a:ea typeface="Meiryo UI"/>
                <a:cs typeface="+mn-cs"/>
              </a:rPr>
              <a:t>こちらからダウンロード</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a:t>
            </a:r>
            <a:endParaRPr kumimoji="1" lang="en-US" altLang="ja-JP" sz="700" i="0" u="none" strike="noStrike" kern="1200" cap="none" spc="0" normalizeH="0" baseline="0" noProof="0" dirty="0">
              <a:ln>
                <a:noFill/>
              </a:ln>
              <a:effectLst/>
              <a:highlight>
                <a:srgbClr val="FFFF00"/>
              </a:highlight>
              <a:uLnTx/>
              <a:uFillTx/>
              <a:latin typeface="Meiryo UI"/>
              <a:ea typeface="Meiryo UI"/>
              <a:cs typeface="+mn-cs"/>
            </a:endParaRPr>
          </a:p>
        </p:txBody>
      </p:sp>
      <p:pic>
        <p:nvPicPr>
          <p:cNvPr id="60" name="図 19">
            <a:extLst>
              <a:ext uri="{FF2B5EF4-FFF2-40B4-BE49-F238E27FC236}">
                <a16:creationId xmlns:a16="http://schemas.microsoft.com/office/drawing/2014/main" id="{7FCC6E70-1C6A-729A-8073-A187F647E8DA}"/>
              </a:ext>
            </a:extLst>
          </p:cNvPr>
          <p:cNvPicPr preferRelativeResize="0">
            <a:picLocks/>
          </p:cNvPicPr>
          <p:nvPr/>
        </p:nvPicPr>
        <p:blipFill>
          <a:blip r:embed="rId2"/>
          <a:srcRect l="2946" t="103836" r="-2946" b="-15325"/>
          <a:stretch>
            <a:fillRect/>
          </a:stretch>
        </p:blipFill>
        <p:spPr>
          <a:xfrm>
            <a:off x="234236" y="2661599"/>
            <a:ext cx="4366248" cy="4652254"/>
          </a:xfrm>
          <a:prstGeom prst="rect">
            <a:avLst/>
          </a:prstGeom>
          <a:ln w="19050">
            <a:solidFill>
              <a:schemeClr val="bg1">
                <a:lumMod val="85000"/>
              </a:schemeClr>
            </a:solidFill>
          </a:ln>
        </p:spPr>
      </p:pic>
      <p:sp>
        <p:nvSpPr>
          <p:cNvPr id="21" name="テキスト ボックス 20">
            <a:extLst>
              <a:ext uri="{FF2B5EF4-FFF2-40B4-BE49-F238E27FC236}">
                <a16:creationId xmlns:a16="http://schemas.microsoft.com/office/drawing/2014/main" id="{39E0AEDE-2F2E-58C8-11DD-1F376FE40F7C}"/>
              </a:ext>
            </a:extLst>
          </p:cNvPr>
          <p:cNvSpPr txBox="1"/>
          <p:nvPr/>
        </p:nvSpPr>
        <p:spPr>
          <a:xfrm>
            <a:off x="374620" y="2545900"/>
            <a:ext cx="1072863" cy="178510"/>
          </a:xfrm>
          <a:prstGeom prst="rect">
            <a:avLst/>
          </a:prstGeom>
          <a:solidFill>
            <a:schemeClr val="bg1">
              <a:lumMod val="85000"/>
            </a:schemeClr>
          </a:solidFill>
          <a:ln>
            <a:solidFill>
              <a:schemeClr val="tx1"/>
            </a:solidFill>
          </a:ln>
        </p:spPr>
        <p:txBody>
          <a:bodyPr wrap="square" rtlCol="0">
            <a:spAutoFit/>
          </a:bodyPr>
          <a:lstStyle/>
          <a:p>
            <a:pPr algn="ctr" defTabSz="914400" fontAlgn="base">
              <a:lnSpc>
                <a:spcPct val="80000"/>
              </a:lnSpc>
              <a:spcBef>
                <a:spcPct val="0"/>
              </a:spcBef>
              <a:spcAft>
                <a:spcPct val="0"/>
              </a:spcAft>
            </a:pPr>
            <a:r>
              <a:rPr kumimoji="1" lang="en-US" altLang="ja-JP" sz="700" i="0" dirty="0">
                <a:solidFill>
                  <a:prstClr val="black"/>
                </a:solidFill>
                <a:latin typeface="Meiryo UI" panose="020B0604030504040204" pitchFamily="50" charset="-128"/>
                <a:ea typeface="Meiryo UI" panose="020B0604030504040204" pitchFamily="50" charset="-128"/>
              </a:rPr>
              <a:t>※KB0011216</a:t>
            </a:r>
            <a:r>
              <a:rPr kumimoji="1" lang="ja-JP" altLang="en-US" sz="700" i="0">
                <a:solidFill>
                  <a:prstClr val="black"/>
                </a:solidFill>
                <a:latin typeface="Meiryo UI" panose="020B0604030504040204" pitchFamily="50" charset="-128"/>
                <a:ea typeface="Meiryo UI" panose="020B0604030504040204" pitchFamily="50" charset="-128"/>
              </a:rPr>
              <a:t> 抜粋</a:t>
            </a:r>
          </a:p>
        </p:txBody>
      </p:sp>
      <p:pic>
        <p:nvPicPr>
          <p:cNvPr id="18" name="図 17">
            <a:extLst>
              <a:ext uri="{FF2B5EF4-FFF2-40B4-BE49-F238E27FC236}">
                <a16:creationId xmlns:a16="http://schemas.microsoft.com/office/drawing/2014/main" id="{623751BF-42A0-2C06-00CE-F1F42CEA4D78}"/>
              </a:ext>
            </a:extLst>
          </p:cNvPr>
          <p:cNvPicPr>
            <a:picLocks noChangeAspect="1"/>
          </p:cNvPicPr>
          <p:nvPr/>
        </p:nvPicPr>
        <p:blipFill>
          <a:blip r:embed="rId4"/>
          <a:srcRect b="48725"/>
          <a:stretch>
            <a:fillRect/>
          </a:stretch>
        </p:blipFill>
        <p:spPr>
          <a:xfrm>
            <a:off x="5294422" y="2800921"/>
            <a:ext cx="4300396" cy="1528527"/>
          </a:xfrm>
          <a:prstGeom prst="rect">
            <a:avLst/>
          </a:prstGeom>
        </p:spPr>
      </p:pic>
      <p:sp>
        <p:nvSpPr>
          <p:cNvPr id="24" name="正方形/長方形 23">
            <a:extLst>
              <a:ext uri="{FF2B5EF4-FFF2-40B4-BE49-F238E27FC236}">
                <a16:creationId xmlns:a16="http://schemas.microsoft.com/office/drawing/2014/main" id="{2E6786A9-E864-4B8A-8764-9EA370185ACC}"/>
              </a:ext>
            </a:extLst>
          </p:cNvPr>
          <p:cNvSpPr/>
          <p:nvPr/>
        </p:nvSpPr>
        <p:spPr>
          <a:xfrm>
            <a:off x="5549186" y="2888329"/>
            <a:ext cx="376608" cy="109643"/>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XXXXXXX</a:t>
            </a:r>
          </a:p>
        </p:txBody>
      </p:sp>
      <p:sp>
        <p:nvSpPr>
          <p:cNvPr id="25" name="正方形/長方形 24">
            <a:extLst>
              <a:ext uri="{FF2B5EF4-FFF2-40B4-BE49-F238E27FC236}">
                <a16:creationId xmlns:a16="http://schemas.microsoft.com/office/drawing/2014/main" id="{6A9FC673-48AA-11A7-9F1E-2A199A423962}"/>
              </a:ext>
            </a:extLst>
          </p:cNvPr>
          <p:cNvSpPr/>
          <p:nvPr/>
        </p:nvSpPr>
        <p:spPr>
          <a:xfrm>
            <a:off x="5450259" y="3149173"/>
            <a:ext cx="3981124" cy="555760"/>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1400" dirty="0">
                <a:solidFill>
                  <a:prstClr val="black"/>
                </a:solidFill>
                <a:latin typeface="Meiryo UI"/>
              </a:rPr>
              <a:t>【</a:t>
            </a:r>
            <a:r>
              <a:rPr kumimoji="1" lang="ja-JP" altLang="en-US" sz="1400">
                <a:solidFill>
                  <a:prstClr val="black"/>
                </a:solidFill>
                <a:latin typeface="Meiryo UI"/>
              </a:rPr>
              <a:t>参考表</a:t>
            </a:r>
            <a:r>
              <a:rPr kumimoji="1" lang="en-US" altLang="ja-JP" sz="1400" dirty="0">
                <a:solidFill>
                  <a:prstClr val="black"/>
                </a:solidFill>
                <a:latin typeface="Meiryo UI"/>
              </a:rPr>
              <a:t>】</a:t>
            </a:r>
            <a:r>
              <a:rPr kumimoji="1" lang="ja-JP" altLang="en-US" sz="1400">
                <a:solidFill>
                  <a:prstClr val="black"/>
                </a:solidFill>
                <a:latin typeface="Meiryo UI"/>
              </a:rPr>
              <a:t> </a:t>
            </a:r>
            <a:r>
              <a:rPr kumimoji="1" lang="en-US" altLang="ja-JP" sz="1400" dirty="0">
                <a:solidFill>
                  <a:prstClr val="black"/>
                </a:solidFill>
                <a:latin typeface="Meiryo UI"/>
              </a:rPr>
              <a:t>『</a:t>
            </a:r>
            <a:r>
              <a:rPr kumimoji="1" lang="ja-JP" altLang="en-US" sz="1400">
                <a:solidFill>
                  <a:prstClr val="black"/>
                </a:solidFill>
                <a:latin typeface="Meiryo UI"/>
              </a:rPr>
              <a:t>一般名処方マスタ</a:t>
            </a:r>
            <a:r>
              <a:rPr kumimoji="1" lang="en-US" altLang="ja-JP" sz="1400" dirty="0">
                <a:solidFill>
                  <a:prstClr val="black"/>
                </a:solidFill>
                <a:latin typeface="Meiryo UI"/>
              </a:rPr>
              <a:t>』</a:t>
            </a:r>
            <a:r>
              <a:rPr kumimoji="1" lang="ja-JP" altLang="en-US" sz="1400">
                <a:solidFill>
                  <a:prstClr val="black"/>
                </a:solidFill>
                <a:latin typeface="Meiryo UI"/>
              </a:rPr>
              <a:t>と</a:t>
            </a:r>
            <a:r>
              <a:rPr kumimoji="1" lang="en-US" altLang="ja-JP" sz="1400" dirty="0">
                <a:solidFill>
                  <a:prstClr val="black"/>
                </a:solidFill>
                <a:latin typeface="Meiryo UI"/>
              </a:rPr>
              <a:t>『</a:t>
            </a:r>
            <a:r>
              <a:rPr kumimoji="1" lang="ja-JP" altLang="en-US" sz="1400">
                <a:solidFill>
                  <a:prstClr val="black"/>
                </a:solidFill>
                <a:latin typeface="Meiryo UI"/>
              </a:rPr>
              <a:t>剤形・規格・銘柄不明コードマスタ</a:t>
            </a:r>
            <a:r>
              <a:rPr kumimoji="1" lang="en-US" altLang="ja-JP" sz="1400" dirty="0">
                <a:solidFill>
                  <a:prstClr val="black"/>
                </a:solidFill>
                <a:latin typeface="Meiryo UI"/>
              </a:rPr>
              <a:t>』</a:t>
            </a:r>
            <a:r>
              <a:rPr kumimoji="1" lang="ja-JP" altLang="en-US" sz="1400">
                <a:solidFill>
                  <a:prstClr val="black"/>
                </a:solidFill>
                <a:latin typeface="Meiryo UI"/>
              </a:rPr>
              <a:t>との対応表</a:t>
            </a:r>
            <a:endParaRPr kumimoji="1" lang="en-US" altLang="ja-JP" sz="1400" dirty="0">
              <a:solidFill>
                <a:prstClr val="black"/>
              </a:solidFill>
              <a:latin typeface="Meiryo UI"/>
            </a:endParaRPr>
          </a:p>
        </p:txBody>
      </p:sp>
      <p:sp>
        <p:nvSpPr>
          <p:cNvPr id="27" name="正方形/長方形 26">
            <a:extLst>
              <a:ext uri="{FF2B5EF4-FFF2-40B4-BE49-F238E27FC236}">
                <a16:creationId xmlns:a16="http://schemas.microsoft.com/office/drawing/2014/main" id="{0CA9933D-6361-34BB-4CE7-3C2B6A545BFE}"/>
              </a:ext>
            </a:extLst>
          </p:cNvPr>
          <p:cNvSpPr/>
          <p:nvPr/>
        </p:nvSpPr>
        <p:spPr>
          <a:xfrm>
            <a:off x="5431209" y="411762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ja-JP" altLang="en-US" sz="700">
                <a:solidFill>
                  <a:prstClr val="black"/>
                </a:solidFill>
                <a:latin typeface="Meiryo UI"/>
              </a:rPr>
              <a:t> ・ 本表は、「一般名処方マスタ」と「剤形・規格・銘柄不明コードマスタ」の対応を示したものです。</a:t>
            </a:r>
            <a:endParaRPr kumimoji="1" lang="en-US" altLang="ja-JP" sz="700" dirty="0">
              <a:solidFill>
                <a:prstClr val="black"/>
              </a:solidFill>
              <a:latin typeface="Meiryo UI"/>
            </a:endParaRPr>
          </a:p>
        </p:txBody>
      </p:sp>
      <p:pic>
        <p:nvPicPr>
          <p:cNvPr id="28" name="図 27">
            <a:extLst>
              <a:ext uri="{FF2B5EF4-FFF2-40B4-BE49-F238E27FC236}">
                <a16:creationId xmlns:a16="http://schemas.microsoft.com/office/drawing/2014/main" id="{A4A56140-B2E9-42E4-046C-4516DCEF9A1F}"/>
              </a:ext>
            </a:extLst>
          </p:cNvPr>
          <p:cNvPicPr>
            <a:picLocks noChangeAspect="1"/>
          </p:cNvPicPr>
          <p:nvPr/>
        </p:nvPicPr>
        <p:blipFill>
          <a:blip r:embed="rId4"/>
          <a:srcRect t="51445" b="17604"/>
          <a:stretch>
            <a:fillRect/>
          </a:stretch>
        </p:blipFill>
        <p:spPr>
          <a:xfrm>
            <a:off x="5294421" y="4265948"/>
            <a:ext cx="4300396" cy="922695"/>
          </a:xfrm>
          <a:prstGeom prst="rect">
            <a:avLst/>
          </a:prstGeom>
        </p:spPr>
      </p:pic>
      <p:graphicFrame>
        <p:nvGraphicFramePr>
          <p:cNvPr id="34" name="表 33">
            <a:extLst>
              <a:ext uri="{FF2B5EF4-FFF2-40B4-BE49-F238E27FC236}">
                <a16:creationId xmlns:a16="http://schemas.microsoft.com/office/drawing/2014/main" id="{112995F6-2E76-25C9-5AE1-80976DEF129B}"/>
              </a:ext>
            </a:extLst>
          </p:cNvPr>
          <p:cNvGraphicFramePr>
            <a:graphicFrameLocks noGrp="1"/>
          </p:cNvGraphicFramePr>
          <p:nvPr>
            <p:extLst>
              <p:ext uri="{D42A27DB-BD31-4B8C-83A1-F6EECF244321}">
                <p14:modId xmlns:p14="http://schemas.microsoft.com/office/powerpoint/2010/main" val="3229693414"/>
              </p:ext>
            </p:extLst>
          </p:nvPr>
        </p:nvGraphicFramePr>
        <p:xfrm>
          <a:off x="5536466" y="4603789"/>
          <a:ext cx="3848606" cy="245582"/>
        </p:xfrm>
        <a:graphic>
          <a:graphicData uri="http://schemas.openxmlformats.org/drawingml/2006/table">
            <a:tbl>
              <a:tblPr/>
              <a:tblGrid>
                <a:gridCol w="1038842">
                  <a:extLst>
                    <a:ext uri="{9D8B030D-6E8A-4147-A177-3AD203B41FA5}">
                      <a16:colId xmlns:a16="http://schemas.microsoft.com/office/drawing/2014/main" val="2741535545"/>
                    </a:ext>
                  </a:extLst>
                </a:gridCol>
                <a:gridCol w="1393142">
                  <a:extLst>
                    <a:ext uri="{9D8B030D-6E8A-4147-A177-3AD203B41FA5}">
                      <a16:colId xmlns:a16="http://schemas.microsoft.com/office/drawing/2014/main" val="2597624301"/>
                    </a:ext>
                  </a:extLst>
                </a:gridCol>
                <a:gridCol w="1416622">
                  <a:extLst>
                    <a:ext uri="{9D8B030D-6E8A-4147-A177-3AD203B41FA5}">
                      <a16:colId xmlns:a16="http://schemas.microsoft.com/office/drawing/2014/main" val="26071399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eiryo UI" panose="020B0604030504040204" pitchFamily="50" charset="-128"/>
                          <a:ea typeface="Meiryo UI" panose="020B0604030504040204" pitchFamily="50" charset="-128"/>
                        </a:rPr>
                        <a:t>ダウンロード</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a:t>
                      </a: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2609</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20260915</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600" b="0" i="0" u="sng" strike="noStrike">
                          <a:solidFill>
                            <a:srgbClr val="3516FF"/>
                          </a:solidFill>
                          <a:effectLst/>
                          <a:latin typeface="Meiryo UI" panose="020B0604030504040204" pitchFamily="50" charset="-128"/>
                          <a:ea typeface="Meiryo UI" panose="020B0604030504040204" pitchFamily="50" charset="-128"/>
                        </a:rPr>
                        <a:t>ダウンロード</a:t>
                      </a:r>
                      <a:endParaRPr lang="ja-JP" sz="600" b="0" i="0" u="sng" strike="noStrike">
                        <a:solidFill>
                          <a:srgbClr val="3516FF"/>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14982346"/>
                  </a:ext>
                </a:extLst>
              </a:tr>
            </a:tbl>
          </a:graphicData>
        </a:graphic>
      </p:graphicFrame>
      <p:pic>
        <p:nvPicPr>
          <p:cNvPr id="35" name="図 34">
            <a:extLst>
              <a:ext uri="{FF2B5EF4-FFF2-40B4-BE49-F238E27FC236}">
                <a16:creationId xmlns:a16="http://schemas.microsoft.com/office/drawing/2014/main" id="{0FC4DF82-54E8-5013-2924-5F4B6B86DB0F}"/>
              </a:ext>
            </a:extLst>
          </p:cNvPr>
          <p:cNvPicPr>
            <a:picLocks noChangeAspect="1"/>
          </p:cNvPicPr>
          <p:nvPr/>
        </p:nvPicPr>
        <p:blipFill>
          <a:blip r:embed="rId4"/>
          <a:srcRect t="92523" b="460"/>
          <a:stretch>
            <a:fillRect/>
          </a:stretch>
        </p:blipFill>
        <p:spPr>
          <a:xfrm>
            <a:off x="5294421" y="5618224"/>
            <a:ext cx="4300396" cy="209186"/>
          </a:xfrm>
          <a:prstGeom prst="rect">
            <a:avLst/>
          </a:prstGeom>
        </p:spPr>
      </p:pic>
      <p:sp>
        <p:nvSpPr>
          <p:cNvPr id="13" name="左中かっこ 12">
            <a:extLst>
              <a:ext uri="{FF2B5EF4-FFF2-40B4-BE49-F238E27FC236}">
                <a16:creationId xmlns:a16="http://schemas.microsoft.com/office/drawing/2014/main" id="{62FDCA0A-BFD9-BF47-7B8E-E8B20B6AB4A0}"/>
              </a:ext>
            </a:extLst>
          </p:cNvPr>
          <p:cNvSpPr/>
          <p:nvPr/>
        </p:nvSpPr>
        <p:spPr bwMode="auto">
          <a:xfrm>
            <a:off x="5096087" y="4913308"/>
            <a:ext cx="156001" cy="53453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6" name="正方形/長方形 35">
            <a:extLst>
              <a:ext uri="{FF2B5EF4-FFF2-40B4-BE49-F238E27FC236}">
                <a16:creationId xmlns:a16="http://schemas.microsoft.com/office/drawing/2014/main" id="{EEDAE8EB-FDD7-5C5A-4111-659ADD8D86DE}"/>
              </a:ext>
            </a:extLst>
          </p:cNvPr>
          <p:cNvSpPr/>
          <p:nvPr/>
        </p:nvSpPr>
        <p:spPr>
          <a:xfrm>
            <a:off x="6562735" y="6102320"/>
            <a:ext cx="2990427" cy="1265575"/>
          </a:xfrm>
          <a:prstGeom prst="rect">
            <a:avLst/>
          </a:prstGeom>
          <a:solidFill>
            <a:srgbClr val="FCD5B5"/>
          </a:solidFill>
          <a:ln w="9525" cap="flat" cmpd="sng" algn="ctr">
            <a:solidFill>
              <a:schemeClr val="accent6"/>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lang="ja-JP" altLang="en-US" sz="1200" i="1" u="sng" kern="0">
                <a:solidFill>
                  <a:prstClr val="black"/>
                </a:solidFill>
                <a:latin typeface="Meiryo UI"/>
                <a:ea typeface="Meiryo UI"/>
                <a:cs typeface="Meiryo UI" panose="020B0604030504040204" pitchFamily="50" charset="-128"/>
              </a:rPr>
              <a:t>基金担当者様</a:t>
            </a:r>
            <a:endParaRPr kumimoji="0" lang="en-US" altLang="ja-JP" sz="1200" i="1" u="sng" kern="0" dirty="0">
              <a:solidFill>
                <a:prstClr val="black"/>
              </a:solidFill>
              <a:latin typeface="Meiryo UI"/>
              <a:ea typeface="Meiryo UI"/>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月のマスタ公開時には「過去の版はこちら」のアコーディオン内に掲載するマスタはございません。</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endParaRPr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10</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a:t>
            </a: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202609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版をこちらに移動ください。</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正方形/長方形 44">
            <a:extLst>
              <a:ext uri="{FF2B5EF4-FFF2-40B4-BE49-F238E27FC236}">
                <a16:creationId xmlns:a16="http://schemas.microsoft.com/office/drawing/2014/main" id="{BDAB7C23-AA55-D096-910D-53A18C35706A}"/>
              </a:ext>
            </a:extLst>
          </p:cNvPr>
          <p:cNvSpPr/>
          <p:nvPr/>
        </p:nvSpPr>
        <p:spPr>
          <a:xfrm>
            <a:off x="5431209" y="521697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700" dirty="0">
                <a:solidFill>
                  <a:prstClr val="black"/>
                </a:solidFill>
                <a:latin typeface="Meiryo UI"/>
              </a:rPr>
              <a:t>※</a:t>
            </a:r>
            <a:r>
              <a:rPr kumimoji="1" lang="ja-JP" altLang="en-US" sz="700">
                <a:solidFill>
                  <a:prstClr val="black"/>
                </a:solidFill>
                <a:latin typeface="Meiryo UI"/>
              </a:rPr>
              <a:t>本対応表につきましては、</a:t>
            </a:r>
            <a:r>
              <a:rPr kumimoji="1" lang="en-US" altLang="ja-JP" sz="700" dirty="0">
                <a:solidFill>
                  <a:prstClr val="black"/>
                </a:solidFill>
                <a:latin typeface="Meiryo UI"/>
              </a:rPr>
              <a:t>202608</a:t>
            </a:r>
            <a:r>
              <a:rPr kumimoji="1" lang="ja-JP" altLang="en-US" sz="700">
                <a:solidFill>
                  <a:prstClr val="black"/>
                </a:solidFill>
                <a:latin typeface="Meiryo UI"/>
              </a:rPr>
              <a:t>以前の版はございません。</a:t>
            </a:r>
            <a:endParaRPr kumimoji="1" lang="en-US" altLang="ja-JP" sz="700" dirty="0">
              <a:solidFill>
                <a:prstClr val="black"/>
              </a:solidFill>
              <a:latin typeface="Meiryo UI"/>
            </a:endParaRPr>
          </a:p>
        </p:txBody>
      </p:sp>
      <p:cxnSp>
        <p:nvCxnSpPr>
          <p:cNvPr id="37" name="直線コネクタ 36">
            <a:extLst>
              <a:ext uri="{FF2B5EF4-FFF2-40B4-BE49-F238E27FC236}">
                <a16:creationId xmlns:a16="http://schemas.microsoft.com/office/drawing/2014/main" id="{23543139-00FE-D9C9-5126-99CC21199A63}"/>
              </a:ext>
            </a:extLst>
          </p:cNvPr>
          <p:cNvCxnSpPr>
            <a:cxnSpLocks/>
          </p:cNvCxnSpPr>
          <p:nvPr/>
        </p:nvCxnSpPr>
        <p:spPr bwMode="auto">
          <a:xfrm flipH="1" flipV="1">
            <a:off x="7856351" y="5104662"/>
            <a:ext cx="1016718" cy="1038121"/>
          </a:xfrm>
          <a:prstGeom prst="line">
            <a:avLst/>
          </a:prstGeom>
          <a:solidFill>
            <a:schemeClr val="bg1"/>
          </a:solidFill>
          <a:ln w="9525" cap="flat" cmpd="sng" algn="ctr">
            <a:solidFill>
              <a:schemeClr val="accent6"/>
            </a:solidFill>
            <a:prstDash val="solid"/>
            <a:round/>
            <a:headEnd type="none" w="med" len="med"/>
            <a:tailEnd type="none" w="med" len="med"/>
          </a:ln>
          <a:effectLst/>
        </p:spPr>
      </p:cxnSp>
    </p:spTree>
    <p:extLst>
      <p:ext uri="{BB962C8B-B14F-4D97-AF65-F5344CB8AC3E}">
        <p14:creationId xmlns:p14="http://schemas.microsoft.com/office/powerpoint/2010/main" val="1319034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8B56-8BC1-AAA0-C142-A6504FFAACDA}"/>
            </a:ext>
          </a:extLst>
        </p:cNvPr>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D5D55A38-B374-3699-0DC1-810E3B7CFFEB}"/>
              </a:ext>
            </a:extLst>
          </p:cNvPr>
          <p:cNvSpPr/>
          <p:nvPr/>
        </p:nvSpPr>
        <p:spPr>
          <a:xfrm>
            <a:off x="0" y="6776107"/>
            <a:ext cx="9906000" cy="9482844"/>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sp>
        <p:nvSpPr>
          <p:cNvPr id="2" name="タイトル 1">
            <a:extLst>
              <a:ext uri="{FF2B5EF4-FFF2-40B4-BE49-F238E27FC236}">
                <a16:creationId xmlns:a16="http://schemas.microsoft.com/office/drawing/2014/main" id="{325D8D30-FEBF-E281-BBE8-536E0AB05336}"/>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ja-JP" altLang="en-US"/>
              <a:t>電子カルテ情報共有サービス対応 </a:t>
            </a:r>
            <a:r>
              <a:rPr kumimoji="1" lang="en-US" altLang="ja-JP" dirty="0"/>
              <a:t>JLAC</a:t>
            </a:r>
            <a:r>
              <a:rPr kumimoji="1" lang="ja-JP" altLang="en-US"/>
              <a:t>コード表</a:t>
            </a:r>
          </a:p>
        </p:txBody>
      </p:sp>
      <p:sp>
        <p:nvSpPr>
          <p:cNvPr id="4" name="四角形: 角を丸くする 3">
            <a:extLst>
              <a:ext uri="{FF2B5EF4-FFF2-40B4-BE49-F238E27FC236}">
                <a16:creationId xmlns:a16="http://schemas.microsoft.com/office/drawing/2014/main" id="{741D67C9-BBAC-6D82-BC4E-DB509305692E}"/>
              </a:ext>
            </a:extLst>
          </p:cNvPr>
          <p:cNvSpPr/>
          <p:nvPr/>
        </p:nvSpPr>
        <p:spPr>
          <a:xfrm>
            <a:off x="506999" y="751537"/>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KB0012086</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82FAB238-3799-B9BA-64FA-041EE1DA31A9}"/>
              </a:ext>
            </a:extLst>
          </p:cNvPr>
          <p:cNvSpPr/>
          <p:nvPr/>
        </p:nvSpPr>
        <p:spPr>
          <a:xfrm>
            <a:off x="654475" y="1207779"/>
            <a:ext cx="8523081" cy="519524"/>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●電子カルテ情報共有サービス対応 </a:t>
            </a:r>
            <a:r>
              <a:rPr kumimoji="1" lang="en-US" altLang="ja-JP" sz="11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コード表は、以下の更新イメージのように、</a:t>
            </a:r>
            <a:r>
              <a:rPr kumimoji="1" lang="ja-JP" altLang="en-US" sz="1100" b="0" i="0" u="sng" strike="noStrike" kern="1200" cap="none" spc="0" normalizeH="0" baseline="0" noProof="0">
                <a:ln>
                  <a:noFill/>
                </a:ln>
                <a:solidFill>
                  <a:prstClr val="black"/>
                </a:solidFill>
                <a:effectLst/>
                <a:uLnTx/>
                <a:uFillTx/>
                <a:latin typeface="Meiryo UI"/>
                <a:ea typeface="Meiryo UI"/>
                <a:cs typeface="+mn-cs"/>
              </a:rPr>
              <a:t>新レイアウトの変更点の追記</a:t>
            </a:r>
            <a:r>
              <a:rPr kumimoji="1" lang="ja-JP" altLang="en-US" sz="1100">
                <a:solidFill>
                  <a:prstClr val="black"/>
                </a:solidFill>
                <a:latin typeface="Meiryo UI"/>
                <a:ea typeface="Meiryo UI"/>
              </a:rPr>
              <a:t>を</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更新ください。</a:t>
            </a:r>
            <a:endParaRPr kumimoji="1" lang="en-US" altLang="ja-JP" sz="11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6" name="正方形/長方形 85">
            <a:extLst>
              <a:ext uri="{FF2B5EF4-FFF2-40B4-BE49-F238E27FC236}">
                <a16:creationId xmlns:a16="http://schemas.microsoft.com/office/drawing/2014/main" id="{17BF0522-FCEC-02D1-515C-5238044A7E80}"/>
              </a:ext>
            </a:extLst>
          </p:cNvPr>
          <p:cNvSpPr/>
          <p:nvPr/>
        </p:nvSpPr>
        <p:spPr>
          <a:xfrm>
            <a:off x="5858994" y="1692037"/>
            <a:ext cx="2013920"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87" name="図 19">
            <a:extLst>
              <a:ext uri="{FF2B5EF4-FFF2-40B4-BE49-F238E27FC236}">
                <a16:creationId xmlns:a16="http://schemas.microsoft.com/office/drawing/2014/main" id="{4414DC4B-99B2-392E-8224-60A60FF94957}"/>
              </a:ext>
            </a:extLst>
          </p:cNvPr>
          <p:cNvPicPr preferRelativeResize="0">
            <a:picLocks/>
          </p:cNvPicPr>
          <p:nvPr/>
        </p:nvPicPr>
        <p:blipFill>
          <a:blip r:embed="rId3"/>
          <a:srcRect l="2946" t="103836" r="-2946" b="-15325"/>
          <a:stretch>
            <a:fillRect/>
          </a:stretch>
        </p:blipFill>
        <p:spPr>
          <a:xfrm>
            <a:off x="5308234" y="2097358"/>
            <a:ext cx="3099971" cy="13325964"/>
          </a:xfrm>
          <a:prstGeom prst="rect">
            <a:avLst/>
          </a:prstGeom>
          <a:ln w="19050">
            <a:solidFill>
              <a:schemeClr val="bg1">
                <a:lumMod val="85000"/>
              </a:schemeClr>
            </a:solidFill>
          </a:ln>
        </p:spPr>
      </p:pic>
      <p:pic>
        <p:nvPicPr>
          <p:cNvPr id="89" name="図 88">
            <a:extLst>
              <a:ext uri="{FF2B5EF4-FFF2-40B4-BE49-F238E27FC236}">
                <a16:creationId xmlns:a16="http://schemas.microsoft.com/office/drawing/2014/main" id="{5CD53E65-D535-4C13-17A9-6E2454C53BF1}"/>
              </a:ext>
            </a:extLst>
          </p:cNvPr>
          <p:cNvPicPr>
            <a:picLocks noChangeAspect="1"/>
          </p:cNvPicPr>
          <p:nvPr/>
        </p:nvPicPr>
        <p:blipFill>
          <a:blip r:embed="rId4"/>
          <a:srcRect b="6584"/>
          <a:stretch>
            <a:fillRect/>
          </a:stretch>
        </p:blipFill>
        <p:spPr>
          <a:xfrm>
            <a:off x="5331862" y="2136240"/>
            <a:ext cx="3014216" cy="1295448"/>
          </a:xfrm>
          <a:prstGeom prst="rect">
            <a:avLst/>
          </a:prstGeom>
        </p:spPr>
      </p:pic>
      <p:sp>
        <p:nvSpPr>
          <p:cNvPr id="90" name="正方形/長方形 89">
            <a:extLst>
              <a:ext uri="{FF2B5EF4-FFF2-40B4-BE49-F238E27FC236}">
                <a16:creationId xmlns:a16="http://schemas.microsoft.com/office/drawing/2014/main" id="{5C8D6C4A-4E18-0DCC-BC4B-44CB30A3658B}"/>
              </a:ext>
            </a:extLst>
          </p:cNvPr>
          <p:cNvSpPr/>
          <p:nvPr/>
        </p:nvSpPr>
        <p:spPr>
          <a:xfrm>
            <a:off x="5200959" y="1607456"/>
            <a:ext cx="3231440" cy="1381586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101" name="図 100">
            <a:extLst>
              <a:ext uri="{FF2B5EF4-FFF2-40B4-BE49-F238E27FC236}">
                <a16:creationId xmlns:a16="http://schemas.microsoft.com/office/drawing/2014/main" id="{63F65498-076A-E6F7-D110-219D125A944B}"/>
              </a:ext>
            </a:extLst>
          </p:cNvPr>
          <p:cNvPicPr>
            <a:picLocks noChangeAspect="1"/>
          </p:cNvPicPr>
          <p:nvPr/>
        </p:nvPicPr>
        <p:blipFill>
          <a:blip r:embed="rId5"/>
          <a:stretch>
            <a:fillRect/>
          </a:stretch>
        </p:blipFill>
        <p:spPr>
          <a:xfrm>
            <a:off x="5454303" y="14394920"/>
            <a:ext cx="2247420" cy="680085"/>
          </a:xfrm>
          <a:prstGeom prst="rect">
            <a:avLst/>
          </a:prstGeom>
        </p:spPr>
      </p:pic>
      <p:sp>
        <p:nvSpPr>
          <p:cNvPr id="108" name="正方形/長方形 107">
            <a:extLst>
              <a:ext uri="{FF2B5EF4-FFF2-40B4-BE49-F238E27FC236}">
                <a16:creationId xmlns:a16="http://schemas.microsoft.com/office/drawing/2014/main" id="{217C8C9F-F113-D54D-2B90-B3AB72DBC6AB}"/>
              </a:ext>
            </a:extLst>
          </p:cNvPr>
          <p:cNvSpPr/>
          <p:nvPr/>
        </p:nvSpPr>
        <p:spPr>
          <a:xfrm>
            <a:off x="5499836" y="7241667"/>
            <a:ext cx="2828940" cy="715916"/>
          </a:xfrm>
          <a:prstGeom prst="rect">
            <a:avLst/>
          </a:prstGeom>
          <a:solidFill>
            <a:schemeClr val="bg1"/>
          </a:solidFill>
          <a:ln>
            <a:noFill/>
          </a:ln>
        </p:spPr>
        <p:txBody>
          <a:bodyPr lIns="0" tIns="0" rIns="0" bIns="0" rtlCol="0" anchor="t" anchorCtr="0"/>
          <a:lstStyle/>
          <a:p>
            <a:pPr lvl="0" defTabSz="742950"/>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9</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28</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日以降は</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しました</a:t>
            </a:r>
            <a:r>
              <a:rPr kumimoji="1" lang="ja-JP" altLang="ja-JP" sz="500">
                <a:solidFill>
                  <a:prstClr val="black"/>
                </a:solidFill>
                <a:highlight>
                  <a:srgbClr val="FFFF00"/>
                </a:highlight>
                <a:latin typeface="Meiryo UI"/>
              </a:rPr>
              <a:t>。</a:t>
            </a:r>
            <a:r>
              <a:rPr kumimoji="1" lang="ja-JP" altLang="en-US" sz="500">
                <a:solidFill>
                  <a:prstClr val="black"/>
                </a:solidFill>
                <a:highlight>
                  <a:srgbClr val="FFFF00"/>
                </a:highlight>
                <a:latin typeface="Meiryo UI"/>
              </a:rPr>
              <a:t>適用終了日が「</a:t>
            </a:r>
            <a:r>
              <a:rPr kumimoji="1" lang="en-US" altLang="ja-JP" sz="500" dirty="0">
                <a:solidFill>
                  <a:prstClr val="black"/>
                </a:solidFill>
                <a:highlight>
                  <a:srgbClr val="FFFF00"/>
                </a:highlight>
                <a:latin typeface="Meiryo UI"/>
              </a:rPr>
              <a:t>20250715</a:t>
            </a:r>
            <a:r>
              <a:rPr kumimoji="1" lang="ja-JP" altLang="en-US" sz="500">
                <a:solidFill>
                  <a:prstClr val="black"/>
                </a:solidFill>
                <a:highlight>
                  <a:srgbClr val="FFFF00"/>
                </a:highlight>
                <a:latin typeface="Meiryo UI"/>
              </a:rPr>
              <a:t>」あるいは「</a:t>
            </a:r>
            <a:r>
              <a:rPr kumimoji="1" lang="en-US" altLang="ja-JP" sz="500" dirty="0">
                <a:solidFill>
                  <a:prstClr val="black"/>
                </a:solidFill>
                <a:highlight>
                  <a:srgbClr val="FFFF00"/>
                </a:highlight>
                <a:latin typeface="Meiryo UI"/>
              </a:rPr>
              <a:t>20260812</a:t>
            </a:r>
            <a:r>
              <a:rPr kumimoji="1" lang="ja-JP" altLang="en-US" sz="500">
                <a:solidFill>
                  <a:prstClr val="black"/>
                </a:solidFill>
                <a:highlight>
                  <a:srgbClr val="FFFF00"/>
                </a:highlight>
                <a:latin typeface="Meiryo UI"/>
              </a:rPr>
              <a:t>」であるコードは、見直しに伴い廃止されるコードです。該当のコードは、移行期間の後は利用できなくなるため、ご注意ください。なお、移行期間は本サービスの全国的な運用開始までを予定しています。</a:t>
            </a: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rPr>
              <a:t> </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年冬頃</a:t>
            </a:r>
            <a:r>
              <a:rPr kumimoji="1" lang="ja-JP" altLang="en-US" sz="500">
                <a:solidFill>
                  <a:prstClr val="black"/>
                </a:solidFill>
                <a:latin typeface="Meiryo UI"/>
              </a:rPr>
              <a:t>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13" name="正方形/長方形 112">
            <a:extLst>
              <a:ext uri="{FF2B5EF4-FFF2-40B4-BE49-F238E27FC236}">
                <a16:creationId xmlns:a16="http://schemas.microsoft.com/office/drawing/2014/main" id="{8251E54C-874E-F746-7105-12160DFB99EA}"/>
              </a:ext>
            </a:extLst>
          </p:cNvPr>
          <p:cNvSpPr/>
          <p:nvPr/>
        </p:nvSpPr>
        <p:spPr>
          <a:xfrm>
            <a:off x="5520102" y="609834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14" name="表 113">
            <a:extLst>
              <a:ext uri="{FF2B5EF4-FFF2-40B4-BE49-F238E27FC236}">
                <a16:creationId xmlns:a16="http://schemas.microsoft.com/office/drawing/2014/main" id="{D3DE7ED0-4B89-2171-862E-5D234DEB64BF}"/>
              </a:ext>
            </a:extLst>
          </p:cNvPr>
          <p:cNvGraphicFramePr>
            <a:graphicFrameLocks noGrp="1"/>
          </p:cNvGraphicFramePr>
          <p:nvPr/>
        </p:nvGraphicFramePr>
        <p:xfrm>
          <a:off x="5473495" y="6201273"/>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15" name="正方形/長方形 114">
            <a:extLst>
              <a:ext uri="{FF2B5EF4-FFF2-40B4-BE49-F238E27FC236}">
                <a16:creationId xmlns:a16="http://schemas.microsoft.com/office/drawing/2014/main" id="{B6A9CBCA-1541-236D-3E06-A45E57CE0675}"/>
              </a:ext>
            </a:extLst>
          </p:cNvPr>
          <p:cNvSpPr/>
          <p:nvPr/>
        </p:nvSpPr>
        <p:spPr>
          <a:xfrm>
            <a:off x="5470704" y="3579878"/>
            <a:ext cx="2749921" cy="2087940"/>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日以降、本サービスへの登録においては、</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以降版のマスタをご利用ください。</a:t>
            </a:r>
            <a:endParaRPr kumimoji="1" lang="en-US" altLang="ja-JP" sz="500" dirty="0">
              <a:solidFill>
                <a:prstClr val="black"/>
              </a:solidFill>
              <a:highlight>
                <a:srgbClr val="FFFF00"/>
              </a:highlight>
              <a:latin typeface="Meiryo UI"/>
            </a:endParaRPr>
          </a:p>
          <a:p>
            <a:r>
              <a:rPr kumimoji="1" lang="en-US" altLang="ja-JP" sz="500" dirty="0">
                <a:solidFill>
                  <a:prstClr val="black"/>
                </a:solidFill>
                <a:highlight>
                  <a:srgbClr val="FFFF00"/>
                </a:highlight>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いたしました。これにともない、</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日に中央基盤の改修を予定しております。そのため、</a:t>
            </a:r>
            <a:r>
              <a:rPr kumimoji="1" lang="ja-JP" altLang="ja-JP" sz="500">
                <a:solidFill>
                  <a:prstClr val="black"/>
                </a:solidFill>
                <a:highlight>
                  <a:srgbClr val="FFFF00"/>
                </a:highlight>
                <a:latin typeface="Meiryo UI"/>
              </a:rPr>
              <a:t>202603版以前の版で登録している場合、202606版以降の新しいマスタへの移行をお願いいたします。</a:t>
            </a:r>
            <a:endParaRPr kumimoji="1" lang="ja-JP" altLang="en-US" sz="500">
              <a:solidFill>
                <a:prstClr val="black"/>
              </a:solidFill>
              <a:highlight>
                <a:srgbClr val="FFFF00"/>
              </a:highlight>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fontAlgn="base">
              <a:spcBef>
                <a:spcPct val="20000"/>
              </a:spcBef>
              <a:spcAft>
                <a:spcPct val="0"/>
              </a:spcAft>
              <a:defRPr/>
            </a:pPr>
            <a:r>
              <a:rPr kumimoji="1" lang="ja-JP" altLang="en-US" sz="500">
                <a:latin typeface="Meiryo UI"/>
              </a:rPr>
              <a:t>①</a:t>
            </a:r>
            <a:r>
              <a:rPr kumimoji="1" lang="en-US" altLang="ja-JP" sz="500" dirty="0">
                <a:highlight>
                  <a:srgbClr val="FFFF00"/>
                </a:highlight>
                <a:latin typeface="Meiryo UI"/>
              </a:rPr>
              <a:t>202603</a:t>
            </a:r>
            <a:r>
              <a:rPr kumimoji="1" lang="ja-JP" altLang="en-US" sz="500">
                <a:highlight>
                  <a:srgbClr val="FFFF00"/>
                </a:highlight>
                <a:latin typeface="Meiryo UI"/>
              </a:rPr>
              <a:t>版に記載されている次の</a:t>
            </a:r>
            <a:r>
              <a:rPr kumimoji="1" lang="en-US" altLang="ja-JP" sz="500" dirty="0">
                <a:highlight>
                  <a:srgbClr val="FFFF00"/>
                </a:highlight>
                <a:latin typeface="Meiryo UI"/>
              </a:rPr>
              <a:t>FHIR</a:t>
            </a:r>
            <a:r>
              <a:rPr kumimoji="1" lang="ja-JP" altLang="en-US" sz="500">
                <a:highlight>
                  <a:srgbClr val="FFFF00"/>
                </a:highlight>
                <a:latin typeface="Meiryo UI"/>
              </a:rPr>
              <a:t>項目名称のコードにつきまして、より適切な</a:t>
            </a:r>
            <a:r>
              <a:rPr kumimoji="1" lang="en-US" altLang="ja-JP" sz="500" dirty="0">
                <a:highlight>
                  <a:srgbClr val="FFFF00"/>
                </a:highlight>
                <a:latin typeface="Meiryo UI"/>
              </a:rPr>
              <a:t>FHIR</a:t>
            </a:r>
            <a:r>
              <a:rPr kumimoji="1" lang="ja-JP" altLang="en-US" sz="500">
                <a:highlight>
                  <a:srgbClr val="FFFF00"/>
                </a:highlight>
                <a:latin typeface="Meiryo UI"/>
              </a:rPr>
              <a:t>項目名称へ変更されたことに伴い、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日以降、電子カルテ情報共有サービスへの登録ができなくなりました。新しい</a:t>
            </a:r>
            <a:r>
              <a:rPr kumimoji="1" lang="en-US" altLang="ja-JP" sz="500" dirty="0">
                <a:highlight>
                  <a:srgbClr val="FFFF00"/>
                </a:highlight>
                <a:latin typeface="Meiryo UI"/>
              </a:rPr>
              <a:t>FHIR</a:t>
            </a:r>
            <a:r>
              <a:rPr kumimoji="1" lang="ja-JP" altLang="en-US" sz="500">
                <a:highlight>
                  <a:srgbClr val="FFFF00"/>
                </a:highlight>
                <a:latin typeface="Meiryo UI"/>
              </a:rPr>
              <a:t>項目名称の詳細につきましては、新・旧コード対応表をご確認ください。</a:t>
            </a:r>
            <a:endParaRPr kumimoji="1" lang="en-US" altLang="ja-JP" sz="500" dirty="0">
              <a:highlight>
                <a:srgbClr val="FFFF00"/>
              </a:highlight>
              <a:latin typeface="Meiryo UI"/>
            </a:endParaRPr>
          </a:p>
          <a:p>
            <a:pPr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コードの見直しに伴い、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、一部の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JLAC10</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コードにつきまして電子カルテ情報共有サービスへの登録ができなくなりました。該当コードおよび移行先コードの詳細につきましては、新・旧コードの対応表をご参照ください。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次の試薬</a:t>
            </a:r>
            <a:r>
              <a:rPr kumimoji="1" lang="ja-JP" altLang="en-US" sz="500">
                <a:solidFill>
                  <a:prstClr val="black"/>
                </a:solidFill>
                <a:highlight>
                  <a:srgbClr val="FFFF00"/>
                </a:highlight>
                <a:latin typeface="Meiryo UI"/>
              </a:rPr>
              <a:t>の</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項目名称の変更を行いました。これに伴い、</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202603</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版に記載されていた旧</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項目名称とコードの組み合わせによる電子カルテ情報共有サービスへの登録はできなくなりました。当該試薬をご利用の医療機関におかれましては、最新の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項目名称をご確認のうえご登録をお願いいたします。詳細につきましては、</a:t>
            </a:r>
            <a:r>
              <a:rPr kumimoji="1" lang="ja-JP" altLang="en-US" sz="500">
                <a:highlight>
                  <a:srgbClr val="FFFF00"/>
                </a:highlight>
                <a:latin typeface="Meiryo UI"/>
                <a:ea typeface="Meiryo UI"/>
              </a:rPr>
              <a:t>新・旧コード対応表</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をご確認ください。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a:t>
            </a:r>
            <a:r>
              <a:rPr kumimoji="1" lang="en-US" altLang="ja-JP" sz="500" dirty="0">
                <a:solidFill>
                  <a:prstClr val="black"/>
                </a:solidFill>
                <a:highlight>
                  <a:srgbClr val="FFFF00"/>
                </a:highlight>
                <a:latin typeface="Meiryo UI (Body)"/>
              </a:rPr>
              <a:t>202606</a:t>
            </a:r>
            <a:r>
              <a:rPr kumimoji="1" lang="ja-JP" altLang="en-US" sz="500">
                <a:solidFill>
                  <a:prstClr val="black"/>
                </a:solidFill>
                <a:highlight>
                  <a:srgbClr val="FFFF00"/>
                </a:highlight>
                <a:latin typeface="Meiryo UI (Body)"/>
              </a:rPr>
              <a:t>版に記載されている次の</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用単位コードにつきまして、より適切な</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用単位へ変更となったことに伴い、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a:t>
            </a:r>
            <a:r>
              <a:rPr kumimoji="1" lang="ja-JP" altLang="en-US" sz="500">
                <a:solidFill>
                  <a:prstClr val="black"/>
                </a:solidFill>
                <a:highlight>
                  <a:srgbClr val="FFFF00"/>
                </a:highlight>
                <a:latin typeface="Meiryo UI (Body)"/>
              </a:rPr>
              <a:t>以降、電子カルテ情報共有サービスへの登録ができなくなりました。</a:t>
            </a:r>
            <a:r>
              <a:rPr kumimoji="1" lang="ja-JP" altLang="en-US" sz="500">
                <a:solidFill>
                  <a:prstClr val="black"/>
                </a:solidFill>
                <a:latin typeface="Meiryo UI (Body)"/>
              </a:rPr>
              <a:t>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latin typeface="Meiryo UI"/>
              </a:rPr>
              <a:t> </a:t>
            </a:r>
            <a:r>
              <a:rPr kumimoji="1" lang="ja-JP" altLang="en-US" sz="500">
                <a:highlight>
                  <a:srgbClr val="FFFF00"/>
                </a:highlight>
                <a:latin typeface="Meiryo UI"/>
              </a:rPr>
              <a:t>新・旧コード対応表</a:t>
            </a:r>
            <a:r>
              <a:rPr kumimoji="1" lang="ja-JP" altLang="en-US" sz="500">
                <a:solidFill>
                  <a:prstClr val="black"/>
                </a:solidFill>
                <a:latin typeface="Meiryo UI (Body)"/>
              </a:rPr>
              <a:t>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i="0" u="none" strike="noStrike" kern="1200" cap="none" spc="0" normalizeH="0" baseline="0" noProof="0" dirty="0">
              <a:ln>
                <a:noFill/>
              </a:ln>
              <a:effectLst/>
              <a:uLnTx/>
              <a:uFillTx/>
              <a:latin typeface="Meiryo UI"/>
              <a:ea typeface="Meiryo UI"/>
              <a:cs typeface="+mn-cs"/>
            </a:endParaRPr>
          </a:p>
        </p:txBody>
      </p:sp>
      <p:sp>
        <p:nvSpPr>
          <p:cNvPr id="117" name="正方形/長方形 116">
            <a:extLst>
              <a:ext uri="{FF2B5EF4-FFF2-40B4-BE49-F238E27FC236}">
                <a16:creationId xmlns:a16="http://schemas.microsoft.com/office/drawing/2014/main" id="{5DE9A4BA-69AB-5592-A6D3-7A65444B4298}"/>
              </a:ext>
            </a:extLst>
          </p:cNvPr>
          <p:cNvSpPr/>
          <p:nvPr/>
        </p:nvSpPr>
        <p:spPr>
          <a:xfrm>
            <a:off x="5434586" y="7107023"/>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118" name="正方形/長方形 117">
            <a:extLst>
              <a:ext uri="{FF2B5EF4-FFF2-40B4-BE49-F238E27FC236}">
                <a16:creationId xmlns:a16="http://schemas.microsoft.com/office/drawing/2014/main" id="{27687730-F293-47C2-9059-66B2BD166947}"/>
              </a:ext>
            </a:extLst>
          </p:cNvPr>
          <p:cNvSpPr/>
          <p:nvPr/>
        </p:nvSpPr>
        <p:spPr>
          <a:xfrm>
            <a:off x="5520101" y="780399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21" name="表 120">
            <a:extLst>
              <a:ext uri="{FF2B5EF4-FFF2-40B4-BE49-F238E27FC236}">
                <a16:creationId xmlns:a16="http://schemas.microsoft.com/office/drawing/2014/main" id="{1AC53FA2-5502-C0E2-FF23-D3C3CE0D9463}"/>
              </a:ext>
            </a:extLst>
          </p:cNvPr>
          <p:cNvGraphicFramePr>
            <a:graphicFrameLocks noGrp="1"/>
          </p:cNvGraphicFramePr>
          <p:nvPr/>
        </p:nvGraphicFramePr>
        <p:xfrm>
          <a:off x="6321086" y="10700147"/>
          <a:ext cx="991185" cy="283482"/>
        </p:xfrm>
        <a:graphic>
          <a:graphicData uri="http://schemas.openxmlformats.org/drawingml/2006/table">
            <a:tbl>
              <a:tblPr/>
              <a:tblGrid>
                <a:gridCol w="479267">
                  <a:extLst>
                    <a:ext uri="{9D8B030D-6E8A-4147-A177-3AD203B41FA5}">
                      <a16:colId xmlns:a16="http://schemas.microsoft.com/office/drawing/2014/main" val="154882630"/>
                    </a:ext>
                  </a:extLst>
                </a:gridCol>
                <a:gridCol w="511918">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2026/9/XX</a:t>
                      </a:r>
                      <a:endParaRPr lang="ja-JP" altLang="en-US" sz="600" b="0" i="0" u="none" strike="noStrike">
                        <a:solidFill>
                          <a:srgbClr val="000000"/>
                        </a:solidFill>
                        <a:effectLst/>
                        <a:highlight>
                          <a:srgbClr val="FFFF00"/>
                        </a:highligh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22" name="正方形/長方形 121">
            <a:extLst>
              <a:ext uri="{FF2B5EF4-FFF2-40B4-BE49-F238E27FC236}">
                <a16:creationId xmlns:a16="http://schemas.microsoft.com/office/drawing/2014/main" id="{AD7CB5D2-8336-17C9-AF25-728BE9024F46}"/>
              </a:ext>
            </a:extLst>
          </p:cNvPr>
          <p:cNvSpPr/>
          <p:nvPr/>
        </p:nvSpPr>
        <p:spPr>
          <a:xfrm>
            <a:off x="5678304" y="1057973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公開日・ダウンロードリンク</a:t>
            </a:r>
          </a:p>
        </p:txBody>
      </p:sp>
      <p:sp>
        <p:nvSpPr>
          <p:cNvPr id="123" name="正方形/長方形 122">
            <a:extLst>
              <a:ext uri="{FF2B5EF4-FFF2-40B4-BE49-F238E27FC236}">
                <a16:creationId xmlns:a16="http://schemas.microsoft.com/office/drawing/2014/main" id="{F93B5BFF-A91A-8A97-2BA3-A5A47B6E46CF}"/>
              </a:ext>
            </a:extLst>
          </p:cNvPr>
          <p:cNvSpPr/>
          <p:nvPr/>
        </p:nvSpPr>
        <p:spPr>
          <a:xfrm>
            <a:off x="5434586" y="9158164"/>
            <a:ext cx="2828940" cy="1367283"/>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highlight>
                  <a:srgbClr val="FFFF00"/>
                </a:highlight>
                <a:latin typeface="Meiryo UI"/>
              </a:rPr>
              <a:t>以降</a:t>
            </a:r>
            <a:r>
              <a:rPr kumimoji="1" lang="ja-JP" altLang="en-US" sz="500">
                <a:solidFill>
                  <a:prstClr val="black"/>
                </a:solidFill>
                <a:latin typeface="Meiryo UI"/>
              </a:rPr>
              <a:t>版のコードに移行いただく際の対応表をご提供します。</a:t>
            </a:r>
            <a:br>
              <a:rPr lang="en-US" altLang="ja-JP" sz="500" dirty="0">
                <a:latin typeface="Meiryo UI"/>
              </a:rPr>
            </a:b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版までに公開していたコードをご利用の医療機関におかれましては、新コードへのマッピング作業を行っていただく際にご参照ください</a:t>
            </a:r>
            <a:r>
              <a:rPr kumimoji="1" lang="ja-JP" altLang="en-US" sz="500">
                <a:solidFill>
                  <a:prstClr val="black"/>
                </a:solidFill>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en-US" altLang="ja-JP" sz="500" dirty="0">
                <a:solidFill>
                  <a:prstClr val="black"/>
                </a:solidFill>
                <a:highlight>
                  <a:srgbClr val="FFFF00"/>
                </a:highlight>
                <a:latin typeface="Meiryo UI"/>
              </a:rPr>
              <a:t>※</a:t>
            </a:r>
            <a:r>
              <a:rPr kumimoji="1" lang="ja-JP" altLang="en-US" sz="500">
                <a:solidFill>
                  <a:prstClr val="black"/>
                </a:solidFill>
                <a:highlight>
                  <a:srgbClr val="FFFF00"/>
                </a:highlight>
                <a:latin typeface="Meiryo UI"/>
              </a:rPr>
              <a:t>本表は、あくまで</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版への移行差分を整理したものです。したがって、</a:t>
            </a:r>
            <a:r>
              <a:rPr kumimoji="1" lang="en-US" altLang="ja-JP" sz="500" dirty="0">
                <a:solidFill>
                  <a:prstClr val="black"/>
                </a:solidFill>
                <a:highlight>
                  <a:srgbClr val="FFFF00"/>
                </a:highlight>
                <a:latin typeface="Meiryo UI"/>
              </a:rPr>
              <a:t>202608</a:t>
            </a:r>
            <a:r>
              <a:rPr kumimoji="1" lang="ja-JP" altLang="en-US" sz="500">
                <a:solidFill>
                  <a:prstClr val="black"/>
                </a:solidFill>
                <a:highlight>
                  <a:srgbClr val="FFFF00"/>
                </a:highlight>
                <a:latin typeface="Meiryo UI"/>
              </a:rPr>
              <a:t>版で新規に追加された試薬等のコードは本表には含まれません。なお、</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版への見直し内容に不備等が判明した箇所のみ更新を行っております。</a:t>
            </a:r>
            <a:endParaRPr lang="ja-JP" altLang="en-US" sz="500">
              <a:solidFill>
                <a:prstClr val="black"/>
              </a:solidFill>
              <a:latin typeface="Meiryo UI"/>
            </a:endParaRPr>
          </a:p>
          <a:p>
            <a:pPr>
              <a:spcBef>
                <a:spcPct val="20000"/>
              </a:spcBef>
              <a:spcAft>
                <a:spcPct val="0"/>
              </a:spcAft>
              <a:defRPr/>
            </a:pPr>
            <a:endParaRPr lang="ja-JP" altLang="en-US" sz="50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a:t>
            </a:r>
            <a:r>
              <a:rPr kumimoji="1" lang="en-US" altLang="ja-JP" sz="500" dirty="0">
                <a:solidFill>
                  <a:prstClr val="black"/>
                </a:solidFill>
                <a:latin typeface="Meiryo UI"/>
                <a:ea typeface="Meiryo UI"/>
              </a:rPr>
              <a:t>27</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ja-JP" altLang="en-US" sz="500">
                <a:solidFill>
                  <a:prstClr val="black"/>
                </a:solidFill>
                <a:highlight>
                  <a:srgbClr val="FFFF00"/>
                </a:highlight>
                <a:latin typeface="Meiryo UI"/>
              </a:rPr>
              <a:t>新・旧コード対応表</a:t>
            </a:r>
            <a:r>
              <a:rPr kumimoji="1" lang="ja-JP" altLang="en-US" sz="500">
                <a:solidFill>
                  <a:prstClr val="black"/>
                </a:solidFill>
                <a:latin typeface="Meiryo UI"/>
              </a:rPr>
              <a:t>をご確認ください。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solidFill>
                  <a:prstClr val="black"/>
                </a:solidFill>
                <a:latin typeface="Meiryo UI"/>
              </a:rPr>
              <a:t>・</a:t>
            </a:r>
            <a:r>
              <a:rPr kumimoji="1" lang="en-US" altLang="ja-JP" sz="500" b="1" dirty="0">
                <a:solidFill>
                  <a:srgbClr val="FF0000"/>
                </a:solidFill>
                <a:latin typeface="Meiryo UI (Body)"/>
              </a:rPr>
              <a:t> </a:t>
            </a:r>
            <a:r>
              <a:rPr kumimoji="1" lang="en-US" altLang="ja-JP" sz="500" b="1" dirty="0">
                <a:solidFill>
                  <a:srgbClr val="FF0000"/>
                </a:solidFill>
                <a:highlight>
                  <a:srgbClr val="FFFF00"/>
                </a:highlight>
                <a:latin typeface="Meiryo UI (Body)"/>
              </a:rPr>
              <a:t>&lt;202609XX</a:t>
            </a:r>
            <a:r>
              <a:rPr kumimoji="1" lang="ja-JP" altLang="en-US" sz="500" b="1">
                <a:solidFill>
                  <a:srgbClr val="FF0000"/>
                </a:solidFill>
                <a:highlight>
                  <a:srgbClr val="FFFF00"/>
                </a:highlight>
                <a:latin typeface="Meiryo UI (Body)"/>
              </a:rPr>
              <a:t>追記</a:t>
            </a:r>
            <a:r>
              <a:rPr kumimoji="1" lang="en-US" altLang="ja-JP" sz="500" b="1" dirty="0">
                <a:solidFill>
                  <a:srgbClr val="FF0000"/>
                </a:solidFill>
                <a:highlight>
                  <a:srgbClr val="FFFF00"/>
                </a:highlight>
                <a:latin typeface="Meiryo UI (Body)"/>
              </a:rPr>
              <a:t>&gt;</a:t>
            </a:r>
            <a:r>
              <a:rPr kumimoji="1" lang="en-US" altLang="ja-JP" sz="800" dirty="0">
                <a:highlight>
                  <a:srgbClr val="FFFF00"/>
                </a:highlight>
                <a:latin typeface="Meiryo UI" panose="020B0604030504040204" pitchFamily="50" charset="-128"/>
                <a:ea typeface="Meiryo UI" panose="020B0604030504040204" pitchFamily="50" charset="-128"/>
              </a:rPr>
              <a:t> </a:t>
            </a:r>
            <a:r>
              <a:rPr kumimoji="1" lang="en-US" altLang="ja-JP" sz="500" dirty="0">
                <a:solidFill>
                  <a:prstClr val="black"/>
                </a:solidFill>
                <a:highlight>
                  <a:srgbClr val="FFFF00"/>
                </a:highlight>
                <a:latin typeface="Meiryo UI"/>
              </a:rPr>
              <a:t>2026/9/XX</a:t>
            </a:r>
            <a:r>
              <a:rPr kumimoji="1" lang="ja-JP" altLang="en-US" sz="500">
                <a:solidFill>
                  <a:prstClr val="black"/>
                </a:solidFill>
                <a:highlight>
                  <a:srgbClr val="FFFF00"/>
                </a:highlight>
                <a:latin typeface="Meiryo UI"/>
              </a:rPr>
              <a:t>に新・旧コードの対応表を更新しました。一部のコードについて、変更区分を更新しました。更新内容につきましては、新・旧コード対応表をご確認ください。</a:t>
            </a:r>
            <a:endParaRPr kumimoji="1" lang="en-US" altLang="ja-JP" sz="500" dirty="0">
              <a:solidFill>
                <a:prstClr val="black"/>
              </a:solidFill>
              <a:highlight>
                <a:srgbClr val="FFFF00"/>
              </a:highlight>
              <a:latin typeface="Meiryo UI"/>
            </a:endParaRPr>
          </a:p>
        </p:txBody>
      </p:sp>
      <p:sp>
        <p:nvSpPr>
          <p:cNvPr id="8" name="四角形: 角を丸くする 7">
            <a:extLst>
              <a:ext uri="{FF2B5EF4-FFF2-40B4-BE49-F238E27FC236}">
                <a16:creationId xmlns:a16="http://schemas.microsoft.com/office/drawing/2014/main" id="{0CFF23BC-F16B-5477-7A4D-7DE9B5FB2C2B}"/>
              </a:ext>
            </a:extLst>
          </p:cNvPr>
          <p:cNvSpPr/>
          <p:nvPr/>
        </p:nvSpPr>
        <p:spPr>
          <a:xfrm>
            <a:off x="7756910" y="1577834"/>
            <a:ext cx="1925838" cy="853880"/>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dirty="0">
                <a:solidFill>
                  <a:prstClr val="black"/>
                </a:solidFill>
                <a:highlight>
                  <a:srgbClr val="FFFF00"/>
                </a:highlight>
                <a:latin typeface="Meiryo UI"/>
                <a:ea typeface="Meiryo UI"/>
              </a:rPr>
              <a:t>※</a:t>
            </a:r>
            <a:r>
              <a:rPr kumimoji="1" lang="ja-JP" altLang="en-US" sz="1050">
                <a:solidFill>
                  <a:prstClr val="black"/>
                </a:solidFill>
                <a:highlight>
                  <a:srgbClr val="FFFF00"/>
                </a:highlight>
                <a:latin typeface="Meiryo UI"/>
                <a:ea typeface="Meiryo UI"/>
              </a:rPr>
              <a:t>追記部分</a:t>
            </a:r>
            <a:endParaRPr kumimoji="1" lang="ja-JP" altLang="en-US" sz="1050" b="0" i="0" u="none" strike="noStrike" kern="1200" cap="none" spc="0" normalizeH="0" baseline="0" noProof="0">
              <a:ln>
                <a:noFill/>
              </a:ln>
              <a:solidFill>
                <a:prstClr val="black"/>
              </a:solidFill>
              <a:effectLst/>
              <a:highlight>
                <a:srgbClr val="FFFF00"/>
              </a:highlight>
              <a:uLnTx/>
              <a:uFillTx/>
              <a:latin typeface="Meiryo UI"/>
              <a:ea typeface="Meiryo UI"/>
              <a:cs typeface="+mn-cs"/>
            </a:endParaRPr>
          </a:p>
        </p:txBody>
      </p:sp>
      <p:sp>
        <p:nvSpPr>
          <p:cNvPr id="11" name="四角形: 角を丸くする 10">
            <a:extLst>
              <a:ext uri="{FF2B5EF4-FFF2-40B4-BE49-F238E27FC236}">
                <a16:creationId xmlns:a16="http://schemas.microsoft.com/office/drawing/2014/main" id="{CD9CA578-09BB-7D93-7430-841859799F31}"/>
              </a:ext>
            </a:extLst>
          </p:cNvPr>
          <p:cNvSpPr/>
          <p:nvPr/>
        </p:nvSpPr>
        <p:spPr>
          <a:xfrm>
            <a:off x="8022957" y="164673"/>
            <a:ext cx="1778635" cy="1074833"/>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【ACN</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内部メモ</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メール送付時には、</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公開日の更新漏れも合わせてご依頼予定</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0" name="正方形/長方形 9">
            <a:extLst>
              <a:ext uri="{FF2B5EF4-FFF2-40B4-BE49-F238E27FC236}">
                <a16:creationId xmlns:a16="http://schemas.microsoft.com/office/drawing/2014/main" id="{011351C9-39E5-0A44-8B2B-A5257295A306}"/>
              </a:ext>
            </a:extLst>
          </p:cNvPr>
          <p:cNvSpPr/>
          <p:nvPr/>
        </p:nvSpPr>
        <p:spPr>
          <a:xfrm>
            <a:off x="1488092" y="1692037"/>
            <a:ext cx="2074944"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strike="noStrike" kern="1200" cap="none" spc="0" normalizeH="0" baseline="0" noProof="0">
                <a:ln>
                  <a:noFill/>
                </a:ln>
                <a:solidFill>
                  <a:prstClr val="black"/>
                </a:solidFill>
                <a:effectLst/>
                <a:uLnTx/>
                <a:uFillTx/>
                <a:latin typeface="Meiryo UI"/>
                <a:ea typeface="Meiryo UI"/>
                <a:cs typeface="+mn-cs"/>
              </a:rPr>
              <a:t>参考</a:t>
            </a: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(202608</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3" name="図 19">
            <a:extLst>
              <a:ext uri="{FF2B5EF4-FFF2-40B4-BE49-F238E27FC236}">
                <a16:creationId xmlns:a16="http://schemas.microsoft.com/office/drawing/2014/main" id="{F23AC429-50CC-2873-5278-F0935BC0D07A}"/>
              </a:ext>
            </a:extLst>
          </p:cNvPr>
          <p:cNvPicPr preferRelativeResize="0">
            <a:picLocks/>
          </p:cNvPicPr>
          <p:nvPr/>
        </p:nvPicPr>
        <p:blipFill>
          <a:blip r:embed="rId3"/>
          <a:srcRect l="2946" t="103836" r="-2946" b="-15325"/>
          <a:stretch>
            <a:fillRect/>
          </a:stretch>
        </p:blipFill>
        <p:spPr>
          <a:xfrm>
            <a:off x="924485" y="2138324"/>
            <a:ext cx="3099971" cy="12085676"/>
          </a:xfrm>
          <a:prstGeom prst="rect">
            <a:avLst/>
          </a:prstGeom>
          <a:ln w="19050">
            <a:solidFill>
              <a:schemeClr val="bg1">
                <a:lumMod val="85000"/>
              </a:schemeClr>
            </a:solidFill>
          </a:ln>
        </p:spPr>
      </p:pic>
      <p:pic>
        <p:nvPicPr>
          <p:cNvPr id="16" name="図 15">
            <a:extLst>
              <a:ext uri="{FF2B5EF4-FFF2-40B4-BE49-F238E27FC236}">
                <a16:creationId xmlns:a16="http://schemas.microsoft.com/office/drawing/2014/main" id="{A64069D1-AC2B-8517-1B0D-A71CEDAF97F6}"/>
              </a:ext>
            </a:extLst>
          </p:cNvPr>
          <p:cNvPicPr>
            <a:picLocks noChangeAspect="1"/>
          </p:cNvPicPr>
          <p:nvPr/>
        </p:nvPicPr>
        <p:blipFill>
          <a:blip r:embed="rId4"/>
          <a:srcRect b="6584"/>
          <a:stretch>
            <a:fillRect/>
          </a:stretch>
        </p:blipFill>
        <p:spPr>
          <a:xfrm>
            <a:off x="991472" y="2136240"/>
            <a:ext cx="3014216" cy="1295448"/>
          </a:xfrm>
          <a:prstGeom prst="rect">
            <a:avLst/>
          </a:prstGeom>
        </p:spPr>
      </p:pic>
      <p:cxnSp>
        <p:nvCxnSpPr>
          <p:cNvPr id="20" name="直線コネクタ 19">
            <a:extLst>
              <a:ext uri="{FF2B5EF4-FFF2-40B4-BE49-F238E27FC236}">
                <a16:creationId xmlns:a16="http://schemas.microsoft.com/office/drawing/2014/main" id="{A1FCA6A8-122A-2DA6-3FDE-AED8748B28D9}"/>
              </a:ext>
            </a:extLst>
          </p:cNvPr>
          <p:cNvCxnSpPr>
            <a:cxnSpLocks/>
          </p:cNvCxnSpPr>
          <p:nvPr/>
        </p:nvCxnSpPr>
        <p:spPr bwMode="auto">
          <a:xfrm>
            <a:off x="4644885" y="1787199"/>
            <a:ext cx="0" cy="13691514"/>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21" name="正方形/長方形 20">
            <a:extLst>
              <a:ext uri="{FF2B5EF4-FFF2-40B4-BE49-F238E27FC236}">
                <a16:creationId xmlns:a16="http://schemas.microsoft.com/office/drawing/2014/main" id="{99DCA199-16FA-6988-DADD-64FD3E50C9E8}"/>
              </a:ext>
            </a:extLst>
          </p:cNvPr>
          <p:cNvSpPr/>
          <p:nvPr/>
        </p:nvSpPr>
        <p:spPr>
          <a:xfrm>
            <a:off x="1118257" y="3325347"/>
            <a:ext cx="2828940" cy="694265"/>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月末頃の中央基盤の改修までは、本サービスへの登録において利用いただけるのは、</a:t>
            </a:r>
            <a:r>
              <a:rPr kumimoji="1" lang="en-US" altLang="ja-JP" sz="500" dirty="0">
                <a:solidFill>
                  <a:prstClr val="black"/>
                </a:solidFill>
                <a:latin typeface="Meiryo UI"/>
                <a:ea typeface="Meiryo UI"/>
              </a:rPr>
              <a:t>202603</a:t>
            </a:r>
            <a:r>
              <a:rPr kumimoji="1" lang="ja-JP" altLang="en-US" sz="500">
                <a:solidFill>
                  <a:prstClr val="black"/>
                </a:solidFill>
                <a:latin typeface="Meiryo UI"/>
                <a:ea typeface="Meiryo UI"/>
              </a:rPr>
              <a:t>版のマスタとなります。</a:t>
            </a:r>
            <a:r>
              <a:rPr kumimoji="1" lang="en-US" altLang="ja-JP" sz="500" dirty="0">
                <a:solidFill>
                  <a:prstClr val="black"/>
                </a:solidFill>
                <a:latin typeface="Meiryo UI"/>
                <a:ea typeface="Meiryo UI"/>
              </a:rPr>
              <a:t>2026</a:t>
            </a:r>
            <a:r>
              <a:rPr kumimoji="1" lang="ja-JP" altLang="en-US" sz="500">
                <a:solidFill>
                  <a:prstClr val="black"/>
                </a:solidFill>
                <a:latin typeface="Meiryo UI"/>
                <a:ea typeface="Meiryo UI"/>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詳細な日程は、今後お知らせを予定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以降には、</a:t>
            </a:r>
            <a:r>
              <a:rPr kumimoji="1" lang="en-US" altLang="ja-JP" sz="500" dirty="0">
                <a:solidFill>
                  <a:prstClr val="black"/>
                </a:solidFill>
                <a:latin typeface="Meiryo UI"/>
                <a:ea typeface="Meiryo UI"/>
              </a:rPr>
              <a:t>202606</a:t>
            </a:r>
            <a:r>
              <a:rPr kumimoji="1" lang="ja-JP" altLang="en-US" sz="500">
                <a:solidFill>
                  <a:prstClr val="black"/>
                </a:solidFill>
                <a:latin typeface="Meiryo UI"/>
                <a:ea typeface="Meiryo UI"/>
              </a:rPr>
              <a:t>以降版をご利用ください。</a:t>
            </a:r>
            <a:endParaRPr kumimoji="1" lang="en-US" altLang="ja-JP" sz="500" dirty="0">
              <a:solidFill>
                <a:prstClr val="black"/>
              </a:solidFill>
              <a:latin typeface="Meiryo UI"/>
              <a:ea typeface="Meiryo UI"/>
            </a:endParaRPr>
          </a:p>
          <a:p>
            <a:pPr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版への更新に際し、コードの見直しを実施しております。そのため、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latin typeface="Meiryo UI"/>
            </a:endParaRPr>
          </a:p>
        </p:txBody>
      </p:sp>
      <p:sp>
        <p:nvSpPr>
          <p:cNvPr id="22" name="正方形/長方形 21">
            <a:extLst>
              <a:ext uri="{FF2B5EF4-FFF2-40B4-BE49-F238E27FC236}">
                <a16:creationId xmlns:a16="http://schemas.microsoft.com/office/drawing/2014/main" id="{28645BBE-1603-B14D-244A-5F7DDD39B157}"/>
              </a:ext>
            </a:extLst>
          </p:cNvPr>
          <p:cNvSpPr/>
          <p:nvPr/>
        </p:nvSpPr>
        <p:spPr>
          <a:xfrm>
            <a:off x="1433383" y="4209116"/>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25" name="表 24">
            <a:extLst>
              <a:ext uri="{FF2B5EF4-FFF2-40B4-BE49-F238E27FC236}">
                <a16:creationId xmlns:a16="http://schemas.microsoft.com/office/drawing/2014/main" id="{F04EE50F-888C-131C-C955-13F19FE8B2B6}"/>
              </a:ext>
            </a:extLst>
          </p:cNvPr>
          <p:cNvGraphicFramePr>
            <a:graphicFrameLocks noGrp="1"/>
          </p:cNvGraphicFramePr>
          <p:nvPr/>
        </p:nvGraphicFramePr>
        <p:xfrm>
          <a:off x="1082915" y="4326004"/>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graphicFrame>
        <p:nvGraphicFramePr>
          <p:cNvPr id="26" name="表 25">
            <a:extLst>
              <a:ext uri="{FF2B5EF4-FFF2-40B4-BE49-F238E27FC236}">
                <a16:creationId xmlns:a16="http://schemas.microsoft.com/office/drawing/2014/main" id="{5426B6A3-0D73-B5CD-241A-16DD2CEA7B86}"/>
              </a:ext>
            </a:extLst>
          </p:cNvPr>
          <p:cNvGraphicFramePr>
            <a:graphicFrameLocks noGrp="1"/>
          </p:cNvGraphicFramePr>
          <p:nvPr/>
        </p:nvGraphicFramePr>
        <p:xfrm>
          <a:off x="1364103" y="11943931"/>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27" name="正方形/長方形 26">
            <a:extLst>
              <a:ext uri="{FF2B5EF4-FFF2-40B4-BE49-F238E27FC236}">
                <a16:creationId xmlns:a16="http://schemas.microsoft.com/office/drawing/2014/main" id="{5595EDEC-C869-741C-F9FC-870CBE177218}"/>
              </a:ext>
            </a:extLst>
          </p:cNvPr>
          <p:cNvSpPr/>
          <p:nvPr/>
        </p:nvSpPr>
        <p:spPr>
          <a:xfrm>
            <a:off x="1305504" y="12362072"/>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pic>
        <p:nvPicPr>
          <p:cNvPr id="28" name="図 27">
            <a:extLst>
              <a:ext uri="{FF2B5EF4-FFF2-40B4-BE49-F238E27FC236}">
                <a16:creationId xmlns:a16="http://schemas.microsoft.com/office/drawing/2014/main" id="{72C0D614-19DC-310B-043A-DC3FC34FE575}"/>
              </a:ext>
            </a:extLst>
          </p:cNvPr>
          <p:cNvPicPr>
            <a:picLocks noChangeAspect="1"/>
          </p:cNvPicPr>
          <p:nvPr/>
        </p:nvPicPr>
        <p:blipFill>
          <a:blip r:embed="rId5"/>
          <a:stretch>
            <a:fillRect/>
          </a:stretch>
        </p:blipFill>
        <p:spPr>
          <a:xfrm>
            <a:off x="1280741" y="13440678"/>
            <a:ext cx="2247420" cy="680085"/>
          </a:xfrm>
          <a:prstGeom prst="rect">
            <a:avLst/>
          </a:prstGeom>
        </p:spPr>
      </p:pic>
      <p:sp>
        <p:nvSpPr>
          <p:cNvPr id="29" name="正方形/長方形 28">
            <a:extLst>
              <a:ext uri="{FF2B5EF4-FFF2-40B4-BE49-F238E27FC236}">
                <a16:creationId xmlns:a16="http://schemas.microsoft.com/office/drawing/2014/main" id="{1310E2AF-C6FD-0EE7-2E78-38986733DF06}"/>
              </a:ext>
            </a:extLst>
          </p:cNvPr>
          <p:cNvSpPr/>
          <p:nvPr/>
        </p:nvSpPr>
        <p:spPr>
          <a:xfrm>
            <a:off x="1215094" y="11241645"/>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30" name="正方形/長方形 29">
            <a:extLst>
              <a:ext uri="{FF2B5EF4-FFF2-40B4-BE49-F238E27FC236}">
                <a16:creationId xmlns:a16="http://schemas.microsoft.com/office/drawing/2014/main" id="{F222CB7F-8CEE-374C-8696-EE4D6E218097}"/>
              </a:ext>
            </a:extLst>
          </p:cNvPr>
          <p:cNvSpPr/>
          <p:nvPr/>
        </p:nvSpPr>
        <p:spPr>
          <a:xfrm>
            <a:off x="1648656" y="11833462"/>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53" name="グループ化 52">
            <a:extLst>
              <a:ext uri="{FF2B5EF4-FFF2-40B4-BE49-F238E27FC236}">
                <a16:creationId xmlns:a16="http://schemas.microsoft.com/office/drawing/2014/main" id="{C524175E-5AE6-BCEF-0938-3000090DABB3}"/>
              </a:ext>
            </a:extLst>
          </p:cNvPr>
          <p:cNvGrpSpPr/>
          <p:nvPr/>
        </p:nvGrpSpPr>
        <p:grpSpPr>
          <a:xfrm>
            <a:off x="1152740" y="10986192"/>
            <a:ext cx="2743961" cy="213343"/>
            <a:chOff x="8168173" y="4422050"/>
            <a:chExt cx="2743961" cy="213343"/>
          </a:xfrm>
        </p:grpSpPr>
        <p:pic>
          <p:nvPicPr>
            <p:cNvPr id="54" name="図 53">
              <a:extLst>
                <a:ext uri="{FF2B5EF4-FFF2-40B4-BE49-F238E27FC236}">
                  <a16:creationId xmlns:a16="http://schemas.microsoft.com/office/drawing/2014/main" id="{B4253E48-D4A1-7645-18A2-D1F25740B274}"/>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55" name="正方形/長方形 54">
              <a:extLst>
                <a:ext uri="{FF2B5EF4-FFF2-40B4-BE49-F238E27FC236}">
                  <a16:creationId xmlns:a16="http://schemas.microsoft.com/office/drawing/2014/main" id="{5414F7BC-4D0F-7EBB-085E-7AA6FBFD1F24}"/>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56" name="左中かっこ 55">
            <a:extLst>
              <a:ext uri="{FF2B5EF4-FFF2-40B4-BE49-F238E27FC236}">
                <a16:creationId xmlns:a16="http://schemas.microsoft.com/office/drawing/2014/main" id="{29AD74C5-F1E5-E18B-68D6-4DB205AD1060}"/>
              </a:ext>
            </a:extLst>
          </p:cNvPr>
          <p:cNvSpPr/>
          <p:nvPr/>
        </p:nvSpPr>
        <p:spPr bwMode="auto">
          <a:xfrm>
            <a:off x="995352" y="10946007"/>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57" name="正方形/長方形 56">
            <a:extLst>
              <a:ext uri="{FF2B5EF4-FFF2-40B4-BE49-F238E27FC236}">
                <a16:creationId xmlns:a16="http://schemas.microsoft.com/office/drawing/2014/main" id="{66363A11-1E3C-85AB-A8DD-64F1F0D01916}"/>
              </a:ext>
            </a:extLst>
          </p:cNvPr>
          <p:cNvSpPr/>
          <p:nvPr/>
        </p:nvSpPr>
        <p:spPr>
          <a:xfrm>
            <a:off x="1162527" y="8269260"/>
            <a:ext cx="2828940" cy="52335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en-US" sz="500">
                <a:solidFill>
                  <a:prstClr val="black"/>
                </a:solidFill>
                <a:latin typeface="Meiryo UI"/>
                <a:ea typeface="Meiryo UI"/>
              </a:rPr>
              <a:t>適用終了日が記載されている</a:t>
            </a:r>
            <a:r>
              <a:rPr kumimoji="1" lang="en-US" altLang="ja-JP" sz="500" dirty="0">
                <a:solidFill>
                  <a:prstClr val="black"/>
                </a:solidFill>
                <a:latin typeface="Meiryo UI"/>
                <a:ea typeface="Meiryo UI"/>
              </a:rPr>
              <a:t>JLAC</a:t>
            </a:r>
            <a:r>
              <a:rPr kumimoji="1" lang="ja-JP" altLang="en-US" sz="500">
                <a:solidFill>
                  <a:prstClr val="black"/>
                </a:solidFill>
                <a:latin typeface="Meiryo UI"/>
                <a:ea typeface="Meiryo UI"/>
              </a:rPr>
              <a:t>コードは今後</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廃止され、移行期間の後は利用できなくなるためご注意ください</a:t>
            </a:r>
            <a:r>
              <a:rPr kumimoji="1" lang="ja-JP" altLang="en-US" sz="500">
                <a:solidFill>
                  <a:prstClr val="black"/>
                </a:solidFill>
                <a:latin typeface="Meiryo UI"/>
                <a:ea typeface="Meiryo UI"/>
              </a:rPr>
              <a:t>。なお、移行期間は本サービスの全国的な運用開始までを予定しています。</a:t>
            </a:r>
            <a:endParaRPr kumimoji="1" lang="en-US" altLang="ja-JP" sz="500" b="1" dirty="0">
              <a:solidFill>
                <a:prstClr val="black"/>
              </a:solidFill>
              <a:latin typeface="Meiryo UI"/>
              <a:ea typeface="Meiryo UI"/>
            </a:endParaRP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a:t>
            </a:r>
            <a:r>
              <a:rPr kumimoji="1" lang="en-US" altLang="ja-JP" sz="500" dirty="0">
                <a:solidFill>
                  <a:prstClr val="black"/>
                </a:solidFill>
                <a:latin typeface="Meiryo UI"/>
              </a:rPr>
              <a:t> 2026</a:t>
            </a:r>
            <a:r>
              <a:rPr kumimoji="1" lang="ja-JP" altLang="en-US" sz="500">
                <a:solidFill>
                  <a:prstClr val="black"/>
                </a:solidFill>
                <a:latin typeface="Meiryo UI"/>
              </a:rPr>
              <a:t>年</a:t>
            </a:r>
            <a:r>
              <a:rPr kumimoji="1" lang="en-US" altLang="ja-JP" sz="500" dirty="0">
                <a:solidFill>
                  <a:prstClr val="black"/>
                </a:solidFill>
                <a:latin typeface="Meiryo UI"/>
              </a:rPr>
              <a:t>9</a:t>
            </a:r>
            <a:r>
              <a:rPr kumimoji="1" lang="ja-JP" altLang="en-US" sz="500">
                <a:solidFill>
                  <a:prstClr val="black"/>
                </a:solidFill>
                <a:latin typeface="Meiryo UI"/>
              </a:rPr>
              <a:t>月末まで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8" name="正方形/長方形 57">
            <a:extLst>
              <a:ext uri="{FF2B5EF4-FFF2-40B4-BE49-F238E27FC236}">
                <a16:creationId xmlns:a16="http://schemas.microsoft.com/office/drawing/2014/main" id="{7E68B8BE-811F-1D3E-3AA4-64E785B0B0E9}"/>
              </a:ext>
            </a:extLst>
          </p:cNvPr>
          <p:cNvSpPr/>
          <p:nvPr/>
        </p:nvSpPr>
        <p:spPr>
          <a:xfrm>
            <a:off x="1082916" y="49949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9" name="正方形/長方形 58">
            <a:extLst>
              <a:ext uri="{FF2B5EF4-FFF2-40B4-BE49-F238E27FC236}">
                <a16:creationId xmlns:a16="http://schemas.microsoft.com/office/drawing/2014/main" id="{51464A71-2268-EA0F-E6E6-60BD00B9A287}"/>
              </a:ext>
            </a:extLst>
          </p:cNvPr>
          <p:cNvSpPr/>
          <p:nvPr/>
        </p:nvSpPr>
        <p:spPr>
          <a:xfrm>
            <a:off x="1082916" y="404141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60" name="正方形/長方形 59">
            <a:extLst>
              <a:ext uri="{FF2B5EF4-FFF2-40B4-BE49-F238E27FC236}">
                <a16:creationId xmlns:a16="http://schemas.microsoft.com/office/drawing/2014/main" id="{9C15ED14-F983-8AF2-2B34-4B305EB8508A}"/>
              </a:ext>
            </a:extLst>
          </p:cNvPr>
          <p:cNvSpPr/>
          <p:nvPr/>
        </p:nvSpPr>
        <p:spPr>
          <a:xfrm>
            <a:off x="1054287" y="484953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61" name="正方形/長方形 60">
            <a:extLst>
              <a:ext uri="{FF2B5EF4-FFF2-40B4-BE49-F238E27FC236}">
                <a16:creationId xmlns:a16="http://schemas.microsoft.com/office/drawing/2014/main" id="{18C10567-15F1-314E-0F5D-01C991D33AC2}"/>
              </a:ext>
            </a:extLst>
          </p:cNvPr>
          <p:cNvSpPr/>
          <p:nvPr/>
        </p:nvSpPr>
        <p:spPr>
          <a:xfrm>
            <a:off x="1429677" y="7431018"/>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2" name="表 61">
            <a:extLst>
              <a:ext uri="{FF2B5EF4-FFF2-40B4-BE49-F238E27FC236}">
                <a16:creationId xmlns:a16="http://schemas.microsoft.com/office/drawing/2014/main" id="{C59E6A79-F6C9-BD32-F090-48FF405437C2}"/>
              </a:ext>
            </a:extLst>
          </p:cNvPr>
          <p:cNvGraphicFramePr>
            <a:graphicFrameLocks noGrp="1"/>
          </p:cNvGraphicFramePr>
          <p:nvPr/>
        </p:nvGraphicFramePr>
        <p:xfrm>
          <a:off x="1383070" y="7533951"/>
          <a:ext cx="2387855" cy="439993"/>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06660808"/>
                  </a:ext>
                </a:extLst>
              </a:tr>
            </a:tbl>
          </a:graphicData>
        </a:graphic>
      </p:graphicFrame>
      <p:sp>
        <p:nvSpPr>
          <p:cNvPr id="63" name="正方形/長方形 62">
            <a:extLst>
              <a:ext uri="{FF2B5EF4-FFF2-40B4-BE49-F238E27FC236}">
                <a16:creationId xmlns:a16="http://schemas.microsoft.com/office/drawing/2014/main" id="{1BB47CC4-F802-56CC-51FE-7B3EADD13427}"/>
              </a:ext>
            </a:extLst>
          </p:cNvPr>
          <p:cNvSpPr/>
          <p:nvPr/>
        </p:nvSpPr>
        <p:spPr>
          <a:xfrm>
            <a:off x="1073075" y="5097734"/>
            <a:ext cx="2749921" cy="2102282"/>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solidFill>
                <a:prstClr val="black"/>
              </a:solidFill>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lvl="0" fontAlgn="base">
              <a:spcBef>
                <a:spcPct val="20000"/>
              </a:spcBef>
              <a:spcAft>
                <a:spcPct val="0"/>
              </a:spcAft>
              <a:defRPr/>
            </a:pPr>
            <a:r>
              <a:rPr kumimoji="1" lang="ja-JP" altLang="en-US" sz="500">
                <a:latin typeface="Meiryo UI"/>
                <a:ea typeface="Meiryo UI"/>
              </a:rPr>
              <a:t>①</a:t>
            </a:r>
            <a:r>
              <a:rPr kumimoji="1" lang="en-US" altLang="ja-JP" sz="500" dirty="0">
                <a:latin typeface="Meiryo UI"/>
                <a:ea typeface="Meiryo UI"/>
              </a:rPr>
              <a:t>2026</a:t>
            </a:r>
            <a:r>
              <a:rPr kumimoji="1" lang="ja-JP" altLang="en-US" sz="500">
                <a:latin typeface="Meiryo UI"/>
                <a:ea typeface="Meiryo UI"/>
              </a:rPr>
              <a:t>年</a:t>
            </a:r>
            <a:r>
              <a:rPr kumimoji="1" lang="en-US" altLang="ja-JP" sz="500" i="0" u="none" strike="noStrike" kern="1200" cap="none" spc="0" normalizeH="0" baseline="0" noProof="0" dirty="0">
                <a:ln>
                  <a:noFill/>
                </a:ln>
                <a:effectLst/>
                <a:uLnTx/>
                <a:uFillTx/>
                <a:latin typeface="Meiryo UI"/>
                <a:ea typeface="Meiryo UI"/>
                <a:cs typeface="+mn-cs"/>
              </a:rPr>
              <a:t>9</a:t>
            </a:r>
            <a:r>
              <a:rPr kumimoji="1" lang="ja-JP" altLang="en-US" sz="500" i="0" u="none" strike="noStrike" kern="1200" cap="none" spc="0" normalizeH="0" baseline="0" noProof="0">
                <a:ln>
                  <a:noFill/>
                </a:ln>
                <a:effectLst/>
                <a:uLnTx/>
                <a:uFillTx/>
                <a:latin typeface="Meiryo UI"/>
                <a:ea typeface="Meiryo UI"/>
                <a:cs typeface="+mn-cs"/>
              </a:rPr>
              <a:t>月末以降は、</a:t>
            </a:r>
            <a:r>
              <a:rPr kumimoji="1" lang="en-US" altLang="ja-JP" sz="500" i="0" u="none" strike="noStrike" kern="1200" cap="none" spc="0" normalizeH="0" baseline="0" noProof="0" dirty="0">
                <a:ln>
                  <a:noFill/>
                </a:ln>
                <a:effectLst/>
                <a:uLnTx/>
                <a:uFillTx/>
                <a:latin typeface="Meiryo UI"/>
                <a:ea typeface="Meiryo UI"/>
                <a:cs typeface="+mn-cs"/>
              </a:rPr>
              <a:t>202603</a:t>
            </a:r>
            <a:r>
              <a:rPr kumimoji="1" lang="ja-JP" altLang="en-US" sz="500" i="0" u="none" strike="noStrike" kern="1200" cap="none" spc="0" normalizeH="0" baseline="0" noProof="0">
                <a:ln>
                  <a:noFill/>
                </a:ln>
                <a:effectLst/>
                <a:uLnTx/>
                <a:uFillTx/>
                <a:latin typeface="Meiryo UI"/>
                <a:ea typeface="Meiryo UI"/>
                <a:cs typeface="+mn-cs"/>
              </a:rPr>
              <a:t>版に記載されている次の</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項目名称のコードについてより適切な</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項目名称に変更となったため、電子カルテ情報共有サービスに登録できなくなります。</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項目名称の詳細につきましては、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版以降の版をご確認ください。 </a:t>
            </a:r>
            <a:endParaRPr kumimoji="1" lang="en-US" altLang="ja-JP" sz="500" dirty="0">
              <a:solidFill>
                <a:prstClr val="black"/>
              </a:solidFill>
              <a:latin typeface="Meiryo UI (Body)"/>
            </a:endParaRPr>
          </a:p>
          <a:p>
            <a:pPr lvl="0"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uLnTx/>
                <a:uFillTx/>
                <a:latin typeface="Meiryo UI"/>
                <a:ea typeface="Meiryo UI"/>
                <a:cs typeface="+mn-cs"/>
              </a:rPr>
              <a:t>JLAC</a:t>
            </a:r>
            <a:r>
              <a:rPr kumimoji="1" lang="ja-JP" altLang="en-US" sz="500">
                <a:latin typeface="Meiryo UI"/>
                <a:ea typeface="Meiryo UI"/>
              </a:rPr>
              <a:t>コードの見直しにより、一部の</a:t>
            </a:r>
            <a:r>
              <a:rPr kumimoji="1" lang="en-US" altLang="ja-JP" sz="500" dirty="0">
                <a:latin typeface="Meiryo UI"/>
                <a:ea typeface="Meiryo UI"/>
              </a:rPr>
              <a:t>JLAC10</a:t>
            </a:r>
            <a:r>
              <a:rPr kumimoji="1" lang="ja-JP" altLang="en-US" sz="500">
                <a:latin typeface="Meiryo UI"/>
                <a:ea typeface="Meiryo UI"/>
              </a:rPr>
              <a:t>コードについて登録できなくなります。該当コードや変更先の詳細は新旧コード対応表</a:t>
            </a:r>
            <a:r>
              <a:rPr kumimoji="1" lang="en-US" altLang="ja-JP" sz="500" dirty="0">
                <a:latin typeface="Meiryo UI"/>
                <a:ea typeface="Meiryo UI"/>
              </a:rPr>
              <a:t>(</a:t>
            </a:r>
            <a:r>
              <a:rPr kumimoji="1" lang="ja-JP" altLang="en-US" sz="500">
                <a:latin typeface="Meiryo UI"/>
                <a:ea typeface="Meiryo UI"/>
              </a:rPr>
              <a:t>準備中</a:t>
            </a:r>
            <a:r>
              <a:rPr kumimoji="1" lang="en-US" altLang="ja-JP" sz="500" dirty="0">
                <a:latin typeface="Meiryo UI"/>
                <a:ea typeface="Meiryo UI"/>
              </a:rPr>
              <a:t>)</a:t>
            </a:r>
            <a:r>
              <a:rPr kumimoji="1" lang="ja-JP" altLang="en-US" sz="500">
                <a:latin typeface="Meiryo UI"/>
                <a:ea typeface="Meiryo UI"/>
              </a:rPr>
              <a:t>を参照ください。</a:t>
            </a:r>
            <a:endParaRPr kumimoji="1" lang="en-US" altLang="ja-JP" sz="500" dirty="0">
              <a:latin typeface="Meiryo UI"/>
              <a:ea typeface="Meiryo UI"/>
            </a:endParaRPr>
          </a:p>
          <a:p>
            <a:pPr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③当該試薬のコードにつきまして</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項目名称が変更となりました。</a:t>
            </a:r>
            <a:r>
              <a:rPr kumimoji="1" lang="en-US" altLang="ja-JP" sz="500" dirty="0">
                <a:latin typeface="Meiryo UI"/>
              </a:rPr>
              <a:t>2026</a:t>
            </a:r>
            <a:r>
              <a:rPr kumimoji="1" lang="ja-JP" altLang="en-US" sz="500">
                <a:latin typeface="Meiryo UI"/>
              </a:rPr>
              <a:t>年</a:t>
            </a:r>
            <a:r>
              <a:rPr kumimoji="1" lang="en-US" altLang="ja-JP" sz="500" dirty="0">
                <a:latin typeface="Meiryo UI"/>
              </a:rPr>
              <a:t>9</a:t>
            </a:r>
            <a:r>
              <a:rPr kumimoji="1" lang="ja-JP" altLang="en-US" sz="500">
                <a:latin typeface="Meiryo UI"/>
              </a:rPr>
              <a:t>月末以降は、</a:t>
            </a:r>
            <a:r>
              <a:rPr kumimoji="1" lang="en-US" altLang="ja-JP" sz="500" dirty="0">
                <a:latin typeface="Meiryo UI"/>
              </a:rPr>
              <a:t>202603</a:t>
            </a:r>
            <a:r>
              <a:rPr kumimoji="1" lang="ja-JP" altLang="en-US" sz="500">
                <a:latin typeface="Meiryo UI"/>
              </a:rPr>
              <a:t>版に記載されている次の</a:t>
            </a:r>
            <a:r>
              <a:rPr kumimoji="1" lang="en-US" altLang="ja-JP" sz="500" dirty="0">
                <a:latin typeface="Meiryo UI"/>
              </a:rPr>
              <a:t>FHIR</a:t>
            </a:r>
            <a:r>
              <a:rPr kumimoji="1" lang="ja-JP" altLang="en-US" sz="500">
                <a:latin typeface="Meiryo UI"/>
              </a:rPr>
              <a:t>項目名称のコードについてより適切な</a:t>
            </a:r>
            <a:r>
              <a:rPr kumimoji="1" lang="en-US" altLang="ja-JP" sz="500" dirty="0">
                <a:latin typeface="Meiryo UI"/>
              </a:rPr>
              <a:t>FHIR</a:t>
            </a:r>
            <a:r>
              <a:rPr kumimoji="1" lang="ja-JP" altLang="en-US" sz="500">
                <a:latin typeface="Meiryo UI"/>
              </a:rPr>
              <a:t>項目名称に変更となったため、電子カルテ情報共有サービスに登録できなくなります。当該試薬を利用している医療機関においては</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項目名称を確認の上登録ください。詳細につきましては、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版をご確認ください。 </a:t>
            </a:r>
            <a:endParaRPr kumimoji="1" lang="en-US" altLang="ja-JP" sz="500" dirty="0">
              <a:solidFill>
                <a:prstClr val="black"/>
              </a:solidFill>
              <a:latin typeface="Meiryo UI (Body)"/>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b="1" dirty="0">
                <a:solidFill>
                  <a:srgbClr val="FF0000"/>
                </a:solidFill>
                <a:latin typeface="Meiryo UI (Body)"/>
              </a:rPr>
              <a:t>&lt;202608xx</a:t>
            </a:r>
            <a:r>
              <a:rPr kumimoji="1" lang="ja-JP" altLang="en-US" sz="500" b="1">
                <a:solidFill>
                  <a:srgbClr val="FF0000"/>
                </a:solidFill>
                <a:latin typeface="Meiryo UI (Body)"/>
              </a:rPr>
              <a:t>追記</a:t>
            </a:r>
            <a:r>
              <a:rPr kumimoji="1" lang="en-US" altLang="ja-JP" sz="500" b="1" dirty="0">
                <a:solidFill>
                  <a:srgbClr val="FF0000"/>
                </a:solidFill>
                <a:latin typeface="Meiryo UI (Body)"/>
              </a:rPr>
              <a:t>&gt;</a:t>
            </a:r>
            <a:r>
              <a:rPr kumimoji="1" lang="en-US" altLang="ja-JP" sz="500" dirty="0">
                <a:solidFill>
                  <a:prstClr val="black"/>
                </a:solidFill>
                <a:latin typeface="Meiryo UI (Body)"/>
              </a:rPr>
              <a:t>202606</a:t>
            </a:r>
            <a:r>
              <a:rPr kumimoji="1" lang="ja-JP" altLang="en-US" sz="500">
                <a:solidFill>
                  <a:prstClr val="black"/>
                </a:solidFill>
                <a:latin typeface="Meiryo UI (Body)"/>
              </a:rPr>
              <a:t>版に記載されている次の</a:t>
            </a:r>
            <a:r>
              <a:rPr kumimoji="1" lang="en-US" altLang="ja-JP" sz="500" dirty="0">
                <a:solidFill>
                  <a:prstClr val="black"/>
                </a:solidFill>
                <a:latin typeface="Meiryo UI (Body)"/>
              </a:rPr>
              <a:t>XML</a:t>
            </a:r>
            <a:r>
              <a:rPr kumimoji="1" lang="ja-JP" altLang="en-US" sz="500">
                <a:solidFill>
                  <a:prstClr val="black"/>
                </a:solidFill>
                <a:latin typeface="Meiryo UI (Body)"/>
              </a:rPr>
              <a:t>用単位のコードについてより適切な</a:t>
            </a:r>
            <a:r>
              <a:rPr kumimoji="1" lang="en-US" altLang="ja-JP" sz="500" dirty="0">
                <a:solidFill>
                  <a:prstClr val="black"/>
                </a:solidFill>
                <a:latin typeface="Meiryo UI (Body)"/>
              </a:rPr>
              <a:t>XML</a:t>
            </a:r>
            <a:r>
              <a:rPr kumimoji="1" lang="ja-JP" altLang="en-US" sz="500">
                <a:solidFill>
                  <a:prstClr val="black"/>
                </a:solidFill>
                <a:latin typeface="Meiryo UI (Body)"/>
              </a:rPr>
              <a:t>用単位に変更となったため、電子カルテ情報共有サービスに登録できなくなります。新しい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solidFill>
                  <a:prstClr val="black"/>
                </a:solidFill>
                <a:latin typeface="Meiryo UI (Body)"/>
              </a:rPr>
              <a:t>202608</a:t>
            </a:r>
            <a:r>
              <a:rPr kumimoji="1" lang="ja-JP" altLang="en-US" sz="500">
                <a:solidFill>
                  <a:prstClr val="black"/>
                </a:solidFill>
                <a:latin typeface="Meiryo UI (Body)"/>
              </a:rPr>
              <a:t>版をご確認ください。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500" i="0" u="none" strike="noStrike" kern="1200" cap="none" spc="0" normalizeH="0" baseline="0" noProof="0">
              <a:ln>
                <a:noFill/>
              </a:ln>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24F71EEE-C8A4-0679-2EC1-87C747EE0BAE}"/>
              </a:ext>
            </a:extLst>
          </p:cNvPr>
          <p:cNvSpPr/>
          <p:nvPr/>
        </p:nvSpPr>
        <p:spPr>
          <a:xfrm>
            <a:off x="1108168" y="7259758"/>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●新コードのみのマスタ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5" name="正方形/長方形 64">
            <a:extLst>
              <a:ext uri="{FF2B5EF4-FFF2-40B4-BE49-F238E27FC236}">
                <a16:creationId xmlns:a16="http://schemas.microsoft.com/office/drawing/2014/main" id="{37A327D2-F7EE-FA20-B90C-1EE2F5F41081}"/>
              </a:ext>
            </a:extLst>
          </p:cNvPr>
          <p:cNvSpPr/>
          <p:nvPr/>
        </p:nvSpPr>
        <p:spPr>
          <a:xfrm>
            <a:off x="1100863" y="8076717"/>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6" name="正方形/長方形 65">
            <a:extLst>
              <a:ext uri="{FF2B5EF4-FFF2-40B4-BE49-F238E27FC236}">
                <a16:creationId xmlns:a16="http://schemas.microsoft.com/office/drawing/2014/main" id="{A67B490F-7229-BFF5-3645-BD119AD314BC}"/>
              </a:ext>
            </a:extLst>
          </p:cNvPr>
          <p:cNvSpPr/>
          <p:nvPr/>
        </p:nvSpPr>
        <p:spPr>
          <a:xfrm>
            <a:off x="1429677" y="874623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7" name="表 66">
            <a:extLst>
              <a:ext uri="{FF2B5EF4-FFF2-40B4-BE49-F238E27FC236}">
                <a16:creationId xmlns:a16="http://schemas.microsoft.com/office/drawing/2014/main" id="{98E4E9EC-A738-9C0D-8890-FA0BF2B7D3B0}"/>
              </a:ext>
            </a:extLst>
          </p:cNvPr>
          <p:cNvGraphicFramePr>
            <a:graphicFrameLocks noGrp="1"/>
          </p:cNvGraphicFramePr>
          <p:nvPr/>
        </p:nvGraphicFramePr>
        <p:xfrm>
          <a:off x="1130314" y="8864653"/>
          <a:ext cx="2719534" cy="439993"/>
        </p:xfrm>
        <a:graphic>
          <a:graphicData uri="http://schemas.openxmlformats.org/drawingml/2006/table">
            <a:tbl>
              <a:tblPr/>
              <a:tblGrid>
                <a:gridCol w="288000">
                  <a:extLst>
                    <a:ext uri="{9D8B030D-6E8A-4147-A177-3AD203B41FA5}">
                      <a16:colId xmlns:a16="http://schemas.microsoft.com/office/drawing/2014/main" val="4058772077"/>
                    </a:ext>
                  </a:extLst>
                </a:gridCol>
                <a:gridCol w="468000">
                  <a:extLst>
                    <a:ext uri="{9D8B030D-6E8A-4147-A177-3AD203B41FA5}">
                      <a16:colId xmlns:a16="http://schemas.microsoft.com/office/drawing/2014/main" val="154882630"/>
                    </a:ext>
                  </a:extLst>
                </a:gridCol>
                <a:gridCol w="331898">
                  <a:extLst>
                    <a:ext uri="{9D8B030D-6E8A-4147-A177-3AD203B41FA5}">
                      <a16:colId xmlns:a16="http://schemas.microsoft.com/office/drawing/2014/main" val="2721471254"/>
                    </a:ext>
                  </a:extLst>
                </a:gridCol>
                <a:gridCol w="365818">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68000">
                  <a:extLst>
                    <a:ext uri="{9D8B030D-6E8A-4147-A177-3AD203B41FA5}">
                      <a16:colId xmlns:a16="http://schemas.microsoft.com/office/drawing/2014/main" val="420957508"/>
                    </a:ext>
                  </a:extLst>
                </a:gridCol>
                <a:gridCol w="365818">
                  <a:extLst>
                    <a:ext uri="{9D8B030D-6E8A-4147-A177-3AD203B41FA5}">
                      <a16:colId xmlns:a16="http://schemas.microsoft.com/office/drawing/2014/main" val="2222112419"/>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99521008"/>
                  </a:ext>
                </a:extLst>
              </a:tr>
            </a:tbl>
          </a:graphicData>
        </a:graphic>
      </p:graphicFrame>
      <p:sp>
        <p:nvSpPr>
          <p:cNvPr id="68" name="正方形/長方形 67">
            <a:extLst>
              <a:ext uri="{FF2B5EF4-FFF2-40B4-BE49-F238E27FC236}">
                <a16:creationId xmlns:a16="http://schemas.microsoft.com/office/drawing/2014/main" id="{3DAE6C39-1BE5-A83F-7827-5651C5D43A95}"/>
              </a:ext>
            </a:extLst>
          </p:cNvPr>
          <p:cNvSpPr/>
          <p:nvPr/>
        </p:nvSpPr>
        <p:spPr>
          <a:xfrm>
            <a:off x="1082916" y="9426211"/>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●新・旧コードの対応表</a:t>
            </a:r>
            <a:endParaRPr kumimoji="1" lang="ja-JP" altLang="en-US" sz="500" b="1" i="0" u="none" strike="noStrike" kern="1200" cap="none" spc="0" normalizeH="0" baseline="0" noProof="0">
              <a:ln>
                <a:noFill/>
              </a:ln>
              <a:effectLst/>
              <a:uLnTx/>
              <a:uFillTx/>
              <a:latin typeface="Meiryo UI"/>
              <a:ea typeface="Meiryo UI"/>
              <a:cs typeface="+mn-cs"/>
            </a:endParaRPr>
          </a:p>
        </p:txBody>
      </p:sp>
      <p:graphicFrame>
        <p:nvGraphicFramePr>
          <p:cNvPr id="69" name="表 68">
            <a:extLst>
              <a:ext uri="{FF2B5EF4-FFF2-40B4-BE49-F238E27FC236}">
                <a16:creationId xmlns:a16="http://schemas.microsoft.com/office/drawing/2014/main" id="{876CE99A-96A9-5839-7E82-A74C1B8FA819}"/>
              </a:ext>
            </a:extLst>
          </p:cNvPr>
          <p:cNvGraphicFramePr>
            <a:graphicFrameLocks noGrp="1"/>
          </p:cNvGraphicFramePr>
          <p:nvPr/>
        </p:nvGraphicFramePr>
        <p:xfrm>
          <a:off x="1838643" y="10480127"/>
          <a:ext cx="1470452" cy="283482"/>
        </p:xfrm>
        <a:graphic>
          <a:graphicData uri="http://schemas.openxmlformats.org/drawingml/2006/table">
            <a:tbl>
              <a:tblPr/>
              <a:tblGrid>
                <a:gridCol w="711007">
                  <a:extLst>
                    <a:ext uri="{9D8B030D-6E8A-4147-A177-3AD203B41FA5}">
                      <a16:colId xmlns:a16="http://schemas.microsoft.com/office/drawing/2014/main" val="154882630"/>
                    </a:ext>
                  </a:extLst>
                </a:gridCol>
                <a:gridCol w="759445">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0" name="正方形/長方形 69">
            <a:extLst>
              <a:ext uri="{FF2B5EF4-FFF2-40B4-BE49-F238E27FC236}">
                <a16:creationId xmlns:a16="http://schemas.microsoft.com/office/drawing/2014/main" id="{062023EF-6290-C4DA-3CCC-35A7ED5867FE}"/>
              </a:ext>
            </a:extLst>
          </p:cNvPr>
          <p:cNvSpPr/>
          <p:nvPr/>
        </p:nvSpPr>
        <p:spPr>
          <a:xfrm>
            <a:off x="1454860" y="10374921"/>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sp>
        <p:nvSpPr>
          <p:cNvPr id="71" name="正方形/長方形 70">
            <a:extLst>
              <a:ext uri="{FF2B5EF4-FFF2-40B4-BE49-F238E27FC236}">
                <a16:creationId xmlns:a16="http://schemas.microsoft.com/office/drawing/2014/main" id="{678D025A-C63D-5172-B565-B9FEA252BFA6}"/>
              </a:ext>
            </a:extLst>
          </p:cNvPr>
          <p:cNvSpPr/>
          <p:nvPr/>
        </p:nvSpPr>
        <p:spPr>
          <a:xfrm>
            <a:off x="1075611" y="9570294"/>
            <a:ext cx="2828940" cy="75082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latin typeface="Meiryo UI"/>
              </a:rPr>
              <a:t>版のコードに移行いただく際の対応表をご提供します。</a:t>
            </a:r>
            <a:br>
              <a:rPr kumimoji="1" lang="en-US" altLang="ja-JP" sz="500" dirty="0">
                <a:solidFill>
                  <a:prstClr val="black"/>
                </a:solidFill>
                <a:latin typeface="Meiryo UI"/>
              </a:rPr>
            </a:b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版までに公開していたコードを用いていた医療機関においては、新コードへのマッピング作業を行っていただく際にご参照ください。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&lt;20260827</a:t>
            </a:r>
            <a:r>
              <a:rPr kumimoji="1" lang="ja-JP" altLang="en-US" sz="500" b="1">
                <a:solidFill>
                  <a:srgbClr val="FF0000"/>
                </a:solidFill>
                <a:latin typeface="Meiryo UI (Body)"/>
              </a:rPr>
              <a:t>追記</a:t>
            </a:r>
            <a:r>
              <a:rPr kumimoji="1" lang="en-US" altLang="ja-JP" sz="500" b="1" dirty="0">
                <a:solidFill>
                  <a:srgbClr val="FF0000"/>
                </a:solidFill>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2026/08/XX</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en-US" altLang="ja-JP" sz="500" dirty="0">
                <a:solidFill>
                  <a:prstClr val="black"/>
                </a:solidFill>
                <a:latin typeface="Meiryo UI"/>
              </a:rPr>
              <a:t>2026/08/XX</a:t>
            </a:r>
            <a:r>
              <a:rPr kumimoji="1" lang="ja-JP" altLang="en-US" sz="500">
                <a:solidFill>
                  <a:prstClr val="black"/>
                </a:solidFill>
                <a:latin typeface="Meiryo UI"/>
              </a:rPr>
              <a:t>公開の表をご確認ください。</a:t>
            </a:r>
            <a:endParaRPr kumimoji="1" lang="en-US" altLang="ja-JP" sz="500" dirty="0">
              <a:solidFill>
                <a:prstClr val="black"/>
              </a:solidFill>
              <a:latin typeface="Meiryo UI"/>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graphicFrame>
        <p:nvGraphicFramePr>
          <p:cNvPr id="95" name="表 94">
            <a:extLst>
              <a:ext uri="{FF2B5EF4-FFF2-40B4-BE49-F238E27FC236}">
                <a16:creationId xmlns:a16="http://schemas.microsoft.com/office/drawing/2014/main" id="{D195A5CA-1586-9F92-9571-A3D621285636}"/>
              </a:ext>
            </a:extLst>
          </p:cNvPr>
          <p:cNvGraphicFramePr>
            <a:graphicFrameLocks noGrp="1"/>
          </p:cNvGraphicFramePr>
          <p:nvPr/>
        </p:nvGraphicFramePr>
        <p:xfrm>
          <a:off x="5710238" y="12755753"/>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09" name="正方形/長方形 108">
            <a:extLst>
              <a:ext uri="{FF2B5EF4-FFF2-40B4-BE49-F238E27FC236}">
                <a16:creationId xmlns:a16="http://schemas.microsoft.com/office/drawing/2014/main" id="{46A469DC-ABD6-4503-0948-344350DE9BF1}"/>
              </a:ext>
            </a:extLst>
          </p:cNvPr>
          <p:cNvSpPr/>
          <p:nvPr/>
        </p:nvSpPr>
        <p:spPr>
          <a:xfrm>
            <a:off x="5651639" y="13173894"/>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sp>
        <p:nvSpPr>
          <p:cNvPr id="124" name="正方形/長方形 123">
            <a:extLst>
              <a:ext uri="{FF2B5EF4-FFF2-40B4-BE49-F238E27FC236}">
                <a16:creationId xmlns:a16="http://schemas.microsoft.com/office/drawing/2014/main" id="{508C7C22-F9B6-45C9-DDC8-AC6909FF453E}"/>
              </a:ext>
            </a:extLst>
          </p:cNvPr>
          <p:cNvSpPr/>
          <p:nvPr/>
        </p:nvSpPr>
        <p:spPr>
          <a:xfrm>
            <a:off x="5561229" y="12053467"/>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25" name="正方形/長方形 124">
            <a:extLst>
              <a:ext uri="{FF2B5EF4-FFF2-40B4-BE49-F238E27FC236}">
                <a16:creationId xmlns:a16="http://schemas.microsoft.com/office/drawing/2014/main" id="{65DD1DED-1EC0-A288-2E77-E63EA96CB44D}"/>
              </a:ext>
            </a:extLst>
          </p:cNvPr>
          <p:cNvSpPr/>
          <p:nvPr/>
        </p:nvSpPr>
        <p:spPr>
          <a:xfrm>
            <a:off x="5994791" y="12645284"/>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126" name="グループ化 125">
            <a:extLst>
              <a:ext uri="{FF2B5EF4-FFF2-40B4-BE49-F238E27FC236}">
                <a16:creationId xmlns:a16="http://schemas.microsoft.com/office/drawing/2014/main" id="{EBB87B13-C443-C5D7-63DF-2060E09A1398}"/>
              </a:ext>
            </a:extLst>
          </p:cNvPr>
          <p:cNvGrpSpPr/>
          <p:nvPr/>
        </p:nvGrpSpPr>
        <p:grpSpPr>
          <a:xfrm>
            <a:off x="5498875" y="11798014"/>
            <a:ext cx="2743961" cy="213343"/>
            <a:chOff x="8168173" y="4422050"/>
            <a:chExt cx="2743961" cy="213343"/>
          </a:xfrm>
        </p:grpSpPr>
        <p:pic>
          <p:nvPicPr>
            <p:cNvPr id="127" name="図 126">
              <a:extLst>
                <a:ext uri="{FF2B5EF4-FFF2-40B4-BE49-F238E27FC236}">
                  <a16:creationId xmlns:a16="http://schemas.microsoft.com/office/drawing/2014/main" id="{4955F119-A2BA-5D29-7D5A-C96880D2C79B}"/>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28" name="正方形/長方形 127">
              <a:extLst>
                <a:ext uri="{FF2B5EF4-FFF2-40B4-BE49-F238E27FC236}">
                  <a16:creationId xmlns:a16="http://schemas.microsoft.com/office/drawing/2014/main" id="{170F216D-EFF1-5E3A-7D05-110A327D6411}"/>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129" name="左中かっこ 128">
            <a:extLst>
              <a:ext uri="{FF2B5EF4-FFF2-40B4-BE49-F238E27FC236}">
                <a16:creationId xmlns:a16="http://schemas.microsoft.com/office/drawing/2014/main" id="{C5CDDD22-6E1C-B7ED-1992-7E2CCA42DEAC}"/>
              </a:ext>
            </a:extLst>
          </p:cNvPr>
          <p:cNvSpPr/>
          <p:nvPr/>
        </p:nvSpPr>
        <p:spPr bwMode="auto">
          <a:xfrm>
            <a:off x="5341487" y="11757829"/>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73" name="左中かっこ 72">
            <a:extLst>
              <a:ext uri="{FF2B5EF4-FFF2-40B4-BE49-F238E27FC236}">
                <a16:creationId xmlns:a16="http://schemas.microsoft.com/office/drawing/2014/main" id="{88712F5F-E1F9-4611-1A16-62C49295D485}"/>
              </a:ext>
            </a:extLst>
          </p:cNvPr>
          <p:cNvSpPr/>
          <p:nvPr/>
        </p:nvSpPr>
        <p:spPr bwMode="auto">
          <a:xfrm>
            <a:off x="5026219" y="6625844"/>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75" name="図 74">
            <a:extLst>
              <a:ext uri="{FF2B5EF4-FFF2-40B4-BE49-F238E27FC236}">
                <a16:creationId xmlns:a16="http://schemas.microsoft.com/office/drawing/2014/main" id="{A7C11FC2-63B3-B675-A24E-F16389368A56}"/>
              </a:ext>
            </a:extLst>
          </p:cNvPr>
          <p:cNvPicPr>
            <a:picLocks noChangeAspect="1"/>
          </p:cNvPicPr>
          <p:nvPr/>
        </p:nvPicPr>
        <p:blipFill>
          <a:blip r:embed="rId7"/>
          <a:srcRect t="59419" b="34917"/>
          <a:stretch>
            <a:fillRect/>
          </a:stretch>
        </p:blipFill>
        <p:spPr>
          <a:xfrm>
            <a:off x="5443428" y="6528817"/>
            <a:ext cx="2653245" cy="159180"/>
          </a:xfrm>
          <a:prstGeom prst="rect">
            <a:avLst/>
          </a:prstGeom>
        </p:spPr>
      </p:pic>
      <p:graphicFrame>
        <p:nvGraphicFramePr>
          <p:cNvPr id="77" name="表 76">
            <a:extLst>
              <a:ext uri="{FF2B5EF4-FFF2-40B4-BE49-F238E27FC236}">
                <a16:creationId xmlns:a16="http://schemas.microsoft.com/office/drawing/2014/main" id="{70A72199-FC01-3D2F-04B3-1B902DDEB8F1}"/>
              </a:ext>
            </a:extLst>
          </p:cNvPr>
          <p:cNvGraphicFramePr>
            <a:graphicFrameLocks noGrp="1"/>
          </p:cNvGraphicFramePr>
          <p:nvPr/>
        </p:nvGraphicFramePr>
        <p:xfrm>
          <a:off x="5452166" y="6703356"/>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sp>
        <p:nvSpPr>
          <p:cNvPr id="78" name="正方形/長方形 77">
            <a:extLst>
              <a:ext uri="{FF2B5EF4-FFF2-40B4-BE49-F238E27FC236}">
                <a16:creationId xmlns:a16="http://schemas.microsoft.com/office/drawing/2014/main" id="{10B6A1E6-94B5-6090-E4F4-22B5377DACBF}"/>
              </a:ext>
            </a:extLst>
          </p:cNvPr>
          <p:cNvSpPr/>
          <p:nvPr/>
        </p:nvSpPr>
        <p:spPr>
          <a:xfrm>
            <a:off x="4510296" y="6764345"/>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80" name="正方形/長方形 79">
            <a:extLst>
              <a:ext uri="{FF2B5EF4-FFF2-40B4-BE49-F238E27FC236}">
                <a16:creationId xmlns:a16="http://schemas.microsoft.com/office/drawing/2014/main" id="{A7F33422-91D2-3760-BAEF-1142BEE716C8}"/>
              </a:ext>
            </a:extLst>
          </p:cNvPr>
          <p:cNvSpPr/>
          <p:nvPr/>
        </p:nvSpPr>
        <p:spPr>
          <a:xfrm>
            <a:off x="5460932" y="594079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●新コードのみのマスタ</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pic>
        <p:nvPicPr>
          <p:cNvPr id="82" name="図 81">
            <a:extLst>
              <a:ext uri="{FF2B5EF4-FFF2-40B4-BE49-F238E27FC236}">
                <a16:creationId xmlns:a16="http://schemas.microsoft.com/office/drawing/2014/main" id="{EA39A4C7-CC49-939B-C644-7ACB64525557}"/>
              </a:ext>
            </a:extLst>
          </p:cNvPr>
          <p:cNvPicPr>
            <a:picLocks noChangeAspect="1"/>
          </p:cNvPicPr>
          <p:nvPr/>
        </p:nvPicPr>
        <p:blipFill>
          <a:blip r:embed="rId7"/>
          <a:srcRect t="59419" b="34917"/>
          <a:stretch>
            <a:fillRect/>
          </a:stretch>
        </p:blipFill>
        <p:spPr>
          <a:xfrm>
            <a:off x="5443428" y="8294496"/>
            <a:ext cx="2653245" cy="159180"/>
          </a:xfrm>
          <a:prstGeom prst="rect">
            <a:avLst/>
          </a:prstGeom>
        </p:spPr>
      </p:pic>
      <p:graphicFrame>
        <p:nvGraphicFramePr>
          <p:cNvPr id="83" name="表 82">
            <a:extLst>
              <a:ext uri="{FF2B5EF4-FFF2-40B4-BE49-F238E27FC236}">
                <a16:creationId xmlns:a16="http://schemas.microsoft.com/office/drawing/2014/main" id="{57590150-256B-942A-E53A-1F185823E7B1}"/>
              </a:ext>
            </a:extLst>
          </p:cNvPr>
          <p:cNvGraphicFramePr>
            <a:graphicFrameLocks noGrp="1"/>
          </p:cNvGraphicFramePr>
          <p:nvPr/>
        </p:nvGraphicFramePr>
        <p:xfrm>
          <a:off x="5452166" y="8469035"/>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graphicFrame>
        <p:nvGraphicFramePr>
          <p:cNvPr id="84" name="表 83">
            <a:extLst>
              <a:ext uri="{FF2B5EF4-FFF2-40B4-BE49-F238E27FC236}">
                <a16:creationId xmlns:a16="http://schemas.microsoft.com/office/drawing/2014/main" id="{FC53C774-1E03-976E-5AE0-15219696B28F}"/>
              </a:ext>
            </a:extLst>
          </p:cNvPr>
          <p:cNvGraphicFramePr>
            <a:graphicFrameLocks noGrp="1"/>
          </p:cNvGraphicFramePr>
          <p:nvPr/>
        </p:nvGraphicFramePr>
        <p:xfrm>
          <a:off x="5473495" y="7931245"/>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92" name="左中かっこ 91">
            <a:extLst>
              <a:ext uri="{FF2B5EF4-FFF2-40B4-BE49-F238E27FC236}">
                <a16:creationId xmlns:a16="http://schemas.microsoft.com/office/drawing/2014/main" id="{262B8919-6051-CFE8-981A-21DB14E62AA2}"/>
              </a:ext>
            </a:extLst>
          </p:cNvPr>
          <p:cNvSpPr/>
          <p:nvPr/>
        </p:nvSpPr>
        <p:spPr bwMode="auto">
          <a:xfrm>
            <a:off x="5026219" y="8365027"/>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93" name="正方形/長方形 92">
            <a:extLst>
              <a:ext uri="{FF2B5EF4-FFF2-40B4-BE49-F238E27FC236}">
                <a16:creationId xmlns:a16="http://schemas.microsoft.com/office/drawing/2014/main" id="{66D79ABC-22C6-072C-A302-94D052A83D34}"/>
              </a:ext>
            </a:extLst>
          </p:cNvPr>
          <p:cNvSpPr/>
          <p:nvPr/>
        </p:nvSpPr>
        <p:spPr>
          <a:xfrm>
            <a:off x="4510296" y="8503528"/>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94" name="正方形/長方形 93">
            <a:extLst>
              <a:ext uri="{FF2B5EF4-FFF2-40B4-BE49-F238E27FC236}">
                <a16:creationId xmlns:a16="http://schemas.microsoft.com/office/drawing/2014/main" id="{308A8034-27BC-A381-1C84-461DBEBB2D6D}"/>
              </a:ext>
            </a:extLst>
          </p:cNvPr>
          <p:cNvSpPr/>
          <p:nvPr/>
        </p:nvSpPr>
        <p:spPr>
          <a:xfrm>
            <a:off x="5388035" y="894531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●新・旧コードの対応表</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grpSp>
        <p:nvGrpSpPr>
          <p:cNvPr id="5" name="グループ化 4">
            <a:extLst>
              <a:ext uri="{FF2B5EF4-FFF2-40B4-BE49-F238E27FC236}">
                <a16:creationId xmlns:a16="http://schemas.microsoft.com/office/drawing/2014/main" id="{5314887E-962C-1D4F-5542-546453B05473}"/>
              </a:ext>
            </a:extLst>
          </p:cNvPr>
          <p:cNvGrpSpPr/>
          <p:nvPr/>
        </p:nvGrpSpPr>
        <p:grpSpPr>
          <a:xfrm>
            <a:off x="5498875" y="11053589"/>
            <a:ext cx="2743961" cy="213343"/>
            <a:chOff x="8168173" y="4422050"/>
            <a:chExt cx="2743961" cy="213343"/>
          </a:xfrm>
        </p:grpSpPr>
        <p:pic>
          <p:nvPicPr>
            <p:cNvPr id="9" name="図 8">
              <a:extLst>
                <a:ext uri="{FF2B5EF4-FFF2-40B4-BE49-F238E27FC236}">
                  <a16:creationId xmlns:a16="http://schemas.microsoft.com/office/drawing/2014/main" id="{5D6BBC9D-7E42-94F0-03FA-6084C4811490}"/>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4" name="正方形/長方形 13">
              <a:extLst>
                <a:ext uri="{FF2B5EF4-FFF2-40B4-BE49-F238E27FC236}">
                  <a16:creationId xmlns:a16="http://schemas.microsoft.com/office/drawing/2014/main" id="{975C3EB3-F6E6-4998-F0A0-A902520C728E}"/>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1" dirty="0">
                  <a:solidFill>
                    <a:prstClr val="black"/>
                  </a:solidFill>
                  <a:highlight>
                    <a:srgbClr val="FFFF00"/>
                  </a:highlight>
                  <a:latin typeface="Meiryo UI"/>
                  <a:ea typeface="Meiryo UI"/>
                </a:rPr>
                <a:t>9</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日まで適用の旧コードのマスタのダウンロードリンク</a:t>
              </a:r>
            </a:p>
          </p:txBody>
        </p:sp>
      </p:grpSp>
      <p:graphicFrame>
        <p:nvGraphicFramePr>
          <p:cNvPr id="74" name="表 73">
            <a:extLst>
              <a:ext uri="{FF2B5EF4-FFF2-40B4-BE49-F238E27FC236}">
                <a16:creationId xmlns:a16="http://schemas.microsoft.com/office/drawing/2014/main" id="{76DE4270-7C5B-2EC1-6A37-0AA44169C4CD}"/>
              </a:ext>
            </a:extLst>
          </p:cNvPr>
          <p:cNvGraphicFramePr>
            <a:graphicFrameLocks noGrp="1"/>
          </p:cNvGraphicFramePr>
          <p:nvPr/>
        </p:nvGraphicFramePr>
        <p:xfrm>
          <a:off x="5486288" y="11283370"/>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6" name="左中かっこ 75">
            <a:extLst>
              <a:ext uri="{FF2B5EF4-FFF2-40B4-BE49-F238E27FC236}">
                <a16:creationId xmlns:a16="http://schemas.microsoft.com/office/drawing/2014/main" id="{5747FF2B-D600-22E9-5033-60670172D8A8}"/>
              </a:ext>
            </a:extLst>
          </p:cNvPr>
          <p:cNvSpPr/>
          <p:nvPr/>
        </p:nvSpPr>
        <p:spPr bwMode="auto">
          <a:xfrm>
            <a:off x="5341487" y="11068550"/>
            <a:ext cx="112816" cy="582764"/>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2" name="四角形: 角を丸くする 31">
            <a:extLst>
              <a:ext uri="{FF2B5EF4-FFF2-40B4-BE49-F238E27FC236}">
                <a16:creationId xmlns:a16="http://schemas.microsoft.com/office/drawing/2014/main" id="{11017705-0101-BB40-30E2-0FDF1E4FF2BC}"/>
              </a:ext>
            </a:extLst>
          </p:cNvPr>
          <p:cNvSpPr/>
          <p:nvPr/>
        </p:nvSpPr>
        <p:spPr>
          <a:xfrm>
            <a:off x="8522930" y="6764345"/>
            <a:ext cx="1912790" cy="783541"/>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上堀さん確認</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lvl="0" algn="ctr" fontAlgn="base">
              <a:spcBef>
                <a:spcPct val="20000"/>
              </a:spcBef>
              <a:spcAft>
                <a:spcPct val="0"/>
              </a:spcAft>
              <a:defRPr/>
            </a:pPr>
            <a:r>
              <a:rPr lang="ja-JP" altLang="ja-JP" sz="1050"/>
              <a:t>JLACセンターからの修正依頼分（適用終了日の扱いについて誤解を招かないよう記載する）</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33" name="直線コネクタ 32">
            <a:extLst>
              <a:ext uri="{FF2B5EF4-FFF2-40B4-BE49-F238E27FC236}">
                <a16:creationId xmlns:a16="http://schemas.microsoft.com/office/drawing/2014/main" id="{D34E6463-0BF3-D96E-F7BF-6AB6205AF5BC}"/>
              </a:ext>
            </a:extLst>
          </p:cNvPr>
          <p:cNvCxnSpPr>
            <a:cxnSpLocks/>
          </p:cNvCxnSpPr>
          <p:nvPr/>
        </p:nvCxnSpPr>
        <p:spPr bwMode="auto">
          <a:xfrm flipH="1">
            <a:off x="8169986" y="7319979"/>
            <a:ext cx="335981" cy="78887"/>
          </a:xfrm>
          <a:prstGeom prst="line">
            <a:avLst/>
          </a:prstGeom>
          <a:solidFill>
            <a:schemeClr val="bg1"/>
          </a:solidFill>
          <a:ln w="9525"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3977856509"/>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3.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6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lIns="36000" tIns="36000" rIns="36000" bIns="36000">
        <a:noAutofit/>
      </a:bodyPr>
      <a:lstStyle>
        <a:defPPr algn="l">
          <a:defRPr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1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bg1">
              <a:lumMod val="65000"/>
            </a:schemeClr>
          </a:solidFill>
          <a:prstDash val="dash"/>
        </a:ln>
      </a:spPr>
      <a:bodyPr wrap="none" lIns="36000" tIns="108000" rIns="36000" bIns="36000" rtlCol="0" anchor="t">
        <a:noAutofit/>
      </a:bodyPr>
      <a:lstStyle>
        <a:defPPr algn="ctr">
          <a:lnSpc>
            <a:spcPct val="100000"/>
          </a:lnSpc>
          <a:defRPr kumimoji="1" sz="1050" i="0" kern="0" dirty="0">
            <a:solidFill>
              <a:prstClr val="black"/>
            </a:solidFill>
            <a:latin typeface="Meiryo UI"/>
            <a:ea typeface="Meiryo UI"/>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wrap="square" lIns="36000" tIns="36000" rIns="36000" bIns="36000" rtlCol="0" anchor="ctr">
        <a:noAutofit/>
      </a:bodyPr>
      <a:lstStyle>
        <a:defPPr algn="l">
          <a:defRPr kumimoji="1"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0c72344-a901-41cd-a6da-bfcf15d570e1">
      <Terms xmlns="http://schemas.microsoft.com/office/infopath/2007/PartnerControls"/>
    </lcf76f155ced4ddcb4097134ff3c332f>
    <TaxCatchAll xmlns="22093b91-50a3-4498-82d5-91368db29ba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7117E3-5D6D-4DFE-B5FA-CEEB495DBB1E}">
  <ds:schemaRefs>
    <ds:schemaRef ds:uri="http://schemas.microsoft.com/sharepoint/v3/contenttype/forms"/>
  </ds:schemaRefs>
</ds:datastoreItem>
</file>

<file path=customXml/itemProps2.xml><?xml version="1.0" encoding="utf-8"?>
<ds:datastoreItem xmlns:ds="http://schemas.openxmlformats.org/officeDocument/2006/customXml" ds:itemID="{5979119A-D14C-46E0-8020-320CEF218B6A}">
  <ds:schemaRefs>
    <ds:schemaRef ds:uri="http://purl.org/dc/terms/"/>
    <ds:schemaRef ds:uri="http://schemas.microsoft.com/office/2006/documentManagement/types"/>
    <ds:schemaRef ds:uri="http://purl.org/dc/dcmitype/"/>
    <ds:schemaRef ds:uri="22093b91-50a3-4498-82d5-91368db29ba4"/>
    <ds:schemaRef ds:uri="70c72344-a901-41cd-a6da-bfcf15d570e1"/>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D409072A-7BC2-4EE0-B73C-67CCB35B9F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c72344-a901-41cd-a6da-bfcf15d570e1"/>
    <ds:schemaRef ds:uri="22093b91-50a3-4498-82d5-91368db29b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パワーポイント統一様式_A4横標準v17</Template>
  <TotalTime>151</TotalTime>
  <Words>5454</Words>
  <Application>Microsoft Office PowerPoint</Application>
  <PresentationFormat>A4 210 x 297 mm</PresentationFormat>
  <Paragraphs>618</Paragraphs>
  <Slides>7</Slides>
  <Notes>0</Notes>
  <HiddenSlides>2</HiddenSlides>
  <MMClips>0</MMClips>
  <ScaleCrop>false</ScaleCrop>
  <HeadingPairs>
    <vt:vector size="8" baseType="variant">
      <vt:variant>
        <vt:lpstr>使用されているフォント</vt:lpstr>
      </vt:variant>
      <vt:variant>
        <vt:i4>9</vt:i4>
      </vt:variant>
      <vt:variant>
        <vt:lpstr>テーマ</vt:lpstr>
      </vt:variant>
      <vt:variant>
        <vt:i4>5</vt:i4>
      </vt:variant>
      <vt:variant>
        <vt:lpstr>埋め込まれた OLE サーバー</vt:lpstr>
      </vt:variant>
      <vt:variant>
        <vt:i4>1</vt:i4>
      </vt:variant>
      <vt:variant>
        <vt:lpstr>スライド タイトル</vt:lpstr>
      </vt:variant>
      <vt:variant>
        <vt:i4>7</vt:i4>
      </vt:variant>
    </vt:vector>
  </HeadingPairs>
  <TitlesOfParts>
    <vt:vector size="22" baseType="lpstr">
      <vt:lpstr>Meiryo UI</vt:lpstr>
      <vt:lpstr>Meiryo UI (Body)</vt:lpstr>
      <vt:lpstr>ＭＳ Ｐゴシック</vt:lpstr>
      <vt:lpstr>メイリオ</vt:lpstr>
      <vt:lpstr>游ゴシック</vt:lpstr>
      <vt:lpstr>Arial</vt:lpstr>
      <vt:lpstr>Calibri</vt:lpstr>
      <vt:lpstr>Times New Roman</vt:lpstr>
      <vt:lpstr>Wingdings</vt:lpstr>
      <vt:lpstr>6_テーマ２（ACN用）</vt:lpstr>
      <vt:lpstr>0</vt:lpstr>
      <vt:lpstr>4_テーマ２（ACN用）</vt:lpstr>
      <vt:lpstr>1_0</vt:lpstr>
      <vt:lpstr>2_0</vt:lpstr>
      <vt:lpstr>think-cellスライド</vt:lpstr>
      <vt:lpstr>ポータルサイト更新依頼 　各マスタページの具体的な公開イメージ – 目次</vt:lpstr>
      <vt:lpstr>ポータルサイト更新依頼 　各マスタページの具体的な公開イメージ – J-FAGYアレルゲンコードマスタ</vt:lpstr>
      <vt:lpstr>ポータルサイト更新依頼 　各マスタページの具体的な公開イメージ – J-FAGYアレルゲンコードマスタ</vt:lpstr>
      <vt:lpstr>スレッド確認事項#5_J-FAGYコードについて</vt:lpstr>
      <vt:lpstr>ポータルサイト更新依頼 　各マスタページの具体的な公開イメージ – J-FAGYアレルゲンコードマスタ</vt:lpstr>
      <vt:lpstr>ポータルサイト更新依頼 　各マスタページの具体的な公開イメージ – 【参考表】『一般名処方マスタ』と 『剤形・規格・銘柄不明コードマスタ』との対応表</vt:lpstr>
      <vt:lpstr>ポータルサイト更新依頼 　各マスタページの具体的な公開イメージ – 電子カルテ情報共有サービス対応 JLACコード表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Nakazawa, Masato</cp:lastModifiedBy>
  <cp:revision>4</cp:revision>
  <dcterms:created xsi:type="dcterms:W3CDTF">2026-01-23T08:26:56Z</dcterms:created>
  <dcterms:modified xsi:type="dcterms:W3CDTF">2026-10-06T12:40:06Z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0x010100A05F1B5A1E0F1943BC6DE70F45133712</vt:lpwstr>
  </property>
  <property fmtid="{D5CDD505-2E9C-101B-9397-08002B2CF9AE}" pid="3" name="MediaServiceImageTags">
    <vt:lpwstr/>
  </property>
  <property fmtid="{D5CDD505-2E9C-101B-9397-08002B2CF9AE}" pid="4" name="Order">
    <vt:r8>6828900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