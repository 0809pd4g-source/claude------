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4.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4"/>
    <p:sldMasterId id="2147483749" r:id="rId5"/>
    <p:sldMasterId id="2147484623" r:id="rId6"/>
  </p:sldMasterIdLst>
  <p:notesMasterIdLst>
    <p:notesMasterId r:id="rId11"/>
  </p:notesMasterIdLst>
  <p:sldIdLst>
    <p:sldId id="2147483642" r:id="rId7"/>
    <p:sldId id="2147483644" r:id="rId8"/>
    <p:sldId id="2147483645" r:id="rId9"/>
    <p:sldId id="260" r:id="rId10"/>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メモ" id="{BC0E1D18-7150-4EB4-9D69-903A4A83FA4D}">
          <p14:sldIdLst>
            <p14:sldId id="2147483642"/>
          </p14:sldIdLst>
        </p14:section>
        <p14:section name="20260902_血液型の共有の対応策" id="{7248C1CC-8891-4B92-ACE5-8860CE227BF4}">
          <p14:sldIdLst>
            <p14:sldId id="2147483644"/>
            <p14:sldId id="2147483645"/>
          </p14:sldIdLst>
        </p14:section>
        <p14:section name="20260831_開発課題検討会資料" id="{9050B11D-D215-4EE1-BC9A-4FD94858CA8A}">
          <p14:sldIdLst>
            <p14:sldId id="260"/>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160D5511-E3AA-B467-0730-11A32BDB3A2C}" name="高橋 悠一(takahashi-yuuichi01)" initials="悠高" userId="S::TYGFN@lansys.mhlw.go.jp::a665279f-c78e-464b-a8c6-4c9b03677b39" providerId="AD"/>
  <p188:author id="{6ECA532E-61E6-26D5-2715-F415BEA539F7}" name="Honda, Keiko" initials="KH" userId="S::keiko.honda@accenture.com::375496db-4b17-4194-84b5-e6f9bb884af8" providerId="AD"/>
  <p188:author id="{98785B48-ADE0-7F42-E4B1-997A7A00A437}" name="Mukai, Chiaki" initials="CM" userId="S::chiaki.mukai@accenture.com::4981200e-0e53-4de9-9471-8cf3db9590d5" providerId="AD"/>
  <p188:author id="{8272DF57-0B53-32E1-54F0-8A71B081A01F}" name="Kurokawa, Hanae" initials="HK" userId="S::hanae.kurokawa@accenture.com::396a447f-a51c-4cf9-8f28-aa835a4fdd63" providerId="AD"/>
  <p188:author id="{D9933879-0126-D391-4149-48774B4FCB84}" name="Sakurai, Keita A." initials="KS" userId="S::keita.a.sakurai@accenture.com::24824900-c7fb-463d-9182-1568b03f6256" providerId="AD"/>
  <p188:author id="{B3A3ADB2-27D1-C9D0-9DE5-F696F8E61B1A}" name="長谷川 聖(hasegawa-satoru.f83)" initials="聖長" userId="S::HSXAE@lansys.mhlw.go.jp::0328cc67-5612-4c45-a253-85389a058c6a" providerId="AD"/>
  <p188:author id="{CD7A14DE-D95B-209D-BEF4-5D860CD0546A}" name="Masubuchi, Ryotaro" initials="MR" userId="S::ryotaro.masubuchi@accenture.com::c9d63f4e-b2c3-4763-95e0-611e922cd01d" providerId="AD"/>
  <p188:author id="{10EB5CEE-279F-C1A6-6148-0C38680EEDD2}" name="Yamakawa, Rion" initials="RY" userId="S::rion.yamakawa@accenture.com::5623036d-59d7-4fb8-b6b7-e50aa9ebf0c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作成者"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4AD8B"/>
    <a:srgbClr val="F8EDEC"/>
    <a:srgbClr val="D99694"/>
    <a:srgbClr val="339933"/>
    <a:srgbClr val="FFE07D"/>
    <a:srgbClr val="B0005C"/>
    <a:srgbClr val="FFCF37"/>
    <a:srgbClr val="AC8300"/>
    <a:srgbClr val="745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49B1C4-E8B6-48AC-BEAB-250268B57B30}" v="1755" dt="2026-09-02T04:07:17.282"/>
    <p1510:client id="{B4BA6874-D779-4214-A8A6-15F7505D2759}" v="641" dt="2026-09-02T04:09:05.1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50"/>
        <p:guide pos="1548"/>
        <p:guide pos="5798"/>
        <p:guide pos="2285"/>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commentAuthors" Target="commentAuthors.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ea"/>
                <a:ea typeface="+mj-ea"/>
              </a:defRPr>
            </a:lvl1pPr>
          </a:lstStyle>
          <a:p>
            <a:r>
              <a:rPr lang="ja-JP" altLang="en-US"/>
              <a:t>マスタ タイトルの書式設定</a:t>
            </a:r>
            <a:endParaRPr lang="en-AU"/>
          </a:p>
        </p:txBody>
      </p:sp>
      <p:sp>
        <p:nvSpPr>
          <p:cNvPr id="3" name="Content Placeholder 2"/>
          <p:cNvSpPr>
            <a:spLocks noGrp="1"/>
          </p:cNvSpPr>
          <p:nvPr>
            <p:ph idx="1"/>
          </p:nvPr>
        </p:nvSpPr>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4" name="Rectangle 60"/>
          <p:cNvSpPr>
            <a:spLocks noGrp="1" noChangeArrowheads="1"/>
          </p:cNvSpPr>
          <p:nvPr>
            <p:ph type="sldNum" sz="quarter" idx="10"/>
          </p:nvPr>
        </p:nvSpPr>
        <p:spPr>
          <a:xfrm>
            <a:off x="7874927" y="6576167"/>
            <a:ext cx="1835017" cy="197699"/>
          </a:xfrm>
          <a:prstGeom prst="rect">
            <a:avLst/>
          </a:prstGeom>
          <a:ln/>
        </p:spPr>
        <p:txBody>
          <a:bodyPr/>
          <a:lstStyle>
            <a:lvl1pPr>
              <a:defRPr/>
            </a:lvl1pPr>
          </a:lstStyle>
          <a:p>
            <a:pPr>
              <a:defRPr/>
            </a:pPr>
            <a:fld id="{28A37779-3EFF-4C44-81BE-A0A03BDD188D}" type="slidenum">
              <a:rPr lang="en-AU" smtClean="0"/>
              <a:pPr>
                <a:defRPr/>
              </a:pPr>
              <a:t>‹#›</a:t>
            </a:fld>
            <a:endParaRPr lang="en-AU"/>
          </a:p>
        </p:txBody>
      </p:sp>
      <p:sp>
        <p:nvSpPr>
          <p:cNvPr id="5" name="Rectangle 62">
            <a:extLst>
              <a:ext uri="{FF2B5EF4-FFF2-40B4-BE49-F238E27FC236}">
                <a16:creationId xmlns:a16="http://schemas.microsoft.com/office/drawing/2014/main" id="{D54D1348-7466-405C-BEAC-0E7E1CFE657B}"/>
              </a:ext>
            </a:extLst>
          </p:cNvPr>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defRPr>
            </a:lvl1pPr>
          </a:lstStyle>
          <a:p>
            <a:pPr>
              <a:defRPr/>
            </a:pPr>
            <a:r>
              <a:rPr lang="en-AU"/>
              <a:t>Copyright © 2020 Accenture All Rights Reserved.</a:t>
            </a:r>
          </a:p>
        </p:txBody>
      </p:sp>
    </p:spTree>
    <p:extLst>
      <p:ext uri="{BB962C8B-B14F-4D97-AF65-F5344CB8AC3E}">
        <p14:creationId xmlns:p14="http://schemas.microsoft.com/office/powerpoint/2010/main" val="191851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8892000"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141550366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2084890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94856584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3873802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8290350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9971934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550795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637151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088559161"/>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577531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2000"/>
            </a:lvl1pPr>
          </a:lstStyle>
          <a:p>
            <a:endParaRPr lang="ja-JP" altLang="en-US" sz="1800"/>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2000"/>
            </a:lvl1pPr>
          </a:lstStyle>
          <a:p>
            <a:r>
              <a:rPr lang="ja-JP" altLang="en-US" sz="1800"/>
              <a:t>資料作成日付、</a:t>
            </a:r>
            <a:br>
              <a:rPr lang="en-US" altLang="ja-JP" sz="1800"/>
            </a:br>
            <a:r>
              <a:rPr lang="ja-JP" altLang="en-US" sz="1800"/>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0" y="2708273"/>
            <a:ext cx="8891323" cy="864000"/>
          </a:xfrm>
          <a:prstGeom prst="rect">
            <a:avLst/>
          </a:prstGeom>
        </p:spPr>
        <p:txBody>
          <a:bodyPr lIns="36000" tIns="36000" rIns="36000" bIns="36000">
            <a:noAutofit/>
          </a:bodyPr>
          <a:lstStyle>
            <a:lvl1pPr>
              <a:defRPr sz="24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ja-JP" altLang="en-US"/>
              <a:t>ファイルタイトルを入力</a:t>
            </a:r>
          </a:p>
        </p:txBody>
      </p:sp>
      <p:sp>
        <p:nvSpPr>
          <p:cNvPr id="19" name="フッター プレースホルダー 30">
            <a:extLst>
              <a:ext uri="{FF2B5EF4-FFF2-40B4-BE49-F238E27FC236}">
                <a16:creationId xmlns:a16="http://schemas.microsoft.com/office/drawing/2014/main" id="{B4D97D15-DA45-B1F1-85D3-A756D8DC3E38}"/>
              </a:ext>
            </a:extLst>
          </p:cNvPr>
          <p:cNvSpPr>
            <a:spLocks noGrp="1"/>
          </p:cNvSpPr>
          <p:nvPr>
            <p:ph type="ftr" sz="quarter" idx="3"/>
          </p:nvPr>
        </p:nvSpPr>
        <p:spPr>
          <a:xfrm>
            <a:off x="5889459" y="6309320"/>
            <a:ext cx="3198000" cy="360000"/>
          </a:xfrm>
          <a:prstGeom prst="rect">
            <a:avLst/>
          </a:prstGeom>
        </p:spPr>
        <p:txBody>
          <a:bodyPr vert="horz" lIns="91440" tIns="45720" rIns="91440" bIns="45720" rtlCol="0" anchor="ctr"/>
          <a:lstStyle>
            <a:lvl1pPr algn="ctr">
              <a:defRPr sz="900">
                <a:solidFill>
                  <a:schemeClr val="tx1"/>
                </a:solidFill>
                <a:latin typeface="+mj-ea"/>
                <a:ea typeface="+mj-ea"/>
              </a:defRPr>
            </a:lvl1pPr>
          </a:lstStyle>
          <a:p>
            <a:r>
              <a:rPr lang="en-US" altLang="ja-JP"/>
              <a:t>Copyright © 2023 Accenture All Rights Reserved.</a:t>
            </a:r>
            <a:endParaRPr lang="ja-JP" altLang="en-US"/>
          </a:p>
        </p:txBody>
      </p:sp>
    </p:spTree>
    <p:extLst>
      <p:ext uri="{BB962C8B-B14F-4D97-AF65-F5344CB8AC3E}">
        <p14:creationId xmlns:p14="http://schemas.microsoft.com/office/powerpoint/2010/main" val="67130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8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259200396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5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184303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3845453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2304839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52465057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84257678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8120598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49111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89283-9EFF-B094-A52B-520847C7056F}"/>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Tree>
    <p:extLst>
      <p:ext uri="{BB962C8B-B14F-4D97-AF65-F5344CB8AC3E}">
        <p14:creationId xmlns:p14="http://schemas.microsoft.com/office/powerpoint/2010/main" val="4794861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1324682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ags" Target="../tags/tag1.xml"/><Relationship Id="rId7" Type="http://schemas.openxmlformats.org/officeDocument/2006/relationships/tags" Target="../tags/tag5.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9"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slideLayout" Target="../slideLayouts/slideLayout30.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oleObject" Target="../embeddings/oleObject1.bin"/><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ags" Target="../tags/tag10.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ags" Target="../tags/tag9.xml"/><Relationship Id="rId5" Type="http://schemas.openxmlformats.org/officeDocument/2006/relationships/slideLayout" Target="../slideLayouts/slideLayout35.xml"/><Relationship Id="rId10" Type="http://schemas.openxmlformats.org/officeDocument/2006/relationships/tags" Target="../tags/tag8.xml"/><Relationship Id="rId4" Type="http://schemas.openxmlformats.org/officeDocument/2006/relationships/slideLayout" Target="../slideLayouts/slideLayout34.xml"/><Relationship Id="rId9" Type="http://schemas.openxmlformats.org/officeDocument/2006/relationships/theme" Target="../theme/theme3.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9"/>
          <p:cNvSpPr>
            <a:spLocks noGrp="1" noChangeArrowheads="1"/>
          </p:cNvSpPr>
          <p:nvPr>
            <p:ph type="body" idx="1"/>
          </p:nvPr>
        </p:nvSpPr>
        <p:spPr bwMode="gray">
          <a:xfrm>
            <a:off x="156501" y="1429558"/>
            <a:ext cx="9562042" cy="500882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1086" name="Rectangle 62"/>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latin typeface="Meiryo UI" panose="020B0604030504040204" pitchFamily="50" charset="-128"/>
                <a:ea typeface="Meiryo UI" panose="020B0604030504040204" pitchFamily="50" charset="-128"/>
              </a:defRPr>
            </a:lvl1pPr>
          </a:lstStyle>
          <a:p>
            <a:pPr>
              <a:defRPr/>
            </a:pPr>
            <a:r>
              <a:rPr lang="en-AU"/>
              <a:t>Copyright © 202</a:t>
            </a:r>
            <a:r>
              <a:rPr lang="en-US" altLang="ja-JP"/>
              <a:t>2</a:t>
            </a:r>
            <a:r>
              <a:rPr lang="en-AU"/>
              <a:t> Accenture All Rights Reserved.</a:t>
            </a:r>
          </a:p>
        </p:txBody>
      </p:sp>
      <p:sp>
        <p:nvSpPr>
          <p:cNvPr id="1030" name="Rectangle 65"/>
          <p:cNvSpPr>
            <a:spLocks noGrp="1" noChangeArrowheads="1"/>
          </p:cNvSpPr>
          <p:nvPr>
            <p:ph type="title"/>
          </p:nvPr>
        </p:nvSpPr>
        <p:spPr bwMode="gray">
          <a:xfrm>
            <a:off x="156503" y="250525"/>
            <a:ext cx="8571785" cy="38054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タイトルの書式設定</a:t>
            </a:r>
            <a:endParaRPr lang="en-AU"/>
          </a:p>
        </p:txBody>
      </p:sp>
      <p:sp>
        <p:nvSpPr>
          <p:cNvPr id="10" name="AcnSubjectTitle_ID_10" hidden="1"/>
          <p:cNvSpPr txBox="1"/>
          <p:nvPr>
            <p:custDataLst>
              <p:tags r:id="rId3"/>
            </p:custDataLst>
          </p:nvPr>
        </p:nvSpPr>
        <p:spPr bwMode="gray">
          <a:xfrm>
            <a:off x="156501" y="756935"/>
            <a:ext cx="9555000" cy="184666"/>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marL="65485" indent="-65485" algn="l" rtl="0" eaLnBrk="1" fontAlgn="base" hangingPunct="1">
              <a:lnSpc>
                <a:spcPct val="100000"/>
              </a:lnSpc>
              <a:spcBef>
                <a:spcPct val="0"/>
              </a:spcBef>
              <a:spcAft>
                <a:spcPct val="0"/>
              </a:spcAft>
              <a:buClr>
                <a:schemeClr val="tx1"/>
              </a:buClr>
              <a:buFont typeface="Arial" pitchFamily="34" charset="0"/>
              <a:buNone/>
            </a:pPr>
            <a:r>
              <a:rPr lang="en-US" altLang="ja-JP" sz="1200" b="0" i="0">
                <a:solidFill>
                  <a:schemeClr val="tx1"/>
                </a:solidFill>
                <a:latin typeface="+mn-ea"/>
                <a:ea typeface="+mn-ea"/>
                <a:cs typeface="+mn-cs"/>
              </a:rPr>
              <a:t>Subject Title</a:t>
            </a:r>
            <a:endParaRPr lang="ja-JP" altLang="en-US" sz="1200" b="0" i="0">
              <a:solidFill>
                <a:schemeClr val="tx1"/>
              </a:solidFill>
              <a:latin typeface="+mn-ea"/>
              <a:ea typeface="+mn-ea"/>
              <a:cs typeface="+mn-cs"/>
            </a:endParaRPr>
          </a:p>
        </p:txBody>
      </p:sp>
      <p:sp>
        <p:nvSpPr>
          <p:cNvPr id="11" name="AcnUnitofMeasure_ID_11" hidden="1"/>
          <p:cNvSpPr txBox="1"/>
          <p:nvPr>
            <p:custDataLst>
              <p:tags r:id="rId4"/>
            </p:custDataLst>
          </p:nvPr>
        </p:nvSpPr>
        <p:spPr bwMode="gray">
          <a:xfrm>
            <a:off x="212310" y="1045687"/>
            <a:ext cx="7567083" cy="161583"/>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l" rtl="0" eaLnBrk="1" fontAlgn="base" hangingPunct="1">
              <a:lnSpc>
                <a:spcPct val="100000"/>
              </a:lnSpc>
              <a:spcBef>
                <a:spcPct val="0"/>
              </a:spcBef>
              <a:spcAft>
                <a:spcPct val="0"/>
              </a:spcAft>
              <a:buClr>
                <a:schemeClr val="tx1"/>
              </a:buClr>
              <a:buNone/>
            </a:pPr>
            <a:r>
              <a:rPr lang="en-US" altLang="ja-JP" sz="1050" b="0" i="0">
                <a:solidFill>
                  <a:schemeClr val="tx1"/>
                </a:solidFill>
                <a:latin typeface="+mn-ea"/>
                <a:ea typeface="+mn-ea"/>
                <a:cs typeface="+mn-cs"/>
              </a:rPr>
              <a:t>Unit of Measure</a:t>
            </a:r>
            <a:endParaRPr lang="ja-JP" altLang="en-US" sz="1050" b="0" i="0">
              <a:solidFill>
                <a:schemeClr val="tx1"/>
              </a:solidFill>
              <a:latin typeface="+mn-ea"/>
              <a:ea typeface="+mn-ea"/>
              <a:cs typeface="+mn-cs"/>
            </a:endParaRPr>
          </a:p>
        </p:txBody>
      </p:sp>
      <p:sp>
        <p:nvSpPr>
          <p:cNvPr id="13" name="AcnRoadmap_ID_13" hidden="1"/>
          <p:cNvSpPr txBox="1"/>
          <p:nvPr>
            <p:custDataLst>
              <p:tags r:id="rId5"/>
            </p:custDataLst>
          </p:nvPr>
        </p:nvSpPr>
        <p:spPr bwMode="gray">
          <a:xfrm>
            <a:off x="8820297" y="88902"/>
            <a:ext cx="897000" cy="138499"/>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r" rtl="0" eaLnBrk="1" fontAlgn="base" hangingPunct="1">
              <a:lnSpc>
                <a:spcPct val="100000"/>
              </a:lnSpc>
              <a:spcBef>
                <a:spcPct val="0"/>
              </a:spcBef>
              <a:spcAft>
                <a:spcPct val="0"/>
              </a:spcAft>
              <a:buClr>
                <a:schemeClr val="tx1"/>
              </a:buClr>
              <a:buNone/>
            </a:pPr>
            <a:r>
              <a:rPr lang="en-US" altLang="ja-JP" sz="900" b="1" i="1">
                <a:solidFill>
                  <a:schemeClr val="tx1"/>
                </a:solidFill>
                <a:latin typeface="+mn-lt"/>
                <a:ea typeface="+mn-ea"/>
                <a:cs typeface="+mn-cs"/>
              </a:rPr>
              <a:t>Roadmap</a:t>
            </a:r>
            <a:endParaRPr lang="ja-JP" altLang="en-US" sz="900" b="1" i="1">
              <a:solidFill>
                <a:schemeClr val="tx1"/>
              </a:solidFill>
              <a:latin typeface="+mn-lt"/>
              <a:ea typeface="+mn-ea"/>
              <a:cs typeface="+mn-cs"/>
            </a:endParaRPr>
          </a:p>
        </p:txBody>
      </p:sp>
      <p:sp>
        <p:nvSpPr>
          <p:cNvPr id="14" name="AcnStamp_ID_14" hidden="1"/>
          <p:cNvSpPr/>
          <p:nvPr>
            <p:custDataLst>
              <p:tags r:id="rId6"/>
            </p:custDataLst>
          </p:nvPr>
        </p:nvSpPr>
        <p:spPr bwMode="gray">
          <a:xfrm>
            <a:off x="8728287" y="880044"/>
            <a:ext cx="0" cy="0"/>
          </a:xfrm>
          <a:prstGeom prst="leftRightArrow">
            <a:avLst>
              <a:gd name="adj1" fmla="val 0"/>
              <a:gd name="adj2" fmla="val 0"/>
            </a:avLst>
          </a:prstGeom>
          <a:noFill/>
          <a:ln w="9525" cap="flat" cmpd="sng" algn="ctr">
            <a:noFill/>
            <a:prstDash val="solid"/>
            <a:round/>
            <a:headEnd type="none" w="med" len="med"/>
            <a:tailEnd type="none" w="med" len="med"/>
          </a:ln>
          <a:effectLst/>
        </p:spPr>
        <p:txBody>
          <a:bodyPr vert="horz" wrap="none" lIns="0" tIns="19050" rIns="0" bIns="19050" numCol="1" rtlCol="0" anchor="t" anchorCtr="0" compatLnSpc="1">
            <a:prstTxWarp prst="textNoShape">
              <a:avLst/>
            </a:prstTxWarp>
            <a:spAutoFit/>
          </a:bodyPr>
          <a:lstStyle/>
          <a:p>
            <a:pPr marL="0" marR="0" indent="0" algn="r" defTabSz="685800" rtl="0" eaLnBrk="0" fontAlgn="base" latinLnBrk="0" hangingPunct="0">
              <a:lnSpc>
                <a:spcPct val="100000"/>
              </a:lnSpc>
              <a:spcBef>
                <a:spcPct val="0"/>
              </a:spcBef>
              <a:spcAft>
                <a:spcPct val="0"/>
              </a:spcAft>
              <a:buClrTx/>
              <a:buSzTx/>
              <a:buFontTx/>
              <a:buNone/>
              <a:tabLst/>
            </a:pPr>
            <a:r>
              <a:rPr kumimoji="0" lang="en-US" altLang="ja-JP" sz="1050" b="1" i="0" u="none" strike="noStrike" cap="none" normalizeH="0" baseline="0">
                <a:ln>
                  <a:noFill/>
                </a:ln>
                <a:solidFill>
                  <a:schemeClr val="tx1"/>
                </a:solidFill>
                <a:effectLst/>
                <a:latin typeface="Arial" charset="0"/>
              </a:rPr>
              <a:t>MASTER STAMP</a:t>
            </a:r>
            <a:endParaRPr kumimoji="0" lang="ja-JP" altLang="en-US" sz="1050" b="1" i="0" u="none" strike="noStrike" cap="none" normalizeH="0" baseline="0">
              <a:ln>
                <a:noFill/>
              </a:ln>
              <a:solidFill>
                <a:schemeClr val="tx1"/>
              </a:solidFill>
              <a:effectLst/>
              <a:latin typeface="Arial" charset="0"/>
            </a:endParaRPr>
          </a:p>
        </p:txBody>
      </p:sp>
      <p:cxnSp>
        <p:nvCxnSpPr>
          <p:cNvPr id="15" name="AcnStpConnector_ID_15" hidden="1"/>
          <p:cNvCxnSpPr>
            <a:stCxn id="14" idx="2"/>
            <a:endCxn id="14" idx="0"/>
          </p:cNvCxnSpPr>
          <p:nvPr>
            <p:custDataLst>
              <p:tags r:id="rId7"/>
            </p:custDataLst>
          </p:nvPr>
        </p:nvCxnSpPr>
        <p:spPr bwMode="gray">
          <a:xfrm rot="5400000" flipH="1" flipV="1">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AcnStpConnector_ID_16" hidden="1"/>
          <p:cNvCxnSpPr>
            <a:stCxn id="14" idx="4"/>
            <a:endCxn id="14" idx="6"/>
          </p:cNvCxnSpPr>
          <p:nvPr>
            <p:custDataLst>
              <p:tags r:id="rId8"/>
            </p:custDataLst>
          </p:nvPr>
        </p:nvCxnSpPr>
        <p:spPr bwMode="gray">
          <a:xfrm rot="5400000">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sp>
        <p:nvSpPr>
          <p:cNvPr id="17" name="AcnFootnote_ID_17" hidden="1"/>
          <p:cNvSpPr txBox="1"/>
          <p:nvPr>
            <p:custDataLst>
              <p:tags r:id="rId9"/>
            </p:custDataLst>
          </p:nvPr>
        </p:nvSpPr>
        <p:spPr bwMode="gray">
          <a:xfrm>
            <a:off x="164832" y="6300751"/>
            <a:ext cx="8571785" cy="253916"/>
          </a:xfrm>
          <a:prstGeom prst="rect">
            <a:avLst/>
          </a:prstGeom>
          <a:noFill/>
          <a:ln w="12700">
            <a:noFill/>
            <a:miter lim="800000"/>
            <a:headEnd/>
            <a:tailEnd/>
          </a:ln>
        </p:spPr>
        <p:txBody>
          <a:bodyPr vert="horz" wrap="square" lIns="0" tIns="0" rIns="0" bIns="0" numCol="1" anchor="b" anchorCtr="0" compatLnSpc="1">
            <a:prstTxWarp prst="textNoShape">
              <a:avLst/>
            </a:prstTxWarp>
            <a:spAutoFit/>
          </a:bodyPr>
          <a:lstStyle/>
          <a:p>
            <a:pPr marL="403622" indent="-403622" algn="l" rtl="0" eaLnBrk="1" fontAlgn="base" hangingPunct="1">
              <a:lnSpc>
                <a:spcPct val="100000"/>
              </a:lnSpc>
              <a:spcBef>
                <a:spcPct val="0"/>
              </a:spcBef>
              <a:spcAft>
                <a:spcPct val="0"/>
              </a:spcAft>
              <a:buClr>
                <a:schemeClr val="tx1"/>
              </a:buClr>
              <a:buNone/>
            </a:pPr>
            <a:r>
              <a:rPr lang="en-US" altLang="ja-JP" sz="750" b="0" i="0">
                <a:solidFill>
                  <a:schemeClr val="tx1"/>
                </a:solidFill>
                <a:latin typeface="+mn-lt"/>
                <a:ea typeface="+mn-ea"/>
                <a:cs typeface="+mn-cs"/>
              </a:rPr>
              <a:t>*Footnote</a:t>
            </a:r>
          </a:p>
          <a:p>
            <a:pPr marL="403622" indent="-403622" algn="l" rtl="0" eaLnBrk="1" fontAlgn="base" hangingPunct="1">
              <a:lnSpc>
                <a:spcPct val="100000"/>
              </a:lnSpc>
              <a:spcBef>
                <a:spcPct val="20000"/>
              </a:spcBef>
              <a:spcAft>
                <a:spcPct val="0"/>
              </a:spcAft>
              <a:buClr>
                <a:schemeClr val="tx1"/>
              </a:buClr>
              <a:buNone/>
            </a:pPr>
            <a:r>
              <a:rPr lang="en-US" altLang="ja-JP" sz="750" b="0" i="0">
                <a:solidFill>
                  <a:schemeClr val="tx1"/>
                </a:solidFill>
                <a:latin typeface="+mn-lt"/>
                <a:ea typeface="+mn-ea"/>
                <a:cs typeface="+mn-cs"/>
              </a:rPr>
              <a:t>Source:	Source</a:t>
            </a:r>
            <a:endParaRPr lang="ja-JP" altLang="en-US" sz="750" b="0" i="0">
              <a:solidFill>
                <a:schemeClr val="tx1"/>
              </a:solidFill>
              <a:latin typeface="+mn-lt"/>
              <a:ea typeface="+mn-ea"/>
              <a:cs typeface="+mn-cs"/>
            </a:endParaRPr>
          </a:p>
        </p:txBody>
      </p:sp>
    </p:spTree>
    <p:extLst>
      <p:ext uri="{BB962C8B-B14F-4D97-AF65-F5344CB8AC3E}">
        <p14:creationId xmlns:p14="http://schemas.microsoft.com/office/powerpoint/2010/main" val="3822481044"/>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rtl="0" eaLnBrk="1" fontAlgn="base" hangingPunct="1">
        <a:spcBef>
          <a:spcPct val="0"/>
        </a:spcBef>
        <a:spcAft>
          <a:spcPct val="0"/>
        </a:spcAft>
        <a:defRPr kumimoji="1" sz="1350" b="1">
          <a:solidFill>
            <a:schemeClr val="tx1"/>
          </a:solidFill>
          <a:latin typeface="+mj-ea"/>
          <a:ea typeface="+mj-ea"/>
          <a:cs typeface="+mj-cs"/>
        </a:defRPr>
      </a:lvl1pPr>
      <a:lvl2pPr algn="l" rtl="0" eaLnBrk="1" fontAlgn="base" hangingPunct="1">
        <a:spcBef>
          <a:spcPct val="0"/>
        </a:spcBef>
        <a:spcAft>
          <a:spcPct val="0"/>
        </a:spcAft>
        <a:defRPr kumimoji="1" sz="2400" b="1">
          <a:solidFill>
            <a:schemeClr val="bg1"/>
          </a:solidFill>
          <a:latin typeface="Arial" charset="0"/>
        </a:defRPr>
      </a:lvl2pPr>
      <a:lvl3pPr algn="l" rtl="0" eaLnBrk="1" fontAlgn="base" hangingPunct="1">
        <a:spcBef>
          <a:spcPct val="0"/>
        </a:spcBef>
        <a:spcAft>
          <a:spcPct val="0"/>
        </a:spcAft>
        <a:defRPr kumimoji="1" sz="2400" b="1">
          <a:solidFill>
            <a:schemeClr val="bg1"/>
          </a:solidFill>
          <a:latin typeface="Arial" charset="0"/>
        </a:defRPr>
      </a:lvl3pPr>
      <a:lvl4pPr algn="l" rtl="0" eaLnBrk="1" fontAlgn="base" hangingPunct="1">
        <a:spcBef>
          <a:spcPct val="0"/>
        </a:spcBef>
        <a:spcAft>
          <a:spcPct val="0"/>
        </a:spcAft>
        <a:defRPr kumimoji="1" sz="2400" b="1">
          <a:solidFill>
            <a:schemeClr val="bg1"/>
          </a:solidFill>
          <a:latin typeface="Arial" charset="0"/>
        </a:defRPr>
      </a:lvl4pPr>
      <a:lvl5pPr algn="l" rtl="0" eaLnBrk="1" fontAlgn="base" hangingPunct="1">
        <a:spcBef>
          <a:spcPct val="0"/>
        </a:spcBef>
        <a:spcAft>
          <a:spcPct val="0"/>
        </a:spcAft>
        <a:defRPr kumimoji="1" sz="2400" b="1">
          <a:solidFill>
            <a:schemeClr val="bg1"/>
          </a:solidFill>
          <a:latin typeface="Arial" charset="0"/>
        </a:defRPr>
      </a:lvl5pPr>
      <a:lvl6pPr marL="342900" algn="l" rtl="0" eaLnBrk="1" fontAlgn="base" hangingPunct="1">
        <a:spcBef>
          <a:spcPct val="0"/>
        </a:spcBef>
        <a:spcAft>
          <a:spcPct val="0"/>
        </a:spcAft>
        <a:defRPr kumimoji="1" sz="2400" b="1">
          <a:solidFill>
            <a:schemeClr val="bg1"/>
          </a:solidFill>
          <a:latin typeface="Arial" charset="0"/>
        </a:defRPr>
      </a:lvl6pPr>
      <a:lvl7pPr marL="685800" algn="l" rtl="0" eaLnBrk="1" fontAlgn="base" hangingPunct="1">
        <a:spcBef>
          <a:spcPct val="0"/>
        </a:spcBef>
        <a:spcAft>
          <a:spcPct val="0"/>
        </a:spcAft>
        <a:defRPr kumimoji="1" sz="2400" b="1">
          <a:solidFill>
            <a:schemeClr val="bg1"/>
          </a:solidFill>
          <a:latin typeface="Arial" charset="0"/>
        </a:defRPr>
      </a:lvl7pPr>
      <a:lvl8pPr marL="1028700" algn="l" rtl="0" eaLnBrk="1" fontAlgn="base" hangingPunct="1">
        <a:spcBef>
          <a:spcPct val="0"/>
        </a:spcBef>
        <a:spcAft>
          <a:spcPct val="0"/>
        </a:spcAft>
        <a:defRPr kumimoji="1" sz="2400" b="1">
          <a:solidFill>
            <a:schemeClr val="bg1"/>
          </a:solidFill>
          <a:latin typeface="Arial" charset="0"/>
        </a:defRPr>
      </a:lvl8pPr>
      <a:lvl9pPr marL="1371600" algn="l" rtl="0" eaLnBrk="1" fontAlgn="base" hangingPunct="1">
        <a:spcBef>
          <a:spcPct val="0"/>
        </a:spcBef>
        <a:spcAft>
          <a:spcPct val="0"/>
        </a:spcAft>
        <a:defRPr kumimoji="1" sz="2400" b="1">
          <a:solidFill>
            <a:schemeClr val="bg1"/>
          </a:solidFill>
          <a:latin typeface="Arial" charset="0"/>
        </a:defRPr>
      </a:lvl9pPr>
    </p:titleStyle>
    <p:bodyStyle>
      <a:lvl1pPr marL="132160" indent="-132160" algn="l" rtl="0" eaLnBrk="1" fontAlgn="base" hangingPunct="1">
        <a:spcBef>
          <a:spcPct val="20000"/>
        </a:spcBef>
        <a:spcAft>
          <a:spcPct val="0"/>
        </a:spcAft>
        <a:buClr>
          <a:schemeClr val="tx1"/>
        </a:buClr>
        <a:buChar char="•"/>
        <a:defRPr kumimoji="1" sz="1050">
          <a:solidFill>
            <a:schemeClr val="tx1"/>
          </a:solidFill>
          <a:latin typeface="+mn-ea"/>
          <a:ea typeface="+mn-ea"/>
          <a:cs typeface="+mn-cs"/>
        </a:defRPr>
      </a:lvl1pPr>
      <a:lvl2pPr marL="432197" indent="-214313" algn="l" rtl="0" eaLnBrk="1" fontAlgn="base" hangingPunct="1">
        <a:spcBef>
          <a:spcPct val="20000"/>
        </a:spcBef>
        <a:spcAft>
          <a:spcPct val="0"/>
        </a:spcAft>
        <a:buClr>
          <a:schemeClr val="tx1"/>
        </a:buClr>
        <a:buChar char="–"/>
        <a:defRPr kumimoji="1" sz="1050">
          <a:solidFill>
            <a:schemeClr val="tx1"/>
          </a:solidFill>
          <a:latin typeface="+mn-ea"/>
          <a:ea typeface="+mn-ea"/>
        </a:defRPr>
      </a:lvl2pPr>
      <a:lvl3pPr marL="644129" indent="-126206" algn="l" rtl="0" eaLnBrk="1" fontAlgn="base" hangingPunct="1">
        <a:spcBef>
          <a:spcPct val="20000"/>
        </a:spcBef>
        <a:spcAft>
          <a:spcPct val="0"/>
        </a:spcAft>
        <a:buClr>
          <a:schemeClr val="tx1"/>
        </a:buClr>
        <a:buChar char="•"/>
        <a:defRPr kumimoji="1" sz="1050">
          <a:solidFill>
            <a:schemeClr val="tx1"/>
          </a:solidFill>
          <a:latin typeface="+mn-ea"/>
          <a:ea typeface="+mn-ea"/>
        </a:defRPr>
      </a:lvl3pPr>
      <a:lvl4pPr marL="900113" indent="-170260" algn="l" rtl="0" eaLnBrk="1" fontAlgn="base" hangingPunct="1">
        <a:spcBef>
          <a:spcPct val="20000"/>
        </a:spcBef>
        <a:spcAft>
          <a:spcPct val="0"/>
        </a:spcAft>
        <a:buClr>
          <a:schemeClr val="tx1"/>
        </a:buClr>
        <a:buChar char="–"/>
        <a:defRPr kumimoji="1" sz="1050">
          <a:solidFill>
            <a:schemeClr val="tx1"/>
          </a:solidFill>
          <a:latin typeface="+mn-ea"/>
          <a:ea typeface="+mn-ea"/>
        </a:defRPr>
      </a:lvl4pPr>
      <a:lvl5pPr marL="1110854" indent="-125016" algn="l" rtl="0" eaLnBrk="1" fontAlgn="base" hangingPunct="1">
        <a:spcBef>
          <a:spcPct val="20000"/>
        </a:spcBef>
        <a:spcAft>
          <a:spcPct val="0"/>
        </a:spcAft>
        <a:buClr>
          <a:schemeClr val="tx1"/>
        </a:buClr>
        <a:buChar char="•"/>
        <a:defRPr kumimoji="1" sz="1050">
          <a:solidFill>
            <a:schemeClr val="tx1"/>
          </a:solidFill>
          <a:latin typeface="+mn-ea"/>
          <a:ea typeface="+mn-ea"/>
        </a:defRPr>
      </a:lvl5pPr>
      <a:lvl6pPr marL="1453754" indent="-125016" algn="l" rtl="0" eaLnBrk="1" fontAlgn="base" hangingPunct="1">
        <a:spcBef>
          <a:spcPct val="20000"/>
        </a:spcBef>
        <a:spcAft>
          <a:spcPct val="0"/>
        </a:spcAft>
        <a:buClr>
          <a:schemeClr val="tx1"/>
        </a:buClr>
        <a:buChar char="•"/>
        <a:defRPr kumimoji="1" sz="1500">
          <a:solidFill>
            <a:schemeClr val="tx1"/>
          </a:solidFill>
          <a:latin typeface="+mn-lt"/>
        </a:defRPr>
      </a:lvl6pPr>
      <a:lvl7pPr marL="1796654" indent="-125016" algn="l" rtl="0" eaLnBrk="1" fontAlgn="base" hangingPunct="1">
        <a:spcBef>
          <a:spcPct val="20000"/>
        </a:spcBef>
        <a:spcAft>
          <a:spcPct val="0"/>
        </a:spcAft>
        <a:buClr>
          <a:schemeClr val="tx1"/>
        </a:buClr>
        <a:buChar char="•"/>
        <a:defRPr kumimoji="1" sz="1500">
          <a:solidFill>
            <a:schemeClr val="tx1"/>
          </a:solidFill>
          <a:latin typeface="+mn-lt"/>
        </a:defRPr>
      </a:lvl7pPr>
      <a:lvl8pPr marL="2139554" indent="-125016" algn="l" rtl="0" eaLnBrk="1" fontAlgn="base" hangingPunct="1">
        <a:spcBef>
          <a:spcPct val="20000"/>
        </a:spcBef>
        <a:spcAft>
          <a:spcPct val="0"/>
        </a:spcAft>
        <a:buClr>
          <a:schemeClr val="tx1"/>
        </a:buClr>
        <a:buChar char="•"/>
        <a:defRPr kumimoji="1" sz="1500">
          <a:solidFill>
            <a:schemeClr val="tx1"/>
          </a:solidFill>
          <a:latin typeface="+mn-lt"/>
        </a:defRPr>
      </a:lvl8pPr>
      <a:lvl9pPr marL="2482454" indent="-125016" algn="l" rtl="0" eaLnBrk="1" fontAlgn="base" hangingPunct="1">
        <a:spcBef>
          <a:spcPct val="20000"/>
        </a:spcBef>
        <a:spcAft>
          <a:spcPct val="0"/>
        </a:spcAft>
        <a:buClr>
          <a:schemeClr val="tx1"/>
        </a:buClr>
        <a:buChar char="•"/>
        <a:defRPr kumimoji="1" sz="1500">
          <a:solidFill>
            <a:schemeClr val="tx1"/>
          </a:solidFill>
          <a:latin typeface="+mn-lt"/>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2787754749"/>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4499" r:id="rId10"/>
    <p:sldLayoutId id="2147484502" r:id="rId11"/>
    <p:sldLayoutId id="2147484534" r:id="rId12"/>
    <p:sldLayoutId id="2147484535" r:id="rId13"/>
    <p:sldLayoutId id="2147484536" r:id="rId14"/>
    <p:sldLayoutId id="2147484616" r:id="rId15"/>
    <p:sldLayoutId id="2147484618" r:id="rId16"/>
    <p:sldLayoutId id="2147484537" r:id="rId17"/>
    <p:sldLayoutId id="2147484538" r:id="rId18"/>
    <p:sldLayoutId id="2147484539" r:id="rId19"/>
    <p:sldLayoutId id="2147484540" r:id="rId20"/>
    <p:sldLayoutId id="2147484541" r:id="rId21"/>
    <p:sldLayoutId id="2147484542" r:id="rId22"/>
    <p:sldLayoutId id="2147484543" r:id="rId23"/>
    <p:sldLayoutId id="2147484619" r:id="rId24"/>
    <p:sldLayoutId id="2147484620" r:id="rId25"/>
    <p:sldLayoutId id="2147484621" r:id="rId26"/>
    <p:sldLayoutId id="2147484622" r:id="rId27"/>
    <p:sldLayoutId id="2147484615" r:id="rId28"/>
    <p:sldLayoutId id="2147484617" r:id="rId29"/>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0"/>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3" imgW="360" imgH="360" progId="TCLayout.ActiveDocument.1">
                  <p:embed/>
                </p:oleObj>
              </mc:Choice>
              <mc:Fallback>
                <p:oleObj name="think-cellスライド" r:id="rId13"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4"/>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1"/>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2"/>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21753914"/>
      </p:ext>
    </p:extLst>
  </p:cSld>
  <p:clrMap bg1="lt1" tx1="dk1" bg2="lt2" tx2="dk2" accent1="accent1" accent2="accent2" accent3="accent3" accent4="accent4" accent5="accent5" accent6="accent6" hlink="hlink" folHlink="folHlink"/>
  <p:sldLayoutIdLst>
    <p:sldLayoutId id="2147484624" r:id="rId1"/>
    <p:sldLayoutId id="2147484625" r:id="rId2"/>
    <p:sldLayoutId id="2147484626" r:id="rId3"/>
    <p:sldLayoutId id="2147484627" r:id="rId4"/>
    <p:sldLayoutId id="2147484628" r:id="rId5"/>
    <p:sldLayoutId id="2147484629" r:id="rId6"/>
    <p:sldLayoutId id="2147484630" r:id="rId7"/>
    <p:sldLayoutId id="2147484631" r:id="rId8"/>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E50207-AB1A-8778-869B-CEEC0B61E5A2}"/>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B455E204-2E53-3811-C9C3-B414E2AA40FF}"/>
              </a:ext>
            </a:extLst>
          </p:cNvPr>
          <p:cNvSpPr>
            <a:spLocks noGrp="1"/>
          </p:cNvSpPr>
          <p:nvPr>
            <p:ph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3BD6BDB-30A9-1281-2E61-E3AF30CCBB0A}"/>
              </a:ext>
            </a:extLst>
          </p:cNvPr>
          <p:cNvSpPr>
            <a:spLocks noGrp="1"/>
          </p:cNvSpPr>
          <p:nvPr>
            <p:ph type="sldNum" sz="quarter" idx="10"/>
          </p:nvPr>
        </p:nvSpPr>
        <p:spPr/>
        <p:txBody>
          <a:bodyPr/>
          <a:lstStyle/>
          <a:p>
            <a:pPr>
              <a:defRPr/>
            </a:pPr>
            <a:fld id="{28A37779-3EFF-4C44-81BE-A0A03BDD188D}" type="slidenum">
              <a:rPr lang="en-AU" smtClean="0"/>
              <a:pPr>
                <a:defRPr/>
              </a:pPr>
              <a:t>0</a:t>
            </a:fld>
            <a:endParaRPr lang="en-AU"/>
          </a:p>
        </p:txBody>
      </p:sp>
      <p:sp>
        <p:nvSpPr>
          <p:cNvPr id="5" name="フッター プレースホルダー 4">
            <a:extLst>
              <a:ext uri="{FF2B5EF4-FFF2-40B4-BE49-F238E27FC236}">
                <a16:creationId xmlns:a16="http://schemas.microsoft.com/office/drawing/2014/main" id="{FD2B7010-DEF7-C2B6-F10B-84A453591D94}"/>
              </a:ext>
            </a:extLst>
          </p:cNvPr>
          <p:cNvSpPr>
            <a:spLocks noGrp="1"/>
          </p:cNvSpPr>
          <p:nvPr>
            <p:ph type="ftr" sz="quarter" idx="3"/>
          </p:nvPr>
        </p:nvSpPr>
        <p:spPr/>
        <p:txBody>
          <a:bodyPr/>
          <a:lstStyle/>
          <a:p>
            <a:pPr>
              <a:defRPr/>
            </a:pPr>
            <a:r>
              <a:rPr lang="en-AU"/>
              <a:t>Copyright © 2020 Accenture All Rights Reserved.</a:t>
            </a:r>
          </a:p>
        </p:txBody>
      </p:sp>
    </p:spTree>
    <p:extLst>
      <p:ext uri="{BB962C8B-B14F-4D97-AF65-F5344CB8AC3E}">
        <p14:creationId xmlns:p14="http://schemas.microsoft.com/office/powerpoint/2010/main" val="905330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DE2221-FC19-B59A-8892-08A0B49B6BF9}"/>
              </a:ext>
            </a:extLst>
          </p:cNvPr>
          <p:cNvSpPr>
            <a:spLocks noGrp="1"/>
          </p:cNvSpPr>
          <p:nvPr>
            <p:ph type="title"/>
          </p:nvPr>
        </p:nvSpPr>
        <p:spPr/>
        <p:txBody>
          <a:bodyPr/>
          <a:lstStyle/>
          <a:p>
            <a:r>
              <a:rPr kumimoji="1" lang="ja-JP" altLang="en-US"/>
              <a:t>血液型の共有の取り扱いについて</a:t>
            </a:r>
          </a:p>
        </p:txBody>
      </p:sp>
      <p:sp>
        <p:nvSpPr>
          <p:cNvPr id="4" name="スライド番号プレースホルダー 3">
            <a:extLst>
              <a:ext uri="{FF2B5EF4-FFF2-40B4-BE49-F238E27FC236}">
                <a16:creationId xmlns:a16="http://schemas.microsoft.com/office/drawing/2014/main" id="{94E7FF7C-A759-5203-9A63-C4544E295BE6}"/>
              </a:ext>
            </a:extLst>
          </p:cNvPr>
          <p:cNvSpPr>
            <a:spLocks noGrp="1"/>
          </p:cNvSpPr>
          <p:nvPr>
            <p:ph type="sldNum" sz="quarter" idx="10"/>
          </p:nvPr>
        </p:nvSpPr>
        <p:spPr/>
        <p:txBody>
          <a:bodyPr/>
          <a:lstStyle/>
          <a:p>
            <a:fld id="{48F63A3B-78C7-47BE-AE5E-E10140E04643}" type="slidenum">
              <a:rPr lang="en-US" smtClean="0"/>
              <a:pPr/>
              <a:t>1</a:t>
            </a:fld>
            <a:endParaRPr lang="en-US"/>
          </a:p>
        </p:txBody>
      </p:sp>
      <p:sp>
        <p:nvSpPr>
          <p:cNvPr id="5" name="四角形: 角を丸くする 4">
            <a:extLst>
              <a:ext uri="{FF2B5EF4-FFF2-40B4-BE49-F238E27FC236}">
                <a16:creationId xmlns:a16="http://schemas.microsoft.com/office/drawing/2014/main" id="{F04F75F0-1EAA-BDD4-54DC-121D5C65E4C2}"/>
              </a:ext>
            </a:extLst>
          </p:cNvPr>
          <p:cNvSpPr/>
          <p:nvPr/>
        </p:nvSpPr>
        <p:spPr>
          <a:xfrm>
            <a:off x="482563" y="693170"/>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背景・状況</a:t>
            </a:r>
          </a:p>
        </p:txBody>
      </p:sp>
      <p:sp>
        <p:nvSpPr>
          <p:cNvPr id="6" name="コンテンツ プレースホルダー 10">
            <a:extLst>
              <a:ext uri="{FF2B5EF4-FFF2-40B4-BE49-F238E27FC236}">
                <a16:creationId xmlns:a16="http://schemas.microsoft.com/office/drawing/2014/main" id="{4E8C8D59-31BE-D14E-FB23-3D9F905EC56A}"/>
              </a:ext>
            </a:extLst>
          </p:cNvPr>
          <p:cNvSpPr>
            <a:spLocks noGrp="1"/>
          </p:cNvSpPr>
          <p:nvPr>
            <p:ph idx="1"/>
          </p:nvPr>
        </p:nvSpPr>
        <p:spPr>
          <a:xfrm>
            <a:off x="490801" y="949031"/>
            <a:ext cx="8919900" cy="809015"/>
          </a:xfrm>
        </p:spPr>
        <p:txBody>
          <a:bodyPr/>
          <a:lstStyle/>
          <a:p>
            <a:pPr marL="285750" indent="-285750">
              <a:spcAft>
                <a:spcPts val="300"/>
              </a:spcAft>
              <a:buFont typeface="Arial" panose="020B0604020202020204" pitchFamily="34" charset="0"/>
              <a:buChar char="•"/>
            </a:pPr>
            <a:r>
              <a:rPr lang="ja-JP" altLang="en-US" sz="1200"/>
              <a:t>加賀市医療センターとの打ち合わせにて、血液型は機微な情報であるため、共有対象外とすべきではないかという意見を受領した。</a:t>
            </a:r>
            <a:endParaRPr lang="en-US" altLang="ja-JP" sz="1200"/>
          </a:p>
          <a:p>
            <a:pPr marL="285750" indent="-285750">
              <a:spcAft>
                <a:spcPts val="300"/>
              </a:spcAft>
              <a:buFont typeface="Arial" panose="020B0604020202020204" pitchFamily="34" charset="0"/>
              <a:buChar char="•"/>
            </a:pPr>
            <a:r>
              <a:rPr lang="ja-JP" altLang="en-US" sz="1200"/>
              <a:t>血液型は</a:t>
            </a:r>
            <a:r>
              <a:rPr lang="ja-JP" altLang="ja-JP" sz="1200"/>
              <a:t>親子・血縁関係が推測され得る情報なので慎重に扱う</a:t>
            </a:r>
            <a:r>
              <a:rPr lang="ja-JP" altLang="en-US" sz="1200"/>
              <a:t>必要がある情報であることを踏まえ、血液型を共有対象項目から除外するか厚労省内で検討し、目の前は共有対象外とし、来年度患者共有ボタンを設けるなどで血液型を共有する方針を検討する。</a:t>
            </a:r>
          </a:p>
        </p:txBody>
      </p:sp>
      <p:sp>
        <p:nvSpPr>
          <p:cNvPr id="8" name="四角形: 角を丸くする 7">
            <a:extLst>
              <a:ext uri="{FF2B5EF4-FFF2-40B4-BE49-F238E27FC236}">
                <a16:creationId xmlns:a16="http://schemas.microsoft.com/office/drawing/2014/main" id="{0A17726D-4A80-42E6-B014-E5BDEDC831B3}"/>
              </a:ext>
            </a:extLst>
          </p:cNvPr>
          <p:cNvSpPr/>
          <p:nvPr/>
        </p:nvSpPr>
        <p:spPr>
          <a:xfrm>
            <a:off x="490801" y="1832041"/>
            <a:ext cx="1815794"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kern="0">
                <a:solidFill>
                  <a:prstClr val="white"/>
                </a:solidFill>
                <a:latin typeface="Arial"/>
                <a:ea typeface="Meiryo UI"/>
                <a:cs typeface="Meiryo UI" panose="020B0604030504040204" pitchFamily="50" charset="-128"/>
              </a:rPr>
              <a:t>来年度の改修案</a:t>
            </a: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について</a:t>
            </a:r>
          </a:p>
        </p:txBody>
      </p:sp>
      <p:sp>
        <p:nvSpPr>
          <p:cNvPr id="9" name="コンテンツ プレースホルダー 10">
            <a:extLst>
              <a:ext uri="{FF2B5EF4-FFF2-40B4-BE49-F238E27FC236}">
                <a16:creationId xmlns:a16="http://schemas.microsoft.com/office/drawing/2014/main" id="{18854050-76E0-7E42-B330-37C00EF11BA4}"/>
              </a:ext>
            </a:extLst>
          </p:cNvPr>
          <p:cNvSpPr txBox="1">
            <a:spLocks/>
          </p:cNvSpPr>
          <p:nvPr/>
        </p:nvSpPr>
        <p:spPr bwMode="auto">
          <a:xfrm>
            <a:off x="482563" y="2080442"/>
            <a:ext cx="8919900" cy="465050"/>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285750" indent="-285750">
              <a:spcAft>
                <a:spcPts val="300"/>
              </a:spcAft>
              <a:buFont typeface="Arial" panose="020B0604020202020204" pitchFamily="34" charset="0"/>
              <a:buChar char="•"/>
            </a:pPr>
            <a:r>
              <a:rPr lang="ja-JP" altLang="en-US" sz="1200" kern="0"/>
              <a:t>血液型については、親子・血縁関係が推測されるリスクを避けるために患者共有フラグなどの仕組みを利用する場合は以下の課題のつぶしこみが必要。</a:t>
            </a:r>
          </a:p>
        </p:txBody>
      </p:sp>
      <p:sp>
        <p:nvSpPr>
          <p:cNvPr id="11" name="四角形: 角を丸くする 10">
            <a:extLst>
              <a:ext uri="{FF2B5EF4-FFF2-40B4-BE49-F238E27FC236}">
                <a16:creationId xmlns:a16="http://schemas.microsoft.com/office/drawing/2014/main" id="{62D85464-B21D-06A1-62D8-74C1A807E87F}"/>
              </a:ext>
            </a:extLst>
          </p:cNvPr>
          <p:cNvSpPr/>
          <p:nvPr/>
        </p:nvSpPr>
        <p:spPr>
          <a:xfrm>
            <a:off x="541650" y="2929514"/>
            <a:ext cx="1190374" cy="912731"/>
          </a:xfrm>
          <a:prstGeom prst="roundRect">
            <a:avLst>
              <a:gd name="adj" fmla="val 9524"/>
            </a:avLst>
          </a:prstGeom>
          <a:solidFill>
            <a:schemeClr val="bg1">
              <a:lumMod val="95000"/>
            </a:schemeClr>
          </a:solidFill>
          <a:ln>
            <a:solidFill>
              <a:schemeClr val="bg1">
                <a:lumMod val="75000"/>
              </a:schemeClr>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13" name="正方形/長方形 12">
            <a:extLst>
              <a:ext uri="{FF2B5EF4-FFF2-40B4-BE49-F238E27FC236}">
                <a16:creationId xmlns:a16="http://schemas.microsoft.com/office/drawing/2014/main" id="{70FA585B-FBF5-1EED-6945-CE826A9E81CC}"/>
              </a:ext>
            </a:extLst>
          </p:cNvPr>
          <p:cNvSpPr/>
          <p:nvPr/>
        </p:nvSpPr>
        <p:spPr>
          <a:xfrm>
            <a:off x="490801" y="2935786"/>
            <a:ext cx="1292073" cy="281620"/>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登録医療機関</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pic>
        <p:nvPicPr>
          <p:cNvPr id="15" name="グラフィックス 14" descr="コンピューター 枠線">
            <a:extLst>
              <a:ext uri="{FF2B5EF4-FFF2-40B4-BE49-F238E27FC236}">
                <a16:creationId xmlns:a16="http://schemas.microsoft.com/office/drawing/2014/main" id="{5FE815A0-47DC-ECD9-6CDE-9900FCD4DC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62226" y="3315233"/>
            <a:ext cx="549222" cy="549222"/>
          </a:xfrm>
          <a:prstGeom prst="rect">
            <a:avLst/>
          </a:prstGeom>
        </p:spPr>
      </p:pic>
      <p:sp>
        <p:nvSpPr>
          <p:cNvPr id="17" name="四角形: 角を丸くする 16">
            <a:extLst>
              <a:ext uri="{FF2B5EF4-FFF2-40B4-BE49-F238E27FC236}">
                <a16:creationId xmlns:a16="http://schemas.microsoft.com/office/drawing/2014/main" id="{13EA3BFA-91E2-43FE-6815-F0873A64AC45}"/>
              </a:ext>
            </a:extLst>
          </p:cNvPr>
          <p:cNvSpPr/>
          <p:nvPr/>
        </p:nvSpPr>
        <p:spPr>
          <a:xfrm>
            <a:off x="2739447" y="2474372"/>
            <a:ext cx="3262377" cy="1996822"/>
          </a:xfrm>
          <a:prstGeom prst="roundRect">
            <a:avLst>
              <a:gd name="adj" fmla="val 9524"/>
            </a:avLst>
          </a:prstGeom>
          <a:solidFill>
            <a:srgbClr val="E3EBF5"/>
          </a:solidFill>
          <a:ln>
            <a:solidFill>
              <a:schemeClr val="tx2"/>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18" name="正方形/長方形 17">
            <a:extLst>
              <a:ext uri="{FF2B5EF4-FFF2-40B4-BE49-F238E27FC236}">
                <a16:creationId xmlns:a16="http://schemas.microsoft.com/office/drawing/2014/main" id="{11E94AC7-0F84-18AE-6F57-057D3C45A237}"/>
              </a:ext>
            </a:extLst>
          </p:cNvPr>
          <p:cNvSpPr/>
          <p:nvPr/>
        </p:nvSpPr>
        <p:spPr>
          <a:xfrm>
            <a:off x="3430046" y="2455748"/>
            <a:ext cx="1832137" cy="308524"/>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中央基盤</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19" name="四角形: 角を丸くする 18">
            <a:extLst>
              <a:ext uri="{FF2B5EF4-FFF2-40B4-BE49-F238E27FC236}">
                <a16:creationId xmlns:a16="http://schemas.microsoft.com/office/drawing/2014/main" id="{4555D551-9DF2-D87B-0C2B-71B56A687A7D}"/>
              </a:ext>
            </a:extLst>
          </p:cNvPr>
          <p:cNvSpPr/>
          <p:nvPr/>
        </p:nvSpPr>
        <p:spPr>
          <a:xfrm>
            <a:off x="2787152" y="2764849"/>
            <a:ext cx="1391521" cy="1691708"/>
          </a:xfrm>
          <a:prstGeom prst="roundRect">
            <a:avLst>
              <a:gd name="adj" fmla="val 9524"/>
            </a:avLst>
          </a:prstGeom>
          <a:solidFill>
            <a:schemeClr val="accent5">
              <a:lumMod val="20000"/>
              <a:lumOff val="80000"/>
            </a:schemeClr>
          </a:solidFill>
          <a:ln>
            <a:solidFill>
              <a:schemeClr val="bg1">
                <a:lumMod val="75000"/>
              </a:schemeClr>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20" name="正方形/長方形 19">
            <a:extLst>
              <a:ext uri="{FF2B5EF4-FFF2-40B4-BE49-F238E27FC236}">
                <a16:creationId xmlns:a16="http://schemas.microsoft.com/office/drawing/2014/main" id="{33F44CAE-B72E-5304-10B6-CA0C32E5A0C4}"/>
              </a:ext>
            </a:extLst>
          </p:cNvPr>
          <p:cNvSpPr/>
          <p:nvPr/>
        </p:nvSpPr>
        <p:spPr>
          <a:xfrm>
            <a:off x="2836876" y="2819007"/>
            <a:ext cx="1292073" cy="281620"/>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電カル共有</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21" name="四角形: 角を丸くする 20">
            <a:extLst>
              <a:ext uri="{FF2B5EF4-FFF2-40B4-BE49-F238E27FC236}">
                <a16:creationId xmlns:a16="http://schemas.microsoft.com/office/drawing/2014/main" id="{4AC0F469-7270-13E1-73F4-7E109765422E}"/>
              </a:ext>
            </a:extLst>
          </p:cNvPr>
          <p:cNvSpPr/>
          <p:nvPr/>
        </p:nvSpPr>
        <p:spPr>
          <a:xfrm>
            <a:off x="4520568" y="2789384"/>
            <a:ext cx="1391522" cy="1214844"/>
          </a:xfrm>
          <a:prstGeom prst="roundRect">
            <a:avLst>
              <a:gd name="adj" fmla="val 9524"/>
            </a:avLst>
          </a:prstGeom>
          <a:solidFill>
            <a:schemeClr val="accent5">
              <a:lumMod val="20000"/>
              <a:lumOff val="80000"/>
            </a:schemeClr>
          </a:solidFill>
          <a:ln>
            <a:solidFill>
              <a:schemeClr val="bg1">
                <a:lumMod val="75000"/>
              </a:schemeClr>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22" name="正方形/長方形 21">
            <a:extLst>
              <a:ext uri="{FF2B5EF4-FFF2-40B4-BE49-F238E27FC236}">
                <a16:creationId xmlns:a16="http://schemas.microsoft.com/office/drawing/2014/main" id="{F03FE4E9-C7BF-1A2B-322D-4CC4A217F0AF}"/>
              </a:ext>
            </a:extLst>
          </p:cNvPr>
          <p:cNvSpPr/>
          <p:nvPr/>
        </p:nvSpPr>
        <p:spPr>
          <a:xfrm>
            <a:off x="4425157" y="2843541"/>
            <a:ext cx="1510406" cy="281620"/>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オン資</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grpSp>
        <p:nvGrpSpPr>
          <p:cNvPr id="23" name="Group 226">
            <a:extLst>
              <a:ext uri="{FF2B5EF4-FFF2-40B4-BE49-F238E27FC236}">
                <a16:creationId xmlns:a16="http://schemas.microsoft.com/office/drawing/2014/main" id="{58F28D5D-0906-14AF-BC33-52F14A8EBCD0}"/>
              </a:ext>
            </a:extLst>
          </p:cNvPr>
          <p:cNvGrpSpPr>
            <a:grpSpLocks noChangeAspect="1"/>
          </p:cNvGrpSpPr>
          <p:nvPr/>
        </p:nvGrpSpPr>
        <p:grpSpPr bwMode="auto">
          <a:xfrm>
            <a:off x="4960275" y="3375539"/>
            <a:ext cx="504420" cy="552596"/>
            <a:chOff x="2437" y="456"/>
            <a:chExt cx="356" cy="390"/>
          </a:xfrm>
          <a:solidFill>
            <a:srgbClr val="000000"/>
          </a:solidFill>
        </p:grpSpPr>
        <p:sp>
          <p:nvSpPr>
            <p:cNvPr id="24" name="Freeform 227">
              <a:extLst>
                <a:ext uri="{FF2B5EF4-FFF2-40B4-BE49-F238E27FC236}">
                  <a16:creationId xmlns:a16="http://schemas.microsoft.com/office/drawing/2014/main" id="{237BC53E-4546-D379-B3B2-2375DB5B5488}"/>
                </a:ext>
              </a:extLst>
            </p:cNvPr>
            <p:cNvSpPr>
              <a:spLocks noEditPoints="1"/>
            </p:cNvSpPr>
            <p:nvPr/>
          </p:nvSpPr>
          <p:spPr bwMode="auto">
            <a:xfrm>
              <a:off x="2437" y="456"/>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2" y="108"/>
                    <a:pt x="0" y="84"/>
                    <a:pt x="0" y="54"/>
                  </a:cubicBezTo>
                  <a:cubicBezTo>
                    <a:pt x="0" y="23"/>
                    <a:pt x="52"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F497D"/>
                </a:solidFill>
                <a:effectLst/>
                <a:uLnTx/>
                <a:uFillTx/>
                <a:latin typeface="Arial"/>
                <a:ea typeface="Meiryo UI"/>
                <a:cs typeface="Arial" charset="0"/>
              </a:endParaRPr>
            </a:p>
          </p:txBody>
        </p:sp>
        <p:sp>
          <p:nvSpPr>
            <p:cNvPr id="25" name="Freeform 228">
              <a:extLst>
                <a:ext uri="{FF2B5EF4-FFF2-40B4-BE49-F238E27FC236}">
                  <a16:creationId xmlns:a16="http://schemas.microsoft.com/office/drawing/2014/main" id="{A9DF25EE-D789-6FDB-A7E7-AF2EB957AD81}"/>
                </a:ext>
              </a:extLst>
            </p:cNvPr>
            <p:cNvSpPr>
              <a:spLocks/>
            </p:cNvSpPr>
            <p:nvPr/>
          </p:nvSpPr>
          <p:spPr bwMode="auto">
            <a:xfrm>
              <a:off x="2437" y="598"/>
              <a:ext cx="356" cy="89"/>
            </a:xfrm>
            <a:custGeom>
              <a:avLst/>
              <a:gdLst>
                <a:gd name="T0" fmla="*/ 120 w 240"/>
                <a:gd name="T1" fmla="*/ 60 h 60"/>
                <a:gd name="T2" fmla="*/ 0 w 240"/>
                <a:gd name="T3" fmla="*/ 6 h 60"/>
                <a:gd name="T4" fmla="*/ 6 w 240"/>
                <a:gd name="T5" fmla="*/ 0 h 60"/>
                <a:gd name="T6" fmla="*/ 12 w 240"/>
                <a:gd name="T7" fmla="*/ 6 h 60"/>
                <a:gd name="T8" fmla="*/ 120 w 240"/>
                <a:gd name="T9" fmla="*/ 48 h 60"/>
                <a:gd name="T10" fmla="*/ 228 w 240"/>
                <a:gd name="T11" fmla="*/ 6 h 60"/>
                <a:gd name="T12" fmla="*/ 234 w 240"/>
                <a:gd name="T13" fmla="*/ 0 h 60"/>
                <a:gd name="T14" fmla="*/ 240 w 240"/>
                <a:gd name="T15" fmla="*/ 6 h 60"/>
                <a:gd name="T16" fmla="*/ 120 w 240"/>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60">
                  <a:moveTo>
                    <a:pt x="120" y="60"/>
                  </a:moveTo>
                  <a:cubicBezTo>
                    <a:pt x="52" y="60"/>
                    <a:pt x="0" y="36"/>
                    <a:pt x="0" y="6"/>
                  </a:cubicBezTo>
                  <a:cubicBezTo>
                    <a:pt x="0" y="2"/>
                    <a:pt x="2" y="0"/>
                    <a:pt x="6" y="0"/>
                  </a:cubicBezTo>
                  <a:cubicBezTo>
                    <a:pt x="9" y="0"/>
                    <a:pt x="12" y="2"/>
                    <a:pt x="12" y="6"/>
                  </a:cubicBezTo>
                  <a:cubicBezTo>
                    <a:pt x="12" y="26"/>
                    <a:pt x="56" y="48"/>
                    <a:pt x="120" y="48"/>
                  </a:cubicBezTo>
                  <a:cubicBezTo>
                    <a:pt x="183" y="48"/>
                    <a:pt x="228" y="26"/>
                    <a:pt x="228" y="6"/>
                  </a:cubicBezTo>
                  <a:cubicBezTo>
                    <a:pt x="228" y="2"/>
                    <a:pt x="230" y="0"/>
                    <a:pt x="234" y="0"/>
                  </a:cubicBezTo>
                  <a:cubicBezTo>
                    <a:pt x="237" y="0"/>
                    <a:pt x="240" y="2"/>
                    <a:pt x="240" y="6"/>
                  </a:cubicBezTo>
                  <a:cubicBezTo>
                    <a:pt x="240" y="36"/>
                    <a:pt x="187"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F497D"/>
                </a:solidFill>
                <a:effectLst/>
                <a:uLnTx/>
                <a:uFillTx/>
                <a:latin typeface="Arial"/>
                <a:ea typeface="Meiryo UI"/>
                <a:cs typeface="Arial" charset="0"/>
              </a:endParaRPr>
            </a:p>
          </p:txBody>
        </p:sp>
        <p:sp>
          <p:nvSpPr>
            <p:cNvPr id="26" name="Freeform 229">
              <a:extLst>
                <a:ext uri="{FF2B5EF4-FFF2-40B4-BE49-F238E27FC236}">
                  <a16:creationId xmlns:a16="http://schemas.microsoft.com/office/drawing/2014/main" id="{C1368D1E-D32C-4D54-0A59-6A2DB2512A2F}"/>
                </a:ext>
              </a:extLst>
            </p:cNvPr>
            <p:cNvSpPr>
              <a:spLocks/>
            </p:cNvSpPr>
            <p:nvPr/>
          </p:nvSpPr>
          <p:spPr bwMode="auto">
            <a:xfrm>
              <a:off x="2437" y="678"/>
              <a:ext cx="356" cy="88"/>
            </a:xfrm>
            <a:custGeom>
              <a:avLst/>
              <a:gdLst>
                <a:gd name="T0" fmla="*/ 120 w 240"/>
                <a:gd name="T1" fmla="*/ 60 h 60"/>
                <a:gd name="T2" fmla="*/ 0 w 240"/>
                <a:gd name="T3" fmla="*/ 6 h 60"/>
                <a:gd name="T4" fmla="*/ 6 w 240"/>
                <a:gd name="T5" fmla="*/ 0 h 60"/>
                <a:gd name="T6" fmla="*/ 12 w 240"/>
                <a:gd name="T7" fmla="*/ 6 h 60"/>
                <a:gd name="T8" fmla="*/ 120 w 240"/>
                <a:gd name="T9" fmla="*/ 48 h 60"/>
                <a:gd name="T10" fmla="*/ 228 w 240"/>
                <a:gd name="T11" fmla="*/ 6 h 60"/>
                <a:gd name="T12" fmla="*/ 234 w 240"/>
                <a:gd name="T13" fmla="*/ 0 h 60"/>
                <a:gd name="T14" fmla="*/ 240 w 240"/>
                <a:gd name="T15" fmla="*/ 6 h 60"/>
                <a:gd name="T16" fmla="*/ 120 w 240"/>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60">
                  <a:moveTo>
                    <a:pt x="120" y="60"/>
                  </a:moveTo>
                  <a:cubicBezTo>
                    <a:pt x="52" y="60"/>
                    <a:pt x="0" y="36"/>
                    <a:pt x="0" y="6"/>
                  </a:cubicBezTo>
                  <a:cubicBezTo>
                    <a:pt x="0" y="2"/>
                    <a:pt x="2" y="0"/>
                    <a:pt x="6" y="0"/>
                  </a:cubicBezTo>
                  <a:cubicBezTo>
                    <a:pt x="9" y="0"/>
                    <a:pt x="12" y="2"/>
                    <a:pt x="12" y="6"/>
                  </a:cubicBezTo>
                  <a:cubicBezTo>
                    <a:pt x="12" y="26"/>
                    <a:pt x="56" y="48"/>
                    <a:pt x="120" y="48"/>
                  </a:cubicBezTo>
                  <a:cubicBezTo>
                    <a:pt x="183" y="48"/>
                    <a:pt x="228" y="26"/>
                    <a:pt x="228" y="6"/>
                  </a:cubicBezTo>
                  <a:cubicBezTo>
                    <a:pt x="228" y="2"/>
                    <a:pt x="230" y="0"/>
                    <a:pt x="234" y="0"/>
                  </a:cubicBezTo>
                  <a:cubicBezTo>
                    <a:pt x="237" y="0"/>
                    <a:pt x="240" y="2"/>
                    <a:pt x="240" y="6"/>
                  </a:cubicBezTo>
                  <a:cubicBezTo>
                    <a:pt x="240" y="36"/>
                    <a:pt x="187"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F497D"/>
                </a:solidFill>
                <a:effectLst/>
                <a:uLnTx/>
                <a:uFillTx/>
                <a:latin typeface="Arial"/>
                <a:ea typeface="Meiryo UI"/>
                <a:cs typeface="Arial" charset="0"/>
              </a:endParaRPr>
            </a:p>
          </p:txBody>
        </p:sp>
        <p:sp>
          <p:nvSpPr>
            <p:cNvPr id="27" name="Freeform 230">
              <a:extLst>
                <a:ext uri="{FF2B5EF4-FFF2-40B4-BE49-F238E27FC236}">
                  <a16:creationId xmlns:a16="http://schemas.microsoft.com/office/drawing/2014/main" id="{C6AC28F2-81C0-594B-9884-8C17582FD7F2}"/>
                </a:ext>
              </a:extLst>
            </p:cNvPr>
            <p:cNvSpPr>
              <a:spLocks/>
            </p:cNvSpPr>
            <p:nvPr/>
          </p:nvSpPr>
          <p:spPr bwMode="auto">
            <a:xfrm>
              <a:off x="2437" y="527"/>
              <a:ext cx="356" cy="319"/>
            </a:xfrm>
            <a:custGeom>
              <a:avLst/>
              <a:gdLst>
                <a:gd name="T0" fmla="*/ 120 w 240"/>
                <a:gd name="T1" fmla="*/ 216 h 216"/>
                <a:gd name="T2" fmla="*/ 0 w 240"/>
                <a:gd name="T3" fmla="*/ 162 h 216"/>
                <a:gd name="T4" fmla="*/ 0 w 240"/>
                <a:gd name="T5" fmla="*/ 6 h 216"/>
                <a:gd name="T6" fmla="*/ 6 w 240"/>
                <a:gd name="T7" fmla="*/ 0 h 216"/>
                <a:gd name="T8" fmla="*/ 12 w 240"/>
                <a:gd name="T9" fmla="*/ 6 h 216"/>
                <a:gd name="T10" fmla="*/ 12 w 240"/>
                <a:gd name="T11" fmla="*/ 162 h 216"/>
                <a:gd name="T12" fmla="*/ 120 w 240"/>
                <a:gd name="T13" fmla="*/ 204 h 216"/>
                <a:gd name="T14" fmla="*/ 228 w 240"/>
                <a:gd name="T15" fmla="*/ 162 h 216"/>
                <a:gd name="T16" fmla="*/ 228 w 240"/>
                <a:gd name="T17" fmla="*/ 6 h 216"/>
                <a:gd name="T18" fmla="*/ 234 w 240"/>
                <a:gd name="T19" fmla="*/ 0 h 216"/>
                <a:gd name="T20" fmla="*/ 240 w 240"/>
                <a:gd name="T21" fmla="*/ 6 h 216"/>
                <a:gd name="T22" fmla="*/ 240 w 240"/>
                <a:gd name="T23" fmla="*/ 162 h 216"/>
                <a:gd name="T24" fmla="*/ 120 w 240"/>
                <a:gd name="T25"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0" h="216">
                  <a:moveTo>
                    <a:pt x="120" y="216"/>
                  </a:moveTo>
                  <a:cubicBezTo>
                    <a:pt x="52" y="216"/>
                    <a:pt x="0" y="192"/>
                    <a:pt x="0" y="162"/>
                  </a:cubicBezTo>
                  <a:cubicBezTo>
                    <a:pt x="0" y="6"/>
                    <a:pt x="0" y="6"/>
                    <a:pt x="0" y="6"/>
                  </a:cubicBezTo>
                  <a:cubicBezTo>
                    <a:pt x="0" y="2"/>
                    <a:pt x="2" y="0"/>
                    <a:pt x="6" y="0"/>
                  </a:cubicBezTo>
                  <a:cubicBezTo>
                    <a:pt x="9" y="0"/>
                    <a:pt x="12" y="2"/>
                    <a:pt x="12" y="6"/>
                  </a:cubicBezTo>
                  <a:cubicBezTo>
                    <a:pt x="12" y="162"/>
                    <a:pt x="12" y="162"/>
                    <a:pt x="12" y="162"/>
                  </a:cubicBezTo>
                  <a:cubicBezTo>
                    <a:pt x="12" y="182"/>
                    <a:pt x="56" y="204"/>
                    <a:pt x="120" y="204"/>
                  </a:cubicBezTo>
                  <a:cubicBezTo>
                    <a:pt x="183" y="204"/>
                    <a:pt x="228" y="182"/>
                    <a:pt x="228" y="162"/>
                  </a:cubicBezTo>
                  <a:cubicBezTo>
                    <a:pt x="228" y="6"/>
                    <a:pt x="228" y="6"/>
                    <a:pt x="228" y="6"/>
                  </a:cubicBezTo>
                  <a:cubicBezTo>
                    <a:pt x="228" y="2"/>
                    <a:pt x="230" y="0"/>
                    <a:pt x="234" y="0"/>
                  </a:cubicBezTo>
                  <a:cubicBezTo>
                    <a:pt x="237" y="0"/>
                    <a:pt x="240" y="2"/>
                    <a:pt x="240" y="6"/>
                  </a:cubicBezTo>
                  <a:cubicBezTo>
                    <a:pt x="240" y="162"/>
                    <a:pt x="240" y="162"/>
                    <a:pt x="240" y="162"/>
                  </a:cubicBezTo>
                  <a:cubicBezTo>
                    <a:pt x="240" y="192"/>
                    <a:pt x="187" y="216"/>
                    <a:pt x="120"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F497D"/>
                </a:solidFill>
                <a:effectLst/>
                <a:uLnTx/>
                <a:uFillTx/>
                <a:latin typeface="Arial"/>
                <a:ea typeface="Meiryo UI"/>
                <a:cs typeface="Arial" charset="0"/>
              </a:endParaRPr>
            </a:p>
          </p:txBody>
        </p:sp>
      </p:grpSp>
      <p:sp>
        <p:nvSpPr>
          <p:cNvPr id="28" name="正方形/長方形 27">
            <a:extLst>
              <a:ext uri="{FF2B5EF4-FFF2-40B4-BE49-F238E27FC236}">
                <a16:creationId xmlns:a16="http://schemas.microsoft.com/office/drawing/2014/main" id="{D796AA39-28E6-0DF6-90D0-360F5E749C60}"/>
              </a:ext>
            </a:extLst>
          </p:cNvPr>
          <p:cNvSpPr/>
          <p:nvPr/>
        </p:nvSpPr>
        <p:spPr>
          <a:xfrm>
            <a:off x="3024381" y="3147709"/>
            <a:ext cx="158726" cy="1142259"/>
          </a:xfrm>
          <a:prstGeom prst="rect">
            <a:avLst/>
          </a:prstGeom>
          <a:solidFill>
            <a:schemeClr val="bg2"/>
          </a:solid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0">
                <a:ln>
                  <a:noFill/>
                </a:ln>
                <a:solidFill>
                  <a:prstClr val="black"/>
                </a:solidFill>
                <a:effectLst/>
                <a:uLnTx/>
                <a:uFillTx/>
                <a:latin typeface="Meiryo UI"/>
                <a:ea typeface="Meiryo UI"/>
                <a:cs typeface="Arial" charset="0"/>
              </a:rPr>
              <a:t>バリデーションチェック</a:t>
            </a:r>
            <a:endParaRPr kumimoji="1" lang="en-US" altLang="ja-JP" sz="6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29" name="正方形/長方形 28">
            <a:extLst>
              <a:ext uri="{FF2B5EF4-FFF2-40B4-BE49-F238E27FC236}">
                <a16:creationId xmlns:a16="http://schemas.microsoft.com/office/drawing/2014/main" id="{B60C71B7-8B26-A167-95FF-220EA510445A}"/>
              </a:ext>
            </a:extLst>
          </p:cNvPr>
          <p:cNvSpPr/>
          <p:nvPr/>
        </p:nvSpPr>
        <p:spPr>
          <a:xfrm>
            <a:off x="3790472" y="3147709"/>
            <a:ext cx="158726" cy="1142259"/>
          </a:xfrm>
          <a:prstGeom prst="rect">
            <a:avLst/>
          </a:prstGeom>
          <a:solidFill>
            <a:schemeClr val="bg2"/>
          </a:solid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0">
                <a:ln>
                  <a:noFill/>
                </a:ln>
                <a:solidFill>
                  <a:prstClr val="black"/>
                </a:solidFill>
                <a:effectLst/>
                <a:uLnTx/>
                <a:uFillTx/>
                <a:latin typeface="Meiryo UI"/>
                <a:ea typeface="Meiryo UI"/>
                <a:cs typeface="Arial" charset="0"/>
              </a:rPr>
              <a:t>オン資連携用形式に加工</a:t>
            </a:r>
            <a:endParaRPr kumimoji="1" lang="en-US" altLang="ja-JP" sz="600" b="0" i="0" u="none" strike="noStrike" kern="1200" cap="none" spc="0" normalizeH="0" baseline="0" noProof="0">
              <a:ln>
                <a:noFill/>
              </a:ln>
              <a:solidFill>
                <a:prstClr val="black"/>
              </a:solidFill>
              <a:effectLst/>
              <a:uLnTx/>
              <a:uFillTx/>
              <a:latin typeface="Meiryo UI"/>
              <a:ea typeface="Meiryo UI"/>
              <a:cs typeface="Arial" charset="0"/>
            </a:endParaRPr>
          </a:p>
        </p:txBody>
      </p:sp>
      <p:cxnSp>
        <p:nvCxnSpPr>
          <p:cNvPr id="30" name="直線矢印コネクタ 29">
            <a:extLst>
              <a:ext uri="{FF2B5EF4-FFF2-40B4-BE49-F238E27FC236}">
                <a16:creationId xmlns:a16="http://schemas.microsoft.com/office/drawing/2014/main" id="{30F6AF58-FEE8-CB0A-8540-49258FBC92B2}"/>
              </a:ext>
            </a:extLst>
          </p:cNvPr>
          <p:cNvCxnSpPr>
            <a:cxnSpLocks/>
          </p:cNvCxnSpPr>
          <p:nvPr/>
        </p:nvCxnSpPr>
        <p:spPr bwMode="auto">
          <a:xfrm>
            <a:off x="3217127" y="3602245"/>
            <a:ext cx="49659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31" name="直線矢印コネクタ 30">
            <a:extLst>
              <a:ext uri="{FF2B5EF4-FFF2-40B4-BE49-F238E27FC236}">
                <a16:creationId xmlns:a16="http://schemas.microsoft.com/office/drawing/2014/main" id="{4B17E3D7-EE5C-46D6-18BD-8D740B3F4D16}"/>
              </a:ext>
            </a:extLst>
          </p:cNvPr>
          <p:cNvCxnSpPr>
            <a:cxnSpLocks/>
          </p:cNvCxnSpPr>
          <p:nvPr/>
        </p:nvCxnSpPr>
        <p:spPr bwMode="auto">
          <a:xfrm>
            <a:off x="3987633" y="3602245"/>
            <a:ext cx="911682"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32" name="正方形/長方形 31">
            <a:extLst>
              <a:ext uri="{FF2B5EF4-FFF2-40B4-BE49-F238E27FC236}">
                <a16:creationId xmlns:a16="http://schemas.microsoft.com/office/drawing/2014/main" id="{2A22B2A9-92C2-F431-3D09-A25A50569673}"/>
              </a:ext>
            </a:extLst>
          </p:cNvPr>
          <p:cNvSpPr/>
          <p:nvPr/>
        </p:nvSpPr>
        <p:spPr>
          <a:xfrm>
            <a:off x="4624124" y="3190240"/>
            <a:ext cx="1165559" cy="212625"/>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Arial" charset="0"/>
              </a:rPr>
              <a:t>臨床情報</a:t>
            </a:r>
            <a:r>
              <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rPr>
              <a:t>DB</a:t>
            </a:r>
          </a:p>
        </p:txBody>
      </p:sp>
      <p:cxnSp>
        <p:nvCxnSpPr>
          <p:cNvPr id="33" name="コネクタ: カギ線 32">
            <a:extLst>
              <a:ext uri="{FF2B5EF4-FFF2-40B4-BE49-F238E27FC236}">
                <a16:creationId xmlns:a16="http://schemas.microsoft.com/office/drawing/2014/main" id="{E8FA3A6C-6961-6FF3-94F0-BD34C4135626}"/>
              </a:ext>
            </a:extLst>
          </p:cNvPr>
          <p:cNvCxnSpPr>
            <a:cxnSpLocks/>
          </p:cNvCxnSpPr>
          <p:nvPr/>
        </p:nvCxnSpPr>
        <p:spPr bwMode="auto">
          <a:xfrm rot="16200000" flipH="1">
            <a:off x="3113549" y="3732762"/>
            <a:ext cx="447014" cy="185979"/>
          </a:xfrm>
          <a:prstGeom prst="bentConnector3">
            <a:avLst>
              <a:gd name="adj1" fmla="val -1139"/>
            </a:avLst>
          </a:prstGeom>
          <a:solidFill>
            <a:schemeClr val="bg1"/>
          </a:solidFill>
          <a:ln w="9525" cap="flat" cmpd="sng" algn="ctr">
            <a:solidFill>
              <a:schemeClr val="bg1">
                <a:lumMod val="50000"/>
              </a:schemeClr>
            </a:solidFill>
            <a:prstDash val="solid"/>
            <a:round/>
            <a:headEnd type="none" w="med" len="med"/>
            <a:tailEnd type="triangle"/>
          </a:ln>
          <a:effectLst/>
        </p:spPr>
      </p:cxnSp>
      <p:sp>
        <p:nvSpPr>
          <p:cNvPr id="34" name="フローチャート: 磁気ディスク 33">
            <a:extLst>
              <a:ext uri="{FF2B5EF4-FFF2-40B4-BE49-F238E27FC236}">
                <a16:creationId xmlns:a16="http://schemas.microsoft.com/office/drawing/2014/main" id="{85CF6387-E0FD-840B-B9D3-67FB763BC895}"/>
              </a:ext>
            </a:extLst>
          </p:cNvPr>
          <p:cNvSpPr/>
          <p:nvPr/>
        </p:nvSpPr>
        <p:spPr>
          <a:xfrm>
            <a:off x="3238772" y="4115042"/>
            <a:ext cx="426575" cy="285805"/>
          </a:xfrm>
          <a:prstGeom prst="flowChartMagneticDisk">
            <a:avLst/>
          </a:prstGeom>
          <a:noFill/>
          <a:ln w="28575">
            <a:solidFill>
              <a:schemeClr val="bg1">
                <a:lumMod val="50000"/>
              </a:schemeClr>
            </a:solid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460772DA-E27D-F222-672B-D611323670CF}"/>
              </a:ext>
            </a:extLst>
          </p:cNvPr>
          <p:cNvSpPr/>
          <p:nvPr/>
        </p:nvSpPr>
        <p:spPr>
          <a:xfrm>
            <a:off x="2870663" y="4190209"/>
            <a:ext cx="1165559" cy="212625"/>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rPr>
              <a:t>S3</a:t>
            </a:r>
          </a:p>
        </p:txBody>
      </p:sp>
      <p:sp>
        <p:nvSpPr>
          <p:cNvPr id="39" name="四角形: 角を丸くする 38">
            <a:extLst>
              <a:ext uri="{FF2B5EF4-FFF2-40B4-BE49-F238E27FC236}">
                <a16:creationId xmlns:a16="http://schemas.microsoft.com/office/drawing/2014/main" id="{1B01D826-769F-ABF4-1C77-84BC9922D3A3}"/>
              </a:ext>
            </a:extLst>
          </p:cNvPr>
          <p:cNvSpPr/>
          <p:nvPr/>
        </p:nvSpPr>
        <p:spPr>
          <a:xfrm>
            <a:off x="7329823" y="2958751"/>
            <a:ext cx="1190374" cy="912731"/>
          </a:xfrm>
          <a:prstGeom prst="roundRect">
            <a:avLst>
              <a:gd name="adj" fmla="val 9524"/>
            </a:avLst>
          </a:prstGeom>
          <a:solidFill>
            <a:schemeClr val="bg1">
              <a:lumMod val="95000"/>
            </a:schemeClr>
          </a:solidFill>
          <a:ln>
            <a:solidFill>
              <a:schemeClr val="bg1">
                <a:lumMod val="75000"/>
              </a:schemeClr>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40" name="正方形/長方形 39">
            <a:extLst>
              <a:ext uri="{FF2B5EF4-FFF2-40B4-BE49-F238E27FC236}">
                <a16:creationId xmlns:a16="http://schemas.microsoft.com/office/drawing/2014/main" id="{0872E818-8A0B-8B2E-9A1D-DD3CCB5C7063}"/>
              </a:ext>
            </a:extLst>
          </p:cNvPr>
          <p:cNvSpPr/>
          <p:nvPr/>
        </p:nvSpPr>
        <p:spPr>
          <a:xfrm>
            <a:off x="7278974" y="2965023"/>
            <a:ext cx="1292073" cy="281620"/>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閲覧医療機関</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pic>
        <p:nvPicPr>
          <p:cNvPr id="41" name="グラフィックス 40" descr="コンピューター 枠線">
            <a:extLst>
              <a:ext uri="{FF2B5EF4-FFF2-40B4-BE49-F238E27FC236}">
                <a16:creationId xmlns:a16="http://schemas.microsoft.com/office/drawing/2014/main" id="{EDD0960F-8ED8-D242-3072-C0EA67086B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50399" y="3344470"/>
            <a:ext cx="549222" cy="549222"/>
          </a:xfrm>
          <a:prstGeom prst="rect">
            <a:avLst/>
          </a:prstGeom>
        </p:spPr>
      </p:pic>
      <p:cxnSp>
        <p:nvCxnSpPr>
          <p:cNvPr id="42" name="コネクタ: カギ線 41">
            <a:extLst>
              <a:ext uri="{FF2B5EF4-FFF2-40B4-BE49-F238E27FC236}">
                <a16:creationId xmlns:a16="http://schemas.microsoft.com/office/drawing/2014/main" id="{53B5D321-F144-C788-9F5C-68E400D60410}"/>
              </a:ext>
            </a:extLst>
          </p:cNvPr>
          <p:cNvCxnSpPr>
            <a:cxnSpLocks/>
          </p:cNvCxnSpPr>
          <p:nvPr/>
        </p:nvCxnSpPr>
        <p:spPr bwMode="auto">
          <a:xfrm rot="10800000" flipV="1">
            <a:off x="7207049" y="3273186"/>
            <a:ext cx="71925" cy="398438"/>
          </a:xfrm>
          <a:prstGeom prst="bentConnector3">
            <a:avLst>
              <a:gd name="adj1" fmla="val 2103132"/>
            </a:avLst>
          </a:prstGeom>
          <a:solidFill>
            <a:schemeClr val="bg1"/>
          </a:solidFill>
          <a:ln w="9525" cap="flat" cmpd="sng" algn="ctr">
            <a:solidFill>
              <a:schemeClr val="bg1">
                <a:lumMod val="50000"/>
              </a:schemeClr>
            </a:solidFill>
            <a:prstDash val="solid"/>
            <a:round/>
            <a:headEnd type="none" w="med" len="med"/>
            <a:tailEnd type="triangle"/>
          </a:ln>
          <a:effectLst/>
        </p:spPr>
      </p:cxnSp>
      <p:grpSp>
        <p:nvGrpSpPr>
          <p:cNvPr id="43" name="グループ化 42">
            <a:extLst>
              <a:ext uri="{FF2B5EF4-FFF2-40B4-BE49-F238E27FC236}">
                <a16:creationId xmlns:a16="http://schemas.microsoft.com/office/drawing/2014/main" id="{8921E214-116B-F7B4-685D-24D77CB12CA1}"/>
              </a:ext>
            </a:extLst>
          </p:cNvPr>
          <p:cNvGrpSpPr/>
          <p:nvPr/>
        </p:nvGrpSpPr>
        <p:grpSpPr>
          <a:xfrm>
            <a:off x="6468318" y="3478980"/>
            <a:ext cx="315123" cy="353580"/>
            <a:chOff x="10349344" y="5411140"/>
            <a:chExt cx="315123" cy="353580"/>
          </a:xfrm>
        </p:grpSpPr>
        <p:sp>
          <p:nvSpPr>
            <p:cNvPr id="44" name="四角形: 角を丸くする 43">
              <a:extLst>
                <a:ext uri="{FF2B5EF4-FFF2-40B4-BE49-F238E27FC236}">
                  <a16:creationId xmlns:a16="http://schemas.microsoft.com/office/drawing/2014/main" id="{6E1700D3-821C-D101-5247-EEE61F461935}"/>
                </a:ext>
              </a:extLst>
            </p:cNvPr>
            <p:cNvSpPr/>
            <p:nvPr/>
          </p:nvSpPr>
          <p:spPr>
            <a:xfrm flipV="1">
              <a:off x="10349344" y="5411140"/>
              <a:ext cx="315123" cy="353580"/>
            </a:xfrm>
            <a:prstGeom prst="roundRect">
              <a:avLst>
                <a:gd name="adj" fmla="val 9524"/>
              </a:avLst>
            </a:prstGeom>
            <a:solidFill>
              <a:schemeClr val="bg1"/>
            </a:solidFill>
            <a:ln>
              <a:solidFill>
                <a:schemeClr val="bg1"/>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pic>
          <p:nvPicPr>
            <p:cNvPr id="45" name="グラフィックス 44" descr="ドキュメント 枠線">
              <a:extLst>
                <a:ext uri="{FF2B5EF4-FFF2-40B4-BE49-F238E27FC236}">
                  <a16:creationId xmlns:a16="http://schemas.microsoft.com/office/drawing/2014/main" id="{2FFE9944-CAEB-98FF-0474-37B00592A2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49344" y="5437416"/>
              <a:ext cx="315123" cy="315123"/>
            </a:xfrm>
            <a:prstGeom prst="rect">
              <a:avLst/>
            </a:prstGeom>
          </p:spPr>
        </p:pic>
      </p:grpSp>
      <p:cxnSp>
        <p:nvCxnSpPr>
          <p:cNvPr id="16" name="直線矢印コネクタ 15">
            <a:extLst>
              <a:ext uri="{FF2B5EF4-FFF2-40B4-BE49-F238E27FC236}">
                <a16:creationId xmlns:a16="http://schemas.microsoft.com/office/drawing/2014/main" id="{7DCFD32E-7E5D-BF32-A71D-28CE2F53009A}"/>
              </a:ext>
            </a:extLst>
          </p:cNvPr>
          <p:cNvCxnSpPr>
            <a:cxnSpLocks/>
          </p:cNvCxnSpPr>
          <p:nvPr/>
        </p:nvCxnSpPr>
        <p:spPr bwMode="auto">
          <a:xfrm>
            <a:off x="1411448" y="3589844"/>
            <a:ext cx="161293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51" name="右中かっこ 50">
            <a:extLst>
              <a:ext uri="{FF2B5EF4-FFF2-40B4-BE49-F238E27FC236}">
                <a16:creationId xmlns:a16="http://schemas.microsoft.com/office/drawing/2014/main" id="{6D692E94-4BEA-0943-596C-3295176E0D9F}"/>
              </a:ext>
            </a:extLst>
          </p:cNvPr>
          <p:cNvSpPr/>
          <p:nvPr/>
        </p:nvSpPr>
        <p:spPr bwMode="auto">
          <a:xfrm rot="5400000">
            <a:off x="2280503" y="2797431"/>
            <a:ext cx="155448" cy="3640891"/>
          </a:xfrm>
          <a:prstGeom prst="rightBrace">
            <a:avLst>
              <a:gd name="adj1" fmla="val 8333"/>
              <a:gd name="adj2" fmla="val 52354"/>
            </a:avLst>
          </a:prstGeom>
          <a:solidFill>
            <a:schemeClr val="bg1"/>
          </a:solidFill>
          <a:ln w="952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53" name="コンテンツ プレースホルダー 10">
            <a:extLst>
              <a:ext uri="{FF2B5EF4-FFF2-40B4-BE49-F238E27FC236}">
                <a16:creationId xmlns:a16="http://schemas.microsoft.com/office/drawing/2014/main" id="{6E36A96C-2E1B-1E41-E889-6109503B84A5}"/>
              </a:ext>
            </a:extLst>
          </p:cNvPr>
          <p:cNvSpPr txBox="1">
            <a:spLocks/>
          </p:cNvSpPr>
          <p:nvPr/>
        </p:nvSpPr>
        <p:spPr bwMode="auto">
          <a:xfrm>
            <a:off x="262858" y="4715683"/>
            <a:ext cx="4190738" cy="1787743"/>
          </a:xfrm>
          <a:prstGeom prst="rect">
            <a:avLst/>
          </a:prstGeom>
          <a:solidFill>
            <a:schemeClr val="bg1"/>
          </a:solid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algn="ctr">
              <a:spcAft>
                <a:spcPts val="300"/>
              </a:spcAft>
            </a:pPr>
            <a:r>
              <a:rPr lang="ja-JP" altLang="en-US" sz="1000" b="1" u="sng" kern="0"/>
              <a:t>登録時の課題</a:t>
            </a:r>
            <a:endParaRPr lang="en-US" altLang="ja-JP" sz="1000" b="1" u="sng" kern="0"/>
          </a:p>
          <a:p>
            <a:pPr>
              <a:spcAft>
                <a:spcPts val="300"/>
              </a:spcAft>
            </a:pPr>
            <a:r>
              <a:rPr lang="ja-JP" altLang="en-US" sz="1000" kern="0"/>
              <a:t>＜中央基盤側＞</a:t>
            </a:r>
            <a:endParaRPr lang="en-US" altLang="ja-JP" sz="1000" kern="0"/>
          </a:p>
          <a:p>
            <a:pPr marL="171450" indent="-171450">
              <a:spcAft>
                <a:spcPts val="300"/>
              </a:spcAft>
              <a:buFont typeface="Arial" panose="020B0604020202020204" pitchFamily="34" charset="0"/>
              <a:buChar char="•"/>
            </a:pPr>
            <a:r>
              <a:rPr lang="ja-JP" altLang="en-US" sz="1000" kern="0"/>
              <a:t>プロファイルの変更</a:t>
            </a:r>
            <a:r>
              <a:rPr lang="en-US" altLang="ja-JP" sz="1000" kern="0"/>
              <a:t>/</a:t>
            </a:r>
            <a:r>
              <a:rPr lang="ja-JP" altLang="en-US" sz="1000" kern="0"/>
              <a:t>中央基盤の改修が必要</a:t>
            </a:r>
            <a:endParaRPr lang="en-US" altLang="ja-JP" sz="1000" kern="0"/>
          </a:p>
          <a:p>
            <a:pPr>
              <a:spcAft>
                <a:spcPts val="300"/>
              </a:spcAft>
            </a:pPr>
            <a:r>
              <a:rPr lang="en-US" altLang="ja-JP" sz="1000" kern="0"/>
              <a:t>&lt;</a:t>
            </a:r>
            <a:r>
              <a:rPr lang="ja-JP" altLang="en-US" sz="1000" kern="0"/>
              <a:t>電カル側</a:t>
            </a:r>
            <a:r>
              <a:rPr lang="en-US" altLang="ja-JP" sz="1000" kern="0"/>
              <a:t>&gt;</a:t>
            </a:r>
          </a:p>
          <a:p>
            <a:pPr marL="171450" indent="-171450">
              <a:spcAft>
                <a:spcPts val="300"/>
              </a:spcAft>
              <a:buFont typeface="Arial" panose="020B0604020202020204" pitchFamily="34" charset="0"/>
              <a:buChar char="•"/>
            </a:pPr>
            <a:r>
              <a:rPr lang="ja-JP" altLang="en-US" sz="1000" kern="0"/>
              <a:t>画面に患者共有ボタンを作る、登録用</a:t>
            </a:r>
            <a:r>
              <a:rPr lang="en-US" altLang="ja-JP" sz="1000" kern="0"/>
              <a:t>FHIR</a:t>
            </a:r>
            <a:r>
              <a:rPr lang="ja-JP" altLang="en-US" sz="1000" kern="0"/>
              <a:t>データで患者共有フラグを設定できるようにする、新規プロファイルに対応する等のシステム改修が必要</a:t>
            </a:r>
            <a:endParaRPr lang="en-US" altLang="ja-JP" sz="1000" kern="0"/>
          </a:p>
          <a:p>
            <a:pPr>
              <a:spcAft>
                <a:spcPts val="300"/>
              </a:spcAft>
            </a:pPr>
            <a:r>
              <a:rPr lang="en-US" altLang="ja-JP" sz="1000" kern="0"/>
              <a:t>&lt;</a:t>
            </a:r>
            <a:r>
              <a:rPr lang="ja-JP" altLang="en-US" sz="1000" kern="0"/>
              <a:t>運用</a:t>
            </a:r>
            <a:r>
              <a:rPr lang="en-US" altLang="ja-JP" sz="1000" kern="0"/>
              <a:t>&gt;</a:t>
            </a:r>
          </a:p>
          <a:p>
            <a:pPr marL="171450" indent="-171450">
              <a:spcAft>
                <a:spcPts val="300"/>
              </a:spcAft>
              <a:buFont typeface="Arial" panose="020B0604020202020204" pitchFamily="34" charset="0"/>
              <a:buChar char="•"/>
            </a:pPr>
            <a:r>
              <a:rPr lang="ja-JP" altLang="en-US" sz="1000" kern="0"/>
              <a:t>血液型の告知を整理する必要がある</a:t>
            </a:r>
            <a:r>
              <a:rPr lang="en-US" altLang="ja-JP" sz="1000" kern="0"/>
              <a:t>(</a:t>
            </a:r>
            <a:r>
              <a:rPr lang="ja-JP" altLang="en-US" sz="1000" kern="0"/>
              <a:t>患者共有ボタンがあっても血縁関係が推測される可能性がある限り患者共有ボタンは押下しない</a:t>
            </a:r>
            <a:r>
              <a:rPr lang="en-US" altLang="ja-JP" sz="1000" kern="0"/>
              <a:t>)</a:t>
            </a:r>
            <a:endParaRPr lang="ja-JP" altLang="en-US" sz="1000" kern="0"/>
          </a:p>
        </p:txBody>
      </p:sp>
      <p:sp>
        <p:nvSpPr>
          <p:cNvPr id="7" name="右中かっこ 6">
            <a:extLst>
              <a:ext uri="{FF2B5EF4-FFF2-40B4-BE49-F238E27FC236}">
                <a16:creationId xmlns:a16="http://schemas.microsoft.com/office/drawing/2014/main" id="{D2AB0518-D453-897D-E98D-AAE93326BCA6}"/>
              </a:ext>
            </a:extLst>
          </p:cNvPr>
          <p:cNvSpPr/>
          <p:nvPr/>
        </p:nvSpPr>
        <p:spPr bwMode="auto">
          <a:xfrm rot="5400000">
            <a:off x="6531735" y="2662662"/>
            <a:ext cx="155448" cy="3923174"/>
          </a:xfrm>
          <a:prstGeom prst="rightBrace">
            <a:avLst>
              <a:gd name="adj1" fmla="val 8333"/>
              <a:gd name="adj2" fmla="val 52354"/>
            </a:avLst>
          </a:prstGeom>
          <a:solidFill>
            <a:schemeClr val="bg1"/>
          </a:solidFill>
          <a:ln w="9525" cap="flat" cmpd="sng" algn="ctr">
            <a:solidFill>
              <a:srgbClr val="0000FF"/>
            </a:solidFill>
            <a:prstDash val="solid"/>
            <a:round/>
            <a:headEnd type="none" w="med" len="med"/>
            <a:tailEnd type="none" w="med" len="med"/>
          </a:ln>
          <a:effectLst/>
        </p:spPr>
        <p:txBody>
          <a:bodyPr rtlCol="0" anchor="ctr"/>
          <a:lstStyle/>
          <a:p>
            <a:pPr algn="ctr"/>
            <a:endParaRPr kumimoji="1" lang="ja-JP" altLang="en-US"/>
          </a:p>
        </p:txBody>
      </p:sp>
      <p:sp>
        <p:nvSpPr>
          <p:cNvPr id="10" name="コンテンツ プレースホルダー 10">
            <a:extLst>
              <a:ext uri="{FF2B5EF4-FFF2-40B4-BE49-F238E27FC236}">
                <a16:creationId xmlns:a16="http://schemas.microsoft.com/office/drawing/2014/main" id="{1E7CCFA3-7A54-4823-8674-29B0EB5955C8}"/>
              </a:ext>
            </a:extLst>
          </p:cNvPr>
          <p:cNvSpPr txBox="1">
            <a:spLocks/>
          </p:cNvSpPr>
          <p:nvPr/>
        </p:nvSpPr>
        <p:spPr bwMode="auto">
          <a:xfrm>
            <a:off x="4688072" y="4715683"/>
            <a:ext cx="4190738" cy="1105019"/>
          </a:xfrm>
          <a:prstGeom prst="rect">
            <a:avLst/>
          </a:prstGeom>
          <a:solidFill>
            <a:schemeClr val="bg1"/>
          </a:solid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algn="ctr">
              <a:spcAft>
                <a:spcPts val="300"/>
              </a:spcAft>
            </a:pPr>
            <a:r>
              <a:rPr lang="ja-JP" altLang="en-US" sz="1000" b="1" u="sng" kern="0"/>
              <a:t>閲覧時の課題</a:t>
            </a:r>
            <a:endParaRPr lang="en-US" altLang="ja-JP" sz="1000" b="1" u="sng" kern="0"/>
          </a:p>
          <a:p>
            <a:pPr>
              <a:spcAft>
                <a:spcPts val="300"/>
              </a:spcAft>
            </a:pPr>
            <a:r>
              <a:rPr lang="ja-JP" altLang="en-US" sz="1000" kern="0"/>
              <a:t>＜中央基盤側＞</a:t>
            </a:r>
            <a:endParaRPr lang="en-US" altLang="ja-JP" sz="1000" kern="0"/>
          </a:p>
          <a:p>
            <a:pPr marL="171450" indent="-171450">
              <a:spcAft>
                <a:spcPts val="300"/>
              </a:spcAft>
              <a:buFont typeface="Arial" panose="020B0604020202020204" pitchFamily="34" charset="0"/>
              <a:buChar char="•"/>
            </a:pPr>
            <a:r>
              <a:rPr lang="ja-JP" altLang="en-US" sz="1000" kern="0"/>
              <a:t>出力する帳票レイアウトの改修が必要</a:t>
            </a:r>
            <a:endParaRPr lang="en-US" altLang="ja-JP" sz="1000" kern="0"/>
          </a:p>
          <a:p>
            <a:pPr>
              <a:spcAft>
                <a:spcPts val="300"/>
              </a:spcAft>
            </a:pPr>
            <a:r>
              <a:rPr lang="en-US" altLang="ja-JP" sz="1000" kern="0"/>
              <a:t>&lt;</a:t>
            </a:r>
            <a:r>
              <a:rPr lang="ja-JP" altLang="en-US" sz="1000" kern="0"/>
              <a:t>電カル側</a:t>
            </a:r>
            <a:r>
              <a:rPr lang="en-US" altLang="ja-JP" sz="1000" kern="0"/>
              <a:t>&gt;</a:t>
            </a:r>
          </a:p>
          <a:p>
            <a:pPr marL="171450" indent="-171450">
              <a:spcAft>
                <a:spcPts val="300"/>
              </a:spcAft>
              <a:buFont typeface="Arial" panose="020B0604020202020204" pitchFamily="34" charset="0"/>
              <a:buChar char="•"/>
            </a:pPr>
            <a:r>
              <a:rPr lang="ja-JP" altLang="en-US" sz="1000" kern="0"/>
              <a:t>取得・表示する帳票レイアウトの改修が必要（</a:t>
            </a:r>
            <a:r>
              <a:rPr lang="en-US" altLang="ja-JP" sz="1000" kern="0"/>
              <a:t>XML</a:t>
            </a:r>
            <a:r>
              <a:rPr lang="ja-JP" altLang="en-US" sz="1000" kern="0"/>
              <a:t>帳票利用の場合）</a:t>
            </a:r>
            <a:endParaRPr lang="en-US" altLang="ja-JP" sz="1000" kern="0"/>
          </a:p>
          <a:p>
            <a:pPr>
              <a:spcAft>
                <a:spcPts val="300"/>
              </a:spcAft>
            </a:pPr>
            <a:r>
              <a:rPr lang="en-US" altLang="ja-JP" sz="1000" kern="0"/>
              <a:t>&lt;</a:t>
            </a:r>
            <a:r>
              <a:rPr lang="ja-JP" altLang="en-US" sz="1000" kern="0"/>
              <a:t>運用</a:t>
            </a:r>
            <a:r>
              <a:rPr lang="en-US" altLang="ja-JP" sz="1000" kern="0"/>
              <a:t>&gt;</a:t>
            </a:r>
          </a:p>
          <a:p>
            <a:pPr marL="171450" indent="-171450">
              <a:spcAft>
                <a:spcPts val="300"/>
              </a:spcAft>
              <a:buFont typeface="Arial" panose="020B0604020202020204" pitchFamily="34" charset="0"/>
              <a:buChar char="•"/>
            </a:pPr>
            <a:r>
              <a:rPr lang="ja-JP" altLang="en-US" sz="1000" kern="0"/>
              <a:t>検査項目に「機微な情報」という概念が発生したことにより、顔</a:t>
            </a:r>
            <a:r>
              <a:rPr lang="en-US" altLang="ja-JP" sz="1000" kern="0"/>
              <a:t>CR</a:t>
            </a:r>
            <a:r>
              <a:rPr lang="ja-JP" altLang="en-US" sz="1000" kern="0"/>
              <a:t>での閲覧同意の取得単位を、どの単位とするか </a:t>
            </a:r>
            <a:r>
              <a:rPr lang="en-US" altLang="ja-JP" sz="1000" kern="0"/>
              <a:t>(</a:t>
            </a:r>
            <a:r>
              <a:rPr lang="ja-JP" altLang="en-US" sz="1000" kern="0"/>
              <a:t>「手術・傷病名・感染症」</a:t>
            </a:r>
            <a:r>
              <a:rPr lang="en-US" altLang="ja-JP" sz="1000" kern="0"/>
              <a:t>/</a:t>
            </a:r>
            <a:r>
              <a:rPr lang="ja-JP" altLang="en-US" sz="1000" kern="0"/>
              <a:t>「左以外の臨床情報」</a:t>
            </a:r>
            <a:r>
              <a:rPr lang="en-US" altLang="ja-JP" sz="1000" kern="0"/>
              <a:t>/</a:t>
            </a:r>
            <a:r>
              <a:rPr lang="ja-JP" altLang="en-US" sz="1000" kern="0"/>
              <a:t>「血液型」とするか等</a:t>
            </a:r>
            <a:r>
              <a:rPr lang="en-US" altLang="ja-JP" sz="1000" kern="0"/>
              <a:t>)</a:t>
            </a:r>
            <a:r>
              <a:rPr lang="ja-JP" altLang="en-US" sz="1000" kern="0"/>
              <a:t>の整理が必要</a:t>
            </a:r>
            <a:endParaRPr lang="en-US" altLang="ja-JP" sz="1000" kern="0"/>
          </a:p>
          <a:p>
            <a:pPr>
              <a:spcAft>
                <a:spcPts val="300"/>
              </a:spcAft>
            </a:pPr>
            <a:endParaRPr lang="en-US" altLang="ja-JP" sz="1000" kern="0"/>
          </a:p>
        </p:txBody>
      </p:sp>
      <p:sp>
        <p:nvSpPr>
          <p:cNvPr id="12" name="正方形/長方形 11">
            <a:extLst>
              <a:ext uri="{FF2B5EF4-FFF2-40B4-BE49-F238E27FC236}">
                <a16:creationId xmlns:a16="http://schemas.microsoft.com/office/drawing/2014/main" id="{CEAE877E-8E75-95DF-2621-5C30CDEC227D}"/>
              </a:ext>
            </a:extLst>
          </p:cNvPr>
          <p:cNvSpPr/>
          <p:nvPr/>
        </p:nvSpPr>
        <p:spPr>
          <a:xfrm>
            <a:off x="367292" y="6012436"/>
            <a:ext cx="4037807" cy="368300"/>
          </a:xfrm>
          <a:prstGeom prst="rect">
            <a:avLst/>
          </a:prstGeom>
          <a:noFill/>
          <a:ln w="9525" cap="flat" cmpd="sng" algn="ctr">
            <a:solidFill>
              <a:schemeClr val="accent6"/>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eaLnBrk="0" hangingPunct="0">
              <a:lnSpc>
                <a:spcPct val="100000"/>
              </a:lnSpc>
            </a:pPr>
            <a:endParaRPr kumimoji="0" lang="ja-JP" altLang="en-US"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6" name="直線コネクタ 35">
            <a:extLst>
              <a:ext uri="{FF2B5EF4-FFF2-40B4-BE49-F238E27FC236}">
                <a16:creationId xmlns:a16="http://schemas.microsoft.com/office/drawing/2014/main" id="{F56E3A5E-241F-D1E5-E0D2-8B22C5CD9142}"/>
              </a:ext>
            </a:extLst>
          </p:cNvPr>
          <p:cNvCxnSpPr>
            <a:cxnSpLocks/>
          </p:cNvCxnSpPr>
          <p:nvPr/>
        </p:nvCxnSpPr>
        <p:spPr bwMode="auto">
          <a:xfrm>
            <a:off x="367292" y="6119253"/>
            <a:ext cx="0" cy="368300"/>
          </a:xfrm>
          <a:prstGeom prst="line">
            <a:avLst/>
          </a:prstGeom>
          <a:solidFill>
            <a:schemeClr val="bg1"/>
          </a:solidFill>
          <a:ln w="9525" cap="flat" cmpd="sng" algn="ctr">
            <a:solidFill>
              <a:schemeClr val="accent6"/>
            </a:solidFill>
            <a:prstDash val="solid"/>
            <a:round/>
            <a:headEnd type="oval" w="med" len="med"/>
            <a:tailEnd type="oval" w="med" len="med"/>
          </a:ln>
          <a:effectLst/>
        </p:spPr>
      </p:cxnSp>
      <p:sp>
        <p:nvSpPr>
          <p:cNvPr id="37" name="正方形/長方形 36">
            <a:extLst>
              <a:ext uri="{FF2B5EF4-FFF2-40B4-BE49-F238E27FC236}">
                <a16:creationId xmlns:a16="http://schemas.microsoft.com/office/drawing/2014/main" id="{22A748DB-FC43-A0B3-F20D-98CC9F7B01A3}"/>
              </a:ext>
            </a:extLst>
          </p:cNvPr>
          <p:cNvSpPr/>
          <p:nvPr/>
        </p:nvSpPr>
        <p:spPr>
          <a:xfrm>
            <a:off x="360943" y="6448685"/>
            <a:ext cx="6603806" cy="368300"/>
          </a:xfrm>
          <a:prstGeom prst="rect">
            <a:avLst/>
          </a:prstGeom>
          <a:solidFill>
            <a:schemeClr val="bg1"/>
          </a:solidFill>
          <a:ln w="9525" cap="flat" cmpd="sng" algn="ctr">
            <a:solidFill>
              <a:schemeClr val="accent6"/>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eaLnBrk="0" hangingPunct="0">
              <a:lnSpc>
                <a:spcPct val="100000"/>
              </a:lnSpc>
            </a:pPr>
            <a:r>
              <a:rPr kumimoji="0" lang="ja-JP" altLang="en-US" sz="900" b="1" kern="0">
                <a:solidFill>
                  <a:prstClr val="black"/>
                </a:solidFill>
                <a:latin typeface="Meiryo UI" panose="020B0604030504040204" pitchFamily="50" charset="-128"/>
                <a:ea typeface="Meiryo UI" panose="020B0604030504040204" pitchFamily="50" charset="-128"/>
                <a:cs typeface="Meiryo UI" panose="020B0604030504040204" pitchFamily="50" charset="-128"/>
              </a:rPr>
              <a:t>親子・血縁関係が推測されるため血液型の患者への共有は配慮する必要がある場合、患者共有ボタンが常時押下されない可能性がある。</a:t>
            </a:r>
            <a:endParaRPr kumimoji="0" lang="en-US" altLang="ja-JP" sz="900" b="1"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eaLnBrk="0" hangingPunct="0">
              <a:lnSpc>
                <a:spcPct val="100000"/>
              </a:lnSpc>
            </a:pPr>
            <a:r>
              <a:rPr kumimoji="0" lang="ja-JP" altLang="en-US" sz="900" b="1"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そのため、今後の検査項目の拡張に共有パターンごとに整理が必要。</a:t>
            </a:r>
            <a:r>
              <a:rPr kumimoji="0" lang="en-US" altLang="ja-JP" sz="900" b="1"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900" b="1"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次のページ詳細</a:t>
            </a:r>
            <a:r>
              <a:rPr kumimoji="0" lang="en-US" altLang="ja-JP" sz="900" b="1"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endParaRPr kumimoji="0" lang="ja-JP" altLang="en-US" sz="900" b="1" i="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56" name="コネクタ: カギ線 55">
            <a:extLst>
              <a:ext uri="{FF2B5EF4-FFF2-40B4-BE49-F238E27FC236}">
                <a16:creationId xmlns:a16="http://schemas.microsoft.com/office/drawing/2014/main" id="{7BEAAA6E-6A3F-72CC-AB4E-84A4988C03E0}"/>
              </a:ext>
            </a:extLst>
          </p:cNvPr>
          <p:cNvCxnSpPr>
            <a:cxnSpLocks/>
          </p:cNvCxnSpPr>
          <p:nvPr/>
        </p:nvCxnSpPr>
        <p:spPr bwMode="auto">
          <a:xfrm rot="5400000">
            <a:off x="187269" y="6307529"/>
            <a:ext cx="360047" cy="12700"/>
          </a:xfrm>
          <a:prstGeom prst="bentConnector4">
            <a:avLst>
              <a:gd name="adj1" fmla="val -970"/>
              <a:gd name="adj2" fmla="val 2199984"/>
            </a:avLst>
          </a:prstGeom>
          <a:solidFill>
            <a:schemeClr val="bg1"/>
          </a:solidFill>
          <a:ln w="9525" cap="flat" cmpd="sng" algn="ctr">
            <a:solidFill>
              <a:schemeClr val="accent6"/>
            </a:solidFill>
            <a:prstDash val="solid"/>
            <a:round/>
            <a:headEnd type="none" w="med" len="med"/>
            <a:tailEnd type="none" w="med" len="med"/>
          </a:ln>
          <a:effectLst/>
        </p:spPr>
      </p:cxnSp>
    </p:spTree>
    <p:extLst>
      <p:ext uri="{BB962C8B-B14F-4D97-AF65-F5344CB8AC3E}">
        <p14:creationId xmlns:p14="http://schemas.microsoft.com/office/powerpoint/2010/main" val="2230329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68137-BC32-1872-E08E-A5F535E157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B5155D-C46C-7DC1-146C-4F048A7F01F2}"/>
              </a:ext>
            </a:extLst>
          </p:cNvPr>
          <p:cNvSpPr>
            <a:spLocks noGrp="1"/>
          </p:cNvSpPr>
          <p:nvPr>
            <p:ph type="title"/>
          </p:nvPr>
        </p:nvSpPr>
        <p:spPr/>
        <p:txBody>
          <a:bodyPr/>
          <a:lstStyle/>
          <a:p>
            <a:r>
              <a:rPr kumimoji="1" lang="ja-JP" altLang="en-US"/>
              <a:t>血液型の共有の取り扱いについて</a:t>
            </a:r>
          </a:p>
        </p:txBody>
      </p:sp>
      <p:sp>
        <p:nvSpPr>
          <p:cNvPr id="5" name="四角形: 角を丸くする 4">
            <a:extLst>
              <a:ext uri="{FF2B5EF4-FFF2-40B4-BE49-F238E27FC236}">
                <a16:creationId xmlns:a16="http://schemas.microsoft.com/office/drawing/2014/main" id="{49EEA12D-698A-1E3B-9D27-DE84C2802D9E}"/>
              </a:ext>
            </a:extLst>
          </p:cNvPr>
          <p:cNvSpPr/>
          <p:nvPr/>
        </p:nvSpPr>
        <p:spPr>
          <a:xfrm>
            <a:off x="482563" y="746510"/>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共有パターン</a:t>
            </a:r>
          </a:p>
        </p:txBody>
      </p:sp>
      <p:sp>
        <p:nvSpPr>
          <p:cNvPr id="6" name="コンテンツ プレースホルダー 10">
            <a:extLst>
              <a:ext uri="{FF2B5EF4-FFF2-40B4-BE49-F238E27FC236}">
                <a16:creationId xmlns:a16="http://schemas.microsoft.com/office/drawing/2014/main" id="{F9F9F341-CD18-8DA2-8BAD-64C1250CF7BB}"/>
              </a:ext>
            </a:extLst>
          </p:cNvPr>
          <p:cNvSpPr>
            <a:spLocks noGrp="1"/>
          </p:cNvSpPr>
          <p:nvPr>
            <p:ph idx="1"/>
          </p:nvPr>
        </p:nvSpPr>
        <p:spPr>
          <a:xfrm>
            <a:off x="490800" y="1002371"/>
            <a:ext cx="9415199" cy="468289"/>
          </a:xfrm>
        </p:spPr>
        <p:txBody>
          <a:bodyPr/>
          <a:lstStyle/>
          <a:p>
            <a:pPr marL="285750" indent="-285750">
              <a:spcAft>
                <a:spcPts val="300"/>
              </a:spcAft>
              <a:buFont typeface="Arial" panose="020B0604020202020204" pitchFamily="34" charset="0"/>
              <a:buChar char="•"/>
            </a:pPr>
            <a:r>
              <a:rPr lang="ja-JP" altLang="en-US" sz="1200"/>
              <a:t>血液型について、</a:t>
            </a:r>
            <a:r>
              <a:rPr lang="ja-JP" altLang="ja-JP" sz="1200"/>
              <a:t>親子・血縁関係が推測され得る情報</a:t>
            </a:r>
            <a:r>
              <a:rPr lang="ja-JP" altLang="en-US" sz="1200"/>
              <a:t>であるため、そもそも患者に説明する想定のないケースも存在すると想定される。</a:t>
            </a:r>
            <a:endParaRPr lang="en-US" altLang="ja-JP" sz="1200"/>
          </a:p>
          <a:p>
            <a:pPr marL="285750" indent="-285750">
              <a:spcAft>
                <a:spcPts val="300"/>
              </a:spcAft>
              <a:buFont typeface="Arial" panose="020B0604020202020204" pitchFamily="34" charset="0"/>
              <a:buChar char="•"/>
            </a:pPr>
            <a:r>
              <a:rPr lang="ja-JP" altLang="en-US" sz="1200"/>
              <a:t>上記を踏まえると、血液型についての患者共有ボタンを電子カルテ画面に用意したとしても、</a:t>
            </a:r>
            <a:r>
              <a:rPr lang="en-US" altLang="ja-JP" sz="1200"/>
              <a:t>OFF</a:t>
            </a:r>
            <a:r>
              <a:rPr lang="ja-JP" altLang="en-US" sz="1200"/>
              <a:t>（共有しない）設定になったものが、</a:t>
            </a:r>
            <a:br>
              <a:rPr lang="en-US" altLang="ja-JP" sz="1200"/>
            </a:br>
            <a:r>
              <a:rPr lang="ja-JP" altLang="en-US" sz="1200"/>
              <a:t>その後</a:t>
            </a:r>
            <a:r>
              <a:rPr lang="en-US" altLang="ja-JP" sz="1200"/>
              <a:t>ON</a:t>
            </a:r>
            <a:r>
              <a:rPr lang="ja-JP" altLang="en-US" sz="1200"/>
              <a:t>（共有する）になることはないのではないか。</a:t>
            </a:r>
            <a:endParaRPr lang="en-US" altLang="ja-JP" sz="1200"/>
          </a:p>
          <a:p>
            <a:pPr marL="285750" indent="-285750">
              <a:spcAft>
                <a:spcPts val="300"/>
              </a:spcAft>
              <a:buFont typeface="Arial" panose="020B0604020202020204" pitchFamily="34" charset="0"/>
              <a:buChar char="•"/>
            </a:pPr>
            <a:r>
              <a:rPr lang="ja-JP" altLang="en-US" sz="1200"/>
              <a:t>上記を踏まえると、血液型は「</a:t>
            </a:r>
            <a:r>
              <a:rPr lang="ja-JP" altLang="ja-JP" sz="1200">
                <a:solidFill>
                  <a:srgbClr val="000000"/>
                </a:solidFill>
                <a:latin typeface="Meiryo UI" panose="020B0604030504040204" pitchFamily="50" charset="-128"/>
                <a:ea typeface="Meiryo UI" panose="020B0604030504040204" pitchFamily="50" charset="-128"/>
              </a:rPr>
              <a:t>医療機関等間のみ共有対象とする</a:t>
            </a:r>
            <a:r>
              <a:rPr lang="ja-JP" altLang="en-US" sz="1200">
                <a:solidFill>
                  <a:srgbClr val="000000"/>
                </a:solidFill>
                <a:latin typeface="Meiryo UI" panose="020B0604030504040204" pitchFamily="50" charset="-128"/>
                <a:ea typeface="Meiryo UI" panose="020B0604030504040204" pitchFamily="50" charset="-128"/>
              </a:rPr>
              <a:t>」とすることも考えうる。</a:t>
            </a:r>
            <a:endParaRPr lang="en-US" altLang="ja-JP" sz="1200"/>
          </a:p>
          <a:p>
            <a:pPr marL="285750" indent="-285750">
              <a:spcAft>
                <a:spcPts val="300"/>
              </a:spcAft>
              <a:buFont typeface="Arial" panose="020B0604020202020204" pitchFamily="34" charset="0"/>
              <a:buChar char="•"/>
            </a:pPr>
            <a:r>
              <a:rPr lang="ja-JP" altLang="en-US" sz="1200"/>
              <a:t>今後血液型を再度共有対象とする場合、以下のうちのどの共有パターンとするか整理させていただきたい。（今後の検査項目を拡張においても同様）</a:t>
            </a:r>
            <a:endParaRPr lang="en-US" altLang="ja-JP" sz="1200"/>
          </a:p>
        </p:txBody>
      </p:sp>
      <p:graphicFrame>
        <p:nvGraphicFramePr>
          <p:cNvPr id="61" name="表 60">
            <a:extLst>
              <a:ext uri="{FF2B5EF4-FFF2-40B4-BE49-F238E27FC236}">
                <a16:creationId xmlns:a16="http://schemas.microsoft.com/office/drawing/2014/main" id="{DAB8C2AB-456F-D125-7547-B4B8B5D787A0}"/>
              </a:ext>
            </a:extLst>
          </p:cNvPr>
          <p:cNvGraphicFramePr>
            <a:graphicFrameLocks noGrp="1"/>
          </p:cNvGraphicFramePr>
          <p:nvPr>
            <p:extLst>
              <p:ext uri="{D42A27DB-BD31-4B8C-83A1-F6EECF244321}">
                <p14:modId xmlns:p14="http://schemas.microsoft.com/office/powerpoint/2010/main" val="2607367560"/>
              </p:ext>
            </p:extLst>
          </p:nvPr>
        </p:nvGraphicFramePr>
        <p:xfrm>
          <a:off x="410101" y="2297086"/>
          <a:ext cx="9185266" cy="4358640"/>
        </p:xfrm>
        <a:graphic>
          <a:graphicData uri="http://schemas.openxmlformats.org/drawingml/2006/table">
            <a:tbl>
              <a:tblPr/>
              <a:tblGrid>
                <a:gridCol w="240982">
                  <a:extLst>
                    <a:ext uri="{9D8B030D-6E8A-4147-A177-3AD203B41FA5}">
                      <a16:colId xmlns:a16="http://schemas.microsoft.com/office/drawing/2014/main" val="594165397"/>
                    </a:ext>
                  </a:extLst>
                </a:gridCol>
                <a:gridCol w="1954877">
                  <a:extLst>
                    <a:ext uri="{9D8B030D-6E8A-4147-A177-3AD203B41FA5}">
                      <a16:colId xmlns:a16="http://schemas.microsoft.com/office/drawing/2014/main" val="783173079"/>
                    </a:ext>
                  </a:extLst>
                </a:gridCol>
                <a:gridCol w="648584">
                  <a:extLst>
                    <a:ext uri="{9D8B030D-6E8A-4147-A177-3AD203B41FA5}">
                      <a16:colId xmlns:a16="http://schemas.microsoft.com/office/drawing/2014/main" val="1661757090"/>
                    </a:ext>
                  </a:extLst>
                </a:gridCol>
                <a:gridCol w="652823">
                  <a:extLst>
                    <a:ext uri="{9D8B030D-6E8A-4147-A177-3AD203B41FA5}">
                      <a16:colId xmlns:a16="http://schemas.microsoft.com/office/drawing/2014/main" val="4135551191"/>
                    </a:ext>
                  </a:extLst>
                </a:gridCol>
                <a:gridCol w="2232000">
                  <a:extLst>
                    <a:ext uri="{9D8B030D-6E8A-4147-A177-3AD203B41FA5}">
                      <a16:colId xmlns:a16="http://schemas.microsoft.com/office/drawing/2014/main" val="4289363531"/>
                    </a:ext>
                  </a:extLst>
                </a:gridCol>
                <a:gridCol w="3456000">
                  <a:extLst>
                    <a:ext uri="{9D8B030D-6E8A-4147-A177-3AD203B41FA5}">
                      <a16:colId xmlns:a16="http://schemas.microsoft.com/office/drawing/2014/main" val="4160676060"/>
                    </a:ext>
                  </a:extLst>
                </a:gridCol>
              </a:tblGrid>
              <a:tr h="133499">
                <a:tc rowSpan="2">
                  <a:txBody>
                    <a:bodyPr/>
                    <a:lstStyle/>
                    <a:p>
                      <a:pPr algn="ctr" fontAlgn="ctr">
                        <a:buNone/>
                      </a:pPr>
                      <a:r>
                        <a:rPr lang="ja-JP" altLang="en-US" sz="1000" b="1" i="0" u="none" strike="noStrike">
                          <a:solidFill>
                            <a:srgbClr val="000000"/>
                          </a:solidFill>
                          <a:effectLst/>
                          <a:latin typeface="Meiryo UI" panose="020B0604030504040204" pitchFamily="50" charset="-128"/>
                          <a:ea typeface="Meiryo UI" panose="020B0604030504040204" pitchFamily="50" charset="-128"/>
                        </a:rPr>
                        <a:t>＃</a:t>
                      </a:r>
                      <a:endParaRPr lang="ja-JP" sz="1000" b="1"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2">
                  <a:txBody>
                    <a:bodyPr/>
                    <a:lstStyle/>
                    <a:p>
                      <a:pPr algn="ctr" fontAlgn="ctr">
                        <a:buNone/>
                      </a:pPr>
                      <a:r>
                        <a:rPr lang="ja-JP" altLang="en-US" sz="1000" b="1" i="0" u="none" strike="noStrike">
                          <a:solidFill>
                            <a:srgbClr val="000000"/>
                          </a:solidFill>
                          <a:effectLst/>
                          <a:latin typeface="Meiryo UI" panose="020B0604030504040204" pitchFamily="50" charset="-128"/>
                          <a:ea typeface="Meiryo UI" panose="020B0604030504040204" pitchFamily="50" charset="-128"/>
                        </a:rPr>
                        <a:t>パターン内容</a:t>
                      </a:r>
                      <a:endParaRPr lang="ja-JP" sz="1000" b="1"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gridSpan="2">
                  <a:txBody>
                    <a:bodyPr/>
                    <a:lstStyle/>
                    <a:p>
                      <a:pPr algn="ctr" fontAlgn="ctr">
                        <a:buNone/>
                      </a:pPr>
                      <a:r>
                        <a:rPr lang="ja-JP" sz="1000" b="1" i="0" u="none" strike="noStrike">
                          <a:solidFill>
                            <a:srgbClr val="000000"/>
                          </a:solidFill>
                          <a:effectLst/>
                          <a:latin typeface="Meiryo UI" panose="020B0604030504040204" pitchFamily="50" charset="-128"/>
                          <a:ea typeface="Meiryo UI" panose="020B0604030504040204" pitchFamily="50" charset="-128"/>
                        </a:rPr>
                        <a:t>共有先</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rowSpan="2">
                  <a:txBody>
                    <a:bodyPr/>
                    <a:lstStyle/>
                    <a:p>
                      <a:pPr algn="ctr" fontAlgn="ctr">
                        <a:buNone/>
                      </a:pPr>
                      <a:r>
                        <a:rPr lang="ja-JP" sz="1000" b="1" i="0" u="none" strike="noStrike">
                          <a:solidFill>
                            <a:srgbClr val="000000"/>
                          </a:solidFill>
                          <a:effectLst/>
                          <a:latin typeface="Meiryo UI" panose="020B0604030504040204" pitchFamily="50" charset="-128"/>
                          <a:ea typeface="Meiryo UI" panose="020B0604030504040204" pitchFamily="50" charset="-128"/>
                        </a:rPr>
                        <a:t>対象項目</a:t>
                      </a:r>
                      <a:r>
                        <a:rPr lang="ja-JP" altLang="en-US" sz="1000" b="1" i="0" u="none" strike="noStrike">
                          <a:solidFill>
                            <a:srgbClr val="000000"/>
                          </a:solidFill>
                          <a:effectLst/>
                          <a:latin typeface="Meiryo UI" panose="020B0604030504040204" pitchFamily="50" charset="-128"/>
                          <a:ea typeface="Meiryo UI" panose="020B0604030504040204" pitchFamily="50" charset="-128"/>
                        </a:rPr>
                        <a:t>例</a:t>
                      </a:r>
                      <a:endParaRPr lang="ja-JP" sz="1000" b="1"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2">
                  <a:txBody>
                    <a:bodyPr/>
                    <a:lstStyle/>
                    <a:p>
                      <a:pPr algn="ctr" rtl="0" fontAlgn="ctr">
                        <a:buNone/>
                      </a:pPr>
                      <a:r>
                        <a:rPr lang="ja-JP" sz="1050" b="1" i="0" u="none" strike="noStrike">
                          <a:solidFill>
                            <a:srgbClr val="000000"/>
                          </a:solidFill>
                          <a:effectLst/>
                          <a:latin typeface="Meiryo UI" panose="020B0604030504040204" pitchFamily="50" charset="-128"/>
                          <a:ea typeface="Meiryo UI" panose="020B0604030504040204" pitchFamily="50" charset="-128"/>
                        </a:rPr>
                        <a:t>当該パターンで血液型を共有した場合の懸念点</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29433892"/>
                  </a:ext>
                </a:extLst>
              </a:tr>
              <a:tr h="133499">
                <a:tc vMerge="1">
                  <a:txBody>
                    <a:bodyPr/>
                    <a:lstStyle/>
                    <a:p>
                      <a:endParaRPr kumimoji="1" lang="ja-JP" altLang="en-US"/>
                    </a:p>
                  </a:txBody>
                  <a:tcPr/>
                </a:tc>
                <a:tc vMerge="1">
                  <a:txBody>
                    <a:bodyPr/>
                    <a:lstStyle/>
                    <a:p>
                      <a:endParaRPr kumimoji="1" lang="ja-JP" altLang="en-US"/>
                    </a:p>
                  </a:txBody>
                  <a:tcPr/>
                </a:tc>
                <a:tc>
                  <a:txBody>
                    <a:bodyPr/>
                    <a:lstStyle/>
                    <a:p>
                      <a:pPr algn="ctr" fontAlgn="ctr">
                        <a:buNone/>
                      </a:pPr>
                      <a:r>
                        <a:rPr lang="ja-JP" sz="1000" b="1" i="0" u="none" strike="noStrike">
                          <a:solidFill>
                            <a:srgbClr val="000000"/>
                          </a:solidFill>
                          <a:effectLst/>
                          <a:latin typeface="Meiryo UI" panose="020B0604030504040204" pitchFamily="50" charset="-128"/>
                          <a:ea typeface="Meiryo UI" panose="020B0604030504040204" pitchFamily="50" charset="-128"/>
                        </a:rPr>
                        <a:t>他医療機関等</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1000" b="1" i="0" u="none" strike="noStrike">
                          <a:solidFill>
                            <a:srgbClr val="000000"/>
                          </a:solidFill>
                          <a:effectLst/>
                          <a:latin typeface="Meiryo UI" panose="020B0604030504040204" pitchFamily="50" charset="-128"/>
                          <a:ea typeface="Meiryo UI" panose="020B0604030504040204" pitchFamily="50" charset="-128"/>
                        </a:rPr>
                        <a:t>患者</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3901231822"/>
                  </a:ext>
                </a:extLst>
              </a:tr>
              <a:tr h="533995">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A</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共有項目対象外とする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000" b="0" i="0" u="none" strike="noStrike">
                          <a:solidFill>
                            <a:srgbClr val="000000"/>
                          </a:solidFill>
                          <a:effectLst/>
                          <a:latin typeface="Meiryo UI" panose="020B0604030504040204" pitchFamily="50" charset="-128"/>
                          <a:ea typeface="Meiryo UI" panose="020B0604030504040204" pitchFamily="50" charset="-128"/>
                        </a:rPr>
                        <a:t>４３＋５項目以外のそもそも共有対象として認められていない項目。</a:t>
                      </a:r>
                      <a:br>
                        <a:rPr lang="en-US" altLang="ja-JP" sz="1000" b="0" i="0" u="none" strike="noStrike">
                          <a:solidFill>
                            <a:srgbClr val="000000"/>
                          </a:solidFill>
                          <a:effectLst/>
                          <a:latin typeface="Meiryo UI" panose="020B0604030504040204" pitchFamily="50" charset="-128"/>
                          <a:ea typeface="Meiryo UI" panose="020B0604030504040204" pitchFamily="50" charset="-128"/>
                        </a:rPr>
                      </a:br>
                      <a:r>
                        <a:rPr lang="ja-JP" altLang="en-US" sz="1000" b="0" i="0" u="none" strike="noStrike">
                          <a:solidFill>
                            <a:srgbClr val="000000"/>
                          </a:solidFill>
                          <a:effectLst/>
                          <a:latin typeface="Meiryo UI" panose="020B0604030504040204" pitchFamily="50" charset="-128"/>
                          <a:ea typeface="Meiryo UI" panose="020B0604030504040204" pitchFamily="50" charset="-128"/>
                        </a:rPr>
                        <a:t>（４３＋５項目と一緒に送信はできるが、保存されない）</a:t>
                      </a:r>
                      <a:endParaRPr lang="ja-JP" sz="10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Arial" panose="020B0604020202020204" pitchFamily="34" charset="0"/>
                        <a:buChar char="•"/>
                      </a:pPr>
                      <a:r>
                        <a:rPr lang="ja-JP" sz="1000" b="0" i="0" u="none" strike="noStrike">
                          <a:solidFill>
                            <a:srgbClr val="000000"/>
                          </a:solidFill>
                          <a:effectLst/>
                          <a:latin typeface="Meiryo UI" panose="020B0604030504040204" pitchFamily="50" charset="-128"/>
                          <a:ea typeface="Meiryo UI" panose="020B0604030504040204" pitchFamily="50" charset="-128"/>
                        </a:rPr>
                        <a:t>患者より検査料をとって実施している検査であるにもかかわらず、検査結果が患者へ共有されない。</a:t>
                      </a:r>
                      <a:endParaRPr lang="en-US" altLang="ja-JP" sz="1000" b="0" i="0" u="none" strike="noStrike">
                        <a:solidFill>
                          <a:srgbClr val="000000"/>
                        </a:solidFill>
                        <a:effectLst/>
                        <a:latin typeface="Meiryo UI" panose="020B0604030504040204" pitchFamily="50" charset="-128"/>
                        <a:ea typeface="Meiryo UI" panose="020B0604030504040204" pitchFamily="50" charset="-128"/>
                      </a:endParaRPr>
                    </a:p>
                    <a:p>
                      <a:pPr marL="171450" indent="-171450" algn="l" fontAlgn="ctr">
                        <a:buFont typeface="Arial" panose="020B0604020202020204" pitchFamily="34" charset="0"/>
                        <a:buChar char="•"/>
                      </a:pPr>
                      <a:r>
                        <a:rPr lang="ja-JP" sz="1000" b="0" i="0" u="none" strike="noStrike">
                          <a:solidFill>
                            <a:srgbClr val="000000"/>
                          </a:solidFill>
                          <a:effectLst/>
                          <a:latin typeface="Meiryo UI" panose="020B0604030504040204" pitchFamily="50" charset="-128"/>
                          <a:ea typeface="Meiryo UI" panose="020B0604030504040204" pitchFamily="50" charset="-128"/>
                        </a:rPr>
                        <a:t>当初想定していた、救急時の輸血確保のために血液型の検査結果を利用することを想定していたが、当該ケースでの活用ができない。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4382261"/>
                  </a:ext>
                </a:extLst>
              </a:tr>
              <a:tr h="266998">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B</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医療機関等間のみ共有対象とする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000" b="0" i="0" u="none" strike="noStrike">
                          <a:solidFill>
                            <a:srgbClr val="000000"/>
                          </a:solidFill>
                          <a:effectLst/>
                          <a:latin typeface="Meiryo UI" panose="020B0604030504040204" pitchFamily="50" charset="-128"/>
                          <a:ea typeface="Meiryo UI" panose="020B0604030504040204" pitchFamily="50" charset="-128"/>
                        </a:rPr>
                        <a:t>過去事例なし。</a:t>
                      </a:r>
                      <a:endParaRPr lang="en-US" altLang="ja-JP" sz="1000" b="0" i="0" u="none" strike="noStrike">
                        <a:solidFill>
                          <a:srgbClr val="000000"/>
                        </a:solidFill>
                        <a:effectLst/>
                        <a:latin typeface="Meiryo UI" panose="020B0604030504040204" pitchFamily="50" charset="-128"/>
                        <a:ea typeface="Meiryo UI" panose="020B0604030504040204" pitchFamily="50" charset="-128"/>
                      </a:endParaRPr>
                    </a:p>
                    <a:p>
                      <a:pPr algn="l" fontAlgn="ctr">
                        <a:buNone/>
                      </a:pPr>
                      <a:r>
                        <a:rPr lang="ja-JP" altLang="en-US" sz="1000" b="0" i="0" u="none" strike="noStrike">
                          <a:solidFill>
                            <a:srgbClr val="000000"/>
                          </a:solidFill>
                          <a:effectLst/>
                          <a:latin typeface="Meiryo UI" panose="020B0604030504040204" pitchFamily="50" charset="-128"/>
                          <a:ea typeface="Meiryo UI" panose="020B0604030504040204" pitchFamily="50" charset="-128"/>
                        </a:rPr>
                        <a:t>（</a:t>
                      </a:r>
                      <a:r>
                        <a:rPr lang="ja-JP" sz="1000" b="0" i="0" u="none" strike="noStrike">
                          <a:solidFill>
                            <a:srgbClr val="000000"/>
                          </a:solidFill>
                          <a:effectLst/>
                          <a:latin typeface="Meiryo UI" panose="020B0604030504040204" pitchFamily="50" charset="-128"/>
                          <a:ea typeface="Meiryo UI" panose="020B0604030504040204" pitchFamily="50" charset="-128"/>
                        </a:rPr>
                        <a:t>患者に共有できない機微な情報ではあるが、医療機関等間での共有は有用性がある検査項目</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が該当すると思われる）</a:t>
                      </a:r>
                      <a:endParaRPr lang="ja-JP" sz="10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Arial" panose="020B0604020202020204" pitchFamily="34" charset="0"/>
                        <a:buChar char="•"/>
                      </a:pPr>
                      <a:r>
                        <a:rPr lang="ja-JP" sz="1000" b="0" i="0" u="none" strike="noStrike">
                          <a:solidFill>
                            <a:srgbClr val="000000"/>
                          </a:solidFill>
                          <a:effectLst/>
                          <a:latin typeface="Meiryo UI" panose="020B0604030504040204" pitchFamily="50" charset="-128"/>
                          <a:ea typeface="Meiryo UI" panose="020B0604030504040204" pitchFamily="50" charset="-128"/>
                        </a:rPr>
                        <a:t>患者より検査料をとって実施している検査であるにもかかわらず、検査結果が患者へ共有されない。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3599106"/>
                  </a:ext>
                </a:extLst>
              </a:tr>
              <a:tr h="1067991">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C</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医療機関等には共有対象だが、患者へは患者が混乱しないことを確認したのちに共有する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×➡〇</a:t>
                      </a:r>
                      <a:r>
                        <a:rPr lang="en-US" altLang="ja-JP" sz="1000" b="0" i="0" u="none" strike="noStrike" baseline="30000">
                          <a:solidFill>
                            <a:srgbClr val="000000"/>
                          </a:solidFill>
                          <a:effectLst/>
                          <a:latin typeface="Meiryo UI" panose="020B0604030504040204" pitchFamily="50" charset="-128"/>
                          <a:ea typeface="Meiryo UI" panose="020B0604030504040204" pitchFamily="50" charset="-128"/>
                        </a:rPr>
                        <a:t>※</a:t>
                      </a:r>
                      <a:endParaRPr lang="ja-JP" sz="10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ja-JP" sz="1000" b="0" i="0" u="none" strike="noStrike">
                          <a:solidFill>
                            <a:srgbClr val="000000"/>
                          </a:solidFill>
                          <a:effectLst/>
                          <a:latin typeface="Meiryo UI" panose="020B0604030504040204" pitchFamily="50" charset="-128"/>
                          <a:ea typeface="Meiryo UI" panose="020B0604030504040204" pitchFamily="50" charset="-128"/>
                        </a:rPr>
                        <a:t>感染症5項目</a:t>
                      </a:r>
                      <a:r>
                        <a:rPr lang="ja-JP" altLang="en-US" sz="1000" b="0" i="0" u="none" strike="noStrike">
                          <a:solidFill>
                            <a:srgbClr val="000000"/>
                          </a:solidFill>
                          <a:effectLst/>
                          <a:latin typeface="Meiryo UI" panose="020B0604030504040204" pitchFamily="50" charset="-128"/>
                          <a:ea typeface="Meiryo UI" panose="020B0604030504040204" pitchFamily="50" charset="-128"/>
                        </a:rPr>
                        <a:t>。</a:t>
                      </a:r>
                      <a:endParaRPr lang="en-US" altLang="ja-JP" sz="1000" b="0" i="0" u="none" strike="noStrike">
                        <a:solidFill>
                          <a:srgbClr val="000000"/>
                        </a:solidFill>
                        <a:effectLst/>
                        <a:latin typeface="Meiryo UI" panose="020B0604030504040204" pitchFamily="50" charset="-128"/>
                        <a:ea typeface="Meiryo UI" panose="020B0604030504040204" pitchFamily="50" charset="-128"/>
                      </a:endParaRPr>
                    </a:p>
                    <a:p>
                      <a:pPr algn="l"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患者が混乱しないように医師等が説明してから共有することが特に望まれる検査項目</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Arial" panose="020B0604020202020204" pitchFamily="34" charset="0"/>
                        <a:buChar char="•"/>
                      </a:pPr>
                      <a:r>
                        <a:rPr lang="ja-JP" sz="1000" b="0" i="0" u="none" strike="noStrike">
                          <a:solidFill>
                            <a:srgbClr val="000000"/>
                          </a:solidFill>
                          <a:effectLst/>
                          <a:latin typeface="Meiryo UI" panose="020B0604030504040204" pitchFamily="50" charset="-128"/>
                          <a:ea typeface="Meiryo UI" panose="020B0604030504040204" pitchFamily="50" charset="-128"/>
                        </a:rPr>
                        <a:t>血液型</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のみ、結果が出次第自動的に本サービスに登録・</a:t>
                      </a:r>
                      <a:r>
                        <a:rPr lang="ja-JP" sz="1000" b="0" i="0" u="none" strike="noStrike">
                          <a:solidFill>
                            <a:srgbClr val="000000"/>
                          </a:solidFill>
                          <a:effectLst/>
                          <a:latin typeface="Meiryo UI" panose="020B0604030504040204" pitchFamily="50" charset="-128"/>
                          <a:ea typeface="Meiryo UI" panose="020B0604030504040204" pitchFamily="50" charset="-128"/>
                        </a:rPr>
                        <a:t>共有してよいとしていた他検査項目</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とは</a:t>
                      </a:r>
                      <a:r>
                        <a:rPr lang="ja-JP" sz="1000" b="0" i="0" u="none" strike="noStrike">
                          <a:solidFill>
                            <a:srgbClr val="000000"/>
                          </a:solidFill>
                          <a:effectLst/>
                          <a:latin typeface="Meiryo UI" panose="020B0604030504040204" pitchFamily="50" charset="-128"/>
                          <a:ea typeface="Meiryo UI" panose="020B0604030504040204" pitchFamily="50" charset="-128"/>
                        </a:rPr>
                        <a:t>異な</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り、患者が</a:t>
                      </a:r>
                      <a:r>
                        <a:rPr lang="ja-JP" altLang="ja-JP" sz="1000" b="0" i="0" u="none" strike="noStrike">
                          <a:solidFill>
                            <a:srgbClr val="000000"/>
                          </a:solidFill>
                          <a:effectLst/>
                          <a:latin typeface="Meiryo UI" panose="020B0604030504040204" pitchFamily="50" charset="-128"/>
                          <a:ea typeface="Meiryo UI" panose="020B0604030504040204" pitchFamily="50" charset="-128"/>
                        </a:rPr>
                        <a:t>混乱しないことを確認したのちに共有する</a:t>
                      </a:r>
                      <a:r>
                        <a:rPr lang="ja-JP" sz="1000" b="0" i="0" u="none" strike="noStrike">
                          <a:solidFill>
                            <a:srgbClr val="000000"/>
                          </a:solidFill>
                          <a:effectLst/>
                          <a:latin typeface="Meiryo UI" panose="020B0604030504040204" pitchFamily="50" charset="-128"/>
                          <a:ea typeface="Meiryo UI" panose="020B0604030504040204" pitchFamily="50" charset="-128"/>
                        </a:rPr>
                        <a:t>運用フローにする必要があるため、新た</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に</a:t>
                      </a:r>
                      <a:r>
                        <a:rPr lang="ja-JP" sz="1000" b="0" i="0" u="none" strike="noStrike">
                          <a:solidFill>
                            <a:srgbClr val="000000"/>
                          </a:solidFill>
                          <a:effectLst/>
                          <a:latin typeface="Meiryo UI" panose="020B0604030504040204" pitchFamily="50" charset="-128"/>
                          <a:ea typeface="Meiryo UI" panose="020B0604030504040204" pitchFamily="50" charset="-128"/>
                        </a:rPr>
                        <a:t>「特に取り扱いに注意すべき検査」を再度定義して、</a:t>
                      </a:r>
                      <a:r>
                        <a:rPr lang="ja-JP" altLang="en-US" sz="1000" b="0" i="0" u="none" strike="noStrike">
                          <a:solidFill>
                            <a:srgbClr val="000000"/>
                          </a:solidFill>
                          <a:effectLst/>
                          <a:latin typeface="Meiryo UI" panose="020B0604030504040204" pitchFamily="50" charset="-128"/>
                          <a:ea typeface="Meiryo UI" panose="020B0604030504040204" pitchFamily="50" charset="-128"/>
                        </a:rPr>
                        <a:t>医療機関システムの画面やデータ送信仕様に反映する</a:t>
                      </a:r>
                      <a:r>
                        <a:rPr lang="ja-JP" sz="1000" b="0" i="0" u="none" strike="noStrike">
                          <a:solidFill>
                            <a:srgbClr val="000000"/>
                          </a:solidFill>
                          <a:effectLst/>
                          <a:latin typeface="Meiryo UI" panose="020B0604030504040204" pitchFamily="50" charset="-128"/>
                          <a:ea typeface="Meiryo UI" panose="020B0604030504040204" pitchFamily="50" charset="-128"/>
                        </a:rPr>
                        <a:t>必要がある。</a:t>
                      </a:r>
                      <a:endParaRPr lang="en-US" altLang="ja-JP" sz="1000" b="0" i="0" u="none" strike="noStrike">
                        <a:solidFill>
                          <a:srgbClr val="000000"/>
                        </a:solidFill>
                        <a:effectLst/>
                        <a:latin typeface="Meiryo UI" panose="020B0604030504040204" pitchFamily="50" charset="-128"/>
                        <a:ea typeface="Meiryo UI" panose="020B0604030504040204" pitchFamily="50" charset="-128"/>
                      </a:endParaRPr>
                    </a:p>
                    <a:p>
                      <a:pPr marL="171450" indent="-171450" algn="l" fontAlgn="ctr">
                        <a:buFont typeface="Arial" panose="020B0604020202020204" pitchFamily="34" charset="0"/>
                        <a:buChar char="•"/>
                      </a:pPr>
                      <a:r>
                        <a:rPr lang="ja-JP" sz="1000" b="0" i="0" u="none" strike="noStrike">
                          <a:solidFill>
                            <a:srgbClr val="000000"/>
                          </a:solidFill>
                          <a:effectLst/>
                          <a:latin typeface="Meiryo UI" panose="020B0604030504040204" pitchFamily="50" charset="-128"/>
                          <a:ea typeface="Meiryo UI" panose="020B0604030504040204" pitchFamily="50" charset="-128"/>
                        </a:rPr>
                        <a:t>血縁関係が推測されることが課題である</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一方</a:t>
                      </a:r>
                      <a:r>
                        <a:rPr lang="ja-JP" sz="1000" b="0" i="0" u="none" strike="noStrike">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a:solidFill>
                            <a:srgbClr val="000000"/>
                          </a:solidFill>
                          <a:effectLst/>
                          <a:latin typeface="Meiryo UI" panose="020B0604030504040204" pitchFamily="50" charset="-128"/>
                          <a:ea typeface="Meiryo UI" panose="020B0604030504040204" pitchFamily="50" charset="-128"/>
                        </a:rPr>
                        <a:t>医療従事者が</a:t>
                      </a:r>
                      <a:r>
                        <a:rPr lang="ja-JP" sz="1000" b="0" i="0" u="none" strike="noStrike">
                          <a:solidFill>
                            <a:srgbClr val="000000"/>
                          </a:solidFill>
                          <a:effectLst/>
                          <a:latin typeface="Meiryo UI" panose="020B0604030504040204" pitchFamily="50" charset="-128"/>
                          <a:ea typeface="Meiryo UI" panose="020B0604030504040204" pitchFamily="50" charset="-128"/>
                        </a:rPr>
                        <a:t>事前に患者の血縁関係を把握すること</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は</a:t>
                      </a:r>
                      <a:r>
                        <a:rPr lang="ja-JP" sz="1000" b="0" i="0" u="none" strike="noStrike">
                          <a:solidFill>
                            <a:srgbClr val="000000"/>
                          </a:solidFill>
                          <a:effectLst/>
                          <a:latin typeface="Meiryo UI" panose="020B0604030504040204" pitchFamily="50" charset="-128"/>
                          <a:ea typeface="Meiryo UI" panose="020B0604030504040204" pitchFamily="50" charset="-128"/>
                        </a:rPr>
                        <a:t>困難であり、</a:t>
                      </a:r>
                      <a:r>
                        <a:rPr lang="ja-JP" altLang="en-US" sz="1000" b="0" i="0" u="none" strike="noStrike">
                          <a:solidFill>
                            <a:srgbClr val="000000"/>
                          </a:solidFill>
                          <a:effectLst/>
                          <a:latin typeface="Meiryo UI" panose="020B0604030504040204" pitchFamily="50" charset="-128"/>
                          <a:ea typeface="Meiryo UI" panose="020B0604030504040204" pitchFamily="50" charset="-128"/>
                        </a:rPr>
                        <a:t>医療従事者が</a:t>
                      </a:r>
                      <a:r>
                        <a:rPr lang="ja-JP" sz="1000" b="0" i="0" u="none" strike="noStrike">
                          <a:solidFill>
                            <a:srgbClr val="000000"/>
                          </a:solidFill>
                          <a:effectLst/>
                          <a:latin typeface="Meiryo UI" panose="020B0604030504040204" pitchFamily="50" charset="-128"/>
                          <a:ea typeface="Meiryo UI" panose="020B0604030504040204" pitchFamily="50" charset="-128"/>
                        </a:rPr>
                        <a:t>患者へ</a:t>
                      </a:r>
                      <a:r>
                        <a:rPr lang="ja-JP" altLang="en-US" sz="1000" b="0" i="0" u="none" strike="noStrike">
                          <a:solidFill>
                            <a:srgbClr val="000000"/>
                          </a:solidFill>
                          <a:effectLst/>
                          <a:latin typeface="Meiryo UI" panose="020B0604030504040204" pitchFamily="50" charset="-128"/>
                          <a:ea typeface="Meiryo UI" panose="020B0604030504040204" pitchFamily="50" charset="-128"/>
                        </a:rPr>
                        <a:t>血縁関係を確認することや・リスクの</a:t>
                      </a:r>
                      <a:r>
                        <a:rPr lang="ja-JP" sz="1000" b="0" i="0" u="none" strike="noStrike">
                          <a:solidFill>
                            <a:srgbClr val="000000"/>
                          </a:solidFill>
                          <a:effectLst/>
                          <a:latin typeface="Meiryo UI" panose="020B0604030504040204" pitchFamily="50" charset="-128"/>
                          <a:ea typeface="Meiryo UI" panose="020B0604030504040204" pitchFamily="50" charset="-128"/>
                        </a:rPr>
                        <a:t>説明を行っても患者は混乱を来す。そのため、</a:t>
                      </a:r>
                      <a:r>
                        <a:rPr lang="ja-JP" altLang="en-US" sz="1000" b="0" i="0" u="none" strike="noStrike">
                          <a:solidFill>
                            <a:srgbClr val="000000"/>
                          </a:solidFill>
                          <a:effectLst/>
                          <a:latin typeface="Meiryo UI" panose="020B0604030504040204" pitchFamily="50" charset="-128"/>
                          <a:ea typeface="Meiryo UI" panose="020B0604030504040204" pitchFamily="50" charset="-128"/>
                        </a:rPr>
                        <a:t>「患者が</a:t>
                      </a:r>
                      <a:r>
                        <a:rPr lang="ja-JP" altLang="ja-JP" sz="1000" b="0" i="0" u="none" strike="noStrike">
                          <a:solidFill>
                            <a:srgbClr val="000000"/>
                          </a:solidFill>
                          <a:effectLst/>
                          <a:latin typeface="Meiryo UI" panose="020B0604030504040204" pitchFamily="50" charset="-128"/>
                          <a:ea typeface="Meiryo UI" panose="020B0604030504040204" pitchFamily="50" charset="-128"/>
                        </a:rPr>
                        <a:t>混乱しないことを確認</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」という運用について何をすればよいのか、明確にする必要がある</a:t>
                      </a:r>
                      <a:r>
                        <a:rPr lang="ja-JP" sz="10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5621497"/>
                  </a:ext>
                </a:extLst>
              </a:tr>
              <a:tr h="266998">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D</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医療機関等・患者へ共有対象とする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000" b="0" i="0" u="none" strike="noStrike">
                          <a:solidFill>
                            <a:srgbClr val="000000"/>
                          </a:solidFill>
                          <a:effectLst/>
                          <a:latin typeface="Meiryo UI" panose="020B0604030504040204" pitchFamily="50" charset="-128"/>
                          <a:ea typeface="Meiryo UI" panose="020B0604030504040204" pitchFamily="50" charset="-128"/>
                        </a:rPr>
                        <a:t>現時点の血液型含めた</a:t>
                      </a:r>
                      <a:r>
                        <a:rPr lang="ja-JP" altLang="ja-JP" sz="1000" b="0" i="0" u="none" strike="noStrike">
                          <a:solidFill>
                            <a:srgbClr val="000000"/>
                          </a:solidFill>
                          <a:effectLst/>
                          <a:latin typeface="Meiryo UI" panose="020B0604030504040204" pitchFamily="50" charset="-128"/>
                          <a:ea typeface="Meiryo UI" panose="020B0604030504040204" pitchFamily="50" charset="-128"/>
                        </a:rPr>
                        <a:t>検査4</a:t>
                      </a:r>
                      <a:r>
                        <a:rPr lang="ja-JP" altLang="en-US" sz="1000" b="0" i="0" u="none" strike="noStrike">
                          <a:solidFill>
                            <a:srgbClr val="000000"/>
                          </a:solidFill>
                          <a:effectLst/>
                          <a:latin typeface="Meiryo UI" panose="020B0604030504040204" pitchFamily="50" charset="-128"/>
                          <a:ea typeface="Meiryo UI" panose="020B0604030504040204" pitchFamily="50" charset="-128"/>
                        </a:rPr>
                        <a:t>３</a:t>
                      </a:r>
                      <a:r>
                        <a:rPr lang="ja-JP" altLang="ja-JP" sz="1000" b="0" i="0" u="none" strike="noStrike">
                          <a:solidFill>
                            <a:srgbClr val="000000"/>
                          </a:solidFill>
                          <a:effectLst/>
                          <a:latin typeface="Meiryo UI" panose="020B0604030504040204" pitchFamily="50" charset="-128"/>
                          <a:ea typeface="Meiryo UI" panose="020B0604030504040204" pitchFamily="50" charset="-128"/>
                        </a:rPr>
                        <a:t>項目</a:t>
                      </a:r>
                      <a:r>
                        <a:rPr lang="ja-JP" altLang="en-US" sz="1000" b="0" i="0" u="none" strike="noStrike">
                          <a:solidFill>
                            <a:srgbClr val="000000"/>
                          </a:solidFill>
                          <a:effectLst/>
                          <a:latin typeface="Meiryo UI" panose="020B0604030504040204" pitchFamily="50" charset="-128"/>
                          <a:ea typeface="Meiryo UI" panose="020B0604030504040204" pitchFamily="50" charset="-128"/>
                        </a:rPr>
                        <a:t>。</a:t>
                      </a:r>
                      <a:endParaRPr lang="en-US" altLang="ja-JP" sz="1000" b="0" i="0" u="none" strike="noStrike">
                        <a:solidFill>
                          <a:srgbClr val="000000"/>
                        </a:solidFill>
                        <a:effectLst/>
                        <a:latin typeface="Meiryo UI" panose="020B0604030504040204" pitchFamily="50" charset="-128"/>
                        <a:ea typeface="Meiryo UI" panose="020B0604030504040204" pitchFamily="50" charset="-128"/>
                      </a:endParaRPr>
                    </a:p>
                    <a:p>
                      <a:pPr algn="l" fontAlgn="ctr">
                        <a:buNone/>
                      </a:pPr>
                      <a:r>
                        <a:rPr lang="ja-JP" altLang="en-US" sz="1000" b="0" i="0" u="none" strike="noStrike">
                          <a:solidFill>
                            <a:srgbClr val="000000"/>
                          </a:solidFill>
                          <a:effectLst/>
                          <a:latin typeface="Meiryo UI" panose="020B0604030504040204" pitchFamily="50" charset="-128"/>
                          <a:ea typeface="Meiryo UI" panose="020B0604030504040204" pitchFamily="50" charset="-128"/>
                        </a:rPr>
                        <a:t>パターン</a:t>
                      </a:r>
                      <a:r>
                        <a:rPr lang="en-US" altLang="ja-JP" sz="1000" b="0" i="0" u="none" strike="noStrike">
                          <a:solidFill>
                            <a:srgbClr val="000000"/>
                          </a:solidFill>
                          <a:effectLst/>
                          <a:latin typeface="Meiryo UI" panose="020B0604030504040204" pitchFamily="50" charset="-128"/>
                          <a:ea typeface="Meiryo UI" panose="020B0604030504040204" pitchFamily="50" charset="-128"/>
                        </a:rPr>
                        <a:t>C</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を除いた、他医療機関等・</a:t>
                      </a:r>
                      <a:r>
                        <a:rPr lang="ja-JP" sz="1000" b="0" i="0" u="none" strike="noStrike">
                          <a:solidFill>
                            <a:srgbClr val="000000"/>
                          </a:solidFill>
                          <a:effectLst/>
                          <a:latin typeface="Meiryo UI" panose="020B0604030504040204" pitchFamily="50" charset="-128"/>
                          <a:ea typeface="Meiryo UI" panose="020B0604030504040204" pitchFamily="50" charset="-128"/>
                        </a:rPr>
                        <a:t>患者</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へ</a:t>
                      </a:r>
                      <a:r>
                        <a:rPr lang="ja-JP" sz="1000" b="0" i="0" u="none" strike="noStrike">
                          <a:solidFill>
                            <a:srgbClr val="000000"/>
                          </a:solidFill>
                          <a:effectLst/>
                          <a:latin typeface="Meiryo UI" panose="020B0604030504040204" pitchFamily="50" charset="-128"/>
                          <a:ea typeface="Meiryo UI" panose="020B0604030504040204" pitchFamily="50" charset="-128"/>
                        </a:rPr>
                        <a:t>共有</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することが有用な</a:t>
                      </a:r>
                      <a:r>
                        <a:rPr lang="ja-JP" sz="1000" b="0" i="0" u="none" strike="noStrike">
                          <a:solidFill>
                            <a:srgbClr val="000000"/>
                          </a:solidFill>
                          <a:effectLst/>
                          <a:latin typeface="Meiryo UI" panose="020B0604030504040204" pitchFamily="50" charset="-128"/>
                          <a:ea typeface="Meiryo UI" panose="020B0604030504040204" pitchFamily="50" charset="-128"/>
                        </a:rPr>
                        <a:t>検査項目</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Arial" panose="020B0604020202020204" pitchFamily="34" charset="0"/>
                        <a:buChar char="•"/>
                      </a:pPr>
                      <a:r>
                        <a:rPr lang="ja-JP" sz="1000" b="0" i="0" u="none" strike="noStrike">
                          <a:solidFill>
                            <a:srgbClr val="000000"/>
                          </a:solidFill>
                          <a:effectLst/>
                          <a:latin typeface="Meiryo UI" panose="020B0604030504040204" pitchFamily="50" charset="-128"/>
                          <a:ea typeface="Meiryo UI" panose="020B0604030504040204" pitchFamily="50" charset="-128"/>
                        </a:rPr>
                        <a:t>患者がマイナポータルを閲覧することで、血縁関係などを推測し、患者自身の混乱を招く可能性がある。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0710953"/>
                  </a:ext>
                </a:extLst>
              </a:tr>
            </a:tbl>
          </a:graphicData>
        </a:graphic>
      </p:graphicFrame>
      <p:sp>
        <p:nvSpPr>
          <p:cNvPr id="62" name="コンテンツ プレースホルダー 10">
            <a:extLst>
              <a:ext uri="{FF2B5EF4-FFF2-40B4-BE49-F238E27FC236}">
                <a16:creationId xmlns:a16="http://schemas.microsoft.com/office/drawing/2014/main" id="{E02E3167-1B70-B484-60D0-6E735467C72F}"/>
              </a:ext>
            </a:extLst>
          </p:cNvPr>
          <p:cNvSpPr txBox="1">
            <a:spLocks/>
          </p:cNvSpPr>
          <p:nvPr/>
        </p:nvSpPr>
        <p:spPr bwMode="auto">
          <a:xfrm>
            <a:off x="410101" y="6655726"/>
            <a:ext cx="8919900" cy="213336"/>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a:spcAft>
                <a:spcPts val="300"/>
              </a:spcAft>
            </a:pPr>
            <a:r>
              <a:rPr lang="en-US" altLang="ja-JP" sz="900" kern="0"/>
              <a:t>※</a:t>
            </a:r>
            <a:r>
              <a:rPr lang="ja-JP" altLang="ja-JP" sz="900">
                <a:solidFill>
                  <a:srgbClr val="000000"/>
                </a:solidFill>
                <a:latin typeface="Meiryo UI" panose="020B0604030504040204" pitchFamily="50" charset="-128"/>
                <a:ea typeface="Meiryo UI" panose="020B0604030504040204" pitchFamily="50" charset="-128"/>
              </a:rPr>
              <a:t>患者共有ボタンの押下後に</a:t>
            </a:r>
            <a:r>
              <a:rPr lang="ja-JP" altLang="en-US" sz="900">
                <a:solidFill>
                  <a:srgbClr val="000000"/>
                </a:solidFill>
                <a:latin typeface="Meiryo UI" panose="020B0604030504040204" pitchFamily="50" charset="-128"/>
                <a:ea typeface="Meiryo UI" panose="020B0604030504040204" pitchFamily="50" charset="-128"/>
              </a:rPr>
              <a:t>、</a:t>
            </a:r>
            <a:r>
              <a:rPr lang="ja-JP" altLang="ja-JP" sz="900">
                <a:solidFill>
                  <a:srgbClr val="000000"/>
                </a:solidFill>
                <a:latin typeface="Meiryo UI" panose="020B0604030504040204" pitchFamily="50" charset="-128"/>
                <a:ea typeface="Meiryo UI" panose="020B0604030504040204" pitchFamily="50" charset="-128"/>
              </a:rPr>
              <a:t>患者</a:t>
            </a:r>
            <a:r>
              <a:rPr lang="ja-JP" altLang="en-US" sz="900">
                <a:solidFill>
                  <a:srgbClr val="000000"/>
                </a:solidFill>
                <a:latin typeface="Meiryo UI" panose="020B0604030504040204" pitchFamily="50" charset="-128"/>
                <a:ea typeface="Meiryo UI" panose="020B0604030504040204" pitchFamily="50" charset="-128"/>
              </a:rPr>
              <a:t>が自身のマイナポータルで閲覧できるようになる</a:t>
            </a:r>
            <a:endParaRPr lang="en-US" altLang="ja-JP" sz="900" kern="0"/>
          </a:p>
        </p:txBody>
      </p:sp>
    </p:spTree>
    <p:extLst>
      <p:ext uri="{BB962C8B-B14F-4D97-AF65-F5344CB8AC3E}">
        <p14:creationId xmlns:p14="http://schemas.microsoft.com/office/powerpoint/2010/main" val="3385129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C8FF5-91CE-3372-D175-087EB3BE3B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4386E6-EF82-B0D2-2025-09A0C48477B6}"/>
              </a:ext>
            </a:extLst>
          </p:cNvPr>
          <p:cNvSpPr>
            <a:spLocks noGrp="1"/>
          </p:cNvSpPr>
          <p:nvPr>
            <p:ph type="title"/>
          </p:nvPr>
        </p:nvSpPr>
        <p:spPr/>
        <p:txBody>
          <a:bodyPr>
            <a:normAutofit/>
          </a:bodyPr>
          <a:lstStyle/>
          <a:p>
            <a:r>
              <a:rPr kumimoji="1" lang="ja-JP" altLang="en-US"/>
              <a:t>４</a:t>
            </a:r>
            <a:r>
              <a:rPr kumimoji="1" lang="en-US" altLang="ja-JP"/>
              <a:t>.</a:t>
            </a:r>
            <a:r>
              <a:rPr lang="ja-JP" altLang="en-US">
                <a:cs typeface="+mj-ea"/>
              </a:rPr>
              <a:t>血液型に関する情報の取り扱いに対する改修見積もり依頼</a:t>
            </a:r>
            <a:endParaRPr kumimoji="1" lang="ja-JP" altLang="en-US"/>
          </a:p>
        </p:txBody>
      </p:sp>
      <p:sp>
        <p:nvSpPr>
          <p:cNvPr id="4" name="四角形: 角を丸くする 3">
            <a:extLst>
              <a:ext uri="{FF2B5EF4-FFF2-40B4-BE49-F238E27FC236}">
                <a16:creationId xmlns:a16="http://schemas.microsoft.com/office/drawing/2014/main" id="{10B3CE16-A82C-C4F4-3204-AD9B576EF40B}"/>
              </a:ext>
            </a:extLst>
          </p:cNvPr>
          <p:cNvSpPr/>
          <p:nvPr/>
        </p:nvSpPr>
        <p:spPr>
          <a:xfrm>
            <a:off x="493050" y="840674"/>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a:t>
            </a:r>
          </a:p>
        </p:txBody>
      </p:sp>
      <p:sp>
        <p:nvSpPr>
          <p:cNvPr id="11" name="コンテンツ プレースホルダー 10">
            <a:extLst>
              <a:ext uri="{FF2B5EF4-FFF2-40B4-BE49-F238E27FC236}">
                <a16:creationId xmlns:a16="http://schemas.microsoft.com/office/drawing/2014/main" id="{19B0B31A-D24C-127D-FE2A-C96C34222213}"/>
              </a:ext>
            </a:extLst>
          </p:cNvPr>
          <p:cNvSpPr>
            <a:spLocks noGrp="1"/>
          </p:cNvSpPr>
          <p:nvPr>
            <p:ph idx="1"/>
          </p:nvPr>
        </p:nvSpPr>
        <p:spPr>
          <a:xfrm>
            <a:off x="501288" y="1096535"/>
            <a:ext cx="8919900" cy="809015"/>
          </a:xfrm>
        </p:spPr>
        <p:txBody>
          <a:bodyPr/>
          <a:lstStyle/>
          <a:p>
            <a:pPr marL="285750" indent="-285750">
              <a:spcAft>
                <a:spcPts val="300"/>
              </a:spcAft>
              <a:buFont typeface="Arial" panose="020B0604020202020204" pitchFamily="34" charset="0"/>
              <a:buChar char="•"/>
            </a:pPr>
            <a:r>
              <a:rPr lang="ja-JP" altLang="en-US" sz="1200"/>
              <a:t>加賀市医療センターとの打ち合わせにて、血液型は機微な情報であるため、共有対象外とすべきではないかという意見を受領した。</a:t>
            </a:r>
            <a:endParaRPr lang="en-US" altLang="ja-JP" sz="1200"/>
          </a:p>
          <a:p>
            <a:pPr marL="285750" indent="-285750">
              <a:spcAft>
                <a:spcPts val="300"/>
              </a:spcAft>
              <a:buFont typeface="Arial" panose="020B0604020202020204" pitchFamily="34" charset="0"/>
              <a:buChar char="•"/>
            </a:pPr>
            <a:r>
              <a:rPr lang="ja-JP" altLang="en-US" sz="1200"/>
              <a:t>血液型は</a:t>
            </a:r>
            <a:r>
              <a:rPr lang="ja-JP" altLang="ja-JP" sz="1200"/>
              <a:t>親子・血縁関係が推測され得る情報なので慎重に扱う</a:t>
            </a:r>
            <a:r>
              <a:rPr lang="ja-JP" altLang="en-US" sz="1200"/>
              <a:t>必要がある情報であることを踏まえ、血液型を共有対象項目から除外するか厚労省内で検討中である。</a:t>
            </a:r>
          </a:p>
        </p:txBody>
      </p:sp>
      <p:sp>
        <p:nvSpPr>
          <p:cNvPr id="9" name="四角形: 角を丸くする 8">
            <a:extLst>
              <a:ext uri="{FF2B5EF4-FFF2-40B4-BE49-F238E27FC236}">
                <a16:creationId xmlns:a16="http://schemas.microsoft.com/office/drawing/2014/main" id="{A736FA9A-B4B1-9EAD-6D38-DEA1F6E91510}"/>
              </a:ext>
            </a:extLst>
          </p:cNvPr>
          <p:cNvSpPr/>
          <p:nvPr/>
        </p:nvSpPr>
        <p:spPr>
          <a:xfrm>
            <a:off x="485239" y="1833628"/>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ご相談事項</a:t>
            </a:r>
          </a:p>
        </p:txBody>
      </p:sp>
      <p:sp>
        <p:nvSpPr>
          <p:cNvPr id="10" name="コンテンツ プレースホルダー 10">
            <a:extLst>
              <a:ext uri="{FF2B5EF4-FFF2-40B4-BE49-F238E27FC236}">
                <a16:creationId xmlns:a16="http://schemas.microsoft.com/office/drawing/2014/main" id="{59630DE5-C3F5-5FC1-0187-2965FB8A9B8E}"/>
              </a:ext>
            </a:extLst>
          </p:cNvPr>
          <p:cNvSpPr txBox="1">
            <a:spLocks/>
          </p:cNvSpPr>
          <p:nvPr/>
        </p:nvSpPr>
        <p:spPr bwMode="auto">
          <a:xfrm>
            <a:off x="493050" y="2079888"/>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285750" marR="0" lvl="0" indent="-28575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1" lang="ja-JP" altLang="en-US" sz="1200" b="1" i="0" u="none" strike="noStrike" kern="0" cap="none" spc="0" normalizeH="0" baseline="0" noProof="0">
                <a:ln>
                  <a:noFill/>
                </a:ln>
                <a:solidFill>
                  <a:prstClr val="black"/>
                </a:solidFill>
                <a:effectLst/>
                <a:uLnTx/>
                <a:uFillTx/>
                <a:latin typeface="Meiryo UI"/>
                <a:ea typeface="Meiryo UI"/>
                <a:cs typeface="+mn-cs"/>
              </a:rPr>
              <a:t>令和</a:t>
            </a:r>
            <a:r>
              <a:rPr kumimoji="1" lang="en-US" altLang="ja-JP" sz="1200" b="1" i="0" u="none" strike="noStrike" kern="0" cap="none" spc="0" normalizeH="0" baseline="0" noProof="0">
                <a:ln>
                  <a:noFill/>
                </a:ln>
                <a:solidFill>
                  <a:prstClr val="black"/>
                </a:solidFill>
                <a:effectLst/>
                <a:uLnTx/>
                <a:uFillTx/>
                <a:latin typeface="Meiryo UI"/>
                <a:ea typeface="Meiryo UI"/>
                <a:cs typeface="+mn-cs"/>
              </a:rPr>
              <a:t>9</a:t>
            </a:r>
            <a:r>
              <a:rPr kumimoji="1" lang="ja-JP" altLang="en-US" sz="1200" b="1" i="0" u="none" strike="noStrike" kern="0" cap="none" spc="0" normalizeH="0" baseline="0" noProof="0">
                <a:ln>
                  <a:noFill/>
                </a:ln>
                <a:solidFill>
                  <a:prstClr val="black"/>
                </a:solidFill>
                <a:effectLst/>
                <a:uLnTx/>
                <a:uFillTx/>
                <a:latin typeface="Meiryo UI"/>
                <a:ea typeface="Meiryo UI"/>
                <a:cs typeface="+mn-cs"/>
              </a:rPr>
              <a:t>年</a:t>
            </a:r>
            <a:r>
              <a:rPr kumimoji="1" lang="en-US" altLang="ja-JP" sz="1200" b="1" i="0" u="none" strike="noStrike" kern="0" cap="none" spc="0" normalizeH="0" baseline="0" noProof="0">
                <a:ln>
                  <a:noFill/>
                </a:ln>
                <a:solidFill>
                  <a:prstClr val="black"/>
                </a:solidFill>
                <a:effectLst/>
                <a:uLnTx/>
                <a:uFillTx/>
                <a:latin typeface="Meiryo UI"/>
                <a:ea typeface="Meiryo UI"/>
                <a:cs typeface="+mn-cs"/>
              </a:rPr>
              <a:t>3</a:t>
            </a:r>
            <a:r>
              <a:rPr kumimoji="1" lang="ja-JP" altLang="en-US" sz="1200" b="1" i="0" u="none" strike="noStrike" kern="0" cap="none" spc="0" normalizeH="0" baseline="0" noProof="0">
                <a:ln>
                  <a:noFill/>
                </a:ln>
                <a:solidFill>
                  <a:prstClr val="black"/>
                </a:solidFill>
                <a:effectLst/>
                <a:uLnTx/>
                <a:uFillTx/>
                <a:latin typeface="Meiryo UI"/>
                <a:ea typeface="Meiryo UI"/>
                <a:cs typeface="+mn-cs"/>
              </a:rPr>
              <a:t>月末リリース</a:t>
            </a:r>
            <a:r>
              <a:rPr kumimoji="1" lang="ja-JP" altLang="en-US" sz="1200" b="0" i="0" u="none" strike="noStrike" kern="0" cap="none" spc="0" normalizeH="0" baseline="0" noProof="0">
                <a:ln>
                  <a:noFill/>
                </a:ln>
                <a:solidFill>
                  <a:prstClr val="black"/>
                </a:solidFill>
                <a:effectLst/>
                <a:uLnTx/>
                <a:uFillTx/>
                <a:latin typeface="Meiryo UI"/>
                <a:ea typeface="Meiryo UI"/>
                <a:cs typeface="+mn-cs"/>
              </a:rPr>
              <a:t>に向けて、以下のパターン</a:t>
            </a:r>
            <a:r>
              <a:rPr kumimoji="1" lang="en-US" altLang="ja-JP" sz="1200" b="0" i="0" u="none" strike="noStrike" kern="0" cap="none" spc="0" normalizeH="0" baseline="0" noProof="0">
                <a:ln>
                  <a:noFill/>
                </a:ln>
                <a:solidFill>
                  <a:prstClr val="black"/>
                </a:solidFill>
                <a:effectLst/>
                <a:uLnTx/>
                <a:uFillTx/>
                <a:latin typeface="Meiryo UI"/>
                <a:ea typeface="Meiryo UI"/>
                <a:cs typeface="+mn-cs"/>
              </a:rPr>
              <a:t>A</a:t>
            </a:r>
            <a:r>
              <a:rPr kumimoji="1" lang="ja-JP" altLang="en-US" sz="1200" b="0" i="0" u="none" strike="noStrike" kern="0" cap="none" spc="0" normalizeH="0" baseline="0" noProof="0">
                <a:ln>
                  <a:noFill/>
                </a:ln>
                <a:solidFill>
                  <a:prstClr val="black"/>
                </a:solidFill>
                <a:effectLst/>
                <a:uLnTx/>
                <a:uFillTx/>
                <a:latin typeface="Meiryo UI"/>
                <a:ea typeface="Meiryo UI"/>
                <a:cs typeface="+mn-cs"/>
              </a:rPr>
              <a:t>または</a:t>
            </a:r>
            <a:r>
              <a:rPr kumimoji="1" lang="en-US" altLang="ja-JP" sz="1200" b="0" i="0" u="none" strike="noStrike" kern="0" cap="none" spc="0" normalizeH="0" baseline="0" noProof="0">
                <a:ln>
                  <a:noFill/>
                </a:ln>
                <a:solidFill>
                  <a:prstClr val="black"/>
                </a:solidFill>
                <a:effectLst/>
                <a:uLnTx/>
                <a:uFillTx/>
                <a:latin typeface="Meiryo UI"/>
                <a:ea typeface="Meiryo UI"/>
                <a:cs typeface="+mn-cs"/>
              </a:rPr>
              <a:t>B</a:t>
            </a:r>
            <a:r>
              <a:rPr kumimoji="1" lang="ja-JP" altLang="en-US" sz="1200" b="0" i="0" u="none" strike="noStrike" kern="0" cap="none" spc="0" normalizeH="0" baseline="0" noProof="0">
                <a:ln>
                  <a:noFill/>
                </a:ln>
                <a:solidFill>
                  <a:prstClr val="black"/>
                </a:solidFill>
                <a:effectLst/>
                <a:uLnTx/>
                <a:uFillTx/>
                <a:latin typeface="Meiryo UI"/>
                <a:ea typeface="Meiryo UI"/>
                <a:cs typeface="+mn-cs"/>
              </a:rPr>
              <a:t>のどちらかの方法で血液型を共有対象外とするような改修をに追加することは可能か、フィージビリティをご確認いただきたい。</a:t>
            </a:r>
            <a:endParaRPr kumimoji="1" lang="en-US" altLang="ja-JP" sz="1200" b="0" i="0" u="none" strike="noStrike" kern="0" cap="none" spc="0" normalizeH="0" baseline="0" noProof="0">
              <a:ln>
                <a:noFill/>
              </a:ln>
              <a:solidFill>
                <a:prstClr val="black"/>
              </a:solidFill>
              <a:effectLst/>
              <a:uLnTx/>
              <a:uFillTx/>
              <a:latin typeface="Meiryo UI"/>
              <a:ea typeface="Meiryo UI"/>
              <a:cs typeface="+mn-cs"/>
            </a:endParaRPr>
          </a:p>
          <a:p>
            <a:pPr marL="285750" marR="0" lvl="0" indent="-28575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prstClr val="black"/>
                </a:solidFill>
                <a:effectLst/>
                <a:uLnTx/>
                <a:uFillTx/>
                <a:latin typeface="Meiryo UI"/>
                <a:ea typeface="Meiryo UI"/>
                <a:cs typeface="+mn-cs"/>
              </a:rPr>
              <a:t>また、</a:t>
            </a:r>
            <a:r>
              <a:rPr kumimoji="1" lang="ja-JP" altLang="en-US" sz="1200" b="1" i="0" u="none" strike="noStrike" kern="0" cap="none" spc="0" normalizeH="0" baseline="0" noProof="0">
                <a:ln>
                  <a:noFill/>
                </a:ln>
                <a:solidFill>
                  <a:prstClr val="black"/>
                </a:solidFill>
                <a:effectLst/>
                <a:uLnTx/>
                <a:uFillTx/>
                <a:latin typeface="Meiryo UI"/>
                <a:ea typeface="Meiryo UI"/>
                <a:cs typeface="+mn-cs"/>
              </a:rPr>
              <a:t>全国的な運用開始のタイミング</a:t>
            </a:r>
            <a:r>
              <a:rPr kumimoji="1" lang="ja-JP" altLang="en-US" sz="1200" b="0" i="0" u="none" strike="noStrike" kern="0" cap="none" spc="0" normalizeH="0" baseline="0" noProof="0">
                <a:ln>
                  <a:noFill/>
                </a:ln>
                <a:solidFill>
                  <a:prstClr val="black"/>
                </a:solidFill>
                <a:effectLst/>
                <a:uLnTx/>
                <a:uFillTx/>
                <a:latin typeface="Meiryo UI"/>
                <a:ea typeface="Meiryo UI"/>
                <a:cs typeface="+mn-cs"/>
              </a:rPr>
              <a:t>で、基金にてモデル事業期間中に登録された血液型検査を論理削除いただくことが可能かについてもフィージビリティをご確認いただきたい。（全国的な運用開始のタイミングにて、</a:t>
            </a:r>
            <a:r>
              <a:rPr kumimoji="1" lang="en-US" altLang="ja-JP" sz="1200" b="0" i="0" u="none" strike="noStrike" kern="0" cap="none" spc="0" normalizeH="0" baseline="0" noProof="0">
                <a:ln>
                  <a:noFill/>
                </a:ln>
                <a:solidFill>
                  <a:prstClr val="black"/>
                </a:solidFill>
                <a:effectLst/>
                <a:uLnTx/>
                <a:uFillTx/>
                <a:latin typeface="Meiryo UI"/>
                <a:ea typeface="Meiryo UI"/>
                <a:cs typeface="+mn-cs"/>
              </a:rPr>
              <a:t>JLAC</a:t>
            </a:r>
            <a:r>
              <a:rPr kumimoji="1" lang="ja-JP" altLang="en-US" sz="1200" b="0" i="0" u="none" strike="noStrike" kern="0" cap="none" spc="0" normalizeH="0" baseline="0" noProof="0">
                <a:ln>
                  <a:noFill/>
                </a:ln>
                <a:solidFill>
                  <a:prstClr val="black"/>
                </a:solidFill>
                <a:effectLst/>
                <a:uLnTx/>
                <a:uFillTx/>
                <a:latin typeface="Meiryo UI"/>
                <a:ea typeface="Meiryo UI"/>
                <a:cs typeface="+mn-cs"/>
              </a:rPr>
              <a:t>マスタから血液型検査</a:t>
            </a:r>
            <a:r>
              <a:rPr kumimoji="1" lang="en-US" altLang="ja-JP" sz="1200" b="0" i="0" u="none" strike="noStrike" kern="0" cap="none" spc="0" normalizeH="0" baseline="0" noProof="0">
                <a:ln>
                  <a:noFill/>
                </a:ln>
                <a:solidFill>
                  <a:prstClr val="black"/>
                </a:solidFill>
                <a:effectLst/>
                <a:uLnTx/>
                <a:uFillTx/>
                <a:latin typeface="Meiryo UI"/>
                <a:ea typeface="Meiryo UI"/>
                <a:cs typeface="+mn-cs"/>
              </a:rPr>
              <a:t>(ABO</a:t>
            </a:r>
            <a:r>
              <a:rPr kumimoji="1" lang="ja-JP" altLang="en-US" sz="1200" b="0" i="0" u="none" strike="noStrike" kern="0" cap="none" spc="0" normalizeH="0" baseline="0" noProof="0">
                <a:ln>
                  <a:noFill/>
                </a:ln>
                <a:solidFill>
                  <a:prstClr val="black"/>
                </a:solidFill>
                <a:effectLst/>
                <a:uLnTx/>
                <a:uFillTx/>
                <a:latin typeface="Meiryo UI"/>
                <a:ea typeface="Meiryo UI"/>
                <a:cs typeface="+mn-cs"/>
              </a:rPr>
              <a:t>、</a:t>
            </a:r>
            <a:r>
              <a:rPr kumimoji="1" lang="en-US" altLang="ja-JP" sz="1200" b="0" i="0" u="none" strike="noStrike" kern="0" cap="none" spc="0" normalizeH="0" baseline="0" noProof="0">
                <a:ln>
                  <a:noFill/>
                </a:ln>
                <a:solidFill>
                  <a:prstClr val="black"/>
                </a:solidFill>
                <a:effectLst/>
                <a:uLnTx/>
                <a:uFillTx/>
                <a:latin typeface="Meiryo UI"/>
                <a:ea typeface="Meiryo UI"/>
                <a:cs typeface="+mn-cs"/>
              </a:rPr>
              <a:t>Rh)</a:t>
            </a:r>
            <a:r>
              <a:rPr kumimoji="1" lang="ja-JP" altLang="en-US" sz="1200" b="0" i="0" u="none" strike="noStrike" kern="0" cap="none" spc="0" normalizeH="0" baseline="0" noProof="0">
                <a:ln>
                  <a:noFill/>
                </a:ln>
                <a:solidFill>
                  <a:prstClr val="black"/>
                </a:solidFill>
                <a:effectLst/>
                <a:uLnTx/>
                <a:uFillTx/>
                <a:latin typeface="Meiryo UI"/>
                <a:ea typeface="Meiryo UI"/>
                <a:cs typeface="+mn-cs"/>
              </a:rPr>
              <a:t>に関するコードを削除し、情報登録時の</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マスタチェックでエラーにする</a:t>
            </a:r>
            <a:r>
              <a:rPr kumimoji="1" lang="ja-JP" altLang="en-US" sz="1200" b="0" i="0" u="none" strike="noStrike" kern="0" cap="none" spc="0" normalizeH="0" baseline="0" noProof="0">
                <a:ln>
                  <a:noFill/>
                </a:ln>
                <a:solidFill>
                  <a:prstClr val="black"/>
                </a:solidFill>
                <a:effectLst/>
                <a:uLnTx/>
                <a:uFillTx/>
                <a:latin typeface="Meiryo UI"/>
                <a:ea typeface="Meiryo UI"/>
                <a:cs typeface="+mn-cs"/>
              </a:rPr>
              <a:t>ことで、血液型を共有対象項目から除外する方法も視野に入れているため）</a:t>
            </a:r>
            <a:endParaRPr kumimoji="1" lang="en-US" altLang="ja-JP" sz="1200" b="0" i="0" u="none" strike="noStrike" kern="0" cap="none" spc="0" normalizeH="0" baseline="0" noProof="0">
              <a:ln>
                <a:noFill/>
              </a:ln>
              <a:solidFill>
                <a:prstClr val="black"/>
              </a:solidFill>
              <a:effectLst/>
              <a:uLnTx/>
              <a:uFillTx/>
              <a:latin typeface="Meiryo UI"/>
              <a:ea typeface="Meiryo UI"/>
              <a:cs typeface="+mn-cs"/>
            </a:endParaRPr>
          </a:p>
        </p:txBody>
      </p:sp>
      <p:graphicFrame>
        <p:nvGraphicFramePr>
          <p:cNvPr id="3" name="表 2">
            <a:extLst>
              <a:ext uri="{FF2B5EF4-FFF2-40B4-BE49-F238E27FC236}">
                <a16:creationId xmlns:a16="http://schemas.microsoft.com/office/drawing/2014/main" id="{36B589DB-FEE2-AE8F-8D99-01B0408B7A61}"/>
              </a:ext>
            </a:extLst>
          </p:cNvPr>
          <p:cNvGraphicFramePr>
            <a:graphicFrameLocks noGrp="1"/>
          </p:cNvGraphicFramePr>
          <p:nvPr/>
        </p:nvGraphicFramePr>
        <p:xfrm>
          <a:off x="681037" y="3204413"/>
          <a:ext cx="8543925" cy="583956"/>
        </p:xfrm>
        <a:graphic>
          <a:graphicData uri="http://schemas.openxmlformats.org/drawingml/2006/table">
            <a:tbl>
              <a:tblPr/>
              <a:tblGrid>
                <a:gridCol w="560598">
                  <a:extLst>
                    <a:ext uri="{9D8B030D-6E8A-4147-A177-3AD203B41FA5}">
                      <a16:colId xmlns:a16="http://schemas.microsoft.com/office/drawing/2014/main" val="4260148164"/>
                    </a:ext>
                  </a:extLst>
                </a:gridCol>
                <a:gridCol w="4941565">
                  <a:extLst>
                    <a:ext uri="{9D8B030D-6E8A-4147-A177-3AD203B41FA5}">
                      <a16:colId xmlns:a16="http://schemas.microsoft.com/office/drawing/2014/main" val="522855325"/>
                    </a:ext>
                  </a:extLst>
                </a:gridCol>
                <a:gridCol w="1204247">
                  <a:extLst>
                    <a:ext uri="{9D8B030D-6E8A-4147-A177-3AD203B41FA5}">
                      <a16:colId xmlns:a16="http://schemas.microsoft.com/office/drawing/2014/main" val="50135610"/>
                    </a:ext>
                  </a:extLst>
                </a:gridCol>
                <a:gridCol w="1837515">
                  <a:extLst>
                    <a:ext uri="{9D8B030D-6E8A-4147-A177-3AD203B41FA5}">
                      <a16:colId xmlns:a16="http://schemas.microsoft.com/office/drawing/2014/main" val="3390870604"/>
                    </a:ext>
                  </a:extLst>
                </a:gridCol>
              </a:tblGrid>
              <a:tr h="194652">
                <a:tc>
                  <a:txBody>
                    <a:bodyPr/>
                    <a:lstStyle/>
                    <a:p>
                      <a:pPr algn="l" fontAlgn="ctr">
                        <a:buNone/>
                      </a:pPr>
                      <a:r>
                        <a:rPr lang="ja-JP" sz="900" b="1" i="0" u="none" strike="noStrike">
                          <a:solidFill>
                            <a:srgbClr val="000000"/>
                          </a:solidFill>
                          <a:effectLst/>
                          <a:latin typeface="Meiryo UI" panose="020B0604030504040204" pitchFamily="50" charset="-128"/>
                          <a:ea typeface="Meiryo UI" panose="020B0604030504040204" pitchFamily="50" charset="-128"/>
                        </a:rPr>
                        <a:t>パターン</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ctr">
                        <a:buNone/>
                      </a:pPr>
                      <a:r>
                        <a:rPr lang="ja-JP" sz="900" b="1" i="0" u="none" strike="noStrike">
                          <a:solidFill>
                            <a:srgbClr val="000000"/>
                          </a:solidFill>
                          <a:effectLst/>
                          <a:latin typeface="Meiryo UI" panose="020B0604030504040204" pitchFamily="50" charset="-128"/>
                          <a:ea typeface="Meiryo UI" panose="020B0604030504040204" pitchFamily="50" charset="-128"/>
                        </a:rPr>
                        <a:t>対応内容</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ctr">
                        <a:buNone/>
                      </a:pPr>
                      <a:r>
                        <a:rPr lang="ja-JP" sz="900" b="1" i="0" u="none" strike="noStrike">
                          <a:solidFill>
                            <a:srgbClr val="000000"/>
                          </a:solidFill>
                          <a:effectLst/>
                          <a:latin typeface="Meiryo UI" panose="020B0604030504040204" pitchFamily="50" charset="-128"/>
                          <a:ea typeface="Meiryo UI" panose="020B0604030504040204" pitchFamily="50" charset="-128"/>
                        </a:rPr>
                        <a:t>中央基盤の改修範囲</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ctr">
                        <a:buNone/>
                      </a:pPr>
                      <a:r>
                        <a:rPr lang="ja-JP" sz="900" b="1" i="0" u="none" strike="noStrike">
                          <a:solidFill>
                            <a:srgbClr val="000000"/>
                          </a:solidFill>
                          <a:effectLst/>
                          <a:latin typeface="Meiryo UI" panose="020B0604030504040204" pitchFamily="50" charset="-128"/>
                          <a:ea typeface="Meiryo UI" panose="020B0604030504040204" pitchFamily="50" charset="-128"/>
                        </a:rPr>
                        <a:t>対応可能時期</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047607577"/>
                  </a:ext>
                </a:extLst>
              </a:tr>
              <a:tr h="194652">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A</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血液型の結果は、登録可能で、</a:t>
                      </a:r>
                      <a:r>
                        <a:rPr lang="ja-JP" altLang="en-US" sz="900" b="0" i="0" u="none" strike="noStrike">
                          <a:solidFill>
                            <a:srgbClr val="000000"/>
                          </a:solidFill>
                          <a:effectLst/>
                          <a:latin typeface="Meiryo UI" panose="020B0604030504040204" pitchFamily="50" charset="-128"/>
                          <a:ea typeface="Meiryo UI" panose="020B0604030504040204" pitchFamily="50" charset="-128"/>
                        </a:rPr>
                        <a:t>臨床情報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DB</a:t>
                      </a:r>
                      <a:r>
                        <a:rPr lang="ja-JP" sz="900" b="0" i="0" u="none" strike="noStrike">
                          <a:solidFill>
                            <a:srgbClr val="000000"/>
                          </a:solidFill>
                          <a:effectLst/>
                          <a:latin typeface="Meiryo UI" panose="020B0604030504040204" pitchFamily="50" charset="-128"/>
                          <a:ea typeface="Meiryo UI" panose="020B0604030504040204" pitchFamily="50" charset="-128"/>
                        </a:rPr>
                        <a:t>に保存</a:t>
                      </a:r>
                      <a:r>
                        <a:rPr lang="ja-JP" sz="900" b="1" i="0" u="none" strike="noStrike">
                          <a:solidFill>
                            <a:srgbClr val="000000"/>
                          </a:solidFill>
                          <a:effectLst/>
                          <a:latin typeface="Meiryo UI" panose="020B0604030504040204" pitchFamily="50" charset="-128"/>
                          <a:ea typeface="Meiryo UI" panose="020B0604030504040204" pitchFamily="50" charset="-128"/>
                        </a:rPr>
                        <a:t>する</a:t>
                      </a:r>
                      <a:r>
                        <a:rPr lang="ja-JP" sz="900" b="0" i="0" u="none" strike="noStrike">
                          <a:solidFill>
                            <a:srgbClr val="000000"/>
                          </a:solidFill>
                          <a:effectLst/>
                          <a:latin typeface="Meiryo UI" panose="020B0604030504040204" pitchFamily="50" charset="-128"/>
                          <a:ea typeface="Meiryo UI" panose="020B0604030504040204" pitchFamily="50" charset="-128"/>
                        </a:rPr>
                        <a:t>。臨床情報一覧として</a:t>
                      </a:r>
                      <a:r>
                        <a:rPr lang="ja-JP" sz="900" b="1" i="0" u="none" strike="noStrike">
                          <a:solidFill>
                            <a:srgbClr val="000000"/>
                          </a:solidFill>
                          <a:effectLst/>
                          <a:latin typeface="Meiryo UI" panose="020B0604030504040204" pitchFamily="50" charset="-128"/>
                          <a:ea typeface="Meiryo UI" panose="020B0604030504040204" pitchFamily="50" charset="-128"/>
                        </a:rPr>
                        <a:t>出力はしない</a:t>
                      </a:r>
                      <a:r>
                        <a:rPr lang="ja-JP" sz="900" b="0" i="0" u="none" strike="noStrike">
                          <a:solidFill>
                            <a:srgbClr val="000000"/>
                          </a:solidFill>
                          <a:effectLst/>
                          <a:latin typeface="Meiryo UI" panose="020B0604030504040204" pitchFamily="50" charset="-128"/>
                          <a:ea typeface="Meiryo UI" panose="020B0604030504040204" pitchFamily="50" charset="-128"/>
                        </a:rPr>
                        <a:t>。</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オン資</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3月(要確認)</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7237801"/>
                  </a:ext>
                </a:extLst>
              </a:tr>
              <a:tr h="194652">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B</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血液型の結果は、登録可能で、</a:t>
                      </a:r>
                      <a:r>
                        <a:rPr lang="ja-JP" altLang="en-US" sz="900" b="0" i="0" u="none" strike="noStrike">
                          <a:solidFill>
                            <a:srgbClr val="000000"/>
                          </a:solidFill>
                          <a:effectLst/>
                          <a:latin typeface="Meiryo UI" panose="020B0604030504040204" pitchFamily="50" charset="-128"/>
                          <a:ea typeface="Meiryo UI" panose="020B0604030504040204" pitchFamily="50" charset="-128"/>
                        </a:rPr>
                        <a:t>臨床情報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DB</a:t>
                      </a:r>
                      <a:r>
                        <a:rPr lang="ja-JP" sz="900" b="0" i="0" u="none" strike="noStrike">
                          <a:solidFill>
                            <a:srgbClr val="000000"/>
                          </a:solidFill>
                          <a:effectLst/>
                          <a:latin typeface="Meiryo UI" panose="020B0604030504040204" pitchFamily="50" charset="-128"/>
                          <a:ea typeface="Meiryo UI" panose="020B0604030504040204" pitchFamily="50" charset="-128"/>
                        </a:rPr>
                        <a:t>に保存</a:t>
                      </a:r>
                      <a:r>
                        <a:rPr lang="ja-JP" sz="900" b="1" i="0" u="none" strike="noStrike">
                          <a:solidFill>
                            <a:srgbClr val="000000"/>
                          </a:solidFill>
                          <a:effectLst/>
                          <a:latin typeface="Meiryo UI" panose="020B0604030504040204" pitchFamily="50" charset="-128"/>
                          <a:ea typeface="Meiryo UI" panose="020B0604030504040204" pitchFamily="50" charset="-128"/>
                        </a:rPr>
                        <a:t>しない</a:t>
                      </a:r>
                      <a:r>
                        <a:rPr 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ja-JP" sz="900" b="0" i="0" u="none" strike="noStrike">
                          <a:solidFill>
                            <a:srgbClr val="000000"/>
                          </a:solidFill>
                          <a:effectLst/>
                          <a:latin typeface="Meiryo UI" panose="020B0604030504040204" pitchFamily="50" charset="-128"/>
                          <a:ea typeface="Meiryo UI" panose="020B0604030504040204" pitchFamily="50" charset="-128"/>
                        </a:rPr>
                        <a:t>臨床情報一覧として</a:t>
                      </a:r>
                      <a:r>
                        <a:rPr lang="ja-JP" altLang="ja-JP" sz="900" b="1" i="0" u="none" strike="noStrike">
                          <a:solidFill>
                            <a:srgbClr val="000000"/>
                          </a:solidFill>
                          <a:effectLst/>
                          <a:latin typeface="Meiryo UI" panose="020B0604030504040204" pitchFamily="50" charset="-128"/>
                          <a:ea typeface="Meiryo UI" panose="020B0604030504040204" pitchFamily="50" charset="-128"/>
                        </a:rPr>
                        <a:t>出力はしない</a:t>
                      </a:r>
                      <a:r>
                        <a:rPr lang="ja-JP" altLang="ja-JP" sz="900" b="0" i="0" u="none" strike="noStrike">
                          <a:solidFill>
                            <a:srgbClr val="000000"/>
                          </a:solidFill>
                          <a:effectLst/>
                          <a:latin typeface="Meiryo UI" panose="020B0604030504040204" pitchFamily="50" charset="-128"/>
                          <a:ea typeface="Meiryo UI" panose="020B0604030504040204" pitchFamily="50" charset="-128"/>
                        </a:rPr>
                        <a:t>。</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電カル共有</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3月(要確認)</a:t>
                      </a:r>
                    </a:p>
                  </a:txBody>
                  <a:tcPr marL="7786" marR="7786" marT="77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7757303"/>
                  </a:ext>
                </a:extLst>
              </a:tr>
            </a:tbl>
          </a:graphicData>
        </a:graphic>
      </p:graphicFrame>
      <p:sp>
        <p:nvSpPr>
          <p:cNvPr id="14" name="四角形: 角を丸くする 13">
            <a:extLst>
              <a:ext uri="{FF2B5EF4-FFF2-40B4-BE49-F238E27FC236}">
                <a16:creationId xmlns:a16="http://schemas.microsoft.com/office/drawing/2014/main" id="{45B3EC91-5C4A-C4C6-3FAD-E2FF6C74F1F7}"/>
              </a:ext>
            </a:extLst>
          </p:cNvPr>
          <p:cNvSpPr/>
          <p:nvPr/>
        </p:nvSpPr>
        <p:spPr>
          <a:xfrm>
            <a:off x="572599" y="4759275"/>
            <a:ext cx="1190374" cy="912731"/>
          </a:xfrm>
          <a:prstGeom prst="roundRect">
            <a:avLst>
              <a:gd name="adj" fmla="val 9524"/>
            </a:avLst>
          </a:prstGeom>
          <a:solidFill>
            <a:schemeClr val="bg1">
              <a:lumMod val="95000"/>
            </a:schemeClr>
          </a:solidFill>
          <a:ln>
            <a:solidFill>
              <a:schemeClr val="bg1">
                <a:lumMod val="75000"/>
              </a:schemeClr>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24" name="正方形/長方形 23">
            <a:extLst>
              <a:ext uri="{FF2B5EF4-FFF2-40B4-BE49-F238E27FC236}">
                <a16:creationId xmlns:a16="http://schemas.microsoft.com/office/drawing/2014/main" id="{0DFF2DA4-22CD-96E7-755E-A53CE34E4535}"/>
              </a:ext>
            </a:extLst>
          </p:cNvPr>
          <p:cNvSpPr/>
          <p:nvPr/>
        </p:nvSpPr>
        <p:spPr>
          <a:xfrm>
            <a:off x="521750" y="4765547"/>
            <a:ext cx="1292073" cy="281620"/>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登録医療機関</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pic>
        <p:nvPicPr>
          <p:cNvPr id="25" name="グラフィックス 24" descr="コンピューター 枠線">
            <a:extLst>
              <a:ext uri="{FF2B5EF4-FFF2-40B4-BE49-F238E27FC236}">
                <a16:creationId xmlns:a16="http://schemas.microsoft.com/office/drawing/2014/main" id="{CDB07337-DD70-5996-8C95-4923897055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3175" y="5144994"/>
            <a:ext cx="549222" cy="549222"/>
          </a:xfrm>
          <a:prstGeom prst="rect">
            <a:avLst/>
          </a:prstGeom>
        </p:spPr>
      </p:pic>
      <p:sp>
        <p:nvSpPr>
          <p:cNvPr id="52" name="四角形: 角を丸くする 51">
            <a:extLst>
              <a:ext uri="{FF2B5EF4-FFF2-40B4-BE49-F238E27FC236}">
                <a16:creationId xmlns:a16="http://schemas.microsoft.com/office/drawing/2014/main" id="{81C1DE2E-4E0B-8189-A808-2CDF81242857}"/>
              </a:ext>
            </a:extLst>
          </p:cNvPr>
          <p:cNvSpPr/>
          <p:nvPr/>
        </p:nvSpPr>
        <p:spPr>
          <a:xfrm>
            <a:off x="3159577" y="4109935"/>
            <a:ext cx="3262377" cy="2196504"/>
          </a:xfrm>
          <a:prstGeom prst="roundRect">
            <a:avLst>
              <a:gd name="adj" fmla="val 9524"/>
            </a:avLst>
          </a:prstGeom>
          <a:solidFill>
            <a:srgbClr val="E3EBF5"/>
          </a:solidFill>
          <a:ln>
            <a:solidFill>
              <a:schemeClr val="tx2"/>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54" name="正方形/長方形 53">
            <a:extLst>
              <a:ext uri="{FF2B5EF4-FFF2-40B4-BE49-F238E27FC236}">
                <a16:creationId xmlns:a16="http://schemas.microsoft.com/office/drawing/2014/main" id="{64F143B5-BFBA-AC2F-98B1-8F938770AD4B}"/>
              </a:ext>
            </a:extLst>
          </p:cNvPr>
          <p:cNvSpPr/>
          <p:nvPr/>
        </p:nvSpPr>
        <p:spPr>
          <a:xfrm>
            <a:off x="3850176" y="4100534"/>
            <a:ext cx="1832137" cy="308524"/>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中央基盤</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58" name="四角形: 角を丸くする 57">
            <a:extLst>
              <a:ext uri="{FF2B5EF4-FFF2-40B4-BE49-F238E27FC236}">
                <a16:creationId xmlns:a16="http://schemas.microsoft.com/office/drawing/2014/main" id="{21BD1BB2-DC0A-740A-550D-3FD84F463DB3}"/>
              </a:ext>
            </a:extLst>
          </p:cNvPr>
          <p:cNvSpPr/>
          <p:nvPr/>
        </p:nvSpPr>
        <p:spPr>
          <a:xfrm>
            <a:off x="3207282" y="4557919"/>
            <a:ext cx="1391521" cy="1691708"/>
          </a:xfrm>
          <a:prstGeom prst="roundRect">
            <a:avLst>
              <a:gd name="adj" fmla="val 9524"/>
            </a:avLst>
          </a:prstGeom>
          <a:solidFill>
            <a:schemeClr val="accent5">
              <a:lumMod val="20000"/>
              <a:lumOff val="80000"/>
            </a:schemeClr>
          </a:solidFill>
          <a:ln>
            <a:solidFill>
              <a:schemeClr val="bg1">
                <a:lumMod val="75000"/>
              </a:schemeClr>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60" name="正方形/長方形 59">
            <a:extLst>
              <a:ext uri="{FF2B5EF4-FFF2-40B4-BE49-F238E27FC236}">
                <a16:creationId xmlns:a16="http://schemas.microsoft.com/office/drawing/2014/main" id="{43B9CB93-8D2C-1E4D-D7AA-4E05221C7121}"/>
              </a:ext>
            </a:extLst>
          </p:cNvPr>
          <p:cNvSpPr/>
          <p:nvPr/>
        </p:nvSpPr>
        <p:spPr>
          <a:xfrm>
            <a:off x="3257006" y="4612077"/>
            <a:ext cx="1292073" cy="281620"/>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電カル共有</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62" name="四角形: 角を丸くする 61">
            <a:extLst>
              <a:ext uri="{FF2B5EF4-FFF2-40B4-BE49-F238E27FC236}">
                <a16:creationId xmlns:a16="http://schemas.microsoft.com/office/drawing/2014/main" id="{1A8C73A0-F3A8-800B-72EB-552A2CD98D30}"/>
              </a:ext>
            </a:extLst>
          </p:cNvPr>
          <p:cNvSpPr/>
          <p:nvPr/>
        </p:nvSpPr>
        <p:spPr>
          <a:xfrm>
            <a:off x="4940698" y="4582454"/>
            <a:ext cx="1391522" cy="1214844"/>
          </a:xfrm>
          <a:prstGeom prst="roundRect">
            <a:avLst>
              <a:gd name="adj" fmla="val 9524"/>
            </a:avLst>
          </a:prstGeom>
          <a:solidFill>
            <a:schemeClr val="accent5">
              <a:lumMod val="20000"/>
              <a:lumOff val="80000"/>
            </a:schemeClr>
          </a:solidFill>
          <a:ln>
            <a:solidFill>
              <a:schemeClr val="bg1">
                <a:lumMod val="75000"/>
              </a:schemeClr>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64" name="正方形/長方形 63">
            <a:extLst>
              <a:ext uri="{FF2B5EF4-FFF2-40B4-BE49-F238E27FC236}">
                <a16:creationId xmlns:a16="http://schemas.microsoft.com/office/drawing/2014/main" id="{320E1982-AF15-9ADB-DB7B-D1828C438D82}"/>
              </a:ext>
            </a:extLst>
          </p:cNvPr>
          <p:cNvSpPr/>
          <p:nvPr/>
        </p:nvSpPr>
        <p:spPr>
          <a:xfrm>
            <a:off x="4845287" y="4636611"/>
            <a:ext cx="1510406" cy="281620"/>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オン資</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grpSp>
        <p:nvGrpSpPr>
          <p:cNvPr id="66" name="Group 226">
            <a:extLst>
              <a:ext uri="{FF2B5EF4-FFF2-40B4-BE49-F238E27FC236}">
                <a16:creationId xmlns:a16="http://schemas.microsoft.com/office/drawing/2014/main" id="{C2BF2766-D3E4-9C26-61D4-F4B5A3B2EC57}"/>
              </a:ext>
            </a:extLst>
          </p:cNvPr>
          <p:cNvGrpSpPr>
            <a:grpSpLocks noChangeAspect="1"/>
          </p:cNvGrpSpPr>
          <p:nvPr/>
        </p:nvGrpSpPr>
        <p:grpSpPr bwMode="auto">
          <a:xfrm>
            <a:off x="5380405" y="5168609"/>
            <a:ext cx="504420" cy="552596"/>
            <a:chOff x="2437" y="456"/>
            <a:chExt cx="356" cy="390"/>
          </a:xfrm>
          <a:solidFill>
            <a:srgbClr val="000000"/>
          </a:solidFill>
        </p:grpSpPr>
        <p:sp>
          <p:nvSpPr>
            <p:cNvPr id="67" name="Freeform 227">
              <a:extLst>
                <a:ext uri="{FF2B5EF4-FFF2-40B4-BE49-F238E27FC236}">
                  <a16:creationId xmlns:a16="http://schemas.microsoft.com/office/drawing/2014/main" id="{29259AFA-FE68-0249-2AE8-E4BA6DDD555A}"/>
                </a:ext>
              </a:extLst>
            </p:cNvPr>
            <p:cNvSpPr>
              <a:spLocks noEditPoints="1"/>
            </p:cNvSpPr>
            <p:nvPr/>
          </p:nvSpPr>
          <p:spPr bwMode="auto">
            <a:xfrm>
              <a:off x="2437" y="456"/>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2" y="108"/>
                    <a:pt x="0" y="84"/>
                    <a:pt x="0" y="54"/>
                  </a:cubicBezTo>
                  <a:cubicBezTo>
                    <a:pt x="0" y="23"/>
                    <a:pt x="52"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F497D"/>
                </a:solidFill>
                <a:effectLst/>
                <a:uLnTx/>
                <a:uFillTx/>
                <a:latin typeface="Arial"/>
                <a:ea typeface="Meiryo UI"/>
                <a:cs typeface="Arial" charset="0"/>
              </a:endParaRPr>
            </a:p>
          </p:txBody>
        </p:sp>
        <p:sp>
          <p:nvSpPr>
            <p:cNvPr id="68" name="Freeform 228">
              <a:extLst>
                <a:ext uri="{FF2B5EF4-FFF2-40B4-BE49-F238E27FC236}">
                  <a16:creationId xmlns:a16="http://schemas.microsoft.com/office/drawing/2014/main" id="{DA241076-D752-808E-0533-5761082ED81F}"/>
                </a:ext>
              </a:extLst>
            </p:cNvPr>
            <p:cNvSpPr>
              <a:spLocks/>
            </p:cNvSpPr>
            <p:nvPr/>
          </p:nvSpPr>
          <p:spPr bwMode="auto">
            <a:xfrm>
              <a:off x="2437" y="598"/>
              <a:ext cx="356" cy="89"/>
            </a:xfrm>
            <a:custGeom>
              <a:avLst/>
              <a:gdLst>
                <a:gd name="T0" fmla="*/ 120 w 240"/>
                <a:gd name="T1" fmla="*/ 60 h 60"/>
                <a:gd name="T2" fmla="*/ 0 w 240"/>
                <a:gd name="T3" fmla="*/ 6 h 60"/>
                <a:gd name="T4" fmla="*/ 6 w 240"/>
                <a:gd name="T5" fmla="*/ 0 h 60"/>
                <a:gd name="T6" fmla="*/ 12 w 240"/>
                <a:gd name="T7" fmla="*/ 6 h 60"/>
                <a:gd name="T8" fmla="*/ 120 w 240"/>
                <a:gd name="T9" fmla="*/ 48 h 60"/>
                <a:gd name="T10" fmla="*/ 228 w 240"/>
                <a:gd name="T11" fmla="*/ 6 h 60"/>
                <a:gd name="T12" fmla="*/ 234 w 240"/>
                <a:gd name="T13" fmla="*/ 0 h 60"/>
                <a:gd name="T14" fmla="*/ 240 w 240"/>
                <a:gd name="T15" fmla="*/ 6 h 60"/>
                <a:gd name="T16" fmla="*/ 120 w 240"/>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60">
                  <a:moveTo>
                    <a:pt x="120" y="60"/>
                  </a:moveTo>
                  <a:cubicBezTo>
                    <a:pt x="52" y="60"/>
                    <a:pt x="0" y="36"/>
                    <a:pt x="0" y="6"/>
                  </a:cubicBezTo>
                  <a:cubicBezTo>
                    <a:pt x="0" y="2"/>
                    <a:pt x="2" y="0"/>
                    <a:pt x="6" y="0"/>
                  </a:cubicBezTo>
                  <a:cubicBezTo>
                    <a:pt x="9" y="0"/>
                    <a:pt x="12" y="2"/>
                    <a:pt x="12" y="6"/>
                  </a:cubicBezTo>
                  <a:cubicBezTo>
                    <a:pt x="12" y="26"/>
                    <a:pt x="56" y="48"/>
                    <a:pt x="120" y="48"/>
                  </a:cubicBezTo>
                  <a:cubicBezTo>
                    <a:pt x="183" y="48"/>
                    <a:pt x="228" y="26"/>
                    <a:pt x="228" y="6"/>
                  </a:cubicBezTo>
                  <a:cubicBezTo>
                    <a:pt x="228" y="2"/>
                    <a:pt x="230" y="0"/>
                    <a:pt x="234" y="0"/>
                  </a:cubicBezTo>
                  <a:cubicBezTo>
                    <a:pt x="237" y="0"/>
                    <a:pt x="240" y="2"/>
                    <a:pt x="240" y="6"/>
                  </a:cubicBezTo>
                  <a:cubicBezTo>
                    <a:pt x="240" y="36"/>
                    <a:pt x="187"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F497D"/>
                </a:solidFill>
                <a:effectLst/>
                <a:uLnTx/>
                <a:uFillTx/>
                <a:latin typeface="Arial"/>
                <a:ea typeface="Meiryo UI"/>
                <a:cs typeface="Arial" charset="0"/>
              </a:endParaRPr>
            </a:p>
          </p:txBody>
        </p:sp>
        <p:sp>
          <p:nvSpPr>
            <p:cNvPr id="69" name="Freeform 229">
              <a:extLst>
                <a:ext uri="{FF2B5EF4-FFF2-40B4-BE49-F238E27FC236}">
                  <a16:creationId xmlns:a16="http://schemas.microsoft.com/office/drawing/2014/main" id="{9C171FF3-5058-2F9C-E3E1-9A1B7B51A350}"/>
                </a:ext>
              </a:extLst>
            </p:cNvPr>
            <p:cNvSpPr>
              <a:spLocks/>
            </p:cNvSpPr>
            <p:nvPr/>
          </p:nvSpPr>
          <p:spPr bwMode="auto">
            <a:xfrm>
              <a:off x="2437" y="678"/>
              <a:ext cx="356" cy="88"/>
            </a:xfrm>
            <a:custGeom>
              <a:avLst/>
              <a:gdLst>
                <a:gd name="T0" fmla="*/ 120 w 240"/>
                <a:gd name="T1" fmla="*/ 60 h 60"/>
                <a:gd name="T2" fmla="*/ 0 w 240"/>
                <a:gd name="T3" fmla="*/ 6 h 60"/>
                <a:gd name="T4" fmla="*/ 6 w 240"/>
                <a:gd name="T5" fmla="*/ 0 h 60"/>
                <a:gd name="T6" fmla="*/ 12 w 240"/>
                <a:gd name="T7" fmla="*/ 6 h 60"/>
                <a:gd name="T8" fmla="*/ 120 w 240"/>
                <a:gd name="T9" fmla="*/ 48 h 60"/>
                <a:gd name="T10" fmla="*/ 228 w 240"/>
                <a:gd name="T11" fmla="*/ 6 h 60"/>
                <a:gd name="T12" fmla="*/ 234 w 240"/>
                <a:gd name="T13" fmla="*/ 0 h 60"/>
                <a:gd name="T14" fmla="*/ 240 w 240"/>
                <a:gd name="T15" fmla="*/ 6 h 60"/>
                <a:gd name="T16" fmla="*/ 120 w 240"/>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60">
                  <a:moveTo>
                    <a:pt x="120" y="60"/>
                  </a:moveTo>
                  <a:cubicBezTo>
                    <a:pt x="52" y="60"/>
                    <a:pt x="0" y="36"/>
                    <a:pt x="0" y="6"/>
                  </a:cubicBezTo>
                  <a:cubicBezTo>
                    <a:pt x="0" y="2"/>
                    <a:pt x="2" y="0"/>
                    <a:pt x="6" y="0"/>
                  </a:cubicBezTo>
                  <a:cubicBezTo>
                    <a:pt x="9" y="0"/>
                    <a:pt x="12" y="2"/>
                    <a:pt x="12" y="6"/>
                  </a:cubicBezTo>
                  <a:cubicBezTo>
                    <a:pt x="12" y="26"/>
                    <a:pt x="56" y="48"/>
                    <a:pt x="120" y="48"/>
                  </a:cubicBezTo>
                  <a:cubicBezTo>
                    <a:pt x="183" y="48"/>
                    <a:pt x="228" y="26"/>
                    <a:pt x="228" y="6"/>
                  </a:cubicBezTo>
                  <a:cubicBezTo>
                    <a:pt x="228" y="2"/>
                    <a:pt x="230" y="0"/>
                    <a:pt x="234" y="0"/>
                  </a:cubicBezTo>
                  <a:cubicBezTo>
                    <a:pt x="237" y="0"/>
                    <a:pt x="240" y="2"/>
                    <a:pt x="240" y="6"/>
                  </a:cubicBezTo>
                  <a:cubicBezTo>
                    <a:pt x="240" y="36"/>
                    <a:pt x="187"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F497D"/>
                </a:solidFill>
                <a:effectLst/>
                <a:uLnTx/>
                <a:uFillTx/>
                <a:latin typeface="Arial"/>
                <a:ea typeface="Meiryo UI"/>
                <a:cs typeface="Arial" charset="0"/>
              </a:endParaRPr>
            </a:p>
          </p:txBody>
        </p:sp>
        <p:sp>
          <p:nvSpPr>
            <p:cNvPr id="70" name="Freeform 230">
              <a:extLst>
                <a:ext uri="{FF2B5EF4-FFF2-40B4-BE49-F238E27FC236}">
                  <a16:creationId xmlns:a16="http://schemas.microsoft.com/office/drawing/2014/main" id="{3A4567E5-0360-3523-E455-E515CA4FBEF0}"/>
                </a:ext>
              </a:extLst>
            </p:cNvPr>
            <p:cNvSpPr>
              <a:spLocks/>
            </p:cNvSpPr>
            <p:nvPr/>
          </p:nvSpPr>
          <p:spPr bwMode="auto">
            <a:xfrm>
              <a:off x="2437" y="527"/>
              <a:ext cx="356" cy="319"/>
            </a:xfrm>
            <a:custGeom>
              <a:avLst/>
              <a:gdLst>
                <a:gd name="T0" fmla="*/ 120 w 240"/>
                <a:gd name="T1" fmla="*/ 216 h 216"/>
                <a:gd name="T2" fmla="*/ 0 w 240"/>
                <a:gd name="T3" fmla="*/ 162 h 216"/>
                <a:gd name="T4" fmla="*/ 0 w 240"/>
                <a:gd name="T5" fmla="*/ 6 h 216"/>
                <a:gd name="T6" fmla="*/ 6 w 240"/>
                <a:gd name="T7" fmla="*/ 0 h 216"/>
                <a:gd name="T8" fmla="*/ 12 w 240"/>
                <a:gd name="T9" fmla="*/ 6 h 216"/>
                <a:gd name="T10" fmla="*/ 12 w 240"/>
                <a:gd name="T11" fmla="*/ 162 h 216"/>
                <a:gd name="T12" fmla="*/ 120 w 240"/>
                <a:gd name="T13" fmla="*/ 204 h 216"/>
                <a:gd name="T14" fmla="*/ 228 w 240"/>
                <a:gd name="T15" fmla="*/ 162 h 216"/>
                <a:gd name="T16" fmla="*/ 228 w 240"/>
                <a:gd name="T17" fmla="*/ 6 h 216"/>
                <a:gd name="T18" fmla="*/ 234 w 240"/>
                <a:gd name="T19" fmla="*/ 0 h 216"/>
                <a:gd name="T20" fmla="*/ 240 w 240"/>
                <a:gd name="T21" fmla="*/ 6 h 216"/>
                <a:gd name="T22" fmla="*/ 240 w 240"/>
                <a:gd name="T23" fmla="*/ 162 h 216"/>
                <a:gd name="T24" fmla="*/ 120 w 240"/>
                <a:gd name="T25"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0" h="216">
                  <a:moveTo>
                    <a:pt x="120" y="216"/>
                  </a:moveTo>
                  <a:cubicBezTo>
                    <a:pt x="52" y="216"/>
                    <a:pt x="0" y="192"/>
                    <a:pt x="0" y="162"/>
                  </a:cubicBezTo>
                  <a:cubicBezTo>
                    <a:pt x="0" y="6"/>
                    <a:pt x="0" y="6"/>
                    <a:pt x="0" y="6"/>
                  </a:cubicBezTo>
                  <a:cubicBezTo>
                    <a:pt x="0" y="2"/>
                    <a:pt x="2" y="0"/>
                    <a:pt x="6" y="0"/>
                  </a:cubicBezTo>
                  <a:cubicBezTo>
                    <a:pt x="9" y="0"/>
                    <a:pt x="12" y="2"/>
                    <a:pt x="12" y="6"/>
                  </a:cubicBezTo>
                  <a:cubicBezTo>
                    <a:pt x="12" y="162"/>
                    <a:pt x="12" y="162"/>
                    <a:pt x="12" y="162"/>
                  </a:cubicBezTo>
                  <a:cubicBezTo>
                    <a:pt x="12" y="182"/>
                    <a:pt x="56" y="204"/>
                    <a:pt x="120" y="204"/>
                  </a:cubicBezTo>
                  <a:cubicBezTo>
                    <a:pt x="183" y="204"/>
                    <a:pt x="228" y="182"/>
                    <a:pt x="228" y="162"/>
                  </a:cubicBezTo>
                  <a:cubicBezTo>
                    <a:pt x="228" y="6"/>
                    <a:pt x="228" y="6"/>
                    <a:pt x="228" y="6"/>
                  </a:cubicBezTo>
                  <a:cubicBezTo>
                    <a:pt x="228" y="2"/>
                    <a:pt x="230" y="0"/>
                    <a:pt x="234" y="0"/>
                  </a:cubicBezTo>
                  <a:cubicBezTo>
                    <a:pt x="237" y="0"/>
                    <a:pt x="240" y="2"/>
                    <a:pt x="240" y="6"/>
                  </a:cubicBezTo>
                  <a:cubicBezTo>
                    <a:pt x="240" y="162"/>
                    <a:pt x="240" y="162"/>
                    <a:pt x="240" y="162"/>
                  </a:cubicBezTo>
                  <a:cubicBezTo>
                    <a:pt x="240" y="192"/>
                    <a:pt x="187" y="216"/>
                    <a:pt x="120"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F497D"/>
                </a:solidFill>
                <a:effectLst/>
                <a:uLnTx/>
                <a:uFillTx/>
                <a:latin typeface="Arial"/>
                <a:ea typeface="Meiryo UI"/>
                <a:cs typeface="Arial" charset="0"/>
              </a:endParaRPr>
            </a:p>
          </p:txBody>
        </p:sp>
      </p:grpSp>
      <p:cxnSp>
        <p:nvCxnSpPr>
          <p:cNvPr id="72" name="直線矢印コネクタ 71">
            <a:extLst>
              <a:ext uri="{FF2B5EF4-FFF2-40B4-BE49-F238E27FC236}">
                <a16:creationId xmlns:a16="http://schemas.microsoft.com/office/drawing/2014/main" id="{13041001-833A-7D89-E872-C3C1A13646FE}"/>
              </a:ext>
            </a:extLst>
          </p:cNvPr>
          <p:cNvCxnSpPr>
            <a:cxnSpLocks/>
          </p:cNvCxnSpPr>
          <p:nvPr/>
        </p:nvCxnSpPr>
        <p:spPr bwMode="auto">
          <a:xfrm>
            <a:off x="1455420" y="5395315"/>
            <a:ext cx="1956714"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27" name="正方形/長方形 26">
            <a:extLst>
              <a:ext uri="{FF2B5EF4-FFF2-40B4-BE49-F238E27FC236}">
                <a16:creationId xmlns:a16="http://schemas.microsoft.com/office/drawing/2014/main" id="{D4023EDE-4D9F-13B5-D7C5-4FA64F1B13ED}"/>
              </a:ext>
            </a:extLst>
          </p:cNvPr>
          <p:cNvSpPr/>
          <p:nvPr/>
        </p:nvSpPr>
        <p:spPr>
          <a:xfrm>
            <a:off x="3444511" y="4940779"/>
            <a:ext cx="158726" cy="1142259"/>
          </a:xfrm>
          <a:prstGeom prst="rect">
            <a:avLst/>
          </a:prstGeom>
          <a:solidFill>
            <a:schemeClr val="bg2"/>
          </a:solid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0">
                <a:ln>
                  <a:noFill/>
                </a:ln>
                <a:solidFill>
                  <a:prstClr val="black"/>
                </a:solidFill>
                <a:effectLst/>
                <a:uLnTx/>
                <a:uFillTx/>
                <a:latin typeface="Meiryo UI"/>
                <a:ea typeface="Meiryo UI"/>
                <a:cs typeface="Arial" charset="0"/>
              </a:rPr>
              <a:t>バリデーションチェック</a:t>
            </a:r>
            <a:endParaRPr kumimoji="1" lang="en-US" altLang="ja-JP" sz="6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75" name="正方形/長方形 74">
            <a:extLst>
              <a:ext uri="{FF2B5EF4-FFF2-40B4-BE49-F238E27FC236}">
                <a16:creationId xmlns:a16="http://schemas.microsoft.com/office/drawing/2014/main" id="{71A21CB9-FE73-5BD3-8698-421406A02EA5}"/>
              </a:ext>
            </a:extLst>
          </p:cNvPr>
          <p:cNvSpPr/>
          <p:nvPr/>
        </p:nvSpPr>
        <p:spPr>
          <a:xfrm>
            <a:off x="4210602" y="4940779"/>
            <a:ext cx="158726" cy="1142259"/>
          </a:xfrm>
          <a:prstGeom prst="rect">
            <a:avLst/>
          </a:prstGeom>
          <a:solidFill>
            <a:schemeClr val="bg2"/>
          </a:solid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0">
                <a:ln>
                  <a:noFill/>
                </a:ln>
                <a:solidFill>
                  <a:prstClr val="black"/>
                </a:solidFill>
                <a:effectLst/>
                <a:uLnTx/>
                <a:uFillTx/>
                <a:latin typeface="Meiryo UI"/>
                <a:ea typeface="Meiryo UI"/>
                <a:cs typeface="Arial" charset="0"/>
              </a:rPr>
              <a:t>オン資連携用形式に加工</a:t>
            </a:r>
            <a:endParaRPr kumimoji="1" lang="en-US" altLang="ja-JP" sz="600" b="0" i="0" u="none" strike="noStrike" kern="1200" cap="none" spc="0" normalizeH="0" baseline="0" noProof="0">
              <a:ln>
                <a:noFill/>
              </a:ln>
              <a:solidFill>
                <a:prstClr val="black"/>
              </a:solidFill>
              <a:effectLst/>
              <a:uLnTx/>
              <a:uFillTx/>
              <a:latin typeface="Meiryo UI"/>
              <a:ea typeface="Meiryo UI"/>
              <a:cs typeface="Arial" charset="0"/>
            </a:endParaRPr>
          </a:p>
        </p:txBody>
      </p:sp>
      <p:cxnSp>
        <p:nvCxnSpPr>
          <p:cNvPr id="77" name="直線矢印コネクタ 76">
            <a:extLst>
              <a:ext uri="{FF2B5EF4-FFF2-40B4-BE49-F238E27FC236}">
                <a16:creationId xmlns:a16="http://schemas.microsoft.com/office/drawing/2014/main" id="{666C9C4D-A786-5ABE-551E-7A2F5EB27E20}"/>
              </a:ext>
            </a:extLst>
          </p:cNvPr>
          <p:cNvCxnSpPr>
            <a:cxnSpLocks/>
          </p:cNvCxnSpPr>
          <p:nvPr/>
        </p:nvCxnSpPr>
        <p:spPr bwMode="auto">
          <a:xfrm>
            <a:off x="3637257" y="5395315"/>
            <a:ext cx="49659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9" name="直線矢印コネクタ 78">
            <a:extLst>
              <a:ext uri="{FF2B5EF4-FFF2-40B4-BE49-F238E27FC236}">
                <a16:creationId xmlns:a16="http://schemas.microsoft.com/office/drawing/2014/main" id="{E07F0D38-B9E3-0264-B04B-6635A7B861AE}"/>
              </a:ext>
            </a:extLst>
          </p:cNvPr>
          <p:cNvCxnSpPr>
            <a:cxnSpLocks/>
          </p:cNvCxnSpPr>
          <p:nvPr/>
        </p:nvCxnSpPr>
        <p:spPr bwMode="auto">
          <a:xfrm>
            <a:off x="4407763" y="5395315"/>
            <a:ext cx="911682"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43" name="正方形/長方形 42">
            <a:extLst>
              <a:ext uri="{FF2B5EF4-FFF2-40B4-BE49-F238E27FC236}">
                <a16:creationId xmlns:a16="http://schemas.microsoft.com/office/drawing/2014/main" id="{AA9F0F2A-3157-0D74-3BAE-C8040228B161}"/>
              </a:ext>
            </a:extLst>
          </p:cNvPr>
          <p:cNvSpPr/>
          <p:nvPr/>
        </p:nvSpPr>
        <p:spPr>
          <a:xfrm>
            <a:off x="5044254" y="4983310"/>
            <a:ext cx="1165559" cy="212625"/>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Arial" charset="0"/>
              </a:rPr>
              <a:t>臨床情報</a:t>
            </a:r>
            <a:r>
              <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rPr>
              <a:t>DB</a:t>
            </a:r>
          </a:p>
        </p:txBody>
      </p:sp>
      <p:sp>
        <p:nvSpPr>
          <p:cNvPr id="82" name="四角形: 角を丸くする 81">
            <a:extLst>
              <a:ext uri="{FF2B5EF4-FFF2-40B4-BE49-F238E27FC236}">
                <a16:creationId xmlns:a16="http://schemas.microsoft.com/office/drawing/2014/main" id="{F99AB8D6-5FF0-DA91-FA44-4B1C9AE4979C}"/>
              </a:ext>
            </a:extLst>
          </p:cNvPr>
          <p:cNvSpPr/>
          <p:nvPr/>
        </p:nvSpPr>
        <p:spPr>
          <a:xfrm>
            <a:off x="7722350" y="4761733"/>
            <a:ext cx="1190374" cy="912731"/>
          </a:xfrm>
          <a:prstGeom prst="roundRect">
            <a:avLst>
              <a:gd name="adj" fmla="val 9524"/>
            </a:avLst>
          </a:prstGeom>
          <a:solidFill>
            <a:schemeClr val="bg1">
              <a:lumMod val="95000"/>
            </a:schemeClr>
          </a:solidFill>
          <a:ln>
            <a:solidFill>
              <a:schemeClr val="bg1">
                <a:lumMod val="75000"/>
              </a:schemeClr>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84" name="正方形/長方形 83">
            <a:extLst>
              <a:ext uri="{FF2B5EF4-FFF2-40B4-BE49-F238E27FC236}">
                <a16:creationId xmlns:a16="http://schemas.microsoft.com/office/drawing/2014/main" id="{0D008C12-EA35-210E-7141-57A57B9B11B5}"/>
              </a:ext>
            </a:extLst>
          </p:cNvPr>
          <p:cNvSpPr/>
          <p:nvPr/>
        </p:nvSpPr>
        <p:spPr>
          <a:xfrm>
            <a:off x="7671501" y="4768005"/>
            <a:ext cx="1292073" cy="281620"/>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閲覧医療機関</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pic>
        <p:nvPicPr>
          <p:cNvPr id="86" name="グラフィックス 85" descr="コンピューター 枠線">
            <a:extLst>
              <a:ext uri="{FF2B5EF4-FFF2-40B4-BE49-F238E27FC236}">
                <a16:creationId xmlns:a16="http://schemas.microsoft.com/office/drawing/2014/main" id="{98ADE221-1153-5524-2BB3-04DBA9AF824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42926" y="5147452"/>
            <a:ext cx="549222" cy="549222"/>
          </a:xfrm>
          <a:prstGeom prst="rect">
            <a:avLst/>
          </a:prstGeom>
        </p:spPr>
      </p:pic>
      <p:cxnSp>
        <p:nvCxnSpPr>
          <p:cNvPr id="87" name="コネクタ: カギ線 86">
            <a:extLst>
              <a:ext uri="{FF2B5EF4-FFF2-40B4-BE49-F238E27FC236}">
                <a16:creationId xmlns:a16="http://schemas.microsoft.com/office/drawing/2014/main" id="{EBF82D58-A4F1-D224-2457-3AFBC81071B9}"/>
              </a:ext>
            </a:extLst>
          </p:cNvPr>
          <p:cNvCxnSpPr>
            <a:cxnSpLocks/>
          </p:cNvCxnSpPr>
          <p:nvPr/>
        </p:nvCxnSpPr>
        <p:spPr bwMode="auto">
          <a:xfrm rot="10800000" flipV="1">
            <a:off x="7599576" y="5076168"/>
            <a:ext cx="71925" cy="398438"/>
          </a:xfrm>
          <a:prstGeom prst="bentConnector3">
            <a:avLst>
              <a:gd name="adj1" fmla="val 2103132"/>
            </a:avLst>
          </a:prstGeom>
          <a:solidFill>
            <a:schemeClr val="bg1"/>
          </a:solidFill>
          <a:ln w="9525" cap="flat" cmpd="sng" algn="ctr">
            <a:solidFill>
              <a:schemeClr val="bg1">
                <a:lumMod val="50000"/>
              </a:schemeClr>
            </a:solidFill>
            <a:prstDash val="solid"/>
            <a:round/>
            <a:headEnd type="none" w="med" len="med"/>
            <a:tailEnd type="triangle"/>
          </a:ln>
          <a:effectLst/>
        </p:spPr>
      </p:cxnSp>
      <p:grpSp>
        <p:nvGrpSpPr>
          <p:cNvPr id="88" name="グループ化 87">
            <a:extLst>
              <a:ext uri="{FF2B5EF4-FFF2-40B4-BE49-F238E27FC236}">
                <a16:creationId xmlns:a16="http://schemas.microsoft.com/office/drawing/2014/main" id="{0728FCA1-CA46-E4FA-C618-11C4238FD3FD}"/>
              </a:ext>
            </a:extLst>
          </p:cNvPr>
          <p:cNvGrpSpPr/>
          <p:nvPr/>
        </p:nvGrpSpPr>
        <p:grpSpPr>
          <a:xfrm>
            <a:off x="6860845" y="5281962"/>
            <a:ext cx="315123" cy="353580"/>
            <a:chOff x="10349344" y="5411140"/>
            <a:chExt cx="315123" cy="353580"/>
          </a:xfrm>
        </p:grpSpPr>
        <p:sp>
          <p:nvSpPr>
            <p:cNvPr id="89" name="四角形: 角を丸くする 88">
              <a:extLst>
                <a:ext uri="{FF2B5EF4-FFF2-40B4-BE49-F238E27FC236}">
                  <a16:creationId xmlns:a16="http://schemas.microsoft.com/office/drawing/2014/main" id="{D5BD640A-B5E4-2BFE-2683-68ED7D8D8081}"/>
                </a:ext>
              </a:extLst>
            </p:cNvPr>
            <p:cNvSpPr/>
            <p:nvPr/>
          </p:nvSpPr>
          <p:spPr>
            <a:xfrm flipV="1">
              <a:off x="10349344" y="5411140"/>
              <a:ext cx="315123" cy="353580"/>
            </a:xfrm>
            <a:prstGeom prst="roundRect">
              <a:avLst>
                <a:gd name="adj" fmla="val 9524"/>
              </a:avLst>
            </a:prstGeom>
            <a:solidFill>
              <a:schemeClr val="bg1"/>
            </a:solidFill>
            <a:ln>
              <a:solidFill>
                <a:schemeClr val="bg1"/>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pic>
          <p:nvPicPr>
            <p:cNvPr id="90" name="グラフィックス 89" descr="ドキュメント 枠線">
              <a:extLst>
                <a:ext uri="{FF2B5EF4-FFF2-40B4-BE49-F238E27FC236}">
                  <a16:creationId xmlns:a16="http://schemas.microsoft.com/office/drawing/2014/main" id="{26D41352-6491-F1B2-F2F8-3442C4B588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49344" y="5437416"/>
              <a:ext cx="315123" cy="315123"/>
            </a:xfrm>
            <a:prstGeom prst="rect">
              <a:avLst/>
            </a:prstGeom>
          </p:spPr>
        </p:pic>
      </p:grpSp>
      <p:sp>
        <p:nvSpPr>
          <p:cNvPr id="46" name="吹き出し: 角を丸めた四角形 45">
            <a:extLst>
              <a:ext uri="{FF2B5EF4-FFF2-40B4-BE49-F238E27FC236}">
                <a16:creationId xmlns:a16="http://schemas.microsoft.com/office/drawing/2014/main" id="{1DF0A441-8723-1D17-AB57-8B9C876709B0}"/>
              </a:ext>
            </a:extLst>
          </p:cNvPr>
          <p:cNvSpPr/>
          <p:nvPr/>
        </p:nvSpPr>
        <p:spPr>
          <a:xfrm>
            <a:off x="6226215" y="5936395"/>
            <a:ext cx="1709263" cy="489562"/>
          </a:xfrm>
          <a:prstGeom prst="wedgeRoundRectCallout">
            <a:avLst>
              <a:gd name="adj1" fmla="val -52335"/>
              <a:gd name="adj2" fmla="val -153093"/>
              <a:gd name="adj3" fmla="val 16667"/>
            </a:avLst>
          </a:prstGeom>
          <a:solidFill>
            <a:schemeClr val="accent6">
              <a:lumMod val="20000"/>
              <a:lumOff val="80000"/>
            </a:schemeClr>
          </a:solidFill>
          <a:ln>
            <a:solidFill>
              <a:schemeClr val="accent6"/>
            </a:solidFill>
          </a:ln>
        </p:spPr>
        <p:txBody>
          <a:bodyPr wrap="square" lIns="36000" tIns="36000" rIns="36000" bIns="3600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A</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：出力時に血液型の検査結果を制御する</a:t>
            </a:r>
          </a:p>
        </p:txBody>
      </p:sp>
      <p:sp>
        <p:nvSpPr>
          <p:cNvPr id="93" name="吹き出し: 角を丸めた四角形 92">
            <a:extLst>
              <a:ext uri="{FF2B5EF4-FFF2-40B4-BE49-F238E27FC236}">
                <a16:creationId xmlns:a16="http://schemas.microsoft.com/office/drawing/2014/main" id="{62E8ED1E-1822-4614-2E5C-26BD50F27A39}"/>
              </a:ext>
            </a:extLst>
          </p:cNvPr>
          <p:cNvSpPr/>
          <p:nvPr/>
        </p:nvSpPr>
        <p:spPr>
          <a:xfrm>
            <a:off x="3520495" y="6269147"/>
            <a:ext cx="1709263" cy="489562"/>
          </a:xfrm>
          <a:prstGeom prst="wedgeRoundRectCallout">
            <a:avLst>
              <a:gd name="adj1" fmla="val 3837"/>
              <a:gd name="adj2" fmla="val -106398"/>
              <a:gd name="adj3" fmla="val 16667"/>
            </a:avLst>
          </a:prstGeom>
          <a:solidFill>
            <a:schemeClr val="accent6">
              <a:lumMod val="20000"/>
              <a:lumOff val="80000"/>
            </a:schemeClr>
          </a:solidFill>
          <a:ln>
            <a:solidFill>
              <a:schemeClr val="accent6"/>
            </a:solidFill>
          </a:ln>
        </p:spPr>
        <p:txBody>
          <a:bodyPr wrap="square" lIns="36000" tIns="36000" rIns="36000" bIns="3600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B</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：臨床情報</a:t>
            </a:r>
            <a:r>
              <a:rPr kumimoji="1" lang="en-US" altLang="ja-JP" sz="1200" b="0" i="0" u="none" strike="noStrike" kern="1200" cap="none" spc="0" normalizeH="0" baseline="0" noProof="0">
                <a:ln>
                  <a:noFill/>
                </a:ln>
                <a:solidFill>
                  <a:prstClr val="black"/>
                </a:solidFill>
                <a:effectLst/>
                <a:uLnTx/>
                <a:uFillTx/>
                <a:latin typeface="Meiryo UI"/>
                <a:ea typeface="Meiryo UI"/>
                <a:cs typeface="Arial" charset="0"/>
              </a:rPr>
              <a:t>DB</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に連携しない</a:t>
            </a:r>
          </a:p>
        </p:txBody>
      </p:sp>
      <p:cxnSp>
        <p:nvCxnSpPr>
          <p:cNvPr id="94" name="コネクタ: カギ線 93">
            <a:extLst>
              <a:ext uri="{FF2B5EF4-FFF2-40B4-BE49-F238E27FC236}">
                <a16:creationId xmlns:a16="http://schemas.microsoft.com/office/drawing/2014/main" id="{41C974B2-5727-F9FB-BA12-5377B316C4F6}"/>
              </a:ext>
            </a:extLst>
          </p:cNvPr>
          <p:cNvCxnSpPr>
            <a:cxnSpLocks/>
          </p:cNvCxnSpPr>
          <p:nvPr/>
        </p:nvCxnSpPr>
        <p:spPr bwMode="auto">
          <a:xfrm rot="16200000" flipH="1">
            <a:off x="3533679" y="5525832"/>
            <a:ext cx="447014" cy="185979"/>
          </a:xfrm>
          <a:prstGeom prst="bentConnector3">
            <a:avLst>
              <a:gd name="adj1" fmla="val -1139"/>
            </a:avLst>
          </a:prstGeom>
          <a:solidFill>
            <a:schemeClr val="bg1"/>
          </a:solidFill>
          <a:ln w="9525" cap="flat" cmpd="sng" algn="ctr">
            <a:solidFill>
              <a:schemeClr val="bg1">
                <a:lumMod val="50000"/>
              </a:schemeClr>
            </a:solidFill>
            <a:prstDash val="solid"/>
            <a:round/>
            <a:headEnd type="none" w="med" len="med"/>
            <a:tailEnd type="triangle"/>
          </a:ln>
          <a:effectLst/>
        </p:spPr>
      </p:cxnSp>
      <p:sp>
        <p:nvSpPr>
          <p:cNvPr id="98" name="フローチャート: 磁気ディスク 97">
            <a:extLst>
              <a:ext uri="{FF2B5EF4-FFF2-40B4-BE49-F238E27FC236}">
                <a16:creationId xmlns:a16="http://schemas.microsoft.com/office/drawing/2014/main" id="{6C29C45B-DBD5-8BAB-B241-27BD5D9F98D7}"/>
              </a:ext>
            </a:extLst>
          </p:cNvPr>
          <p:cNvSpPr/>
          <p:nvPr/>
        </p:nvSpPr>
        <p:spPr>
          <a:xfrm>
            <a:off x="3658902" y="5908112"/>
            <a:ext cx="426575" cy="285805"/>
          </a:xfrm>
          <a:prstGeom prst="flowChartMagneticDisk">
            <a:avLst/>
          </a:prstGeom>
          <a:noFill/>
          <a:ln w="28575">
            <a:solidFill>
              <a:schemeClr val="bg1">
                <a:lumMod val="50000"/>
              </a:schemeClr>
            </a:solid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100" name="正方形/長方形 99">
            <a:extLst>
              <a:ext uri="{FF2B5EF4-FFF2-40B4-BE49-F238E27FC236}">
                <a16:creationId xmlns:a16="http://schemas.microsoft.com/office/drawing/2014/main" id="{1FCAB0AB-3DB5-AA28-DEA9-93D1A3C18038}"/>
              </a:ext>
            </a:extLst>
          </p:cNvPr>
          <p:cNvSpPr/>
          <p:nvPr/>
        </p:nvSpPr>
        <p:spPr>
          <a:xfrm>
            <a:off x="3290793" y="5983279"/>
            <a:ext cx="1165559" cy="212625"/>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rPr>
              <a:t>S3</a:t>
            </a:r>
          </a:p>
        </p:txBody>
      </p:sp>
      <p:sp>
        <p:nvSpPr>
          <p:cNvPr id="101" name="乗算記号 100">
            <a:extLst>
              <a:ext uri="{FF2B5EF4-FFF2-40B4-BE49-F238E27FC236}">
                <a16:creationId xmlns:a16="http://schemas.microsoft.com/office/drawing/2014/main" id="{8AD87F44-A56B-0BAE-F0E2-DEDA7C1EEC59}"/>
              </a:ext>
            </a:extLst>
          </p:cNvPr>
          <p:cNvSpPr/>
          <p:nvPr/>
        </p:nvSpPr>
        <p:spPr>
          <a:xfrm>
            <a:off x="4168988" y="5915643"/>
            <a:ext cx="264869" cy="264869"/>
          </a:xfrm>
          <a:prstGeom prst="mathMultiply">
            <a:avLst/>
          </a:prstGeom>
          <a:solidFill>
            <a:srgbClr val="FF0000"/>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103" name="乗算記号 102">
            <a:extLst>
              <a:ext uri="{FF2B5EF4-FFF2-40B4-BE49-F238E27FC236}">
                <a16:creationId xmlns:a16="http://schemas.microsoft.com/office/drawing/2014/main" id="{D78AE4A8-0969-CFA6-6F79-7178A1DC7408}"/>
              </a:ext>
            </a:extLst>
          </p:cNvPr>
          <p:cNvSpPr/>
          <p:nvPr/>
        </p:nvSpPr>
        <p:spPr>
          <a:xfrm>
            <a:off x="6050075" y="5208217"/>
            <a:ext cx="264869" cy="264869"/>
          </a:xfrm>
          <a:prstGeom prst="mathMultiply">
            <a:avLst/>
          </a:prstGeom>
          <a:solidFill>
            <a:srgbClr val="FF0000"/>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104" name="吹き出し: 角を丸めた四角形 103">
            <a:extLst>
              <a:ext uri="{FF2B5EF4-FFF2-40B4-BE49-F238E27FC236}">
                <a16:creationId xmlns:a16="http://schemas.microsoft.com/office/drawing/2014/main" id="{6F8FCEA5-9F70-392F-46AB-AE103C9BEF99}"/>
              </a:ext>
            </a:extLst>
          </p:cNvPr>
          <p:cNvSpPr/>
          <p:nvPr/>
        </p:nvSpPr>
        <p:spPr>
          <a:xfrm>
            <a:off x="1276614" y="6266776"/>
            <a:ext cx="1709263" cy="489562"/>
          </a:xfrm>
          <a:prstGeom prst="wedgeRoundRectCallout">
            <a:avLst>
              <a:gd name="adj1" fmla="val 67141"/>
              <a:gd name="adj2" fmla="val -123519"/>
              <a:gd name="adj3" fmla="val 16667"/>
            </a:avLst>
          </a:prstGeom>
          <a:solidFill>
            <a:schemeClr val="accent6">
              <a:lumMod val="20000"/>
              <a:lumOff val="80000"/>
            </a:schemeClr>
          </a:solidFill>
          <a:ln>
            <a:solidFill>
              <a:schemeClr val="accent6"/>
            </a:solidFill>
          </a:ln>
        </p:spPr>
        <p:txBody>
          <a:bodyPr wrap="square" lIns="36000" tIns="36000" rIns="36000" bIns="3600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マスタチェックでエラーにする</a:t>
            </a:r>
          </a:p>
        </p:txBody>
      </p:sp>
      <p:sp>
        <p:nvSpPr>
          <p:cNvPr id="105" name="乗算記号 104">
            <a:extLst>
              <a:ext uri="{FF2B5EF4-FFF2-40B4-BE49-F238E27FC236}">
                <a16:creationId xmlns:a16="http://schemas.microsoft.com/office/drawing/2014/main" id="{2C521251-D7D5-D0F5-73A4-0667C225F299}"/>
              </a:ext>
            </a:extLst>
          </p:cNvPr>
          <p:cNvSpPr/>
          <p:nvPr/>
        </p:nvSpPr>
        <p:spPr>
          <a:xfrm>
            <a:off x="3197177" y="5735759"/>
            <a:ext cx="264869" cy="264869"/>
          </a:xfrm>
          <a:prstGeom prst="mathMultiply">
            <a:avLst/>
          </a:prstGeom>
          <a:solidFill>
            <a:srgbClr val="FF0000"/>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Tree>
    <p:extLst>
      <p:ext uri="{BB962C8B-B14F-4D97-AF65-F5344CB8AC3E}">
        <p14:creationId xmlns:p14="http://schemas.microsoft.com/office/powerpoint/2010/main" val="8931002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ATE" val="2011/01/18 15:52:48"/>
  <p:tag name="STYLE" val="AcnSubjectTitle"/>
</p:tagLst>
</file>

<file path=ppt/tags/tag2.xml><?xml version="1.0" encoding="utf-8"?>
<p:tagLst xmlns:a="http://schemas.openxmlformats.org/drawingml/2006/main" xmlns:r="http://schemas.openxmlformats.org/officeDocument/2006/relationships" xmlns:p="http://schemas.openxmlformats.org/presentationml/2006/main">
  <p:tag name="DATE" val="2011/01/18 15:52:54"/>
  <p:tag name="STYLE" val="AcnUnitofMeasure"/>
</p:tagLst>
</file>

<file path=ppt/tags/tag3.xml><?xml version="1.0" encoding="utf-8"?>
<p:tagLst xmlns:a="http://schemas.openxmlformats.org/drawingml/2006/main" xmlns:r="http://schemas.openxmlformats.org/officeDocument/2006/relationships" xmlns:p="http://schemas.openxmlformats.org/presentationml/2006/main">
  <p:tag name="DATE" val="2011/01/18 15:55:34"/>
  <p:tag name="STYLE" val="AcnRoadmap"/>
</p:tagLst>
</file>

<file path=ppt/tags/tag4.xml><?xml version="1.0" encoding="utf-8"?>
<p:tagLst xmlns:a="http://schemas.openxmlformats.org/drawingml/2006/main" xmlns:r="http://schemas.openxmlformats.org/officeDocument/2006/relationships" xmlns:p="http://schemas.openxmlformats.org/presentationml/2006/main">
  <p:tag name="DATE" val="2011/01/18 15:55:37"/>
  <p:tag name="STYLE" val="AcnStamp"/>
</p:tagLst>
</file>

<file path=ppt/tags/tag5.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6.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7.xml><?xml version="1.0" encoding="utf-8"?>
<p:tagLst xmlns:a="http://schemas.openxmlformats.org/drawingml/2006/main" xmlns:r="http://schemas.openxmlformats.org/officeDocument/2006/relationships" xmlns:p="http://schemas.openxmlformats.org/presentationml/2006/main">
  <p:tag name="DATE" val="2011/01/18 15:59:16"/>
  <p:tag name="STYLE" val="AcnFootno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10.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MyTemplate">
  <a:themeElements>
    <a:clrScheme name="オレンジ">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Masumoto Style">
      <a:majorFont>
        <a:latin typeface="Century"/>
        <a:ea typeface="HGPｺﾞｼｯｸM"/>
        <a:cs typeface=""/>
      </a:majorFont>
      <a:minorFont>
        <a:latin typeface="Century"/>
        <a:ea typeface="HGPｺﾞｼｯｸ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spPr>
      <a:bodyPr vert="horz" wrap="square" rtlCol="0" anchor="ctr">
        <a:noAutofit/>
      </a:bodyPr>
      <a:lstStyle>
        <a:defPPr algn="ctr">
          <a:defRPr kumimoji="1" sz="1000" dirty="0" smtClean="0">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0"/>
          </a:spcBef>
          <a:spcAft>
            <a:spcPct val="0"/>
          </a:spcAft>
          <a:buClrTx/>
          <a:buSzTx/>
          <a:buFontTx/>
          <a:buNone/>
          <a:tabLst/>
          <a:defRPr kumimoji="0" lang="en-AU" sz="3200" b="1" i="0" u="none" strike="noStrike" cap="none" normalizeH="0" baseline="0" smtClean="0">
            <a:ln>
              <a:noFill/>
            </a:ln>
            <a:solidFill>
              <a:schemeClr val="tx1"/>
            </a:solidFill>
            <a:effectLst/>
            <a:latin typeface="Arial" charset="0"/>
          </a:defRPr>
        </a:defPPr>
      </a:lstStyle>
    </a:lnDef>
  </a:objectDefaults>
  <a:extraClrSchemeLst>
    <a:extraClrScheme>
      <a:clrScheme name="InterpretationA_full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InterpretationA_full 2">
        <a:dk1>
          <a:srgbClr val="000000"/>
        </a:dk1>
        <a:lt1>
          <a:srgbClr val="FFFFFF"/>
        </a:lt1>
        <a:dk2>
          <a:srgbClr val="F8F8F8"/>
        </a:dk2>
        <a:lt2>
          <a:srgbClr val="C0C0C0"/>
        </a:lt2>
        <a:accent1>
          <a:srgbClr val="00AA99"/>
        </a:accent1>
        <a:accent2>
          <a:srgbClr val="DD4411"/>
        </a:accent2>
        <a:accent3>
          <a:srgbClr val="FFFFFF"/>
        </a:accent3>
        <a:accent4>
          <a:srgbClr val="000000"/>
        </a:accent4>
        <a:accent5>
          <a:srgbClr val="AAD2CA"/>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
      <a:clrScheme name="InterpretationA_full 3">
        <a:dk1>
          <a:srgbClr val="000000"/>
        </a:dk1>
        <a:lt1>
          <a:srgbClr val="FFFFFF"/>
        </a:lt1>
        <a:dk2>
          <a:srgbClr val="F8F8F8"/>
        </a:dk2>
        <a:lt2>
          <a:srgbClr val="C0C0C0"/>
        </a:lt2>
        <a:accent1>
          <a:srgbClr val="AA1133"/>
        </a:accent1>
        <a:accent2>
          <a:srgbClr val="66AA44"/>
        </a:accent2>
        <a:accent3>
          <a:srgbClr val="FFFFFF"/>
        </a:accent3>
        <a:accent4>
          <a:srgbClr val="000000"/>
        </a:accent4>
        <a:accent5>
          <a:srgbClr val="D2AAAD"/>
        </a:accent5>
        <a:accent6>
          <a:srgbClr val="5C9A3D"/>
        </a:accent6>
        <a:hlink>
          <a:srgbClr val="887799"/>
        </a:hlink>
        <a:folHlink>
          <a:srgbClr val="224433"/>
        </a:folHlink>
      </a:clrScheme>
      <a:clrMap bg1="lt1" tx1="dk1" bg2="lt2" tx2="dk2" accent1="accent1" accent2="accent2" accent3="accent3" accent4="accent4" accent5="accent5" accent6="accent6" hlink="hlink" folHlink="folHlink"/>
    </a:extraClrScheme>
    <a:extraClrScheme>
      <a:clrScheme name="InterpretationA_full 4">
        <a:dk1>
          <a:srgbClr val="000000"/>
        </a:dk1>
        <a:lt1>
          <a:srgbClr val="FFFFFF"/>
        </a:lt1>
        <a:dk2>
          <a:srgbClr val="F8F8F8"/>
        </a:dk2>
        <a:lt2>
          <a:srgbClr val="C0C0C0"/>
        </a:lt2>
        <a:accent1>
          <a:srgbClr val="FF0000"/>
        </a:accent1>
        <a:accent2>
          <a:srgbClr val="FF9900"/>
        </a:accent2>
        <a:accent3>
          <a:srgbClr val="FFFFFF"/>
        </a:accent3>
        <a:accent4>
          <a:srgbClr val="000000"/>
        </a:accent4>
        <a:accent5>
          <a:srgbClr val="FFAAAA"/>
        </a:accent5>
        <a:accent6>
          <a:srgbClr val="E78A00"/>
        </a:accent6>
        <a:hlink>
          <a:srgbClr val="557799"/>
        </a:hlink>
        <a:folHlink>
          <a:srgbClr val="445511"/>
        </a:folHlink>
      </a:clrScheme>
      <a:clrMap bg1="lt1" tx1="dk1" bg2="lt2" tx2="dk2" accent1="accent1" accent2="accent2" accent3="accent3" accent4="accent4" accent5="accent5" accent6="accent6" hlink="hlink" folHlink="folHlink"/>
    </a:extraClrScheme>
    <a:extraClrScheme>
      <a:clrScheme name="InterpretationA_full 5">
        <a:dk1>
          <a:srgbClr val="000000"/>
        </a:dk1>
        <a:lt1>
          <a:srgbClr val="FFFFFF"/>
        </a:lt1>
        <a:dk2>
          <a:srgbClr val="F8F8F8"/>
        </a:dk2>
        <a:lt2>
          <a:srgbClr val="C0C0C0"/>
        </a:lt2>
        <a:accent1>
          <a:srgbClr val="00BBEE"/>
        </a:accent1>
        <a:accent2>
          <a:srgbClr val="DD4411"/>
        </a:accent2>
        <a:accent3>
          <a:srgbClr val="FFFFFF"/>
        </a:accent3>
        <a:accent4>
          <a:srgbClr val="000000"/>
        </a:accent4>
        <a:accent5>
          <a:srgbClr val="AADAF5"/>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62"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17C4542-2F77-4D8C-8F1E-183FA4CE280E}">
  <we:reference id="12cf32e2-483a-4204-b71b-bf2af83debf2" version="1.2.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2093b91-50a3-4498-82d5-91368db29ba4" xsi:nil="true"/>
    <lcf76f155ced4ddcb4097134ff3c332f xmlns="70c72344-a901-41cd-a6da-bfcf15d570e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3514D0-A311-4FBC-94C3-25B67EC60A33}">
  <ds:schemaRefs>
    <ds:schemaRef ds:uri="http://schemas.microsoft.com/sharepoint/v3/contenttype/forms"/>
  </ds:schemaRefs>
</ds:datastoreItem>
</file>

<file path=customXml/itemProps2.xml><?xml version="1.0" encoding="utf-8"?>
<ds:datastoreItem xmlns:ds="http://schemas.openxmlformats.org/officeDocument/2006/customXml" ds:itemID="{D91C391E-7B64-4950-AFEC-61954F399AAC}">
  <ds:schemaRefs>
    <ds:schemaRef ds:uri="22093b91-50a3-4498-82d5-91368db29ba4"/>
    <ds:schemaRef ds:uri="70c72344-a901-41cd-a6da-bfcf15d570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AC13A84-679E-4972-B013-FA3F6080DACC}">
  <ds:schemaRefs>
    <ds:schemaRef ds:uri="22093b91-50a3-4498-82d5-91368db29ba4"/>
    <ds:schemaRef ds:uri="70c72344-a901-41cd-a6da-bfcf15d570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A4 Paper (210x297 mm)</PresentationFormat>
  <Slides>4</Slides>
  <Notes>0</Notes>
  <HiddenSlides>0</HiddenSlides>
  <ScaleCrop>false</ScaleCrop>
  <HeadingPairs>
    <vt:vector size="4" baseType="variant">
      <vt:variant>
        <vt:lpstr>Theme</vt:lpstr>
      </vt:variant>
      <vt:variant>
        <vt:i4>3</vt:i4>
      </vt:variant>
      <vt:variant>
        <vt:lpstr>Slide Titles</vt:lpstr>
      </vt:variant>
      <vt:variant>
        <vt:i4>4</vt:i4>
      </vt:variant>
    </vt:vector>
  </HeadingPairs>
  <TitlesOfParts>
    <vt:vector size="7" baseType="lpstr">
      <vt:lpstr>MyTemplate</vt:lpstr>
      <vt:lpstr>3_テーマ２（ACN用）</vt:lpstr>
      <vt:lpstr>2_テーマ２（ACN用）</vt:lpstr>
      <vt:lpstr>PowerPoint Presentation</vt:lpstr>
      <vt:lpstr>血液型の共有の取り扱いについて</vt:lpstr>
      <vt:lpstr>血液型の共有の取り扱いについて</vt:lpstr>
      <vt:lpstr>４.血液型に関する情報の取り扱いに対する改修見積もり依頼</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WBS確認会</dc:title>
  <dc:creator>Honda, Keiko</dc:creator>
  <cp:revision>2</cp:revision>
  <dcterms:created xsi:type="dcterms:W3CDTF">2025-11-21T03:20:57Z</dcterms:created>
  <dcterms:modified xsi:type="dcterms:W3CDTF">2026-10-01T10:05:57Z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0x010100A05F1B5A1E0F1943BC6DE70F45133712</vt:lpwstr>
  </property>
</Properties>
</file>