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4.xml" ContentType="application/vnd.openxmlformats-officedocument.theme+xml"/>
  <Override PartName="/ppt/comments/modernComment_106_46882C86.xml" ContentType="application/vnd.ms-powerpoint.comments+xml"/>
  <Override PartName="/ppt/comments/modernComment_102_DFB4276E.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0" r:id="rId4"/>
    <p:sldMasterId id="2147483749" r:id="rId5"/>
    <p:sldMasterId id="2147484623" r:id="rId6"/>
  </p:sldMasterIdLst>
  <p:notesMasterIdLst>
    <p:notesMasterId r:id="rId14"/>
  </p:notesMasterIdLst>
  <p:sldIdLst>
    <p:sldId id="256" r:id="rId7"/>
    <p:sldId id="259" r:id="rId8"/>
    <p:sldId id="262" r:id="rId9"/>
    <p:sldId id="257" r:id="rId10"/>
    <p:sldId id="258" r:id="rId11"/>
    <p:sldId id="261" r:id="rId12"/>
    <p:sldId id="260" r:id="rId13"/>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50" userDrawn="1">
          <p15:clr>
            <a:srgbClr val="A4A3A4"/>
          </p15:clr>
        </p15:guide>
        <p15:guide id="3" pos="1548" userDrawn="1">
          <p15:clr>
            <a:srgbClr val="A4A3A4"/>
          </p15:clr>
        </p15:guide>
        <p15:guide id="4" pos="5798" userDrawn="1">
          <p15:clr>
            <a:srgbClr val="A4A3A4"/>
          </p15:clr>
        </p15:guide>
        <p15:guide id="5" pos="228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 id="{160D5511-E3AA-B467-0730-11A32BDB3A2C}" name="高橋 悠一(takahashi-yuuichi01)" initials="悠高" userId="S::TYGFN@lansys.mhlw.go.jp::a665279f-c78e-464b-a8c6-4c9b03677b39" providerId="AD"/>
  <p188:author id="{6ECA532E-61E6-26D5-2715-F415BEA539F7}" name="Honda, Keiko" initials="KH" userId="S::keiko.honda@accenture.com::375496db-4b17-4194-84b5-e6f9bb884af8" providerId="AD"/>
  <p188:author id="{98785B48-ADE0-7F42-E4B1-997A7A00A437}" name="Mukai, Chiaki" initials="CM" userId="S::chiaki.mukai@accenture.com::4981200e-0e53-4de9-9471-8cf3db9590d5" providerId="AD"/>
  <p188:author id="{8272DF57-0B53-32E1-54F0-8A71B081A01F}" name="Kurokawa, Hanae" initials="HK" userId="S::hanae.kurokawa@accenture.com::396a447f-a51c-4cf9-8f28-aa835a4fdd63" providerId="AD"/>
  <p188:author id="{CF79BF5C-DD7D-70F1-BE74-C4007AFBFD61}" name="Nakazawa, Masato" initials="MN" userId="S::masato.nakazawa@accenture.com::1233bff8-608b-4080-8826-e11782bff050" providerId="AD"/>
  <p188:author id="{D9933879-0126-D391-4149-48774B4FCB84}" name="Sakurai, Keita A." initials="KS" userId="S::keita.a.sakurai@accenture.com::24824900-c7fb-463d-9182-1568b03f6256" providerId="AD"/>
  <p188:author id="{B3A3ADB2-27D1-C9D0-9DE5-F696F8E61B1A}" name="長谷川 聖(hasegawa-satoru.f83)" initials="聖長" userId="S::HSXAE@lansys.mhlw.go.jp::0328cc67-5612-4c45-a253-85389a058c6a" providerId="AD"/>
  <p188:author id="{CD7A14DE-D95B-209D-BEF4-5D860CD0546A}" name="Masubuchi, Ryotaro" initials="MR" userId="S::ryotaro.masubuchi@accenture.com::c9d63f4e-b2c3-4763-95e0-611e922cd01d" providerId="AD"/>
  <p188:author id="{10EB5CEE-279F-C1A6-6148-0C38680EEDD2}" name="Yamakawa, Rion" initials="RY" userId="S::rion.yamakawa@accenture.com::5623036d-59d7-4fb8-b6b7-e50aa9ebf0c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作成者" initials="A"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4AD8B"/>
    <a:srgbClr val="F8EDEC"/>
    <a:srgbClr val="D99694"/>
    <a:srgbClr val="339933"/>
    <a:srgbClr val="FFE07D"/>
    <a:srgbClr val="B0005C"/>
    <a:srgbClr val="FFCF37"/>
    <a:srgbClr val="AC8300"/>
    <a:srgbClr val="7458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49B1C4-E8B6-48AC-BEAB-250268B57B30}" v="1755" dt="2026-09-02T04:07:17.282"/>
    <p1510:client id="{B4BA6874-D779-4214-A8A6-15F7505D2759}" v="641" dt="2026-09-02T04:09:05.17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1596" y="90"/>
      </p:cViewPr>
      <p:guideLst>
        <p:guide orient="horz" pos="2160"/>
        <p:guide pos="2850"/>
        <p:guide pos="1548"/>
        <p:guide pos="5798"/>
        <p:guide pos="2285"/>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commentAuthors" Target="commentAuthors.xml"/><Relationship Id="rId10" Type="http://schemas.openxmlformats.org/officeDocument/2006/relationships/slide" Target="slides/slide4.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notesMaster" Target="notesMasters/notesMaster1.xml"/></Relationships>
</file>

<file path=ppt/comments/modernComment_102_DFB4276E.xml><?xml version="1.0" encoding="utf-8"?>
<p188:cmLst xmlns:a="http://schemas.openxmlformats.org/drawingml/2006/main" xmlns:r="http://schemas.openxmlformats.org/officeDocument/2006/relationships" xmlns:p188="http://schemas.microsoft.com/office/powerpoint/2018/8/main">
  <p188:cm id="{D8AA75A6-B1F3-41F3-BC3D-B1B710B2C1F5}" authorId="{CF79BF5C-DD7D-70F1-BE74-C4007AFBFD61}" created="2026-10-15T07:07:57.645">
    <ac:txMkLst xmlns:ac="http://schemas.microsoft.com/office/drawing/2013/main/command">
      <pc:docMk xmlns:pc="http://schemas.microsoft.com/office/powerpoint/2013/main/command"/>
      <pc:sldMk xmlns:pc="http://schemas.microsoft.com/office/powerpoint/2013/main/command" cId="3753125742" sldId="258"/>
      <ac:spMk id="102" creationId="{B21E2789-185D-D4B1-E350-4CB3391513D6}"/>
      <ac:txMk cp="0" len="5">
        <ac:context len="361" hash="1152544189"/>
      </ac:txMk>
    </ac:txMkLst>
    <p188:pos x="903338" y="241724"/>
    <p188:txBody>
      <a:bodyPr/>
      <a:lstStyle/>
      <a:p>
        <a:r>
          <a:rPr lang="ja-JP" altLang="en-US"/>
          <a:t>案件名の追加</a:t>
        </a:r>
      </a:p>
    </p188:txBody>
  </p188:cm>
</p188:cmLst>
</file>

<file path=ppt/comments/modernComment_106_46882C86.xml><?xml version="1.0" encoding="utf-8"?>
<p188:cmLst xmlns:a="http://schemas.openxmlformats.org/drawingml/2006/main" xmlns:r="http://schemas.openxmlformats.org/officeDocument/2006/relationships" xmlns:p188="http://schemas.microsoft.com/office/powerpoint/2018/8/main">
  <p188:cm id="{28F0FEAF-D147-493B-B66F-5767CE95DA08}" authorId="{CF79BF5C-DD7D-70F1-BE74-C4007AFBFD61}" created="2026-10-15T07:07:57.645">
    <ac:txMkLst xmlns:ac="http://schemas.microsoft.com/office/drawing/2013/main/command">
      <pc:docMk xmlns:pc="http://schemas.microsoft.com/office/powerpoint/2013/main/command"/>
      <pc:sldMk xmlns:pc="http://schemas.microsoft.com/office/powerpoint/2013/main/command" cId="1183329414" sldId="262"/>
      <ac:spMk id="102" creationId="{42220A34-3A5A-4FFF-D5A4-073E5D58EF7B}"/>
      <ac:txMk cp="0" len="5">
        <ac:context len="419" hash="3714402027"/>
      </ac:txMk>
    </ac:txMkLst>
    <p188:txBody>
      <a:bodyPr/>
      <a:lstStyle/>
      <a:p>
        <a:r>
          <a:rPr lang="ja-JP" altLang="en-US"/>
          <a:t>案件名の追加</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44A5029F-57BE-43E3-9C03-B6FF93903E43}" type="datetimeFigureOut">
              <a:rPr kumimoji="1" lang="ja-JP" altLang="en-US" smtClean="0"/>
              <a:t>2026/10/15</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94B835EC-ACD9-4FA2-8966-5C69F0553117}" type="slidenum">
              <a:rPr kumimoji="1" lang="ja-JP" altLang="en-US" smtClean="0"/>
              <a:t>‹#›</a:t>
            </a:fld>
            <a:endParaRPr kumimoji="1" lang="ja-JP" altLang="en-US"/>
          </a:p>
        </p:txBody>
      </p:sp>
    </p:spTree>
    <p:extLst>
      <p:ext uri="{BB962C8B-B14F-4D97-AF65-F5344CB8AC3E}">
        <p14:creationId xmlns:p14="http://schemas.microsoft.com/office/powerpoint/2010/main" val="17529059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ea"/>
                <a:ea typeface="+mj-ea"/>
              </a:defRPr>
            </a:lvl1pPr>
          </a:lstStyle>
          <a:p>
            <a:r>
              <a:rPr lang="ja-JP" altLang="en-US"/>
              <a:t>マスタ タイトルの書式設定</a:t>
            </a:r>
            <a:endParaRPr lang="en-AU"/>
          </a:p>
        </p:txBody>
      </p:sp>
      <p:sp>
        <p:nvSpPr>
          <p:cNvPr id="3" name="Content Placeholder 2"/>
          <p:cNvSpPr>
            <a:spLocks noGrp="1"/>
          </p:cNvSpPr>
          <p:nvPr>
            <p:ph idx="1"/>
          </p:nvPr>
        </p:nvSpPr>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AU"/>
          </a:p>
        </p:txBody>
      </p:sp>
      <p:sp>
        <p:nvSpPr>
          <p:cNvPr id="4" name="Rectangle 60"/>
          <p:cNvSpPr>
            <a:spLocks noGrp="1" noChangeArrowheads="1"/>
          </p:cNvSpPr>
          <p:nvPr>
            <p:ph type="sldNum" sz="quarter" idx="10"/>
          </p:nvPr>
        </p:nvSpPr>
        <p:spPr>
          <a:xfrm>
            <a:off x="7874927" y="6576167"/>
            <a:ext cx="1835017" cy="197699"/>
          </a:xfrm>
          <a:prstGeom prst="rect">
            <a:avLst/>
          </a:prstGeom>
          <a:ln/>
        </p:spPr>
        <p:txBody>
          <a:bodyPr/>
          <a:lstStyle>
            <a:lvl1pPr>
              <a:defRPr/>
            </a:lvl1pPr>
          </a:lstStyle>
          <a:p>
            <a:pPr>
              <a:defRPr/>
            </a:pPr>
            <a:fld id="{28A37779-3EFF-4C44-81BE-A0A03BDD188D}" type="slidenum">
              <a:rPr lang="en-AU" smtClean="0"/>
              <a:pPr>
                <a:defRPr/>
              </a:pPr>
              <a:t>‹#›</a:t>
            </a:fld>
            <a:endParaRPr lang="en-AU"/>
          </a:p>
        </p:txBody>
      </p:sp>
      <p:sp>
        <p:nvSpPr>
          <p:cNvPr id="5" name="Rectangle 62">
            <a:extLst>
              <a:ext uri="{FF2B5EF4-FFF2-40B4-BE49-F238E27FC236}">
                <a16:creationId xmlns:a16="http://schemas.microsoft.com/office/drawing/2014/main" id="{D54D1348-7466-405C-BEAC-0E7E1CFE657B}"/>
              </a:ext>
            </a:extLst>
          </p:cNvPr>
          <p:cNvSpPr>
            <a:spLocks noGrp="1" noChangeArrowheads="1"/>
          </p:cNvSpPr>
          <p:nvPr>
            <p:ph type="ftr" sz="quarter" idx="3"/>
          </p:nvPr>
        </p:nvSpPr>
        <p:spPr bwMode="gray">
          <a:xfrm>
            <a:off x="156503" y="6563638"/>
            <a:ext cx="4863571" cy="218162"/>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defRPr sz="675" b="0">
                <a:solidFill>
                  <a:schemeClr val="tx1"/>
                </a:solidFill>
              </a:defRPr>
            </a:lvl1pPr>
          </a:lstStyle>
          <a:p>
            <a:pPr>
              <a:defRPr/>
            </a:pPr>
            <a:r>
              <a:rPr lang="en-AU"/>
              <a:t>Copyright © 2020 Accenture All Rights Reserved.</a:t>
            </a:r>
          </a:p>
        </p:txBody>
      </p:sp>
    </p:spTree>
    <p:extLst>
      <p:ext uri="{BB962C8B-B14F-4D97-AF65-F5344CB8AC3E}">
        <p14:creationId xmlns:p14="http://schemas.microsoft.com/office/powerpoint/2010/main" val="1918514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8892000"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1415503663"/>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20848904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94856584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0"/>
            <a:ext cx="1579278" cy="241476"/>
          </a:xfrm>
          <a:prstGeom prst="rect">
            <a:avLst/>
          </a:prstGeom>
        </p:spPr>
        <p:txBody>
          <a:bodyPr wrap="none">
            <a:spAutoFit/>
          </a:bodyPr>
          <a:lstStyle/>
          <a:p>
            <a:r>
              <a:rPr lang="en-US" altLang="ja-JP" sz="969" i="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3873802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82903500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9971934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25507955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06371515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088559161"/>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0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Ⅶ</a:t>
            </a:r>
            <a:r>
              <a:rPr lang="ja-JP" altLang="en-US" sz="969"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85775316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sp>
        <p:nvSpPr>
          <p:cNvPr id="13" name="テキスト プレースホルダー 4">
            <a:extLst>
              <a:ext uri="{FF2B5EF4-FFF2-40B4-BE49-F238E27FC236}">
                <a16:creationId xmlns:a16="http://schemas.microsoft.com/office/drawing/2014/main" id="{860FD802-8011-34AF-495F-555F932B44B9}"/>
              </a:ext>
            </a:extLst>
          </p:cNvPr>
          <p:cNvSpPr>
            <a:spLocks noGrp="1"/>
          </p:cNvSpPr>
          <p:nvPr>
            <p:ph type="body" sz="quarter" idx="4294967295"/>
          </p:nvPr>
        </p:nvSpPr>
        <p:spPr>
          <a:xfrm>
            <a:off x="506506" y="4149080"/>
            <a:ext cx="8892000" cy="720000"/>
          </a:xfrm>
        </p:spPr>
        <p:txBody>
          <a:bodyPr lIns="36000" tIns="36000" rIns="36000" bIns="36000">
            <a:noAutofit/>
          </a:bodyPr>
          <a:lstStyle>
            <a:lvl1pPr>
              <a:defRPr sz="2000"/>
            </a:lvl1pPr>
          </a:lstStyle>
          <a:p>
            <a:endParaRPr lang="ja-JP" altLang="en-US" sz="1800"/>
          </a:p>
        </p:txBody>
      </p:sp>
      <p:sp>
        <p:nvSpPr>
          <p:cNvPr id="16" name="テキスト プレースホルダー 4">
            <a:extLst>
              <a:ext uri="{FF2B5EF4-FFF2-40B4-BE49-F238E27FC236}">
                <a16:creationId xmlns:a16="http://schemas.microsoft.com/office/drawing/2014/main" id="{F2013EBA-49E0-1177-CA6D-448CC398F17A}"/>
              </a:ext>
            </a:extLst>
          </p:cNvPr>
          <p:cNvSpPr>
            <a:spLocks noGrp="1"/>
          </p:cNvSpPr>
          <p:nvPr>
            <p:ph type="body" sz="quarter" idx="4294967295" hasCustomPrompt="1"/>
          </p:nvPr>
        </p:nvSpPr>
        <p:spPr>
          <a:xfrm>
            <a:off x="6201139" y="5373313"/>
            <a:ext cx="3042338" cy="720000"/>
          </a:xfrm>
        </p:spPr>
        <p:txBody>
          <a:bodyPr lIns="36000" tIns="36000" rIns="36000" bIns="36000">
            <a:noAutofit/>
          </a:bodyPr>
          <a:lstStyle>
            <a:lvl1pPr>
              <a:defRPr sz="2000"/>
            </a:lvl1pPr>
          </a:lstStyle>
          <a:p>
            <a:r>
              <a:rPr lang="ja-JP" altLang="en-US" sz="1800"/>
              <a:t>資料作成日付、</a:t>
            </a:r>
            <a:br>
              <a:rPr lang="en-US" altLang="ja-JP" sz="1800"/>
            </a:br>
            <a:r>
              <a:rPr lang="ja-JP" altLang="en-US" sz="1800"/>
              <a:t>会社名を入力</a:t>
            </a:r>
          </a:p>
        </p:txBody>
      </p:sp>
      <p:sp>
        <p:nvSpPr>
          <p:cNvPr id="17" name="テキスト プレースホルダー 11">
            <a:extLst>
              <a:ext uri="{FF2B5EF4-FFF2-40B4-BE49-F238E27FC236}">
                <a16:creationId xmlns:a16="http://schemas.microsoft.com/office/drawing/2014/main" id="{F3428E60-F8EE-59DA-8B2F-81AD5D057A46}"/>
              </a:ext>
            </a:extLst>
          </p:cNvPr>
          <p:cNvSpPr>
            <a:spLocks noGrp="1"/>
          </p:cNvSpPr>
          <p:nvPr>
            <p:ph type="body" sz="quarter" idx="10" hasCustomPrompt="1"/>
          </p:nvPr>
        </p:nvSpPr>
        <p:spPr>
          <a:xfrm>
            <a:off x="507340" y="2708273"/>
            <a:ext cx="8891323" cy="864000"/>
          </a:xfrm>
          <a:prstGeom prst="rect">
            <a:avLst/>
          </a:prstGeom>
        </p:spPr>
        <p:txBody>
          <a:bodyPr lIns="36000" tIns="36000" rIns="36000" bIns="36000">
            <a:noAutofit/>
          </a:bodyPr>
          <a:lstStyle>
            <a:lvl1pPr>
              <a:defRPr sz="2400" b="1">
                <a:latin typeface="+mj-ea"/>
                <a:ea typeface="+mj-ea"/>
              </a:defRPr>
            </a:lvl1pPr>
            <a:lvl2pPr>
              <a:defRPr sz="2400">
                <a:latin typeface="+mj-ea"/>
                <a:ea typeface="+mj-ea"/>
              </a:defRPr>
            </a:lvl2pPr>
            <a:lvl3pPr>
              <a:defRPr sz="2400">
                <a:latin typeface="+mj-ea"/>
                <a:ea typeface="+mj-ea"/>
              </a:defRPr>
            </a:lvl3pPr>
            <a:lvl4pPr>
              <a:defRPr sz="2400">
                <a:latin typeface="+mj-ea"/>
                <a:ea typeface="+mj-ea"/>
              </a:defRPr>
            </a:lvl4pPr>
            <a:lvl5pPr>
              <a:defRPr sz="2400">
                <a:latin typeface="+mj-ea"/>
                <a:ea typeface="+mj-ea"/>
              </a:defRPr>
            </a:lvl5pPr>
          </a:lstStyle>
          <a:p>
            <a:pPr lvl="0"/>
            <a:r>
              <a:rPr kumimoji="1" lang="ja-JP" altLang="en-US"/>
              <a:t>ファイルタイトルを入力</a:t>
            </a:r>
          </a:p>
        </p:txBody>
      </p:sp>
      <p:sp>
        <p:nvSpPr>
          <p:cNvPr id="19" name="フッター プレースホルダー 30">
            <a:extLst>
              <a:ext uri="{FF2B5EF4-FFF2-40B4-BE49-F238E27FC236}">
                <a16:creationId xmlns:a16="http://schemas.microsoft.com/office/drawing/2014/main" id="{B4D97D15-DA45-B1F1-85D3-A756D8DC3E38}"/>
              </a:ext>
            </a:extLst>
          </p:cNvPr>
          <p:cNvSpPr>
            <a:spLocks noGrp="1"/>
          </p:cNvSpPr>
          <p:nvPr>
            <p:ph type="ftr" sz="quarter" idx="3"/>
          </p:nvPr>
        </p:nvSpPr>
        <p:spPr>
          <a:xfrm>
            <a:off x="5889459" y="6309320"/>
            <a:ext cx="3198000" cy="360000"/>
          </a:xfrm>
          <a:prstGeom prst="rect">
            <a:avLst/>
          </a:prstGeom>
        </p:spPr>
        <p:txBody>
          <a:bodyPr vert="horz" lIns="91440" tIns="45720" rIns="91440" bIns="45720" rtlCol="0" anchor="ctr"/>
          <a:lstStyle>
            <a:lvl1pPr algn="ctr">
              <a:defRPr sz="900">
                <a:solidFill>
                  <a:schemeClr val="tx1"/>
                </a:solidFill>
                <a:latin typeface="+mj-ea"/>
                <a:ea typeface="+mj-ea"/>
              </a:defRPr>
            </a:lvl1pPr>
          </a:lstStyle>
          <a:p>
            <a:r>
              <a:rPr lang="en-US" altLang="ja-JP"/>
              <a:t>Copyright © 2023 Accenture All Rights Reserved.</a:t>
            </a:r>
            <a:endParaRPr lang="ja-JP" altLang="en-US"/>
          </a:p>
        </p:txBody>
      </p:sp>
    </p:spTree>
    <p:extLst>
      <p:ext uri="{BB962C8B-B14F-4D97-AF65-F5344CB8AC3E}">
        <p14:creationId xmlns:p14="http://schemas.microsoft.com/office/powerpoint/2010/main" val="671306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8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259200396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7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38388772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6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406451733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7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38388772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6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406451733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5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81843035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21021692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1676129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2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290745910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1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68674115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9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51189169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_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 © 202</a:t>
            </a:r>
            <a:r>
              <a:rPr lang="en-US" altLang="ja-JP"/>
              <a:t>2</a:t>
            </a:r>
            <a:r>
              <a:rPr lang="en-AU"/>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973687977"/>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21021692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1676129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2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290745910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1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68674115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9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51189169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1_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 © 202</a:t>
            </a:r>
            <a:r>
              <a:rPr lang="en-US" altLang="ja-JP"/>
              <a:t>2</a:t>
            </a:r>
            <a:r>
              <a:rPr lang="en-AU"/>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973687977"/>
      </p:ext>
    </p:extLst>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138454534"/>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23048394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52465057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84257678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681205988"/>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149111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F89283-9EFF-B094-A52B-520847C7056F}"/>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Tree>
    <p:extLst>
      <p:ext uri="{BB962C8B-B14F-4D97-AF65-F5344CB8AC3E}">
        <p14:creationId xmlns:p14="http://schemas.microsoft.com/office/powerpoint/2010/main" val="4794861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r>
              <a:rPr lang="en-US" altLang="ja-JP"/>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313246826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ags" Target="../tags/tag6.xml"/><Relationship Id="rId3" Type="http://schemas.openxmlformats.org/officeDocument/2006/relationships/tags" Target="../tags/tag1.xml"/><Relationship Id="rId7" Type="http://schemas.openxmlformats.org/officeDocument/2006/relationships/tags" Target="../tags/tag5.xm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9" Type="http://schemas.openxmlformats.org/officeDocument/2006/relationships/tags" Target="../tags/tag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26" Type="http://schemas.openxmlformats.org/officeDocument/2006/relationships/slideLayout" Target="../slideLayouts/slideLayout27.xml"/><Relationship Id="rId3" Type="http://schemas.openxmlformats.org/officeDocument/2006/relationships/slideLayout" Target="../slideLayouts/slideLayout4.xml"/><Relationship Id="rId21" Type="http://schemas.openxmlformats.org/officeDocument/2006/relationships/slideLayout" Target="../slideLayouts/slideLayout22.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5" Type="http://schemas.openxmlformats.org/officeDocument/2006/relationships/slideLayout" Target="../slideLayouts/slideLayout26.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29" Type="http://schemas.openxmlformats.org/officeDocument/2006/relationships/slideLayout" Target="../slideLayouts/slideLayout30.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24" Type="http://schemas.openxmlformats.org/officeDocument/2006/relationships/slideLayout" Target="../slideLayouts/slideLayout25.xml"/><Relationship Id="rId5" Type="http://schemas.openxmlformats.org/officeDocument/2006/relationships/slideLayout" Target="../slideLayouts/slideLayout6.xml"/><Relationship Id="rId15" Type="http://schemas.openxmlformats.org/officeDocument/2006/relationships/slideLayout" Target="../slideLayouts/slideLayout16.xml"/><Relationship Id="rId23" Type="http://schemas.openxmlformats.org/officeDocument/2006/relationships/slideLayout" Target="../slideLayouts/slideLayout24.xml"/><Relationship Id="rId28" Type="http://schemas.openxmlformats.org/officeDocument/2006/relationships/slideLayout" Target="../slideLayouts/slideLayout29.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slideLayout" Target="../slideLayouts/slideLayout23.xml"/><Relationship Id="rId27" Type="http://schemas.openxmlformats.org/officeDocument/2006/relationships/slideLayout" Target="../slideLayouts/slideLayout28.xml"/><Relationship Id="rId3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oleObject" Target="../embeddings/oleObject1.bin"/><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tags" Target="../tags/tag10.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tags" Target="../tags/tag9.xml"/><Relationship Id="rId5" Type="http://schemas.openxmlformats.org/officeDocument/2006/relationships/slideLayout" Target="../slideLayouts/slideLayout35.xml"/><Relationship Id="rId10" Type="http://schemas.openxmlformats.org/officeDocument/2006/relationships/tags" Target="../tags/tag8.xml"/><Relationship Id="rId4" Type="http://schemas.openxmlformats.org/officeDocument/2006/relationships/slideLayout" Target="../slideLayouts/slideLayout34.xml"/><Relationship Id="rId9" Type="http://schemas.openxmlformats.org/officeDocument/2006/relationships/theme" Target="../theme/theme3.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29"/>
          <p:cNvSpPr>
            <a:spLocks noGrp="1" noChangeArrowheads="1"/>
          </p:cNvSpPr>
          <p:nvPr>
            <p:ph type="body" idx="1"/>
          </p:nvPr>
        </p:nvSpPr>
        <p:spPr bwMode="gray">
          <a:xfrm>
            <a:off x="156501" y="1429558"/>
            <a:ext cx="9562042" cy="5008823"/>
          </a:xfrm>
          <a:prstGeom prst="rect">
            <a:avLst/>
          </a:prstGeom>
          <a:noFill/>
          <a:ln w="12700">
            <a:noFill/>
            <a:miter lim="800000"/>
            <a:headEnd/>
            <a:tailEnd/>
          </a:ln>
        </p:spPr>
        <p:txBody>
          <a:bodyPr vert="horz" wrap="square" lIns="90488" tIns="44450" rIns="90488" bIns="4445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AU"/>
          </a:p>
        </p:txBody>
      </p:sp>
      <p:sp>
        <p:nvSpPr>
          <p:cNvPr id="1086" name="Rectangle 62"/>
          <p:cNvSpPr>
            <a:spLocks noGrp="1" noChangeArrowheads="1"/>
          </p:cNvSpPr>
          <p:nvPr>
            <p:ph type="ftr" sz="quarter" idx="3"/>
          </p:nvPr>
        </p:nvSpPr>
        <p:spPr bwMode="gray">
          <a:xfrm>
            <a:off x="156503" y="6563638"/>
            <a:ext cx="4863571" cy="218162"/>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defRPr sz="675" b="0">
                <a:solidFill>
                  <a:schemeClr val="tx1"/>
                </a:solidFill>
                <a:latin typeface="Meiryo UI" panose="020B0604030504040204" pitchFamily="50" charset="-128"/>
                <a:ea typeface="Meiryo UI" panose="020B0604030504040204" pitchFamily="50" charset="-128"/>
              </a:defRPr>
            </a:lvl1pPr>
          </a:lstStyle>
          <a:p>
            <a:pPr>
              <a:defRPr/>
            </a:pPr>
            <a:r>
              <a:rPr lang="en-AU"/>
              <a:t>Copyright © 202</a:t>
            </a:r>
            <a:r>
              <a:rPr lang="en-US" altLang="ja-JP"/>
              <a:t>2</a:t>
            </a:r>
            <a:r>
              <a:rPr lang="en-AU"/>
              <a:t> Accenture All Rights Reserved.</a:t>
            </a:r>
          </a:p>
        </p:txBody>
      </p:sp>
      <p:sp>
        <p:nvSpPr>
          <p:cNvPr id="1030" name="Rectangle 65"/>
          <p:cNvSpPr>
            <a:spLocks noGrp="1" noChangeArrowheads="1"/>
          </p:cNvSpPr>
          <p:nvPr>
            <p:ph type="title"/>
          </p:nvPr>
        </p:nvSpPr>
        <p:spPr bwMode="gray">
          <a:xfrm>
            <a:off x="156503" y="250525"/>
            <a:ext cx="8571785" cy="380543"/>
          </a:xfrm>
          <a:prstGeom prst="rect">
            <a:avLst/>
          </a:prstGeom>
          <a:noFill/>
          <a:ln w="12700">
            <a:noFill/>
            <a:miter lim="800000"/>
            <a:headEnd/>
            <a:tailEnd/>
          </a:ln>
        </p:spPr>
        <p:txBody>
          <a:bodyPr vert="horz" wrap="square" lIns="90488" tIns="44450" rIns="90488" bIns="44450" numCol="1" anchor="t" anchorCtr="0" compatLnSpc="1">
            <a:prstTxWarp prst="textNoShape">
              <a:avLst/>
            </a:prstTxWarp>
          </a:bodyPr>
          <a:lstStyle/>
          <a:p>
            <a:pPr lvl="0"/>
            <a:r>
              <a:rPr lang="ja-JP" altLang="en-US"/>
              <a:t>マスタ タイトルの書式設定</a:t>
            </a:r>
            <a:endParaRPr lang="en-AU"/>
          </a:p>
        </p:txBody>
      </p:sp>
      <p:sp>
        <p:nvSpPr>
          <p:cNvPr id="10" name="AcnSubjectTitle_ID_10" hidden="1"/>
          <p:cNvSpPr txBox="1"/>
          <p:nvPr>
            <p:custDataLst>
              <p:tags r:id="rId3"/>
            </p:custDataLst>
          </p:nvPr>
        </p:nvSpPr>
        <p:spPr bwMode="gray">
          <a:xfrm>
            <a:off x="156501" y="756935"/>
            <a:ext cx="9555000" cy="184666"/>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marL="65485" indent="-65485" algn="l" rtl="0" eaLnBrk="1" fontAlgn="base" hangingPunct="1">
              <a:lnSpc>
                <a:spcPct val="100000"/>
              </a:lnSpc>
              <a:spcBef>
                <a:spcPct val="0"/>
              </a:spcBef>
              <a:spcAft>
                <a:spcPct val="0"/>
              </a:spcAft>
              <a:buClr>
                <a:schemeClr val="tx1"/>
              </a:buClr>
              <a:buFont typeface="Arial" pitchFamily="34" charset="0"/>
              <a:buNone/>
            </a:pPr>
            <a:r>
              <a:rPr lang="en-US" altLang="ja-JP" sz="1200" b="0" i="0">
                <a:solidFill>
                  <a:schemeClr val="tx1"/>
                </a:solidFill>
                <a:latin typeface="+mn-ea"/>
                <a:ea typeface="+mn-ea"/>
                <a:cs typeface="+mn-cs"/>
              </a:rPr>
              <a:t>Subject Title</a:t>
            </a:r>
            <a:endParaRPr lang="ja-JP" altLang="en-US" sz="1200" b="0" i="0">
              <a:solidFill>
                <a:schemeClr val="tx1"/>
              </a:solidFill>
              <a:latin typeface="+mn-ea"/>
              <a:ea typeface="+mn-ea"/>
              <a:cs typeface="+mn-cs"/>
            </a:endParaRPr>
          </a:p>
        </p:txBody>
      </p:sp>
      <p:sp>
        <p:nvSpPr>
          <p:cNvPr id="11" name="AcnUnitofMeasure_ID_11" hidden="1"/>
          <p:cNvSpPr txBox="1"/>
          <p:nvPr>
            <p:custDataLst>
              <p:tags r:id="rId4"/>
            </p:custDataLst>
          </p:nvPr>
        </p:nvSpPr>
        <p:spPr bwMode="gray">
          <a:xfrm>
            <a:off x="212310" y="1045687"/>
            <a:ext cx="7567083" cy="161583"/>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algn="l" rtl="0" eaLnBrk="1" fontAlgn="base" hangingPunct="1">
              <a:lnSpc>
                <a:spcPct val="100000"/>
              </a:lnSpc>
              <a:spcBef>
                <a:spcPct val="0"/>
              </a:spcBef>
              <a:spcAft>
                <a:spcPct val="0"/>
              </a:spcAft>
              <a:buClr>
                <a:schemeClr val="tx1"/>
              </a:buClr>
              <a:buNone/>
            </a:pPr>
            <a:r>
              <a:rPr lang="en-US" altLang="ja-JP" sz="1050" b="0" i="0">
                <a:solidFill>
                  <a:schemeClr val="tx1"/>
                </a:solidFill>
                <a:latin typeface="+mn-ea"/>
                <a:ea typeface="+mn-ea"/>
                <a:cs typeface="+mn-cs"/>
              </a:rPr>
              <a:t>Unit of Measure</a:t>
            </a:r>
            <a:endParaRPr lang="ja-JP" altLang="en-US" sz="1050" b="0" i="0">
              <a:solidFill>
                <a:schemeClr val="tx1"/>
              </a:solidFill>
              <a:latin typeface="+mn-ea"/>
              <a:ea typeface="+mn-ea"/>
              <a:cs typeface="+mn-cs"/>
            </a:endParaRPr>
          </a:p>
        </p:txBody>
      </p:sp>
      <p:sp>
        <p:nvSpPr>
          <p:cNvPr id="13" name="AcnRoadmap_ID_13" hidden="1"/>
          <p:cNvSpPr txBox="1"/>
          <p:nvPr>
            <p:custDataLst>
              <p:tags r:id="rId5"/>
            </p:custDataLst>
          </p:nvPr>
        </p:nvSpPr>
        <p:spPr bwMode="gray">
          <a:xfrm>
            <a:off x="8820297" y="88902"/>
            <a:ext cx="897000" cy="138499"/>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algn="r" rtl="0" eaLnBrk="1" fontAlgn="base" hangingPunct="1">
              <a:lnSpc>
                <a:spcPct val="100000"/>
              </a:lnSpc>
              <a:spcBef>
                <a:spcPct val="0"/>
              </a:spcBef>
              <a:spcAft>
                <a:spcPct val="0"/>
              </a:spcAft>
              <a:buClr>
                <a:schemeClr val="tx1"/>
              </a:buClr>
              <a:buNone/>
            </a:pPr>
            <a:r>
              <a:rPr lang="en-US" altLang="ja-JP" sz="900" b="1" i="1">
                <a:solidFill>
                  <a:schemeClr val="tx1"/>
                </a:solidFill>
                <a:latin typeface="+mn-lt"/>
                <a:ea typeface="+mn-ea"/>
                <a:cs typeface="+mn-cs"/>
              </a:rPr>
              <a:t>Roadmap</a:t>
            </a:r>
            <a:endParaRPr lang="ja-JP" altLang="en-US" sz="900" b="1" i="1">
              <a:solidFill>
                <a:schemeClr val="tx1"/>
              </a:solidFill>
              <a:latin typeface="+mn-lt"/>
              <a:ea typeface="+mn-ea"/>
              <a:cs typeface="+mn-cs"/>
            </a:endParaRPr>
          </a:p>
        </p:txBody>
      </p:sp>
      <p:sp>
        <p:nvSpPr>
          <p:cNvPr id="14" name="AcnStamp_ID_14" hidden="1"/>
          <p:cNvSpPr/>
          <p:nvPr>
            <p:custDataLst>
              <p:tags r:id="rId6"/>
            </p:custDataLst>
          </p:nvPr>
        </p:nvSpPr>
        <p:spPr bwMode="gray">
          <a:xfrm>
            <a:off x="8728287" y="880044"/>
            <a:ext cx="0" cy="0"/>
          </a:xfrm>
          <a:prstGeom prst="leftRightArrow">
            <a:avLst>
              <a:gd name="adj1" fmla="val 0"/>
              <a:gd name="adj2" fmla="val 0"/>
            </a:avLst>
          </a:prstGeom>
          <a:noFill/>
          <a:ln w="9525" cap="flat" cmpd="sng" algn="ctr">
            <a:noFill/>
            <a:prstDash val="solid"/>
            <a:round/>
            <a:headEnd type="none" w="med" len="med"/>
            <a:tailEnd type="none" w="med" len="med"/>
          </a:ln>
          <a:effectLst/>
        </p:spPr>
        <p:txBody>
          <a:bodyPr vert="horz" wrap="none" lIns="0" tIns="19050" rIns="0" bIns="19050" numCol="1" rtlCol="0" anchor="t" anchorCtr="0" compatLnSpc="1">
            <a:prstTxWarp prst="textNoShape">
              <a:avLst/>
            </a:prstTxWarp>
            <a:spAutoFit/>
          </a:bodyPr>
          <a:lstStyle/>
          <a:p>
            <a:pPr marL="0" marR="0" indent="0" algn="r" defTabSz="685800" rtl="0" eaLnBrk="0" fontAlgn="base" latinLnBrk="0" hangingPunct="0">
              <a:lnSpc>
                <a:spcPct val="100000"/>
              </a:lnSpc>
              <a:spcBef>
                <a:spcPct val="0"/>
              </a:spcBef>
              <a:spcAft>
                <a:spcPct val="0"/>
              </a:spcAft>
              <a:buClrTx/>
              <a:buSzTx/>
              <a:buFontTx/>
              <a:buNone/>
              <a:tabLst/>
            </a:pPr>
            <a:r>
              <a:rPr kumimoji="0" lang="en-US" altLang="ja-JP" sz="1050" b="1" i="0" u="none" strike="noStrike" cap="none" normalizeH="0" baseline="0">
                <a:ln>
                  <a:noFill/>
                </a:ln>
                <a:solidFill>
                  <a:schemeClr val="tx1"/>
                </a:solidFill>
                <a:effectLst/>
                <a:latin typeface="Arial" charset="0"/>
              </a:rPr>
              <a:t>MASTER STAMP</a:t>
            </a:r>
            <a:endParaRPr kumimoji="0" lang="ja-JP" altLang="en-US" sz="1050" b="1" i="0" u="none" strike="noStrike" cap="none" normalizeH="0" baseline="0">
              <a:ln>
                <a:noFill/>
              </a:ln>
              <a:solidFill>
                <a:schemeClr val="tx1"/>
              </a:solidFill>
              <a:effectLst/>
              <a:latin typeface="Arial" charset="0"/>
            </a:endParaRPr>
          </a:p>
        </p:txBody>
      </p:sp>
      <p:cxnSp>
        <p:nvCxnSpPr>
          <p:cNvPr id="15" name="AcnStpConnector_ID_15" hidden="1"/>
          <p:cNvCxnSpPr>
            <a:stCxn id="14" idx="2"/>
            <a:endCxn id="14" idx="0"/>
          </p:cNvCxnSpPr>
          <p:nvPr>
            <p:custDataLst>
              <p:tags r:id="rId7"/>
            </p:custDataLst>
          </p:nvPr>
        </p:nvCxnSpPr>
        <p:spPr bwMode="gray">
          <a:xfrm rot="5400000" flipH="1" flipV="1">
            <a:off x="8728353" y="879979"/>
            <a:ext cx="1588" cy="1720"/>
          </a:xfrm>
          <a:prstGeom prst="straightConnector1">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AcnStpConnector_ID_16" hidden="1"/>
          <p:cNvCxnSpPr>
            <a:stCxn id="14" idx="4"/>
            <a:endCxn id="14" idx="6"/>
          </p:cNvCxnSpPr>
          <p:nvPr>
            <p:custDataLst>
              <p:tags r:id="rId8"/>
            </p:custDataLst>
          </p:nvPr>
        </p:nvCxnSpPr>
        <p:spPr bwMode="gray">
          <a:xfrm rot="5400000">
            <a:off x="8728353" y="879979"/>
            <a:ext cx="1588" cy="1720"/>
          </a:xfrm>
          <a:prstGeom prst="straightConnector1">
            <a:avLst/>
          </a:prstGeom>
          <a:solidFill>
            <a:schemeClr val="accent1"/>
          </a:solidFill>
          <a:ln w="9525" cap="flat" cmpd="sng" algn="ctr">
            <a:solidFill>
              <a:schemeClr val="tx1"/>
            </a:solidFill>
            <a:prstDash val="solid"/>
            <a:round/>
            <a:headEnd type="none" w="med" len="med"/>
            <a:tailEnd type="none" w="med" len="med"/>
          </a:ln>
          <a:effectLst/>
        </p:spPr>
      </p:cxnSp>
      <p:sp>
        <p:nvSpPr>
          <p:cNvPr id="17" name="AcnFootnote_ID_17" hidden="1"/>
          <p:cNvSpPr txBox="1"/>
          <p:nvPr>
            <p:custDataLst>
              <p:tags r:id="rId9"/>
            </p:custDataLst>
          </p:nvPr>
        </p:nvSpPr>
        <p:spPr bwMode="gray">
          <a:xfrm>
            <a:off x="164832" y="6300751"/>
            <a:ext cx="8571785" cy="253916"/>
          </a:xfrm>
          <a:prstGeom prst="rect">
            <a:avLst/>
          </a:prstGeom>
          <a:noFill/>
          <a:ln w="12700">
            <a:noFill/>
            <a:miter lim="800000"/>
            <a:headEnd/>
            <a:tailEnd/>
          </a:ln>
        </p:spPr>
        <p:txBody>
          <a:bodyPr vert="horz" wrap="square" lIns="0" tIns="0" rIns="0" bIns="0" numCol="1" anchor="b" anchorCtr="0" compatLnSpc="1">
            <a:prstTxWarp prst="textNoShape">
              <a:avLst/>
            </a:prstTxWarp>
            <a:spAutoFit/>
          </a:bodyPr>
          <a:lstStyle/>
          <a:p>
            <a:pPr marL="403622" indent="-403622" algn="l" rtl="0" eaLnBrk="1" fontAlgn="base" hangingPunct="1">
              <a:lnSpc>
                <a:spcPct val="100000"/>
              </a:lnSpc>
              <a:spcBef>
                <a:spcPct val="0"/>
              </a:spcBef>
              <a:spcAft>
                <a:spcPct val="0"/>
              </a:spcAft>
              <a:buClr>
                <a:schemeClr val="tx1"/>
              </a:buClr>
              <a:buNone/>
            </a:pPr>
            <a:r>
              <a:rPr lang="en-US" altLang="ja-JP" sz="750" b="0" i="0">
                <a:solidFill>
                  <a:schemeClr val="tx1"/>
                </a:solidFill>
                <a:latin typeface="+mn-lt"/>
                <a:ea typeface="+mn-ea"/>
                <a:cs typeface="+mn-cs"/>
              </a:rPr>
              <a:t>*Footnote</a:t>
            </a:r>
          </a:p>
          <a:p>
            <a:pPr marL="403622" indent="-403622" algn="l" rtl="0" eaLnBrk="1" fontAlgn="base" hangingPunct="1">
              <a:lnSpc>
                <a:spcPct val="100000"/>
              </a:lnSpc>
              <a:spcBef>
                <a:spcPct val="20000"/>
              </a:spcBef>
              <a:spcAft>
                <a:spcPct val="0"/>
              </a:spcAft>
              <a:buClr>
                <a:schemeClr val="tx1"/>
              </a:buClr>
              <a:buNone/>
            </a:pPr>
            <a:r>
              <a:rPr lang="en-US" altLang="ja-JP" sz="750" b="0" i="0">
                <a:solidFill>
                  <a:schemeClr val="tx1"/>
                </a:solidFill>
                <a:latin typeface="+mn-lt"/>
                <a:ea typeface="+mn-ea"/>
                <a:cs typeface="+mn-cs"/>
              </a:rPr>
              <a:t>Source:	Source</a:t>
            </a:r>
            <a:endParaRPr lang="ja-JP" altLang="en-US" sz="750" b="0" i="0">
              <a:solidFill>
                <a:schemeClr val="tx1"/>
              </a:solidFill>
              <a:latin typeface="+mn-lt"/>
              <a:ea typeface="+mn-ea"/>
              <a:cs typeface="+mn-cs"/>
            </a:endParaRPr>
          </a:p>
        </p:txBody>
      </p:sp>
    </p:spTree>
    <p:extLst>
      <p:ext uri="{BB962C8B-B14F-4D97-AF65-F5344CB8AC3E}">
        <p14:creationId xmlns:p14="http://schemas.microsoft.com/office/powerpoint/2010/main" val="3822481044"/>
      </p:ext>
    </p:extLst>
  </p:cSld>
  <p:clrMap bg1="lt1" tx1="dk1" bg2="lt2" tx2="dk2" accent1="accent1" accent2="accent2" accent3="accent3" accent4="accent4" accent5="accent5" accent6="accent6" hlink="hlink" folHlink="folHlink"/>
  <p:sldLayoutIdLst>
    <p:sldLayoutId id="2147483661" r:id="rId1"/>
  </p:sldLayoutIdLst>
  <p:hf hdr="0" dt="0"/>
  <p:txStyles>
    <p:titleStyle>
      <a:lvl1pPr algn="l" rtl="0" eaLnBrk="1" fontAlgn="base" hangingPunct="1">
        <a:spcBef>
          <a:spcPct val="0"/>
        </a:spcBef>
        <a:spcAft>
          <a:spcPct val="0"/>
        </a:spcAft>
        <a:defRPr kumimoji="1" sz="1350" b="1">
          <a:solidFill>
            <a:schemeClr val="tx1"/>
          </a:solidFill>
          <a:latin typeface="+mj-ea"/>
          <a:ea typeface="+mj-ea"/>
          <a:cs typeface="+mj-cs"/>
        </a:defRPr>
      </a:lvl1pPr>
      <a:lvl2pPr algn="l" rtl="0" eaLnBrk="1" fontAlgn="base" hangingPunct="1">
        <a:spcBef>
          <a:spcPct val="0"/>
        </a:spcBef>
        <a:spcAft>
          <a:spcPct val="0"/>
        </a:spcAft>
        <a:defRPr kumimoji="1" sz="2400" b="1">
          <a:solidFill>
            <a:schemeClr val="bg1"/>
          </a:solidFill>
          <a:latin typeface="Arial" charset="0"/>
        </a:defRPr>
      </a:lvl2pPr>
      <a:lvl3pPr algn="l" rtl="0" eaLnBrk="1" fontAlgn="base" hangingPunct="1">
        <a:spcBef>
          <a:spcPct val="0"/>
        </a:spcBef>
        <a:spcAft>
          <a:spcPct val="0"/>
        </a:spcAft>
        <a:defRPr kumimoji="1" sz="2400" b="1">
          <a:solidFill>
            <a:schemeClr val="bg1"/>
          </a:solidFill>
          <a:latin typeface="Arial" charset="0"/>
        </a:defRPr>
      </a:lvl3pPr>
      <a:lvl4pPr algn="l" rtl="0" eaLnBrk="1" fontAlgn="base" hangingPunct="1">
        <a:spcBef>
          <a:spcPct val="0"/>
        </a:spcBef>
        <a:spcAft>
          <a:spcPct val="0"/>
        </a:spcAft>
        <a:defRPr kumimoji="1" sz="2400" b="1">
          <a:solidFill>
            <a:schemeClr val="bg1"/>
          </a:solidFill>
          <a:latin typeface="Arial" charset="0"/>
        </a:defRPr>
      </a:lvl4pPr>
      <a:lvl5pPr algn="l" rtl="0" eaLnBrk="1" fontAlgn="base" hangingPunct="1">
        <a:spcBef>
          <a:spcPct val="0"/>
        </a:spcBef>
        <a:spcAft>
          <a:spcPct val="0"/>
        </a:spcAft>
        <a:defRPr kumimoji="1" sz="2400" b="1">
          <a:solidFill>
            <a:schemeClr val="bg1"/>
          </a:solidFill>
          <a:latin typeface="Arial" charset="0"/>
        </a:defRPr>
      </a:lvl5pPr>
      <a:lvl6pPr marL="342900" algn="l" rtl="0" eaLnBrk="1" fontAlgn="base" hangingPunct="1">
        <a:spcBef>
          <a:spcPct val="0"/>
        </a:spcBef>
        <a:spcAft>
          <a:spcPct val="0"/>
        </a:spcAft>
        <a:defRPr kumimoji="1" sz="2400" b="1">
          <a:solidFill>
            <a:schemeClr val="bg1"/>
          </a:solidFill>
          <a:latin typeface="Arial" charset="0"/>
        </a:defRPr>
      </a:lvl6pPr>
      <a:lvl7pPr marL="685800" algn="l" rtl="0" eaLnBrk="1" fontAlgn="base" hangingPunct="1">
        <a:spcBef>
          <a:spcPct val="0"/>
        </a:spcBef>
        <a:spcAft>
          <a:spcPct val="0"/>
        </a:spcAft>
        <a:defRPr kumimoji="1" sz="2400" b="1">
          <a:solidFill>
            <a:schemeClr val="bg1"/>
          </a:solidFill>
          <a:latin typeface="Arial" charset="0"/>
        </a:defRPr>
      </a:lvl7pPr>
      <a:lvl8pPr marL="1028700" algn="l" rtl="0" eaLnBrk="1" fontAlgn="base" hangingPunct="1">
        <a:spcBef>
          <a:spcPct val="0"/>
        </a:spcBef>
        <a:spcAft>
          <a:spcPct val="0"/>
        </a:spcAft>
        <a:defRPr kumimoji="1" sz="2400" b="1">
          <a:solidFill>
            <a:schemeClr val="bg1"/>
          </a:solidFill>
          <a:latin typeface="Arial" charset="0"/>
        </a:defRPr>
      </a:lvl8pPr>
      <a:lvl9pPr marL="1371600" algn="l" rtl="0" eaLnBrk="1" fontAlgn="base" hangingPunct="1">
        <a:spcBef>
          <a:spcPct val="0"/>
        </a:spcBef>
        <a:spcAft>
          <a:spcPct val="0"/>
        </a:spcAft>
        <a:defRPr kumimoji="1" sz="2400" b="1">
          <a:solidFill>
            <a:schemeClr val="bg1"/>
          </a:solidFill>
          <a:latin typeface="Arial" charset="0"/>
        </a:defRPr>
      </a:lvl9pPr>
    </p:titleStyle>
    <p:bodyStyle>
      <a:lvl1pPr marL="132160" indent="-132160" algn="l" rtl="0" eaLnBrk="1" fontAlgn="base" hangingPunct="1">
        <a:spcBef>
          <a:spcPct val="20000"/>
        </a:spcBef>
        <a:spcAft>
          <a:spcPct val="0"/>
        </a:spcAft>
        <a:buClr>
          <a:schemeClr val="tx1"/>
        </a:buClr>
        <a:buChar char="•"/>
        <a:defRPr kumimoji="1" sz="1050">
          <a:solidFill>
            <a:schemeClr val="tx1"/>
          </a:solidFill>
          <a:latin typeface="+mn-ea"/>
          <a:ea typeface="+mn-ea"/>
          <a:cs typeface="+mn-cs"/>
        </a:defRPr>
      </a:lvl1pPr>
      <a:lvl2pPr marL="432197" indent="-214313" algn="l" rtl="0" eaLnBrk="1" fontAlgn="base" hangingPunct="1">
        <a:spcBef>
          <a:spcPct val="20000"/>
        </a:spcBef>
        <a:spcAft>
          <a:spcPct val="0"/>
        </a:spcAft>
        <a:buClr>
          <a:schemeClr val="tx1"/>
        </a:buClr>
        <a:buChar char="–"/>
        <a:defRPr kumimoji="1" sz="1050">
          <a:solidFill>
            <a:schemeClr val="tx1"/>
          </a:solidFill>
          <a:latin typeface="+mn-ea"/>
          <a:ea typeface="+mn-ea"/>
        </a:defRPr>
      </a:lvl2pPr>
      <a:lvl3pPr marL="644129" indent="-126206" algn="l" rtl="0" eaLnBrk="1" fontAlgn="base" hangingPunct="1">
        <a:spcBef>
          <a:spcPct val="20000"/>
        </a:spcBef>
        <a:spcAft>
          <a:spcPct val="0"/>
        </a:spcAft>
        <a:buClr>
          <a:schemeClr val="tx1"/>
        </a:buClr>
        <a:buChar char="•"/>
        <a:defRPr kumimoji="1" sz="1050">
          <a:solidFill>
            <a:schemeClr val="tx1"/>
          </a:solidFill>
          <a:latin typeface="+mn-ea"/>
          <a:ea typeface="+mn-ea"/>
        </a:defRPr>
      </a:lvl3pPr>
      <a:lvl4pPr marL="900113" indent="-170260" algn="l" rtl="0" eaLnBrk="1" fontAlgn="base" hangingPunct="1">
        <a:spcBef>
          <a:spcPct val="20000"/>
        </a:spcBef>
        <a:spcAft>
          <a:spcPct val="0"/>
        </a:spcAft>
        <a:buClr>
          <a:schemeClr val="tx1"/>
        </a:buClr>
        <a:buChar char="–"/>
        <a:defRPr kumimoji="1" sz="1050">
          <a:solidFill>
            <a:schemeClr val="tx1"/>
          </a:solidFill>
          <a:latin typeface="+mn-ea"/>
          <a:ea typeface="+mn-ea"/>
        </a:defRPr>
      </a:lvl4pPr>
      <a:lvl5pPr marL="1110854" indent="-125016" algn="l" rtl="0" eaLnBrk="1" fontAlgn="base" hangingPunct="1">
        <a:spcBef>
          <a:spcPct val="20000"/>
        </a:spcBef>
        <a:spcAft>
          <a:spcPct val="0"/>
        </a:spcAft>
        <a:buClr>
          <a:schemeClr val="tx1"/>
        </a:buClr>
        <a:buChar char="•"/>
        <a:defRPr kumimoji="1" sz="1050">
          <a:solidFill>
            <a:schemeClr val="tx1"/>
          </a:solidFill>
          <a:latin typeface="+mn-ea"/>
          <a:ea typeface="+mn-ea"/>
        </a:defRPr>
      </a:lvl5pPr>
      <a:lvl6pPr marL="1453754" indent="-125016" algn="l" rtl="0" eaLnBrk="1" fontAlgn="base" hangingPunct="1">
        <a:spcBef>
          <a:spcPct val="20000"/>
        </a:spcBef>
        <a:spcAft>
          <a:spcPct val="0"/>
        </a:spcAft>
        <a:buClr>
          <a:schemeClr val="tx1"/>
        </a:buClr>
        <a:buChar char="•"/>
        <a:defRPr kumimoji="1" sz="1500">
          <a:solidFill>
            <a:schemeClr val="tx1"/>
          </a:solidFill>
          <a:latin typeface="+mn-lt"/>
        </a:defRPr>
      </a:lvl6pPr>
      <a:lvl7pPr marL="1796654" indent="-125016" algn="l" rtl="0" eaLnBrk="1" fontAlgn="base" hangingPunct="1">
        <a:spcBef>
          <a:spcPct val="20000"/>
        </a:spcBef>
        <a:spcAft>
          <a:spcPct val="0"/>
        </a:spcAft>
        <a:buClr>
          <a:schemeClr val="tx1"/>
        </a:buClr>
        <a:buChar char="•"/>
        <a:defRPr kumimoji="1" sz="1500">
          <a:solidFill>
            <a:schemeClr val="tx1"/>
          </a:solidFill>
          <a:latin typeface="+mn-lt"/>
        </a:defRPr>
      </a:lvl7pPr>
      <a:lvl8pPr marL="2139554" indent="-125016" algn="l" rtl="0" eaLnBrk="1" fontAlgn="base" hangingPunct="1">
        <a:spcBef>
          <a:spcPct val="20000"/>
        </a:spcBef>
        <a:spcAft>
          <a:spcPct val="0"/>
        </a:spcAft>
        <a:buClr>
          <a:schemeClr val="tx1"/>
        </a:buClr>
        <a:buChar char="•"/>
        <a:defRPr kumimoji="1" sz="1500">
          <a:solidFill>
            <a:schemeClr val="tx1"/>
          </a:solidFill>
          <a:latin typeface="+mn-lt"/>
        </a:defRPr>
      </a:lvl8pPr>
      <a:lvl9pPr marL="2482454" indent="-125016" algn="l" rtl="0" eaLnBrk="1" fontAlgn="base" hangingPunct="1">
        <a:spcBef>
          <a:spcPct val="20000"/>
        </a:spcBef>
        <a:spcAft>
          <a:spcPct val="0"/>
        </a:spcAft>
        <a:buClr>
          <a:schemeClr val="tx1"/>
        </a:buClr>
        <a:buChar char="•"/>
        <a:defRPr kumimoji="1" sz="1500">
          <a:solidFill>
            <a:schemeClr val="tx1"/>
          </a:solidFill>
          <a:latin typeface="+mn-lt"/>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07"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2787754749"/>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4499" r:id="rId10"/>
    <p:sldLayoutId id="2147484502" r:id="rId11"/>
    <p:sldLayoutId id="2147484534" r:id="rId12"/>
    <p:sldLayoutId id="2147484535" r:id="rId13"/>
    <p:sldLayoutId id="2147484536" r:id="rId14"/>
    <p:sldLayoutId id="2147484616" r:id="rId15"/>
    <p:sldLayoutId id="2147484618" r:id="rId16"/>
    <p:sldLayoutId id="2147484537" r:id="rId17"/>
    <p:sldLayoutId id="2147484538" r:id="rId18"/>
    <p:sldLayoutId id="2147484539" r:id="rId19"/>
    <p:sldLayoutId id="2147484540" r:id="rId20"/>
    <p:sldLayoutId id="2147484541" r:id="rId21"/>
    <p:sldLayoutId id="2147484542" r:id="rId22"/>
    <p:sldLayoutId id="2147484543" r:id="rId23"/>
    <p:sldLayoutId id="2147484619" r:id="rId24"/>
    <p:sldLayoutId id="2147484620" r:id="rId25"/>
    <p:sldLayoutId id="2147484621" r:id="rId26"/>
    <p:sldLayoutId id="2147484622" r:id="rId27"/>
    <p:sldLayoutId id="2147484615" r:id="rId28"/>
    <p:sldLayoutId id="2147484617" r:id="rId29"/>
  </p:sldLayoutIdLst>
  <p:hf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10"/>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3" imgW="360" imgH="360" progId="TCLayout.ActiveDocument.1">
                  <p:embed/>
                </p:oleObj>
              </mc:Choice>
              <mc:Fallback>
                <p:oleObj name="think-cellスライド" r:id="rId13"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4"/>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userDrawn="1"/>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
        <p:nvSpPr>
          <p:cNvPr id="13" name="AcnSubjectTitle_ID_13" hidden="1">
            <a:extLst>
              <a:ext uri="{FF2B5EF4-FFF2-40B4-BE49-F238E27FC236}">
                <a16:creationId xmlns:a16="http://schemas.microsoft.com/office/drawing/2014/main" id="{80CE973F-CC52-F6DE-E743-68E029CAB8DA}"/>
              </a:ext>
            </a:extLst>
          </p:cNvPr>
          <p:cNvSpPr txBox="1"/>
          <p:nvPr userDrawn="1">
            <p:custDataLst>
              <p:tags r:id="rId11"/>
            </p:custDataLst>
          </p:nvPr>
        </p:nvSpPr>
        <p:spPr bwMode="gray">
          <a:xfrm>
            <a:off x="179388" y="1420813"/>
            <a:ext cx="6985000" cy="269680"/>
          </a:xfrm>
          <a:prstGeom prst="rect">
            <a:avLst/>
          </a:prstGeom>
          <a:noFill/>
        </p:spPr>
        <p:txBody>
          <a:bodyPr vert="horz" wrap="square" lIns="36000" tIns="36000" rIns="36000" bIns="36000" rtlCol="0" anchor="ctr">
            <a:spAutoFit/>
          </a:bodyPr>
          <a:lstStyle/>
          <a:p>
            <a:pPr algn="l" defTabSz="914400" fontAlgn="base">
              <a:lnSpc>
                <a:spcPct val="80000"/>
              </a:lnSpc>
              <a:spcBef>
                <a:spcPct val="0"/>
              </a:spcBef>
              <a:spcAft>
                <a:spcPct val="0"/>
              </a:spcAft>
              <a:buFontTx/>
              <a:buNone/>
            </a:pPr>
            <a:r>
              <a:rPr kumimoji="1" lang="en-US" altLang="ja-JP" sz="1600" b="1" i="0">
                <a:solidFill>
                  <a:schemeClr val="tx1"/>
                </a:solidFill>
                <a:latin typeface="Meiryo UI" panose="020B0604030504040204" pitchFamily="50" charset="-128"/>
                <a:ea typeface="Meiryo UI" panose="020B0604030504040204" pitchFamily="50" charset="-128"/>
              </a:rPr>
              <a:t>Subject Title</a:t>
            </a:r>
            <a:endParaRPr kumimoji="1" lang="ja-JP" altLang="en-US" sz="1600" b="1" i="0">
              <a:solidFill>
                <a:schemeClr val="tx1"/>
              </a:solidFill>
              <a:latin typeface="Meiryo UI" panose="020B0604030504040204" pitchFamily="50" charset="-128"/>
              <a:ea typeface="Meiryo UI" panose="020B0604030504040204" pitchFamily="50" charset="-128"/>
            </a:endParaRPr>
          </a:p>
        </p:txBody>
      </p:sp>
      <p:sp>
        <p:nvSpPr>
          <p:cNvPr id="17" name="AcnFootnote_ID_17" hidden="1">
            <a:extLst>
              <a:ext uri="{FF2B5EF4-FFF2-40B4-BE49-F238E27FC236}">
                <a16:creationId xmlns:a16="http://schemas.microsoft.com/office/drawing/2014/main" id="{8766CB3F-02BB-8D4F-CC0C-78CAF99C6587}"/>
              </a:ext>
            </a:extLst>
          </p:cNvPr>
          <p:cNvSpPr txBox="1"/>
          <p:nvPr userDrawn="1">
            <p:custDataLst>
              <p:tags r:id="rId12"/>
            </p:custDataLst>
          </p:nvPr>
        </p:nvSpPr>
        <p:spPr bwMode="gray">
          <a:xfrm>
            <a:off x="179388" y="6254750"/>
            <a:ext cx="8780463" cy="349702"/>
          </a:xfrm>
          <a:prstGeom prst="rect">
            <a:avLst/>
          </a:prstGeom>
          <a:noFill/>
        </p:spPr>
        <p:txBody>
          <a:bodyPr vert="horz" wrap="square" lIns="36000" tIns="36000" rIns="36000" bIns="36000" rtlCol="0" anchor="b">
            <a:spAutoFit/>
          </a:bodyPr>
          <a:lstStyle/>
          <a:p>
            <a:pPr marL="538163" indent="-538163" algn="l" defTabSz="914400" fontAlgn="base">
              <a:lnSpc>
                <a:spcPct val="80000"/>
              </a:lnSpc>
              <a:spcBef>
                <a:spcPct val="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	Footnote</a:t>
            </a:r>
          </a:p>
          <a:p>
            <a:pPr marL="538163" indent="-538163" algn="l" defTabSz="914400" fontAlgn="base">
              <a:lnSpc>
                <a:spcPct val="80000"/>
              </a:lnSpc>
              <a:spcBef>
                <a:spcPct val="2000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Source:	Source</a:t>
            </a:r>
            <a:endParaRPr kumimoji="1" lang="ja-JP" altLang="en-US" sz="1000" b="0" i="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521753914"/>
      </p:ext>
    </p:extLst>
  </p:cSld>
  <p:clrMap bg1="lt1" tx1="dk1" bg2="lt2" tx2="dk2" accent1="accent1" accent2="accent2" accent3="accent3" accent4="accent4" accent5="accent5" accent6="accent6" hlink="hlink" folHlink="folHlink"/>
  <p:sldLayoutIdLst>
    <p:sldLayoutId id="2147484624" r:id="rId1"/>
    <p:sldLayoutId id="2147484625" r:id="rId2"/>
    <p:sldLayoutId id="2147484626" r:id="rId3"/>
    <p:sldLayoutId id="2147484627" r:id="rId4"/>
    <p:sldLayoutId id="2147484628" r:id="rId5"/>
    <p:sldLayoutId id="2147484629" r:id="rId6"/>
    <p:sldLayoutId id="2147484630" r:id="rId7"/>
    <p:sldLayoutId id="2147484631" r:id="rId8"/>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06_46882C86.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02_DFB4276E.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X.臨床情報詳細画面とPDF帳票の名称の差について</a:t>
            </a:r>
            <a:r>
              <a:rPr lang="ja-JP" altLang="en-US" dirty="0"/>
              <a:t>（</a:t>
            </a:r>
            <a:r>
              <a:rPr lang="en-US" altLang="ja-JP" dirty="0"/>
              <a:t>1/3</a:t>
            </a:r>
            <a:r>
              <a:rPr lang="ja-JP" altLang="en-US" dirty="0"/>
              <a:t>）</a:t>
            </a:r>
            <a:endParaRPr dirty="0"/>
          </a:p>
        </p:txBody>
      </p:sp>
      <p:sp>
        <p:nvSpPr>
          <p:cNvPr id="101" name="ラベル 背景・状況">
            <a:extLst>
              <a:ext uri="{FF2B5EF4-FFF2-40B4-BE49-F238E27FC236}">
                <a16:creationId xmlns:a16="http://schemas.microsoft.com/office/drawing/2014/main" id="{10B3CE16-A82C-C4F4-3204-AD9B576EF40B}"/>
              </a:ext>
            </a:extLst>
          </p:cNvPr>
          <p:cNvSpPr/>
          <p:nvPr/>
        </p:nvSpPr>
        <p:spPr>
          <a:xfrm>
            <a:off x="493200" y="827999"/>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背景・状況</a:t>
            </a:r>
          </a:p>
        </p:txBody>
      </p:sp>
      <p:sp>
        <p:nvSpPr>
          <p:cNvPr id="102" name="本文">
            <a:extLst>
              <a:ext uri="{FF2B5EF4-FFF2-40B4-BE49-F238E27FC236}">
                <a16:creationId xmlns:a16="http://schemas.microsoft.com/office/drawing/2014/main" id="{19B0B31A-D24C-127D-FE2A-C96C34222213}"/>
              </a:ext>
            </a:extLst>
          </p:cNvPr>
          <p:cNvSpPr>
            <a:spLocks noGrp="1"/>
          </p:cNvSpPr>
          <p:nvPr>
            <p:ph idx="1"/>
          </p:nvPr>
        </p:nvSpPr>
        <p:spPr>
          <a:xfrm>
            <a:off x="493200" y="1080000"/>
            <a:ext cx="8919900" cy="1256928"/>
          </a:xfrm>
        </p:spPr>
        <p:txBody>
          <a:bodyPr/>
          <a:lstStyle/>
          <a:p>
            <a:pPr marL="285750" indent="-285750">
              <a:spcAft>
                <a:spcPts val="300"/>
              </a:spcAft>
              <a:buFont typeface="Arial" panose="020B0604020202020204" pitchFamily="34" charset="0"/>
              <a:buChar char="•"/>
            </a:pPr>
            <a:r>
              <a:rPr lang="ja-JP" altLang="en-US" sz="1200" dirty="0"/>
              <a:t>案件196「オンライン資格確認端末の臨床情報検索画面・詳細画面のレイアウト変更」の検討において、</a:t>
            </a:r>
            <a:r>
              <a:rPr lang="en-US" altLang="ja-JP" sz="1200" dirty="0"/>
              <a:t>PDF</a:t>
            </a:r>
            <a:r>
              <a:rPr lang="ja-JP" altLang="en-US" sz="1200" dirty="0"/>
              <a:t>には表示される傷病名末尾の「疑い」が、臨床情報詳細画面には表示されないことが判明し、12月リリース（案件213「臨床情報詳細画面の傷病名を</a:t>
            </a:r>
            <a:r>
              <a:rPr lang="en-US" altLang="ja-JP" sz="1200" dirty="0"/>
              <a:t>PDF</a:t>
            </a:r>
            <a:r>
              <a:rPr lang="ja-JP" altLang="en-US" sz="1200" dirty="0"/>
              <a:t>と同様に出力する対応」）にて改修することとなった。</a:t>
            </a:r>
          </a:p>
          <a:p>
            <a:pPr marL="285750" indent="-285750">
              <a:spcAft>
                <a:spcPts val="300"/>
              </a:spcAft>
              <a:buFont typeface="Arial" panose="020B0604020202020204" pitchFamily="34" charset="0"/>
              <a:buChar char="•"/>
            </a:pPr>
            <a:r>
              <a:rPr lang="ja-JP" altLang="en-US" sz="1200" dirty="0"/>
              <a:t>このような臨床情報詳細画面と</a:t>
            </a:r>
            <a:r>
              <a:rPr lang="en-US" altLang="ja-JP" sz="1200" dirty="0"/>
              <a:t>PDF</a:t>
            </a:r>
            <a:r>
              <a:rPr lang="ja-JP" altLang="en-US" sz="1200" dirty="0"/>
              <a:t>で表示が異なる項目が他にもないか、DX機構にて確認を実施した。（ToDo#1228）</a:t>
            </a:r>
          </a:p>
          <a:p>
            <a:pPr marL="285750" indent="-285750">
              <a:spcAft>
                <a:spcPts val="300"/>
              </a:spcAft>
              <a:buFont typeface="Arial" panose="020B0604020202020204" pitchFamily="34" charset="0"/>
              <a:buChar char="•"/>
            </a:pPr>
            <a:r>
              <a:rPr lang="ja-JP" altLang="en-US" sz="1200" dirty="0"/>
              <a:t>確認の結果、検査項目・薬剤名・アレルギー物質の項目について、</a:t>
            </a:r>
            <a:r>
              <a:rPr lang="ja-JP" altLang="en-US" sz="1200" b="1" dirty="0"/>
              <a:t>以下表のとおり</a:t>
            </a:r>
            <a:r>
              <a:rPr lang="en-US" altLang="ja-JP" sz="1200" b="1" dirty="0"/>
              <a:t>FHIR</a:t>
            </a:r>
            <a:r>
              <a:rPr lang="ja-JP" altLang="en-US" sz="1200" b="1" dirty="0"/>
              <a:t>パスの差分が生じており、臨床情報詳細画面と</a:t>
            </a:r>
            <a:r>
              <a:rPr lang="en-US" altLang="ja-JP" sz="1200" b="1" dirty="0"/>
              <a:t>PDF</a:t>
            </a:r>
            <a:r>
              <a:rPr lang="ja-JP" altLang="en-US" sz="1200" b="1" dirty="0"/>
              <a:t>の表示にも差分が生じかねない状況である</a:t>
            </a:r>
            <a:r>
              <a:rPr lang="ja-JP" altLang="en-US" sz="1200" dirty="0"/>
              <a:t>ことから、対応方針（機構に改修を求めるか）のすり合わせをさせていただきたい。</a:t>
            </a:r>
          </a:p>
          <a:p>
            <a:pPr marL="285750" indent="-285750">
              <a:spcAft>
                <a:spcPts val="300"/>
              </a:spcAft>
              <a:buFont typeface="Arial" panose="020B0604020202020204" pitchFamily="34" charset="0"/>
              <a:buChar char="•"/>
            </a:pPr>
            <a:r>
              <a:rPr lang="ja-JP" altLang="en-US" sz="1200" dirty="0"/>
              <a:t>なお、</a:t>
            </a:r>
            <a:r>
              <a:rPr lang="en-US" altLang="ja-JP" sz="1200" dirty="0"/>
              <a:t>10/5</a:t>
            </a:r>
            <a:r>
              <a:rPr lang="ja-JP" altLang="en-US" sz="1200" dirty="0"/>
              <a:t>開発課題検討会にて、機構より「案件</a:t>
            </a:r>
            <a:r>
              <a:rPr lang="en-US" altLang="ja-JP" sz="1200" dirty="0"/>
              <a:t>ID213</a:t>
            </a:r>
            <a:r>
              <a:rPr lang="ja-JP" altLang="en-US" sz="1200" dirty="0"/>
              <a:t>以外の臨床情報詳細画面・</a:t>
            </a:r>
            <a:r>
              <a:rPr lang="en-US" altLang="ja-JP" sz="1200" dirty="0"/>
              <a:t>PDF</a:t>
            </a:r>
            <a:r>
              <a:rPr lang="ja-JP" altLang="en-US" sz="1200" dirty="0"/>
              <a:t>の差分の解消は、品質担保の観点から3月リリースでの修正は困難」との回答を受けている。</a:t>
            </a:r>
          </a:p>
        </p:txBody>
      </p:sp>
      <p:graphicFrame>
        <p:nvGraphicFramePr>
          <p:cNvPr id="103" name="Table 102"/>
          <p:cNvGraphicFramePr>
            <a:graphicFrameLocks noGrp="1"/>
          </p:cNvGraphicFramePr>
          <p:nvPr>
            <p:extLst>
              <p:ext uri="{D42A27DB-BD31-4B8C-83A1-F6EECF244321}">
                <p14:modId xmlns:p14="http://schemas.microsoft.com/office/powerpoint/2010/main" val="3699719268"/>
              </p:ext>
            </p:extLst>
          </p:nvPr>
        </p:nvGraphicFramePr>
        <p:xfrm>
          <a:off x="493200" y="3304800"/>
          <a:ext cx="8917500" cy="2793865"/>
        </p:xfrm>
        <a:graphic>
          <a:graphicData uri="http://schemas.openxmlformats.org/drawingml/2006/table">
            <a:tbl>
              <a:tblPr>
                <a:tableStyleId>{5C22544A-7EE6-4342-B048-85BDC9FD1C3A}</a:tableStyleId>
              </a:tblPr>
              <a:tblGrid>
                <a:gridCol w="964125">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3914775">
                  <a:extLst>
                    <a:ext uri="{9D8B030D-6E8A-4147-A177-3AD203B41FA5}">
                      <a16:colId xmlns:a16="http://schemas.microsoft.com/office/drawing/2014/main" val="20002"/>
                    </a:ext>
                  </a:extLst>
                </a:gridCol>
                <a:gridCol w="1243373">
                  <a:extLst>
                    <a:ext uri="{9D8B030D-6E8A-4147-A177-3AD203B41FA5}">
                      <a16:colId xmlns:a16="http://schemas.microsoft.com/office/drawing/2014/main" val="20003"/>
                    </a:ext>
                  </a:extLst>
                </a:gridCol>
                <a:gridCol w="1957027">
                  <a:extLst>
                    <a:ext uri="{9D8B030D-6E8A-4147-A177-3AD203B41FA5}">
                      <a16:colId xmlns:a16="http://schemas.microsoft.com/office/drawing/2014/main" val="20004"/>
                    </a:ext>
                  </a:extLst>
                </a:gridCol>
              </a:tblGrid>
              <a:tr h="180985">
                <a:tc rowSpan="2">
                  <a:txBody>
                    <a:bodyPr/>
                    <a:lstStyle/>
                    <a:p>
                      <a:pPr algn="ctr"/>
                      <a:r>
                        <a:rPr sz="900" b="1" dirty="0" err="1">
                          <a:solidFill>
                            <a:srgbClr val="000000"/>
                          </a:solidFill>
                          <a:latin typeface="+mn-ea"/>
                          <a:ea typeface="+mn-ea"/>
                        </a:rPr>
                        <a:t>項目</a:t>
                      </a:r>
                      <a:endParaRPr sz="900" b="1"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chemeClr val="accent1">
                        <a:lumMod val="20000"/>
                        <a:lumOff val="80000"/>
                      </a:schemeClr>
                    </a:solidFill>
                  </a:tcPr>
                </a:tc>
                <a:tc gridSpan="2">
                  <a:txBody>
                    <a:bodyPr/>
                    <a:lstStyle/>
                    <a:p>
                      <a:pPr algn="ctr"/>
                      <a:r>
                        <a:rPr lang="ja-JP" altLang="en-US" sz="900" b="1" dirty="0">
                          <a:solidFill>
                            <a:srgbClr val="000000"/>
                          </a:solidFill>
                          <a:latin typeface="+mn-ea"/>
                          <a:ea typeface="+mn-ea"/>
                        </a:rPr>
                        <a:t>項目の出力仕様</a:t>
                      </a:r>
                      <a:r>
                        <a:rPr sz="900" b="1" dirty="0">
                          <a:solidFill>
                            <a:srgbClr val="000000"/>
                          </a:solidFill>
                          <a:latin typeface="+mn-ea"/>
                          <a:ea typeface="+mn-ea"/>
                        </a:rPr>
                        <a:t>（</a:t>
                      </a:r>
                      <a:r>
                        <a:rPr sz="900" b="1" dirty="0" err="1">
                          <a:solidFill>
                            <a:srgbClr val="000000"/>
                          </a:solidFill>
                          <a:latin typeface="+mn-ea"/>
                          <a:ea typeface="+mn-ea"/>
                        </a:rPr>
                        <a:t>FHIRパス</a:t>
                      </a:r>
                      <a:r>
                        <a:rPr sz="900" b="1" dirty="0">
                          <a:solidFill>
                            <a:srgbClr val="000000"/>
                          </a:solidFill>
                          <a:latin typeface="+mn-ea"/>
                          <a:ea typeface="+mn-ea"/>
                        </a:rPr>
                        <a: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dirty="0"/>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round/>
                      <a:headEnd type="none" w="med" len="med"/>
                      <a:tailEnd type="none" w="med" len="med"/>
                    </a:lnB>
                    <a:solidFill>
                      <a:schemeClr val="accent1">
                        <a:lumMod val="20000"/>
                        <a:lumOff val="80000"/>
                      </a:schemeClr>
                    </a:solidFill>
                  </a:tcPr>
                </a:tc>
                <a:tc rowSpan="2">
                  <a:txBody>
                    <a:bodyPr/>
                    <a:lstStyle/>
                    <a:p>
                      <a:pPr algn="ctr"/>
                      <a:r>
                        <a:rPr sz="900" b="1" dirty="0" err="1">
                          <a:solidFill>
                            <a:srgbClr val="000000"/>
                          </a:solidFill>
                          <a:latin typeface="+mn-ea"/>
                          <a:ea typeface="+mn-ea"/>
                        </a:rPr>
                        <a:t>表示</a:t>
                      </a:r>
                      <a:r>
                        <a:rPr lang="ja-JP" altLang="en-US" sz="900" b="1" dirty="0">
                          <a:solidFill>
                            <a:srgbClr val="000000"/>
                          </a:solidFill>
                          <a:latin typeface="+mn-ea"/>
                          <a:ea typeface="+mn-ea"/>
                        </a:rPr>
                        <a:t>における</a:t>
                      </a:r>
                      <a:r>
                        <a:rPr sz="900" b="1" dirty="0" err="1">
                          <a:solidFill>
                            <a:srgbClr val="000000"/>
                          </a:solidFill>
                          <a:latin typeface="+mn-ea"/>
                          <a:ea typeface="+mn-ea"/>
                        </a:rPr>
                        <a:t>差分</a:t>
                      </a:r>
                      <a:r>
                        <a:rPr lang="ja-JP" altLang="en-US" sz="900" b="1" dirty="0">
                          <a:solidFill>
                            <a:srgbClr val="000000"/>
                          </a:solidFill>
                          <a:latin typeface="+mn-ea"/>
                          <a:ea typeface="+mn-ea"/>
                        </a:rPr>
                        <a:t>有無</a:t>
                      </a:r>
                      <a:endParaRPr sz="900" b="1"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chemeClr val="accent1">
                        <a:lumMod val="20000"/>
                        <a:lumOff val="80000"/>
                      </a:schemeClr>
                    </a:solidFill>
                  </a:tcPr>
                </a:tc>
                <a:tc rowSpan="2">
                  <a:txBody>
                    <a:bodyPr/>
                    <a:lstStyle/>
                    <a:p>
                      <a:pPr algn="ctr"/>
                      <a:r>
                        <a:rPr lang="ja-JP" altLang="en-US" sz="900" b="1" dirty="0">
                          <a:solidFill>
                            <a:srgbClr val="000000"/>
                          </a:solidFill>
                          <a:latin typeface="+mn-ea"/>
                          <a:ea typeface="+mn-ea"/>
                        </a:rPr>
                        <a:t>当該項目に係る</a:t>
                      </a:r>
                      <a:endParaRPr lang="en-US" altLang="ja-JP" sz="900" b="1" dirty="0">
                        <a:solidFill>
                          <a:srgbClr val="000000"/>
                        </a:solidFill>
                        <a:latin typeface="+mn-ea"/>
                        <a:ea typeface="+mn-ea"/>
                      </a:endParaRPr>
                    </a:p>
                    <a:p>
                      <a:pPr algn="ctr"/>
                      <a:r>
                        <a:rPr lang="ja-JP" altLang="en-US" sz="900" b="1" dirty="0">
                          <a:solidFill>
                            <a:srgbClr val="000000"/>
                          </a:solidFill>
                          <a:latin typeface="+mn-ea"/>
                          <a:ea typeface="+mn-ea"/>
                        </a:rPr>
                        <a:t>今後の改修予定</a:t>
                      </a:r>
                      <a:endParaRPr sz="900" b="1"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chemeClr val="accent1">
                        <a:lumMod val="20000"/>
                        <a:lumOff val="80000"/>
                      </a:schemeClr>
                    </a:solidFill>
                  </a:tcPr>
                </a:tc>
                <a:extLst>
                  <a:ext uri="{0D108BD9-81ED-4DB2-BD59-A6C34878D82A}">
                    <a16:rowId xmlns:a16="http://schemas.microsoft.com/office/drawing/2014/main" val="10000"/>
                  </a:ext>
                </a:extLst>
              </a:tr>
              <a:tr h="180985">
                <a:tc vMerge="1">
                  <a:txBody>
                    <a:bodyPr/>
                    <a:lstStyle/>
                    <a:p>
                      <a:endParaRPr kumimoji="1" lang="ja-JP" altLang="en-US"/>
                    </a:p>
                  </a:txBody>
                  <a:tcPr/>
                </a:tc>
                <a:tc>
                  <a:txBody>
                    <a:bodyPr/>
                    <a:lstStyle/>
                    <a:p>
                      <a:pPr algn="ctr"/>
                      <a:r>
                        <a:rPr lang="ja-JP" altLang="en-US" sz="900" b="0" dirty="0">
                          <a:solidFill>
                            <a:srgbClr val="000000"/>
                          </a:solidFill>
                          <a:latin typeface="+mn-ea"/>
                          <a:ea typeface="+mn-ea"/>
                        </a:rPr>
                        <a:t>臨床情報</a:t>
                      </a:r>
                      <a:endParaRPr lang="en-US" altLang="ja-JP" sz="900" b="0" dirty="0">
                        <a:solidFill>
                          <a:srgbClr val="000000"/>
                        </a:solidFill>
                        <a:latin typeface="+mn-ea"/>
                        <a:ea typeface="+mn-ea"/>
                      </a:endParaRPr>
                    </a:p>
                    <a:p>
                      <a:pPr algn="ctr"/>
                      <a:r>
                        <a:rPr lang="ja-JP" altLang="en-US" sz="900" b="0" dirty="0">
                          <a:solidFill>
                            <a:srgbClr val="000000"/>
                          </a:solidFill>
                          <a:latin typeface="+mn-ea"/>
                          <a:ea typeface="+mn-ea"/>
                        </a:rPr>
                        <a:t>詳細画面</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lnB>
                    <a:solidFill>
                      <a:schemeClr val="accent1">
                        <a:lumMod val="20000"/>
                        <a:lumOff val="80000"/>
                      </a:schemeClr>
                    </a:solidFill>
                  </a:tcPr>
                </a:tc>
                <a:tc>
                  <a:txBody>
                    <a:bodyPr/>
                    <a:lstStyle/>
                    <a:p>
                      <a:pPr algn="ctr"/>
                      <a:r>
                        <a:rPr lang="en-US" altLang="ja-JP" sz="900" b="0" dirty="0">
                          <a:solidFill>
                            <a:srgbClr val="000000"/>
                          </a:solidFill>
                          <a:latin typeface="+mn-ea"/>
                          <a:ea typeface="+mn-ea"/>
                        </a:rPr>
                        <a:t>PDF</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lnB>
                    <a:solidFill>
                      <a:schemeClr val="accent1">
                        <a:lumMod val="20000"/>
                        <a:lumOff val="80000"/>
                      </a:schemeClr>
                    </a:solidFill>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498220161"/>
                  </a:ext>
                </a:extLst>
              </a:tr>
              <a:tr h="577440">
                <a:tc>
                  <a:txBody>
                    <a:bodyPr/>
                    <a:lstStyle/>
                    <a:p>
                      <a:r>
                        <a:rPr sz="900" b="0" dirty="0" err="1">
                          <a:solidFill>
                            <a:srgbClr val="000000"/>
                          </a:solidFill>
                          <a:latin typeface="+mn-ea"/>
                          <a:ea typeface="+mn-ea"/>
                        </a:rPr>
                        <a:t>検査項目</a:t>
                      </a:r>
                      <a:endParaRPr sz="900" b="0" dirty="0">
                        <a:solidFill>
                          <a:srgbClr val="000000"/>
                        </a:solidFill>
                        <a:latin typeface="+mn-ea"/>
                        <a:ea typeface="+mn-ea"/>
                      </a:endParaRPr>
                    </a:p>
                    <a:p>
                      <a:r>
                        <a:rPr sz="900" b="0" dirty="0">
                          <a:solidFill>
                            <a:srgbClr val="000000"/>
                          </a:solidFill>
                          <a:latin typeface="+mn-ea"/>
                          <a:ea typeface="+mn-ea"/>
                        </a:rPr>
                        <a:t>（</a:t>
                      </a:r>
                      <a:r>
                        <a:rPr sz="900" b="0" dirty="0" err="1">
                          <a:solidFill>
                            <a:srgbClr val="000000"/>
                          </a:solidFill>
                          <a:latin typeface="+mn-ea"/>
                          <a:ea typeface="+mn-ea"/>
                        </a:rPr>
                        <a:t>感染症・検査</a:t>
                      </a:r>
                      <a:r>
                        <a:rPr sz="900" b="0" dirty="0">
                          <a:solidFill>
                            <a:srgbClr val="000000"/>
                          </a:solidFill>
                          <a:latin typeface="+mn-ea"/>
                          <a:ea typeface="+mn-ea"/>
                        </a:rPr>
                        <a: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rowSpan="4">
                  <a:txBody>
                    <a:bodyPr/>
                    <a:lstStyle/>
                    <a:p>
                      <a:r>
                        <a:rPr lang="ja-JP" altLang="en-US" sz="900" b="0" dirty="0">
                          <a:solidFill>
                            <a:srgbClr val="000000"/>
                          </a:solidFill>
                          <a:latin typeface="+mn-ea"/>
                          <a:ea typeface="+mn-ea"/>
                        </a:rPr>
                        <a:t>「</a:t>
                      </a:r>
                      <a:r>
                        <a:rPr sz="900" b="0" dirty="0">
                          <a:solidFill>
                            <a:srgbClr val="000000"/>
                          </a:solidFill>
                          <a:latin typeface="+mn-ea"/>
                          <a:ea typeface="+mn-ea"/>
                        </a:rPr>
                        <a:t>code.text</a:t>
                      </a:r>
                      <a:r>
                        <a:rPr lang="en-US" altLang="ja-JP" sz="900" b="0" dirty="0">
                          <a:solidFill>
                            <a:srgbClr val="000000"/>
                          </a:solidFill>
                          <a:latin typeface="+mn-ea"/>
                          <a:ea typeface="+mn-ea"/>
                        </a:rPr>
                        <a:t>※</a:t>
                      </a:r>
                      <a:r>
                        <a:rPr lang="ja-JP" altLang="en-US" sz="900" b="0" dirty="0">
                          <a:solidFill>
                            <a:srgbClr val="000000"/>
                          </a:solidFill>
                          <a:latin typeface="+mn-ea"/>
                          <a:ea typeface="+mn-ea"/>
                        </a:rPr>
                        <a:t>」より出力</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latin typeface="+mn-ea"/>
                          <a:ea typeface="+mn-ea"/>
                        </a:rPr>
                        <a:t>〇</a:t>
                      </a:r>
                      <a:r>
                        <a:rPr lang="ja-JP" altLang="ja-JP" sz="900" dirty="0">
                          <a:latin typeface="+mn-ea"/>
                          <a:ea typeface="+mn-ea"/>
                        </a:rPr>
                        <a:t>JLAC10コードが</a:t>
                      </a:r>
                      <a:r>
                        <a:rPr lang="ja-JP" altLang="en-US" sz="900" dirty="0">
                          <a:latin typeface="+mn-ea"/>
                          <a:ea typeface="+mn-ea"/>
                        </a:rPr>
                        <a:t>登録されている場合</a:t>
                      </a:r>
                      <a:r>
                        <a:rPr lang="ja-JP" altLang="ja-JP" sz="900" dirty="0">
                          <a:latin typeface="+mn-ea"/>
                          <a:ea typeface="+mn-ea"/>
                        </a:rPr>
                        <a:t>：</a:t>
                      </a:r>
                      <a:endParaRPr lang="en-US" altLang="ja-JP" sz="900" dirty="0">
                        <a:latin typeface="+mn-ea"/>
                        <a:ea typeface="+mn-ea"/>
                      </a:endParaRPr>
                    </a:p>
                    <a:p>
                      <a:r>
                        <a:rPr lang="ja-JP" altLang="en-US" sz="900" dirty="0">
                          <a:latin typeface="+mn-ea"/>
                          <a:ea typeface="+mn-ea"/>
                        </a:rPr>
                        <a:t>　　</a:t>
                      </a:r>
                      <a:r>
                        <a:rPr lang="ja-JP" altLang="ja-JP" sz="900" dirty="0">
                          <a:latin typeface="+mn-ea"/>
                          <a:ea typeface="+mn-ea"/>
                        </a:rPr>
                        <a:t>「code.coding」</a:t>
                      </a:r>
                      <a:r>
                        <a:rPr lang="ja-JP" altLang="en-US" sz="900" dirty="0">
                          <a:latin typeface="+mn-ea"/>
                          <a:ea typeface="+mn-ea"/>
                        </a:rPr>
                        <a:t>のディスプレイ値</a:t>
                      </a:r>
                      <a:r>
                        <a:rPr lang="ja-JP" altLang="ja-JP" sz="900" dirty="0">
                          <a:latin typeface="+mn-ea"/>
                          <a:ea typeface="+mn-ea"/>
                        </a:rPr>
                        <a:t>より出力</a:t>
                      </a:r>
                      <a:br>
                        <a:rPr lang="ja-JP" altLang="ja-JP" sz="900" dirty="0">
                          <a:latin typeface="+mn-ea"/>
                          <a:ea typeface="+mn-ea"/>
                        </a:rPr>
                      </a:br>
                      <a:r>
                        <a:rPr lang="ja-JP" altLang="en-US" sz="900" dirty="0">
                          <a:latin typeface="+mn-ea"/>
                          <a:ea typeface="+mn-ea"/>
                        </a:rPr>
                        <a:t>〇上記以外</a:t>
                      </a:r>
                      <a:r>
                        <a:rPr lang="ja-JP" altLang="ja-JP" sz="900" dirty="0">
                          <a:latin typeface="+mn-ea"/>
                          <a:ea typeface="+mn-ea"/>
                        </a:rPr>
                        <a:t>の場合：「code.text※」より出力</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rowSpan="3">
                  <a:txBody>
                    <a:bodyPr/>
                    <a:lstStyle/>
                    <a:p>
                      <a:r>
                        <a:rPr sz="900" b="1" dirty="0" err="1">
                          <a:solidFill>
                            <a:srgbClr val="C00000"/>
                          </a:solidFill>
                          <a:latin typeface="+mn-ea"/>
                          <a:ea typeface="+mn-ea"/>
                        </a:rPr>
                        <a:t>生じ</a:t>
                      </a:r>
                      <a:r>
                        <a:rPr lang="ja-JP" altLang="en-US" sz="900" b="1" dirty="0">
                          <a:solidFill>
                            <a:srgbClr val="C00000"/>
                          </a:solidFill>
                          <a:latin typeface="+mn-ea"/>
                          <a:ea typeface="+mn-ea"/>
                        </a:rPr>
                        <a:t>う</a:t>
                      </a:r>
                      <a:r>
                        <a:rPr sz="900" b="1" dirty="0">
                          <a:solidFill>
                            <a:srgbClr val="C00000"/>
                          </a:solidFill>
                          <a:latin typeface="+mn-ea"/>
                          <a:ea typeface="+mn-ea"/>
                        </a:rPr>
                        <a:t>る</a:t>
                      </a:r>
                      <a:endParaRPr lang="en-US" sz="900" b="1" dirty="0">
                        <a:solidFill>
                          <a:srgbClr val="C00000"/>
                        </a:solidFill>
                        <a:latin typeface="+mn-ea"/>
                        <a:ea typeface="+mn-ea"/>
                      </a:endParaRPr>
                    </a:p>
                    <a:p>
                      <a:r>
                        <a:rPr lang="en-US" altLang="ja-JP" sz="900" b="0" dirty="0">
                          <a:solidFill>
                            <a:schemeClr val="tx1"/>
                          </a:solidFill>
                          <a:latin typeface="+mn-ea"/>
                          <a:ea typeface="+mn-ea"/>
                        </a:rPr>
                        <a:t>※JLAC10</a:t>
                      </a:r>
                      <a:r>
                        <a:rPr lang="ja-JP" altLang="en-US" sz="900" b="0" dirty="0">
                          <a:solidFill>
                            <a:schemeClr val="tx1"/>
                          </a:solidFill>
                          <a:latin typeface="+mn-ea"/>
                          <a:ea typeface="+mn-ea"/>
                        </a:rPr>
                        <a:t>コードのディスプレイ値と</a:t>
                      </a:r>
                      <a:r>
                        <a:rPr lang="en-US" altLang="ja-JP" sz="900" b="0" dirty="0" err="1">
                          <a:solidFill>
                            <a:schemeClr val="tx1"/>
                          </a:solidFill>
                          <a:latin typeface="+mn-ea"/>
                          <a:ea typeface="+mn-ea"/>
                        </a:rPr>
                        <a:t>code.text</a:t>
                      </a:r>
                      <a:r>
                        <a:rPr lang="ja-JP" altLang="en-US" sz="900" b="0" dirty="0">
                          <a:solidFill>
                            <a:schemeClr val="tx1"/>
                          </a:solidFill>
                          <a:latin typeface="+mn-ea"/>
                          <a:ea typeface="+mn-ea"/>
                        </a:rPr>
                        <a:t>の入力値が異なる場合に差分が生じる</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en-US" altLang="ja-JP" sz="900" b="0" dirty="0">
                          <a:solidFill>
                            <a:srgbClr val="000000"/>
                          </a:solidFill>
                          <a:latin typeface="+mn-ea"/>
                          <a:ea typeface="+mn-ea"/>
                        </a:rPr>
                        <a:t>3</a:t>
                      </a:r>
                      <a:r>
                        <a:rPr lang="ja-JP" altLang="en-US" sz="900" b="0" dirty="0">
                          <a:solidFill>
                            <a:srgbClr val="000000"/>
                          </a:solidFill>
                          <a:latin typeface="+mn-ea"/>
                          <a:ea typeface="+mn-ea"/>
                        </a:rPr>
                        <a:t>月リリースの案件</a:t>
                      </a:r>
                      <a:r>
                        <a:rPr lang="en-US" altLang="ja-JP" sz="900" b="0" dirty="0">
                          <a:solidFill>
                            <a:srgbClr val="000000"/>
                          </a:solidFill>
                          <a:latin typeface="+mn-ea"/>
                          <a:ea typeface="+mn-ea"/>
                        </a:rPr>
                        <a:t>ID221</a:t>
                      </a:r>
                      <a:r>
                        <a:rPr lang="ja-JP" altLang="en-US" sz="900" b="0" dirty="0">
                          <a:solidFill>
                            <a:srgbClr val="000000"/>
                          </a:solidFill>
                          <a:latin typeface="+mn-ea"/>
                          <a:ea typeface="+mn-ea"/>
                        </a:rPr>
                        <a:t>にて、臨床情報詳細画面・</a:t>
                      </a:r>
                      <a:r>
                        <a:rPr lang="en-US" altLang="ja-JP" sz="900" b="0" dirty="0">
                          <a:solidFill>
                            <a:srgbClr val="000000"/>
                          </a:solidFill>
                          <a:latin typeface="+mn-ea"/>
                          <a:ea typeface="+mn-ea"/>
                        </a:rPr>
                        <a:t>PDF</a:t>
                      </a:r>
                      <a:r>
                        <a:rPr lang="ja-JP" altLang="en-US" sz="900" b="0" dirty="0">
                          <a:solidFill>
                            <a:srgbClr val="000000"/>
                          </a:solidFill>
                          <a:latin typeface="+mn-ea"/>
                          <a:ea typeface="+mn-ea"/>
                        </a:rPr>
                        <a:t>ともに</a:t>
                      </a:r>
                      <a:r>
                        <a:rPr sz="900" b="0" dirty="0">
                          <a:solidFill>
                            <a:srgbClr val="000000"/>
                          </a:solidFill>
                          <a:latin typeface="+mn-ea"/>
                          <a:ea typeface="+mn-ea"/>
                        </a:rPr>
                        <a:t>JLAC11</a:t>
                      </a:r>
                      <a:r>
                        <a:rPr lang="ja-JP" altLang="en-US" sz="900" b="0" dirty="0">
                          <a:solidFill>
                            <a:srgbClr val="000000"/>
                          </a:solidFill>
                          <a:latin typeface="+mn-ea"/>
                          <a:ea typeface="+mn-ea"/>
                        </a:rPr>
                        <a:t>・</a:t>
                      </a:r>
                      <a:r>
                        <a:rPr lang="en-US" altLang="ja-JP" sz="900" b="0" dirty="0">
                          <a:solidFill>
                            <a:srgbClr val="000000"/>
                          </a:solidFill>
                          <a:latin typeface="+mn-ea"/>
                          <a:ea typeface="+mn-ea"/>
                        </a:rPr>
                        <a:t>JLAC10</a:t>
                      </a:r>
                      <a:r>
                        <a:rPr sz="900" b="0" dirty="0">
                          <a:solidFill>
                            <a:srgbClr val="000000"/>
                          </a:solidFill>
                          <a:latin typeface="+mn-ea"/>
                          <a:ea typeface="+mn-ea"/>
                        </a:rPr>
                        <a:t>併記時はJLAC11</a:t>
                      </a:r>
                      <a:r>
                        <a:rPr lang="ja-JP" altLang="en-US" sz="900" b="0" dirty="0">
                          <a:solidFill>
                            <a:srgbClr val="000000"/>
                          </a:solidFill>
                          <a:latin typeface="+mn-ea"/>
                          <a:ea typeface="+mn-ea"/>
                        </a:rPr>
                        <a:t>を</a:t>
                      </a:r>
                      <a:r>
                        <a:rPr sz="900" b="0" dirty="0" err="1">
                          <a:solidFill>
                            <a:srgbClr val="000000"/>
                          </a:solidFill>
                          <a:latin typeface="+mn-ea"/>
                          <a:ea typeface="+mn-ea"/>
                        </a:rPr>
                        <a:t>優先</a:t>
                      </a:r>
                      <a:r>
                        <a:rPr lang="ja-JP" altLang="en-US" sz="900" b="0" dirty="0">
                          <a:solidFill>
                            <a:srgbClr val="000000"/>
                          </a:solidFill>
                          <a:latin typeface="+mn-ea"/>
                          <a:ea typeface="+mn-ea"/>
                        </a:rPr>
                        <a:t>出力する仕様に改修予定</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1"/>
                  </a:ext>
                </a:extLst>
              </a:tr>
              <a:tr h="577440">
                <a:tc>
                  <a:txBody>
                    <a:bodyPr/>
                    <a:lstStyle/>
                    <a:p>
                      <a:r>
                        <a:rPr sz="900" b="0" dirty="0" err="1">
                          <a:solidFill>
                            <a:srgbClr val="000000"/>
                          </a:solidFill>
                          <a:latin typeface="+mn-ea"/>
                          <a:ea typeface="+mn-ea"/>
                        </a:rPr>
                        <a:t>薬剤名</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vMerge="1">
                  <a:txBody>
                    <a:bodyPr/>
                    <a:lstStyle/>
                    <a:p>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latin typeface="+mn-ea"/>
                          <a:ea typeface="+mn-ea"/>
                        </a:rPr>
                        <a:t>〇</a:t>
                      </a:r>
                      <a:r>
                        <a:rPr lang="ja-JP" altLang="ja-JP" sz="900" dirty="0">
                          <a:latin typeface="+mn-ea"/>
                          <a:ea typeface="+mn-ea"/>
                        </a:rPr>
                        <a:t>JFAGY医薬品コード</a:t>
                      </a:r>
                      <a:r>
                        <a:rPr lang="en-US" altLang="ja-JP" sz="900" dirty="0">
                          <a:latin typeface="+mn-ea"/>
                          <a:ea typeface="+mn-ea"/>
                        </a:rPr>
                        <a:t>(</a:t>
                      </a:r>
                      <a:r>
                        <a:rPr lang="ja-JP" altLang="ja-JP" sz="900" dirty="0">
                          <a:latin typeface="+mn-ea"/>
                          <a:ea typeface="+mn-ea"/>
                        </a:rPr>
                        <a:t>ダミーコード以外</a:t>
                      </a:r>
                      <a:r>
                        <a:rPr lang="en-US" altLang="ja-JP" sz="900" dirty="0">
                          <a:latin typeface="+mn-ea"/>
                          <a:ea typeface="+mn-ea"/>
                        </a:rPr>
                        <a:t>)</a:t>
                      </a:r>
                      <a:r>
                        <a:rPr lang="ja-JP" altLang="en-US" sz="900" dirty="0">
                          <a:latin typeface="+mn-ea"/>
                          <a:ea typeface="+mn-ea"/>
                        </a:rPr>
                        <a:t>が登録されている</a:t>
                      </a:r>
                      <a:r>
                        <a:rPr lang="ja-JP" altLang="ja-JP" sz="900" dirty="0">
                          <a:latin typeface="+mn-ea"/>
                          <a:ea typeface="+mn-ea"/>
                        </a:rPr>
                        <a:t>場合：</a:t>
                      </a:r>
                      <a:endParaRPr lang="en-US" altLang="ja-JP" sz="900" dirty="0">
                        <a:latin typeface="+mn-ea"/>
                        <a:ea typeface="+mn-ea"/>
                      </a:endParaRPr>
                    </a:p>
                    <a:p>
                      <a:r>
                        <a:rPr lang="ja-JP" altLang="en-US" sz="900" dirty="0">
                          <a:latin typeface="+mn-ea"/>
                          <a:ea typeface="+mn-ea"/>
                        </a:rPr>
                        <a:t>　　</a:t>
                      </a:r>
                      <a:r>
                        <a:rPr lang="ja-JP" altLang="ja-JP" sz="900" dirty="0">
                          <a:latin typeface="+mn-ea"/>
                          <a:ea typeface="+mn-ea"/>
                        </a:rPr>
                        <a:t>「code.coding」</a:t>
                      </a:r>
                      <a:r>
                        <a:rPr lang="ja-JP" altLang="en-US" sz="900" dirty="0">
                          <a:latin typeface="+mn-ea"/>
                          <a:ea typeface="+mn-ea"/>
                        </a:rPr>
                        <a:t>のディスプレイ値</a:t>
                      </a:r>
                      <a:r>
                        <a:rPr lang="ja-JP" altLang="ja-JP" sz="900" dirty="0">
                          <a:latin typeface="+mn-ea"/>
                          <a:ea typeface="+mn-ea"/>
                        </a:rPr>
                        <a:t>より出力</a:t>
                      </a:r>
                      <a:br>
                        <a:rPr lang="ja-JP" altLang="ja-JP" sz="900" dirty="0">
                          <a:latin typeface="+mn-ea"/>
                          <a:ea typeface="+mn-ea"/>
                        </a:rPr>
                      </a:br>
                      <a:r>
                        <a:rPr lang="ja-JP" altLang="en-US" sz="900" dirty="0">
                          <a:latin typeface="+mn-ea"/>
                          <a:ea typeface="+mn-ea"/>
                        </a:rPr>
                        <a:t>〇ダミーコード</a:t>
                      </a:r>
                      <a:r>
                        <a:rPr lang="ja-JP" altLang="ja-JP" sz="900" dirty="0">
                          <a:latin typeface="+mn-ea"/>
                          <a:ea typeface="+mn-ea"/>
                        </a:rPr>
                        <a:t>の場合：「code.text※」より出力</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vMerge="1">
                  <a:txBody>
                    <a:bodyPr/>
                    <a:lstStyle/>
                    <a:p>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dirty="0" err="1">
                          <a:solidFill>
                            <a:srgbClr val="000000"/>
                          </a:solidFill>
                          <a:latin typeface="+mn-ea"/>
                          <a:ea typeface="+mn-ea"/>
                        </a:rPr>
                        <a:t>なし</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2"/>
                  </a:ext>
                </a:extLst>
              </a:tr>
              <a:tr h="577440">
                <a:tc>
                  <a:txBody>
                    <a:bodyPr/>
                    <a:lstStyle/>
                    <a:p>
                      <a:r>
                        <a:rPr sz="900" b="0" dirty="0" err="1">
                          <a:solidFill>
                            <a:srgbClr val="000000"/>
                          </a:solidFill>
                          <a:latin typeface="+mn-ea"/>
                          <a:ea typeface="+mn-ea"/>
                        </a:rPr>
                        <a:t>アレルギー物質</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vMerge="1">
                  <a:txBody>
                    <a:bodyPr/>
                    <a:lstStyle/>
                    <a:p>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latin typeface="+mn-ea"/>
                          <a:ea typeface="+mn-ea"/>
                        </a:rPr>
                        <a:t>〇</a:t>
                      </a:r>
                      <a:r>
                        <a:rPr lang="ja-JP" altLang="ja-JP" sz="900" dirty="0">
                          <a:latin typeface="+mn-ea"/>
                          <a:ea typeface="+mn-ea"/>
                        </a:rPr>
                        <a:t>JFAGY食品・非食品</a:t>
                      </a:r>
                      <a:r>
                        <a:rPr lang="ja-JP" altLang="en-US" sz="900" dirty="0">
                          <a:latin typeface="+mn-ea"/>
                          <a:ea typeface="+mn-ea"/>
                        </a:rPr>
                        <a:t>・</a:t>
                      </a:r>
                      <a:r>
                        <a:rPr lang="ja-JP" altLang="ja-JP" sz="900" dirty="0">
                          <a:latin typeface="+mn-ea"/>
                          <a:ea typeface="+mn-ea"/>
                        </a:rPr>
                        <a:t>非医薬品コード</a:t>
                      </a:r>
                      <a:r>
                        <a:rPr lang="en-US" altLang="ja-JP" sz="900" dirty="0">
                          <a:latin typeface="+mn-ea"/>
                          <a:ea typeface="+mn-ea"/>
                        </a:rPr>
                        <a:t>(</a:t>
                      </a:r>
                      <a:r>
                        <a:rPr lang="ja-JP" altLang="en-US" sz="900" dirty="0">
                          <a:latin typeface="+mn-ea"/>
                          <a:ea typeface="+mn-ea"/>
                        </a:rPr>
                        <a:t>ダミーコード以外</a:t>
                      </a:r>
                      <a:r>
                        <a:rPr lang="en-US" altLang="ja-JP" sz="900" dirty="0">
                          <a:latin typeface="+mn-ea"/>
                          <a:ea typeface="+mn-ea"/>
                        </a:rPr>
                        <a:t>)</a:t>
                      </a:r>
                      <a:r>
                        <a:rPr lang="ja-JP" altLang="en-US" sz="900" dirty="0">
                          <a:latin typeface="+mn-ea"/>
                          <a:ea typeface="+mn-ea"/>
                        </a:rPr>
                        <a:t>が登録されている場合：</a:t>
                      </a:r>
                      <a:endParaRPr lang="en-US" altLang="ja-JP" sz="900" dirty="0">
                        <a:latin typeface="+mn-ea"/>
                        <a:ea typeface="+mn-ea"/>
                      </a:endParaRPr>
                    </a:p>
                    <a:p>
                      <a:r>
                        <a:rPr lang="ja-JP" altLang="en-US" sz="900" dirty="0">
                          <a:latin typeface="+mn-ea"/>
                          <a:ea typeface="+mn-ea"/>
                        </a:rPr>
                        <a:t>　　「</a:t>
                      </a:r>
                      <a:r>
                        <a:rPr lang="en-US" altLang="ja-JP" sz="900" dirty="0" err="1">
                          <a:latin typeface="+mn-ea"/>
                          <a:ea typeface="+mn-ea"/>
                        </a:rPr>
                        <a:t>code.coding</a:t>
                      </a:r>
                      <a:r>
                        <a:rPr lang="ja-JP" altLang="en-US" sz="900" dirty="0">
                          <a:latin typeface="+mn-ea"/>
                          <a:ea typeface="+mn-ea"/>
                        </a:rPr>
                        <a:t>」のディスプレイ値より出力</a:t>
                      </a:r>
                      <a:br>
                        <a:rPr lang="ja-JP" altLang="en-US" sz="900" dirty="0">
                          <a:latin typeface="+mn-ea"/>
                          <a:ea typeface="+mn-ea"/>
                        </a:rPr>
                      </a:br>
                      <a:r>
                        <a:rPr lang="ja-JP" altLang="en-US" sz="900" dirty="0">
                          <a:latin typeface="+mn-ea"/>
                          <a:ea typeface="+mn-ea"/>
                        </a:rPr>
                        <a:t>〇ダミーコードの場合：「</a:t>
                      </a:r>
                      <a:r>
                        <a:rPr lang="en-US" altLang="ja-JP" sz="900" dirty="0" err="1">
                          <a:latin typeface="+mn-ea"/>
                          <a:ea typeface="+mn-ea"/>
                        </a:rPr>
                        <a:t>code.text</a:t>
                      </a:r>
                      <a:r>
                        <a:rPr lang="en-US" altLang="ja-JP" sz="900" dirty="0">
                          <a:latin typeface="+mn-ea"/>
                          <a:ea typeface="+mn-ea"/>
                        </a:rPr>
                        <a:t>※</a:t>
                      </a:r>
                      <a:r>
                        <a:rPr lang="ja-JP" altLang="en-US" sz="900" dirty="0">
                          <a:latin typeface="+mn-ea"/>
                          <a:ea typeface="+mn-ea"/>
                        </a:rPr>
                        <a:t>」より出力</a:t>
                      </a:r>
                      <a:endParaRPr lang="ja-JP" altLang="en-US"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vMerge="1">
                  <a:txBody>
                    <a:bodyPr/>
                    <a:lstStyle/>
                    <a:p>
                      <a:endParaRPr dirty="0"/>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dirty="0" err="1">
                          <a:solidFill>
                            <a:srgbClr val="000000"/>
                          </a:solidFill>
                          <a:latin typeface="+mn-ea"/>
                          <a:ea typeface="+mn-ea"/>
                        </a:rPr>
                        <a:t>なし</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3"/>
                  </a:ext>
                </a:extLst>
              </a:tr>
              <a:tr h="577440">
                <a:tc>
                  <a:txBody>
                    <a:bodyPr/>
                    <a:lstStyle/>
                    <a:p>
                      <a:r>
                        <a:rPr sz="900" b="0" dirty="0" err="1">
                          <a:solidFill>
                            <a:srgbClr val="000000"/>
                          </a:solidFill>
                          <a:latin typeface="+mn-ea"/>
                          <a:ea typeface="+mn-ea"/>
                        </a:rPr>
                        <a:t>傷病名</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vMerge="1">
                  <a:txBody>
                    <a:bodyPr/>
                    <a:lstStyle/>
                    <a:p>
                      <a:endParaRPr dirty="0"/>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latin typeface="+mn-ea"/>
                          <a:ea typeface="+mn-ea"/>
                        </a:rPr>
                        <a:t>〇</a:t>
                      </a:r>
                      <a:r>
                        <a:rPr lang="ja-JP" altLang="ja-JP" sz="900" dirty="0">
                          <a:latin typeface="+mn-ea"/>
                          <a:ea typeface="+mn-ea"/>
                        </a:rPr>
                        <a:t>MEDIS病名管理番号</a:t>
                      </a:r>
                      <a:r>
                        <a:rPr lang="ja-JP" altLang="en-US" sz="900" dirty="0">
                          <a:latin typeface="+mn-ea"/>
                          <a:ea typeface="+mn-ea"/>
                        </a:rPr>
                        <a:t>が登録されている</a:t>
                      </a:r>
                      <a:r>
                        <a:rPr lang="ja-JP" altLang="ja-JP" sz="900" dirty="0">
                          <a:latin typeface="+mn-ea"/>
                          <a:ea typeface="+mn-ea"/>
                        </a:rPr>
                        <a:t>場合：</a:t>
                      </a:r>
                      <a:endParaRPr lang="en-US" altLang="ja-JP" sz="900" dirty="0">
                        <a:latin typeface="+mn-ea"/>
                        <a:ea typeface="+mn-ea"/>
                      </a:endParaRPr>
                    </a:p>
                    <a:p>
                      <a:r>
                        <a:rPr lang="ja-JP" altLang="en-US" sz="900" dirty="0">
                          <a:latin typeface="+mn-ea"/>
                          <a:ea typeface="+mn-ea"/>
                        </a:rPr>
                        <a:t>　　</a:t>
                      </a:r>
                      <a:r>
                        <a:rPr lang="ja-JP" altLang="ja-JP" sz="900" dirty="0">
                          <a:latin typeface="+mn-ea"/>
                          <a:ea typeface="+mn-ea"/>
                        </a:rPr>
                        <a:t>「前置修飾語＋code.coding</a:t>
                      </a:r>
                      <a:r>
                        <a:rPr lang="ja-JP" altLang="en-US" sz="900" dirty="0">
                          <a:latin typeface="+mn-ea"/>
                          <a:ea typeface="+mn-ea"/>
                        </a:rPr>
                        <a:t>のディスプレイ値</a:t>
                      </a:r>
                      <a:r>
                        <a:rPr lang="ja-JP" altLang="ja-JP" sz="900" dirty="0">
                          <a:latin typeface="+mn-ea"/>
                          <a:ea typeface="+mn-ea"/>
                        </a:rPr>
                        <a:t>＋後置修飾語＋の疑い」を出力</a:t>
                      </a:r>
                      <a:br>
                        <a:rPr lang="ja-JP" altLang="ja-JP" sz="900" dirty="0">
                          <a:latin typeface="+mn-ea"/>
                          <a:ea typeface="+mn-ea"/>
                        </a:rPr>
                      </a:br>
                      <a:r>
                        <a:rPr lang="ja-JP" altLang="en-US" sz="900" dirty="0">
                          <a:latin typeface="+mn-ea"/>
                          <a:ea typeface="+mn-ea"/>
                        </a:rPr>
                        <a:t>〇</a:t>
                      </a:r>
                      <a:r>
                        <a:rPr lang="ja-JP" altLang="ja-JP" sz="900" dirty="0">
                          <a:latin typeface="+mn-ea"/>
                          <a:ea typeface="+mn-ea"/>
                        </a:rPr>
                        <a:t>ダミーコードの場合：「code.text※」より出力</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1" dirty="0" err="1">
                          <a:solidFill>
                            <a:srgbClr val="000000"/>
                          </a:solidFill>
                          <a:latin typeface="+mn-ea"/>
                          <a:ea typeface="+mn-ea"/>
                        </a:rPr>
                        <a:t>生じる</a:t>
                      </a:r>
                      <a:endParaRPr sz="900" b="1" dirty="0">
                        <a:solidFill>
                          <a:srgbClr val="000000"/>
                        </a:solidFill>
                        <a:latin typeface="+mn-ea"/>
                        <a:ea typeface="+mn-ea"/>
                      </a:endParaRPr>
                    </a:p>
                    <a:p>
                      <a:r>
                        <a:rPr lang="ja-JP" altLang="en-US" sz="900" b="0" dirty="0">
                          <a:solidFill>
                            <a:srgbClr val="000000"/>
                          </a:solidFill>
                          <a:latin typeface="+mn-ea"/>
                          <a:ea typeface="+mn-ea"/>
                        </a:rPr>
                        <a:t>臨床情報詳細画面は、</a:t>
                      </a:r>
                      <a:r>
                        <a:rPr sz="900" b="0" dirty="0" err="1">
                          <a:solidFill>
                            <a:srgbClr val="000000"/>
                          </a:solidFill>
                          <a:latin typeface="+mn-ea"/>
                          <a:ea typeface="+mn-ea"/>
                        </a:rPr>
                        <a:t>疑いフラグのみの場合「の疑い」が出ない</a:t>
                      </a:r>
                      <a:endParaRPr sz="900" b="0"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dirty="0">
                          <a:solidFill>
                            <a:srgbClr val="000000"/>
                          </a:solidFill>
                          <a:latin typeface="+mn-ea"/>
                          <a:ea typeface="+mn-ea"/>
                        </a:rPr>
                        <a:t>12月</a:t>
                      </a:r>
                      <a:r>
                        <a:rPr lang="ja-JP" altLang="en-US" sz="900" b="0" dirty="0">
                          <a:solidFill>
                            <a:srgbClr val="000000"/>
                          </a:solidFill>
                          <a:latin typeface="+mn-ea"/>
                          <a:ea typeface="+mn-ea"/>
                        </a:rPr>
                        <a:t>リリースの</a:t>
                      </a:r>
                      <a:r>
                        <a:rPr sz="900" b="0" dirty="0">
                          <a:solidFill>
                            <a:srgbClr val="000000"/>
                          </a:solidFill>
                          <a:latin typeface="+mn-ea"/>
                          <a:ea typeface="+mn-ea"/>
                        </a:rPr>
                        <a:t>案件</a:t>
                      </a:r>
                      <a:r>
                        <a:rPr lang="en-US" altLang="ja-JP" sz="900" b="0" dirty="0">
                          <a:solidFill>
                            <a:srgbClr val="000000"/>
                          </a:solidFill>
                          <a:latin typeface="+mn-ea"/>
                          <a:ea typeface="+mn-ea"/>
                        </a:rPr>
                        <a:t>ID</a:t>
                      </a:r>
                      <a:r>
                        <a:rPr sz="900" b="0" dirty="0">
                          <a:solidFill>
                            <a:srgbClr val="000000"/>
                          </a:solidFill>
                          <a:latin typeface="+mn-ea"/>
                          <a:ea typeface="+mn-ea"/>
                        </a:rPr>
                        <a:t>2</a:t>
                      </a:r>
                      <a:r>
                        <a:rPr lang="en-US" sz="900" b="0" dirty="0">
                          <a:solidFill>
                            <a:srgbClr val="000000"/>
                          </a:solidFill>
                          <a:latin typeface="+mn-ea"/>
                          <a:ea typeface="+mn-ea"/>
                        </a:rPr>
                        <a:t>21</a:t>
                      </a:r>
                      <a:r>
                        <a:rPr lang="ja-JP" altLang="en-US" sz="900" b="0" dirty="0">
                          <a:solidFill>
                            <a:srgbClr val="000000"/>
                          </a:solidFill>
                          <a:latin typeface="+mn-ea"/>
                          <a:ea typeface="+mn-ea"/>
                        </a:rPr>
                        <a:t>にて、臨床情報詳細</a:t>
                      </a:r>
                      <a:r>
                        <a:rPr sz="900" b="0" dirty="0" err="1">
                          <a:solidFill>
                            <a:srgbClr val="000000"/>
                          </a:solidFill>
                          <a:latin typeface="+mn-ea"/>
                          <a:ea typeface="+mn-ea"/>
                        </a:rPr>
                        <a:t>画面をPDFと同様に出力</a:t>
                      </a:r>
                      <a:r>
                        <a:rPr lang="ja-JP" altLang="en-US" sz="900" b="0" dirty="0">
                          <a:solidFill>
                            <a:srgbClr val="000000"/>
                          </a:solidFill>
                          <a:latin typeface="+mn-ea"/>
                          <a:ea typeface="+mn-ea"/>
                        </a:rPr>
                        <a:t>するよう改修され、</a:t>
                      </a:r>
                      <a:r>
                        <a:rPr lang="ja-JP" altLang="en-US" sz="900" b="1" dirty="0">
                          <a:solidFill>
                            <a:srgbClr val="000000"/>
                          </a:solidFill>
                          <a:latin typeface="+mn-ea"/>
                          <a:ea typeface="+mn-ea"/>
                        </a:rPr>
                        <a:t>左記の差分は解消される予定</a:t>
                      </a:r>
                      <a:endParaRPr sz="900" b="1" dirty="0">
                        <a:solidFill>
                          <a:srgbClr val="000000"/>
                        </a:solidFill>
                        <a:latin typeface="+mn-ea"/>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4" name="正方形/長方形 3">
            <a:extLst>
              <a:ext uri="{FF2B5EF4-FFF2-40B4-BE49-F238E27FC236}">
                <a16:creationId xmlns:a16="http://schemas.microsoft.com/office/drawing/2014/main" id="{714ED4CE-1D86-E4C4-B731-A33228222CD5}"/>
              </a:ext>
            </a:extLst>
          </p:cNvPr>
          <p:cNvSpPr/>
          <p:nvPr/>
        </p:nvSpPr>
        <p:spPr>
          <a:xfrm>
            <a:off x="493200" y="2923799"/>
            <a:ext cx="2135850" cy="297801"/>
          </a:xfrm>
          <a:prstGeom prst="rect">
            <a:avLst/>
          </a:prstGeom>
          <a:solidFill>
            <a:schemeClr val="accent3">
              <a:lumMod val="20000"/>
              <a:lumOff val="80000"/>
            </a:schemeClr>
          </a:solidFill>
          <a:ln>
            <a:solidFill>
              <a:schemeClr val="tx1"/>
            </a:solidFill>
          </a:ln>
        </p:spPr>
        <p:txBody>
          <a:bodyPr rtlCol="0" anchor="ctr"/>
          <a:lstStyle/>
          <a:p>
            <a:pPr algn="ctr" fontAlgn="base">
              <a:spcAft>
                <a:spcPct val="0"/>
              </a:spcAft>
            </a:pPr>
            <a:r>
              <a:rPr lang="ja-JP" altLang="en-US" sz="1000" b="1" dirty="0">
                <a:latin typeface="+mj-ea"/>
                <a:ea typeface="+mj-ea"/>
              </a:rPr>
              <a:t>機構の確認結果</a:t>
            </a:r>
            <a:endParaRPr lang="en-US" altLang="ja-JP" sz="1000" b="1" dirty="0">
              <a:latin typeface="+mj-ea"/>
              <a:ea typeface="+mj-ea"/>
            </a:endParaRPr>
          </a:p>
          <a:p>
            <a:pPr algn="ctr" fontAlgn="base">
              <a:spcAft>
                <a:spcPct val="0"/>
              </a:spcAft>
            </a:pPr>
            <a:r>
              <a:rPr kumimoji="1" lang="ja-JP" altLang="en-US" sz="1000" b="1" dirty="0">
                <a:latin typeface="+mj-ea"/>
                <a:ea typeface="+mj-ea"/>
              </a:rPr>
              <a:t>（表示に差分が生じる箇所）</a:t>
            </a:r>
          </a:p>
        </p:txBody>
      </p:sp>
      <p:sp>
        <p:nvSpPr>
          <p:cNvPr id="5" name="本文">
            <a:extLst>
              <a:ext uri="{FF2B5EF4-FFF2-40B4-BE49-F238E27FC236}">
                <a16:creationId xmlns:a16="http://schemas.microsoft.com/office/drawing/2014/main" id="{F00F2610-C585-184A-3D6A-02CA0D3D4A2C}"/>
              </a:ext>
            </a:extLst>
          </p:cNvPr>
          <p:cNvSpPr txBox="1">
            <a:spLocks/>
          </p:cNvSpPr>
          <p:nvPr/>
        </p:nvSpPr>
        <p:spPr bwMode="auto">
          <a:xfrm>
            <a:off x="490800" y="6115312"/>
            <a:ext cx="8919900" cy="248400"/>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rtl="0" eaLnBrk="1" fontAlgn="base" hangingPunct="1">
              <a:spcBef>
                <a:spcPts val="0"/>
              </a:spcBef>
              <a:spcAft>
                <a:spcPct val="0"/>
              </a:spcAft>
              <a:defRPr kumimoji="1" sz="1292">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a:lstStyle>
          <a:p>
            <a:r>
              <a:rPr lang="en-US" altLang="ja-JP" sz="900" dirty="0">
                <a:solidFill>
                  <a:srgbClr val="000000"/>
                </a:solidFill>
              </a:rPr>
              <a:t>※</a:t>
            </a:r>
            <a:r>
              <a:rPr lang="en-US" altLang="ja-JP" sz="900" dirty="0" err="1">
                <a:solidFill>
                  <a:srgbClr val="000000"/>
                </a:solidFill>
              </a:rPr>
              <a:t>code.text</a:t>
            </a:r>
            <a:r>
              <a:rPr lang="ja-JP" altLang="en-US" sz="900" dirty="0">
                <a:solidFill>
                  <a:srgbClr val="000000"/>
                </a:solidFill>
              </a:rPr>
              <a:t>は</a:t>
            </a:r>
            <a:r>
              <a:rPr lang="en-US" altLang="ja-JP" sz="900" dirty="0">
                <a:solidFill>
                  <a:srgbClr val="000000"/>
                </a:solidFill>
              </a:rPr>
              <a:t>FHIR</a:t>
            </a:r>
            <a:r>
              <a:rPr lang="ja-JP" altLang="en-US" sz="900" dirty="0">
                <a:solidFill>
                  <a:srgbClr val="000000"/>
                </a:solidFill>
              </a:rPr>
              <a:t>の定義上、必須項目となっている</a:t>
            </a:r>
            <a:endParaRPr lang="en-US" altLang="ja-JP" sz="900" dirty="0">
              <a:solidFill>
                <a:srgbClr val="000000"/>
              </a:solidFill>
            </a:endParaRPr>
          </a:p>
          <a:p>
            <a:r>
              <a:rPr lang="en-US" altLang="ja-JP" sz="900" dirty="0">
                <a:solidFill>
                  <a:srgbClr val="000000"/>
                </a:solidFill>
              </a:rPr>
              <a:t>※</a:t>
            </a:r>
            <a:r>
              <a:rPr lang="en-US" altLang="ja-JP" sz="900" dirty="0" err="1">
                <a:solidFill>
                  <a:srgbClr val="000000"/>
                </a:solidFill>
              </a:rPr>
              <a:t>code.codeing</a:t>
            </a:r>
            <a:r>
              <a:rPr lang="ja-JP" altLang="en-US" sz="900" dirty="0">
                <a:solidFill>
                  <a:srgbClr val="000000"/>
                </a:solidFill>
              </a:rPr>
              <a:t>は</a:t>
            </a:r>
            <a:r>
              <a:rPr lang="en-US" altLang="ja-JP" sz="900" dirty="0">
                <a:solidFill>
                  <a:srgbClr val="000000"/>
                </a:solidFill>
              </a:rPr>
              <a:t>FHIR</a:t>
            </a:r>
            <a:r>
              <a:rPr lang="ja-JP" altLang="en-US" sz="900" dirty="0">
                <a:solidFill>
                  <a:srgbClr val="000000"/>
                </a:solidFill>
              </a:rPr>
              <a:t>の定義上、必須項目となっている（ただし</a:t>
            </a:r>
            <a:r>
              <a:rPr lang="en-US" altLang="ja-JP" sz="900" dirty="0">
                <a:solidFill>
                  <a:srgbClr val="000000"/>
                </a:solidFill>
              </a:rPr>
              <a:t>JLAC10</a:t>
            </a:r>
            <a:r>
              <a:rPr lang="ja-JP" altLang="en-US" sz="900" dirty="0">
                <a:solidFill>
                  <a:srgbClr val="000000"/>
                </a:solidFill>
              </a:rPr>
              <a:t>・</a:t>
            </a:r>
            <a:r>
              <a:rPr lang="en-US" altLang="ja-JP" sz="900" dirty="0">
                <a:solidFill>
                  <a:srgbClr val="000000"/>
                </a:solidFill>
              </a:rPr>
              <a:t>JLAC11</a:t>
            </a:r>
            <a:r>
              <a:rPr lang="ja-JP" altLang="en-US" sz="900" dirty="0">
                <a:solidFill>
                  <a:srgbClr val="000000"/>
                </a:solidFill>
              </a:rPr>
              <a:t>のどちらでも登録可能なため、</a:t>
            </a:r>
            <a:r>
              <a:rPr lang="en-US" altLang="ja-JP" sz="900" dirty="0">
                <a:solidFill>
                  <a:srgbClr val="000000"/>
                </a:solidFill>
              </a:rPr>
              <a:t>JLAC10</a:t>
            </a:r>
            <a:r>
              <a:rPr lang="ja-JP" altLang="en-US" sz="900" dirty="0">
                <a:solidFill>
                  <a:srgbClr val="000000"/>
                </a:solidFill>
              </a:rPr>
              <a:t>での登録は必須ではない）</a:t>
            </a:r>
            <a:endParaRPr lang="en-US" altLang="ja-JP" sz="900" dirty="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X.臨床情報詳細画面とPDF帳票の名称の差について（</a:t>
            </a:r>
            <a:r>
              <a:rPr lang="en-US" dirty="0"/>
              <a:t>2/3</a:t>
            </a:r>
            <a:r>
              <a:rPr dirty="0"/>
              <a:t>）</a:t>
            </a:r>
          </a:p>
        </p:txBody>
      </p:sp>
      <p:sp>
        <p:nvSpPr>
          <p:cNvPr id="501" name="ラベル 背景・状況">
            <a:extLst>
              <a:ext uri="{FF2B5EF4-FFF2-40B4-BE49-F238E27FC236}">
                <a16:creationId xmlns:a16="http://schemas.microsoft.com/office/drawing/2014/main" id="{10B3CE16-A82C-C4F4-3204-AD9B576EF40B}"/>
              </a:ext>
            </a:extLst>
          </p:cNvPr>
          <p:cNvSpPr/>
          <p:nvPr/>
        </p:nvSpPr>
        <p:spPr>
          <a:xfrm>
            <a:off x="493200" y="827999"/>
            <a:ext cx="2232000" cy="248399"/>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具体例（検査項目の場合）</a:t>
            </a:r>
          </a:p>
        </p:txBody>
      </p:sp>
      <p:sp>
        <p:nvSpPr>
          <p:cNvPr id="502" name="本文">
            <a:extLst>
              <a:ext uri="{FF2B5EF4-FFF2-40B4-BE49-F238E27FC236}">
                <a16:creationId xmlns:a16="http://schemas.microsoft.com/office/drawing/2014/main" id="{19B0B31A-D24C-127D-FE2A-C96C34222213}"/>
              </a:ext>
            </a:extLst>
          </p:cNvPr>
          <p:cNvSpPr>
            <a:spLocks noGrp="1"/>
          </p:cNvSpPr>
          <p:nvPr>
            <p:ph idx="1"/>
          </p:nvPr>
        </p:nvSpPr>
        <p:spPr>
          <a:xfrm>
            <a:off x="493200" y="1080000"/>
            <a:ext cx="8928000" cy="432000"/>
          </a:xfrm>
        </p:spPr>
        <p:txBody>
          <a:bodyPr/>
          <a:lstStyle/>
          <a:p>
            <a:pPr marL="285750" indent="-285750">
              <a:spcAft>
                <a:spcPts val="300"/>
              </a:spcAft>
              <a:buFont typeface="Arial" panose="020B0604020202020204" pitchFamily="34" charset="0"/>
              <a:buChar char="•"/>
            </a:pPr>
            <a:r>
              <a:rPr lang="ja-JP" altLang="en-US" sz="1200"/>
              <a:t>医療機関Aが、検査項目「総タンパク」を</a:t>
            </a:r>
            <a:r>
              <a:rPr lang="ja-JP" altLang="en-US" sz="1200" b="1"/>
              <a:t>JLAC10コード付き</a:t>
            </a:r>
            <a:r>
              <a:rPr lang="ja-JP" altLang="en-US" sz="1200"/>
              <a:t>で登録した場合、</a:t>
            </a:r>
            <a:r>
              <a:rPr lang="ja-JP" altLang="en-US" sz="1200" b="1"/>
              <a:t>自院（A）が臨床情報詳細画面で見る名称と、他院（B）がPDFで見る名称が異なる。</a:t>
            </a:r>
          </a:p>
        </p:txBody>
      </p:sp>
      <p:sp>
        <p:nvSpPr>
          <p:cNvPr id="503" name="Rectangle 502"/>
          <p:cNvSpPr/>
          <p:nvPr/>
        </p:nvSpPr>
        <p:spPr>
          <a:xfrm>
            <a:off x="3320130" y="1558725"/>
            <a:ext cx="3024000" cy="2149311"/>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4" name="Rectangle 503"/>
          <p:cNvSpPr/>
          <p:nvPr/>
        </p:nvSpPr>
        <p:spPr>
          <a:xfrm>
            <a:off x="3320130" y="1558725"/>
            <a:ext cx="3024000" cy="288000"/>
          </a:xfrm>
          <a:prstGeom prst="rect">
            <a:avLst/>
          </a:prstGeom>
          <a:solidFill>
            <a:srgbClr val="C5D9F1"/>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1050" b="1" u="none">
                <a:solidFill>
                  <a:srgbClr val="000000"/>
                </a:solidFill>
                <a:latin typeface="Meiryo UI"/>
                <a:ea typeface="Meiryo UI"/>
              </a:rPr>
              <a:t>医療機関Aが登録する情報</a:t>
            </a:r>
          </a:p>
        </p:txBody>
      </p:sp>
      <p:sp>
        <p:nvSpPr>
          <p:cNvPr id="505" name="Rectangle 504"/>
          <p:cNvSpPr/>
          <p:nvPr/>
        </p:nvSpPr>
        <p:spPr>
          <a:xfrm>
            <a:off x="3392131" y="1918725"/>
            <a:ext cx="2880000" cy="234000"/>
          </a:xfrm>
          <a:prstGeom prst="rect">
            <a:avLst/>
          </a:prstGeom>
          <a:solidFill>
            <a:srgbClr val="DCE6F2"/>
          </a:solidFill>
          <a:ln w="635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000000"/>
                </a:solidFill>
                <a:latin typeface="Meiryo UI"/>
                <a:ea typeface="Meiryo UI"/>
              </a:rPr>
              <a:t>登録データ（FHIR）</a:t>
            </a:r>
          </a:p>
        </p:txBody>
      </p:sp>
      <p:sp>
        <p:nvSpPr>
          <p:cNvPr id="506" name="Rounded Rectangle 505"/>
          <p:cNvSpPr/>
          <p:nvPr/>
        </p:nvSpPr>
        <p:spPr>
          <a:xfrm>
            <a:off x="3464131" y="2242725"/>
            <a:ext cx="2736000" cy="1364344"/>
          </a:xfrm>
          <a:prstGeom prst="roundRect">
            <a:avLst>
              <a:gd name="adj" fmla="val 6000"/>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t"/>
          <a:lstStyle/>
          <a:p>
            <a:pPr algn="l"/>
            <a:r>
              <a:rPr sz="900" b="0" u="none" dirty="0" err="1">
                <a:solidFill>
                  <a:srgbClr val="000000"/>
                </a:solidFill>
                <a:latin typeface="Meiryo UI"/>
                <a:ea typeface="Meiryo UI"/>
              </a:rPr>
              <a:t>Bundleリソース</a:t>
            </a:r>
            <a:endParaRPr sz="900" b="0" u="none" dirty="0">
              <a:solidFill>
                <a:srgbClr val="000000"/>
              </a:solidFill>
              <a:latin typeface="Meiryo UI"/>
              <a:ea typeface="Meiryo UI"/>
            </a:endParaRPr>
          </a:p>
          <a:p>
            <a:pPr algn="l"/>
            <a:r>
              <a:rPr sz="900" b="0" u="none" dirty="0" err="1">
                <a:solidFill>
                  <a:srgbClr val="000000"/>
                </a:solidFill>
                <a:latin typeface="Meiryo UI"/>
                <a:ea typeface="Meiryo UI"/>
              </a:rPr>
              <a:t>患者名：厚労太郎</a:t>
            </a:r>
            <a:endParaRPr sz="900" b="0" u="none" dirty="0">
              <a:solidFill>
                <a:srgbClr val="000000"/>
              </a:solidFill>
              <a:latin typeface="Meiryo UI"/>
              <a:ea typeface="Meiryo UI"/>
            </a:endParaRPr>
          </a:p>
          <a:p>
            <a:pPr algn="l"/>
            <a:endParaRPr sz="900" b="0" u="none" dirty="0">
              <a:solidFill>
                <a:srgbClr val="000000"/>
              </a:solidFill>
              <a:latin typeface="Meiryo UI"/>
              <a:ea typeface="Meiryo UI"/>
            </a:endParaRPr>
          </a:p>
          <a:p>
            <a:pPr algn="l"/>
            <a:r>
              <a:rPr sz="900" b="1" u="none" dirty="0" err="1">
                <a:solidFill>
                  <a:srgbClr val="000000"/>
                </a:solidFill>
                <a:latin typeface="Meiryo UI"/>
                <a:ea typeface="Meiryo UI"/>
              </a:rPr>
              <a:t>Observationリソース</a:t>
            </a:r>
            <a:endParaRPr sz="900" b="1" u="none" dirty="0">
              <a:solidFill>
                <a:srgbClr val="000000"/>
              </a:solidFill>
              <a:latin typeface="Meiryo UI"/>
              <a:ea typeface="Meiryo UI"/>
            </a:endParaRPr>
          </a:p>
          <a:p>
            <a:pPr algn="l"/>
            <a:r>
              <a:rPr sz="1000" b="0" u="none" dirty="0" err="1">
                <a:solidFill>
                  <a:srgbClr val="000000"/>
                </a:solidFill>
                <a:latin typeface="Meiryo UI"/>
                <a:ea typeface="Meiryo UI"/>
              </a:rPr>
              <a:t>code.text：</a:t>
            </a:r>
            <a:r>
              <a:rPr sz="1000" b="1" u="none" dirty="0" err="1">
                <a:solidFill>
                  <a:srgbClr val="C00000"/>
                </a:solidFill>
                <a:latin typeface="Meiryo UI"/>
                <a:ea typeface="Meiryo UI"/>
              </a:rPr>
              <a:t>総タンパク</a:t>
            </a:r>
            <a:endParaRPr sz="1000" b="1" u="none" dirty="0">
              <a:solidFill>
                <a:srgbClr val="C00000"/>
              </a:solidFill>
              <a:latin typeface="Meiryo UI"/>
              <a:ea typeface="Meiryo UI"/>
            </a:endParaRPr>
          </a:p>
          <a:p>
            <a:pPr algn="l"/>
            <a:r>
              <a:rPr sz="1000" b="0" u="none" dirty="0">
                <a:solidFill>
                  <a:srgbClr val="000000"/>
                </a:solidFill>
                <a:latin typeface="Meiryo UI"/>
                <a:ea typeface="Meiryo UI"/>
              </a:rPr>
              <a:t>code.coding（JLAC10）</a:t>
            </a:r>
          </a:p>
          <a:p>
            <a:pPr algn="l"/>
            <a:r>
              <a:rPr sz="900" b="0" u="none" dirty="0">
                <a:solidFill>
                  <a:srgbClr val="000000"/>
                </a:solidFill>
                <a:latin typeface="Meiryo UI"/>
                <a:ea typeface="Meiryo UI"/>
              </a:rPr>
              <a:t>　code：（総蛋白のJLAC10コード）</a:t>
            </a:r>
          </a:p>
          <a:p>
            <a:pPr algn="l"/>
            <a:r>
              <a:rPr sz="1000" b="0" u="none" dirty="0">
                <a:solidFill>
                  <a:srgbClr val="000000"/>
                </a:solidFill>
                <a:latin typeface="Meiryo UI"/>
                <a:ea typeface="Meiryo UI"/>
              </a:rPr>
              <a:t>　</a:t>
            </a:r>
            <a:r>
              <a:rPr sz="1000" b="0" u="none" dirty="0" err="1">
                <a:solidFill>
                  <a:srgbClr val="000000"/>
                </a:solidFill>
                <a:latin typeface="Meiryo UI"/>
                <a:ea typeface="Meiryo UI"/>
              </a:rPr>
              <a:t>display：</a:t>
            </a:r>
            <a:r>
              <a:rPr sz="1000" b="1" u="none" dirty="0" err="1">
                <a:solidFill>
                  <a:srgbClr val="C00000"/>
                </a:solidFill>
                <a:latin typeface="Meiryo UI"/>
                <a:ea typeface="Meiryo UI"/>
              </a:rPr>
              <a:t>TP</a:t>
            </a:r>
            <a:endParaRPr sz="1000" b="1" u="none" dirty="0">
              <a:solidFill>
                <a:srgbClr val="C00000"/>
              </a:solidFill>
              <a:latin typeface="Meiryo UI"/>
              <a:ea typeface="Meiryo UI"/>
            </a:endParaRPr>
          </a:p>
          <a:p>
            <a:pPr algn="l"/>
            <a:r>
              <a:rPr sz="1000" b="0" u="none" dirty="0">
                <a:solidFill>
                  <a:srgbClr val="000000"/>
                </a:solidFill>
                <a:latin typeface="Meiryo UI"/>
                <a:ea typeface="Meiryo UI"/>
              </a:rPr>
              <a:t>valueQuantity：7.0 g/dL</a:t>
            </a:r>
          </a:p>
        </p:txBody>
      </p:sp>
      <p:sp>
        <p:nvSpPr>
          <p:cNvPr id="507" name="Rectangle 506"/>
          <p:cNvSpPr/>
          <p:nvPr/>
        </p:nvSpPr>
        <p:spPr>
          <a:xfrm>
            <a:off x="6488131" y="2380273"/>
            <a:ext cx="2446319" cy="869933"/>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lang="en-US" altLang="ja-JP" sz="950" b="1" u="none" dirty="0">
                <a:solidFill>
                  <a:schemeClr val="tx1"/>
                </a:solidFill>
                <a:latin typeface="Meiryo UI"/>
                <a:ea typeface="Meiryo UI"/>
              </a:rPr>
              <a:t>【</a:t>
            </a:r>
            <a:r>
              <a:rPr lang="ja-JP" altLang="en-US" sz="950" b="1" u="none" dirty="0">
                <a:solidFill>
                  <a:schemeClr val="tx1"/>
                </a:solidFill>
                <a:latin typeface="Meiryo UI"/>
                <a:ea typeface="Meiryo UI"/>
              </a:rPr>
              <a:t>登録時</a:t>
            </a:r>
            <a:r>
              <a:rPr lang="en-US" altLang="ja-JP" sz="950" b="1" u="none" dirty="0">
                <a:solidFill>
                  <a:schemeClr val="tx1"/>
                </a:solidFill>
                <a:latin typeface="Meiryo UI"/>
                <a:ea typeface="Meiryo UI"/>
              </a:rPr>
              <a:t>】</a:t>
            </a:r>
            <a:endParaRPr lang="en-US" sz="950" b="1" u="none" dirty="0">
              <a:solidFill>
                <a:schemeClr val="tx1"/>
              </a:solidFill>
              <a:latin typeface="Meiryo UI"/>
              <a:ea typeface="Meiryo UI"/>
            </a:endParaRPr>
          </a:p>
          <a:p>
            <a:pPr algn="ctr"/>
            <a:r>
              <a:rPr sz="950" u="none" dirty="0" err="1">
                <a:solidFill>
                  <a:schemeClr val="tx1"/>
                </a:solidFill>
                <a:latin typeface="Meiryo UI"/>
                <a:ea typeface="Meiryo UI"/>
              </a:rPr>
              <a:t>医療機関の項目名（code.text）と</a:t>
            </a:r>
            <a:r>
              <a:rPr sz="950" u="none" dirty="0">
                <a:solidFill>
                  <a:schemeClr val="tx1"/>
                </a:solidFill>
                <a:latin typeface="Meiryo UI"/>
                <a:ea typeface="Meiryo UI"/>
              </a:rPr>
              <a:t>、</a:t>
            </a:r>
          </a:p>
          <a:p>
            <a:pPr algn="ctr"/>
            <a:r>
              <a:rPr sz="950" u="none" dirty="0">
                <a:solidFill>
                  <a:schemeClr val="tx1"/>
                </a:solidFill>
                <a:latin typeface="Meiryo UI"/>
                <a:ea typeface="Meiryo UI"/>
              </a:rPr>
              <a:t>JLAC10</a:t>
            </a:r>
            <a:r>
              <a:rPr lang="ja-JP" altLang="en-US" sz="950" u="none" dirty="0">
                <a:solidFill>
                  <a:schemeClr val="tx1"/>
                </a:solidFill>
                <a:latin typeface="Meiryo UI"/>
                <a:ea typeface="Meiryo UI"/>
              </a:rPr>
              <a:t>コード</a:t>
            </a:r>
            <a:r>
              <a:rPr sz="950" u="none" dirty="0">
                <a:solidFill>
                  <a:schemeClr val="tx1"/>
                </a:solidFill>
                <a:latin typeface="Meiryo UI"/>
                <a:ea typeface="Meiryo UI"/>
              </a:rPr>
              <a:t>の</a:t>
            </a:r>
            <a:r>
              <a:rPr lang="ja-JP" altLang="en-US" sz="950" u="none" dirty="0">
                <a:solidFill>
                  <a:schemeClr val="tx1"/>
                </a:solidFill>
                <a:latin typeface="Meiryo UI"/>
                <a:ea typeface="Meiryo UI"/>
              </a:rPr>
              <a:t>ディスプレイ値</a:t>
            </a:r>
            <a:r>
              <a:rPr sz="950" u="none" dirty="0">
                <a:solidFill>
                  <a:schemeClr val="tx1"/>
                </a:solidFill>
                <a:latin typeface="Meiryo UI"/>
                <a:ea typeface="Meiryo UI"/>
              </a:rPr>
              <a:t>（</a:t>
            </a:r>
            <a:r>
              <a:rPr sz="950" u="none" dirty="0" err="1">
                <a:solidFill>
                  <a:schemeClr val="tx1"/>
                </a:solidFill>
                <a:latin typeface="Meiryo UI"/>
                <a:ea typeface="Meiryo UI"/>
              </a:rPr>
              <a:t>display）の</a:t>
            </a:r>
            <a:endParaRPr sz="950" u="none" dirty="0">
              <a:solidFill>
                <a:schemeClr val="tx1"/>
              </a:solidFill>
              <a:latin typeface="Meiryo UI"/>
              <a:ea typeface="Meiryo UI"/>
            </a:endParaRPr>
          </a:p>
          <a:p>
            <a:pPr algn="ctr"/>
            <a:r>
              <a:rPr sz="950" u="none" dirty="0" err="1">
                <a:solidFill>
                  <a:schemeClr val="tx1"/>
                </a:solidFill>
                <a:latin typeface="Meiryo UI"/>
                <a:ea typeface="Meiryo UI"/>
              </a:rPr>
              <a:t>両方</a:t>
            </a:r>
            <a:r>
              <a:rPr lang="ja-JP" altLang="en-US" sz="950" u="none" dirty="0">
                <a:solidFill>
                  <a:schemeClr val="tx1"/>
                </a:solidFill>
                <a:latin typeface="Meiryo UI"/>
                <a:ea typeface="Meiryo UI"/>
              </a:rPr>
              <a:t>を</a:t>
            </a:r>
            <a:r>
              <a:rPr sz="950" u="none" dirty="0" err="1">
                <a:solidFill>
                  <a:schemeClr val="tx1"/>
                </a:solidFill>
                <a:latin typeface="Meiryo UI"/>
                <a:ea typeface="Meiryo UI"/>
              </a:rPr>
              <a:t>登録</a:t>
            </a:r>
            <a:r>
              <a:rPr lang="ja-JP" altLang="en-US" sz="950" u="none" dirty="0">
                <a:solidFill>
                  <a:schemeClr val="tx1"/>
                </a:solidFill>
                <a:latin typeface="Meiryo UI"/>
                <a:ea typeface="Meiryo UI"/>
              </a:rPr>
              <a:t>する</a:t>
            </a:r>
            <a:endParaRPr sz="950" u="none" dirty="0">
              <a:solidFill>
                <a:schemeClr val="tx1"/>
              </a:solidFill>
              <a:latin typeface="Meiryo UI"/>
              <a:ea typeface="Meiryo UI"/>
            </a:endParaRPr>
          </a:p>
        </p:txBody>
      </p:sp>
      <p:sp>
        <p:nvSpPr>
          <p:cNvPr id="510" name="Rectangle 509"/>
          <p:cNvSpPr/>
          <p:nvPr/>
        </p:nvSpPr>
        <p:spPr>
          <a:xfrm>
            <a:off x="1176520" y="4374036"/>
            <a:ext cx="3240000" cy="16200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1" name="Rectangle 510"/>
          <p:cNvSpPr/>
          <p:nvPr/>
        </p:nvSpPr>
        <p:spPr>
          <a:xfrm>
            <a:off x="1176520" y="4374036"/>
            <a:ext cx="3240000" cy="288000"/>
          </a:xfrm>
          <a:prstGeom prst="rect">
            <a:avLst/>
          </a:prstGeom>
          <a:solidFill>
            <a:srgbClr val="C5D9F1"/>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1050" b="1" u="none">
                <a:solidFill>
                  <a:srgbClr val="000000"/>
                </a:solidFill>
                <a:latin typeface="Meiryo UI"/>
                <a:ea typeface="Meiryo UI"/>
              </a:rPr>
              <a:t>自院（医療機関A）</a:t>
            </a:r>
          </a:p>
        </p:txBody>
      </p:sp>
      <p:sp>
        <p:nvSpPr>
          <p:cNvPr id="512" name="Rectangle 511"/>
          <p:cNvSpPr/>
          <p:nvPr/>
        </p:nvSpPr>
        <p:spPr>
          <a:xfrm>
            <a:off x="1248519" y="4734036"/>
            <a:ext cx="3096000" cy="234000"/>
          </a:xfrm>
          <a:prstGeom prst="rect">
            <a:avLst/>
          </a:prstGeom>
          <a:solidFill>
            <a:srgbClr val="DCE6F2"/>
          </a:solidFill>
          <a:ln w="635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000000"/>
                </a:solidFill>
                <a:latin typeface="Meiryo UI"/>
                <a:ea typeface="Meiryo UI"/>
              </a:rPr>
              <a:t>臨床情報詳細画面（資格確認端末）</a:t>
            </a:r>
          </a:p>
        </p:txBody>
      </p:sp>
      <p:sp>
        <p:nvSpPr>
          <p:cNvPr id="513" name="Rounded Rectangle 512"/>
          <p:cNvSpPr/>
          <p:nvPr/>
        </p:nvSpPr>
        <p:spPr>
          <a:xfrm>
            <a:off x="1284520" y="5040036"/>
            <a:ext cx="3024000" cy="763068"/>
          </a:xfrm>
          <a:prstGeom prst="roundRect">
            <a:avLst>
              <a:gd name="adj" fmla="val 6000"/>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t"/>
          <a:lstStyle/>
          <a:p>
            <a:pPr algn="l"/>
            <a:r>
              <a:rPr sz="950" b="0" u="none">
                <a:solidFill>
                  <a:srgbClr val="000000"/>
                </a:solidFill>
                <a:latin typeface="Meiryo UI"/>
                <a:ea typeface="Meiryo UI"/>
              </a:rPr>
              <a:t>患者名：厚労太郎</a:t>
            </a:r>
          </a:p>
        </p:txBody>
      </p:sp>
      <p:sp>
        <p:nvSpPr>
          <p:cNvPr id="514" name="Rectangle 513"/>
          <p:cNvSpPr/>
          <p:nvPr/>
        </p:nvSpPr>
        <p:spPr>
          <a:xfrm>
            <a:off x="1392520" y="5256036"/>
            <a:ext cx="2808000" cy="324000"/>
          </a:xfrm>
          <a:prstGeom prst="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r>
              <a:rPr sz="1100" b="0" u="none">
                <a:solidFill>
                  <a:srgbClr val="000000"/>
                </a:solidFill>
                <a:latin typeface="Meiryo UI"/>
                <a:ea typeface="Meiryo UI"/>
              </a:rPr>
              <a:t>検査項目：</a:t>
            </a:r>
            <a:r>
              <a:rPr sz="1200" b="1" u="none">
                <a:solidFill>
                  <a:srgbClr val="C00000"/>
                </a:solidFill>
                <a:latin typeface="Meiryo UI"/>
                <a:ea typeface="Meiryo UI"/>
              </a:rPr>
              <a:t>総タンパク</a:t>
            </a:r>
          </a:p>
        </p:txBody>
      </p:sp>
      <p:sp>
        <p:nvSpPr>
          <p:cNvPr id="515" name="TextBox 514"/>
          <p:cNvSpPr txBox="1"/>
          <p:nvPr/>
        </p:nvSpPr>
        <p:spPr>
          <a:xfrm>
            <a:off x="1392520" y="5598036"/>
            <a:ext cx="2808000" cy="251999"/>
          </a:xfrm>
          <a:prstGeom prst="rect">
            <a:avLst/>
          </a:prstGeom>
          <a:noFill/>
        </p:spPr>
        <p:txBody>
          <a:bodyPr wrap="square" lIns="54000" tIns="18000" rIns="54000" bIns="18000" anchor="t">
            <a:spAutoFit/>
          </a:bodyPr>
          <a:lstStyle/>
          <a:p>
            <a:pPr algn="l"/>
            <a:r>
              <a:rPr sz="950" b="0" u="none">
                <a:solidFill>
                  <a:srgbClr val="000000"/>
                </a:solidFill>
                <a:latin typeface="Meiryo UI"/>
                <a:ea typeface="Meiryo UI"/>
              </a:rPr>
              <a:t>検査結果：7.0 g/dL</a:t>
            </a:r>
          </a:p>
        </p:txBody>
      </p:sp>
      <p:sp>
        <p:nvSpPr>
          <p:cNvPr id="516" name="Rectangle 515"/>
          <p:cNvSpPr/>
          <p:nvPr/>
        </p:nvSpPr>
        <p:spPr>
          <a:xfrm>
            <a:off x="1176521" y="6070006"/>
            <a:ext cx="3240000" cy="586657"/>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lang="en-US" altLang="ja-JP" sz="950" b="1" dirty="0">
                <a:solidFill>
                  <a:schemeClr val="tx1"/>
                </a:solidFill>
                <a:latin typeface="Meiryo UI"/>
              </a:rPr>
              <a:t>【</a:t>
            </a:r>
            <a:r>
              <a:rPr lang="ja-JP" altLang="en-US" sz="950" b="1" dirty="0">
                <a:solidFill>
                  <a:schemeClr val="tx1"/>
                </a:solidFill>
                <a:latin typeface="Meiryo UI"/>
              </a:rPr>
              <a:t>閲覧時</a:t>
            </a:r>
            <a:r>
              <a:rPr lang="en-US" altLang="ja-JP" sz="950" b="1" dirty="0">
                <a:solidFill>
                  <a:schemeClr val="tx1"/>
                </a:solidFill>
                <a:latin typeface="Meiryo UI"/>
              </a:rPr>
              <a:t>】</a:t>
            </a:r>
            <a:endParaRPr lang="en-US" sz="950" b="1" u="none" dirty="0">
              <a:solidFill>
                <a:schemeClr val="tx1"/>
              </a:solidFill>
              <a:latin typeface="Meiryo UI"/>
              <a:ea typeface="Meiryo UI"/>
            </a:endParaRPr>
          </a:p>
          <a:p>
            <a:pPr algn="ctr"/>
            <a:r>
              <a:rPr sz="950" u="none" dirty="0" err="1">
                <a:solidFill>
                  <a:schemeClr val="tx1"/>
                </a:solidFill>
                <a:latin typeface="Meiryo UI"/>
                <a:ea typeface="Meiryo UI"/>
              </a:rPr>
              <a:t>自院</a:t>
            </a:r>
            <a:r>
              <a:rPr lang="ja-JP" altLang="en-US" sz="950" u="none" dirty="0">
                <a:solidFill>
                  <a:schemeClr val="tx1"/>
                </a:solidFill>
                <a:latin typeface="Meiryo UI"/>
                <a:ea typeface="Meiryo UI"/>
              </a:rPr>
              <a:t>で臨床情報詳細画面を参照する</a:t>
            </a:r>
            <a:r>
              <a:rPr lang="ja-JP" altLang="en-US" sz="950" dirty="0">
                <a:solidFill>
                  <a:schemeClr val="tx1"/>
                </a:solidFill>
                <a:latin typeface="Meiryo UI"/>
                <a:ea typeface="Meiryo UI"/>
              </a:rPr>
              <a:t>場合</a:t>
            </a:r>
            <a:r>
              <a:rPr sz="950" u="none" dirty="0">
                <a:solidFill>
                  <a:schemeClr val="tx1"/>
                </a:solidFill>
                <a:latin typeface="Meiryo UI"/>
                <a:ea typeface="Meiryo UI"/>
              </a:rPr>
              <a:t>、</a:t>
            </a:r>
          </a:p>
          <a:p>
            <a:pPr algn="ctr"/>
            <a:r>
              <a:rPr lang="ja-JP" altLang="en-US" sz="950" dirty="0">
                <a:solidFill>
                  <a:schemeClr val="tx1"/>
                </a:solidFill>
                <a:latin typeface="Meiryo UI"/>
                <a:ea typeface="Meiryo UI"/>
              </a:rPr>
              <a:t>検査項目には</a:t>
            </a:r>
            <a:r>
              <a:rPr sz="950" u="none" dirty="0">
                <a:solidFill>
                  <a:schemeClr val="tx1"/>
                </a:solidFill>
                <a:latin typeface="Meiryo UI"/>
                <a:ea typeface="Meiryo UI"/>
              </a:rPr>
              <a:t>「</a:t>
            </a:r>
            <a:r>
              <a:rPr sz="950" b="1" u="none" dirty="0" err="1">
                <a:solidFill>
                  <a:schemeClr val="tx1"/>
                </a:solidFill>
                <a:latin typeface="Meiryo UI"/>
                <a:ea typeface="Meiryo UI"/>
              </a:rPr>
              <a:t>総タンパク</a:t>
            </a:r>
            <a:r>
              <a:rPr sz="950" u="none" dirty="0">
                <a:solidFill>
                  <a:schemeClr val="tx1"/>
                </a:solidFill>
                <a:latin typeface="Meiryo UI"/>
                <a:ea typeface="Meiryo UI"/>
              </a:rPr>
              <a:t>」</a:t>
            </a:r>
            <a:r>
              <a:rPr lang="ja-JP" altLang="en-US" sz="950" u="none" dirty="0">
                <a:solidFill>
                  <a:schemeClr val="tx1"/>
                </a:solidFill>
                <a:latin typeface="Meiryo UI"/>
                <a:ea typeface="Meiryo UI"/>
              </a:rPr>
              <a:t>が表示される</a:t>
            </a:r>
            <a:endParaRPr sz="950" u="none" dirty="0">
              <a:solidFill>
                <a:schemeClr val="tx1"/>
              </a:solidFill>
              <a:latin typeface="Meiryo UI"/>
              <a:ea typeface="Meiryo UI"/>
            </a:endParaRPr>
          </a:p>
        </p:txBody>
      </p:sp>
      <p:sp>
        <p:nvSpPr>
          <p:cNvPr id="517" name="Rectangle 516"/>
          <p:cNvSpPr/>
          <p:nvPr/>
        </p:nvSpPr>
        <p:spPr>
          <a:xfrm>
            <a:off x="5273481" y="4374036"/>
            <a:ext cx="3240000" cy="16200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8" name="Rectangle 517"/>
          <p:cNvSpPr/>
          <p:nvPr/>
        </p:nvSpPr>
        <p:spPr>
          <a:xfrm>
            <a:off x="5273481" y="4374036"/>
            <a:ext cx="3240000" cy="288000"/>
          </a:xfrm>
          <a:prstGeom prst="rect">
            <a:avLst/>
          </a:prstGeom>
          <a:solidFill>
            <a:srgbClr val="C5D9F1"/>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1050" b="1" u="none">
                <a:solidFill>
                  <a:srgbClr val="000000"/>
                </a:solidFill>
                <a:latin typeface="Meiryo UI"/>
                <a:ea typeface="Meiryo UI"/>
              </a:rPr>
              <a:t>他院（医療機関B）</a:t>
            </a:r>
          </a:p>
        </p:txBody>
      </p:sp>
      <p:sp>
        <p:nvSpPr>
          <p:cNvPr id="519" name="Rectangle 518"/>
          <p:cNvSpPr/>
          <p:nvPr/>
        </p:nvSpPr>
        <p:spPr>
          <a:xfrm>
            <a:off x="5345480" y="4734036"/>
            <a:ext cx="3096000" cy="234000"/>
          </a:xfrm>
          <a:prstGeom prst="rect">
            <a:avLst/>
          </a:prstGeom>
          <a:solidFill>
            <a:srgbClr val="DCE6F2"/>
          </a:solidFill>
          <a:ln w="635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000000"/>
                </a:solidFill>
                <a:latin typeface="Meiryo UI"/>
                <a:ea typeface="Meiryo UI"/>
              </a:rPr>
              <a:t>臨床情報一覧（PDF帳票）</a:t>
            </a:r>
          </a:p>
        </p:txBody>
      </p:sp>
      <p:sp>
        <p:nvSpPr>
          <p:cNvPr id="520" name="Rounded Rectangle 519"/>
          <p:cNvSpPr/>
          <p:nvPr/>
        </p:nvSpPr>
        <p:spPr>
          <a:xfrm>
            <a:off x="5381481" y="5040036"/>
            <a:ext cx="3024000" cy="763068"/>
          </a:xfrm>
          <a:prstGeom prst="roundRect">
            <a:avLst>
              <a:gd name="adj" fmla="val 6000"/>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t"/>
          <a:lstStyle/>
          <a:p>
            <a:pPr algn="l"/>
            <a:r>
              <a:rPr sz="950" b="0" u="none">
                <a:solidFill>
                  <a:srgbClr val="000000"/>
                </a:solidFill>
                <a:latin typeface="Meiryo UI"/>
                <a:ea typeface="Meiryo UI"/>
              </a:rPr>
              <a:t>患者名：厚労太郎</a:t>
            </a:r>
          </a:p>
        </p:txBody>
      </p:sp>
      <p:sp>
        <p:nvSpPr>
          <p:cNvPr id="521" name="Rectangle 520"/>
          <p:cNvSpPr/>
          <p:nvPr/>
        </p:nvSpPr>
        <p:spPr>
          <a:xfrm>
            <a:off x="5489481" y="5256036"/>
            <a:ext cx="2808000" cy="324000"/>
          </a:xfrm>
          <a:prstGeom prst="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r>
              <a:rPr sz="1100" b="0" u="none">
                <a:solidFill>
                  <a:srgbClr val="000000"/>
                </a:solidFill>
                <a:latin typeface="Meiryo UI"/>
                <a:ea typeface="Meiryo UI"/>
              </a:rPr>
              <a:t>検査項目：</a:t>
            </a:r>
            <a:r>
              <a:rPr sz="1200" b="1" u="none">
                <a:solidFill>
                  <a:srgbClr val="C00000"/>
                </a:solidFill>
                <a:latin typeface="Meiryo UI"/>
                <a:ea typeface="Meiryo UI"/>
              </a:rPr>
              <a:t>TP</a:t>
            </a:r>
          </a:p>
        </p:txBody>
      </p:sp>
      <p:sp>
        <p:nvSpPr>
          <p:cNvPr id="522" name="TextBox 521"/>
          <p:cNvSpPr txBox="1"/>
          <p:nvPr/>
        </p:nvSpPr>
        <p:spPr>
          <a:xfrm>
            <a:off x="5489481" y="5598036"/>
            <a:ext cx="2808000" cy="251999"/>
          </a:xfrm>
          <a:prstGeom prst="rect">
            <a:avLst/>
          </a:prstGeom>
          <a:noFill/>
        </p:spPr>
        <p:txBody>
          <a:bodyPr wrap="square" lIns="54000" tIns="18000" rIns="54000" bIns="18000" anchor="t">
            <a:spAutoFit/>
          </a:bodyPr>
          <a:lstStyle/>
          <a:p>
            <a:pPr algn="l"/>
            <a:r>
              <a:rPr sz="950" b="0" u="none">
                <a:solidFill>
                  <a:srgbClr val="000000"/>
                </a:solidFill>
                <a:latin typeface="Meiryo UI"/>
                <a:ea typeface="Meiryo UI"/>
              </a:rPr>
              <a:t>検査結果：7.0 g/dL</a:t>
            </a:r>
          </a:p>
        </p:txBody>
      </p:sp>
      <p:sp>
        <p:nvSpPr>
          <p:cNvPr id="523" name="Rectangle 522"/>
          <p:cNvSpPr/>
          <p:nvPr/>
        </p:nvSpPr>
        <p:spPr>
          <a:xfrm>
            <a:off x="5273482" y="6066036"/>
            <a:ext cx="3239999" cy="591635"/>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lang="en-US" altLang="ja-JP" sz="950" b="1" u="none" dirty="0">
                <a:solidFill>
                  <a:schemeClr val="tx1"/>
                </a:solidFill>
                <a:latin typeface="Meiryo UI"/>
                <a:ea typeface="Meiryo UI"/>
              </a:rPr>
              <a:t>【</a:t>
            </a:r>
            <a:r>
              <a:rPr lang="ja-JP" altLang="en-US" sz="950" b="1" u="none" dirty="0">
                <a:solidFill>
                  <a:schemeClr val="tx1"/>
                </a:solidFill>
                <a:latin typeface="Meiryo UI"/>
                <a:ea typeface="Meiryo UI"/>
              </a:rPr>
              <a:t>閲覧時</a:t>
            </a:r>
            <a:r>
              <a:rPr lang="en-US" altLang="ja-JP" sz="950" b="1" u="none" dirty="0">
                <a:solidFill>
                  <a:schemeClr val="tx1"/>
                </a:solidFill>
                <a:latin typeface="Meiryo UI"/>
                <a:ea typeface="Meiryo UI"/>
              </a:rPr>
              <a:t>】</a:t>
            </a:r>
            <a:endParaRPr lang="ja-JP" altLang="en-US" sz="950" b="1" u="none" dirty="0">
              <a:solidFill>
                <a:schemeClr val="tx1"/>
              </a:solidFill>
              <a:latin typeface="Meiryo UI"/>
              <a:ea typeface="Meiryo UI"/>
            </a:endParaRPr>
          </a:p>
          <a:p>
            <a:pPr algn="ctr"/>
            <a:r>
              <a:rPr lang="ja-JP" altLang="en-US" sz="950" u="none" dirty="0">
                <a:solidFill>
                  <a:schemeClr val="tx1"/>
                </a:solidFill>
                <a:latin typeface="Meiryo UI"/>
                <a:ea typeface="Meiryo UI"/>
              </a:rPr>
              <a:t>他院で</a:t>
            </a:r>
            <a:r>
              <a:rPr lang="en-US" altLang="ja-JP" sz="950" u="none" dirty="0">
                <a:solidFill>
                  <a:schemeClr val="tx1"/>
                </a:solidFill>
                <a:latin typeface="Meiryo UI"/>
                <a:ea typeface="Meiryo UI"/>
              </a:rPr>
              <a:t>PDF</a:t>
            </a:r>
            <a:r>
              <a:rPr lang="ja-JP" altLang="en-US" sz="950" dirty="0">
                <a:solidFill>
                  <a:schemeClr val="tx1"/>
                </a:solidFill>
                <a:latin typeface="Meiryo UI"/>
                <a:ea typeface="Meiryo UI"/>
              </a:rPr>
              <a:t>を参照する場合</a:t>
            </a:r>
            <a:r>
              <a:rPr lang="ja-JP" altLang="en-US" sz="950" u="none" dirty="0">
                <a:solidFill>
                  <a:schemeClr val="tx1"/>
                </a:solidFill>
                <a:latin typeface="Meiryo UI"/>
                <a:ea typeface="Meiryo UI"/>
              </a:rPr>
              <a:t>、</a:t>
            </a:r>
          </a:p>
          <a:p>
            <a:pPr algn="ctr"/>
            <a:r>
              <a:rPr lang="ja-JP" altLang="en-US" sz="950" dirty="0">
                <a:solidFill>
                  <a:schemeClr val="tx1"/>
                </a:solidFill>
                <a:latin typeface="Meiryo UI"/>
                <a:ea typeface="Meiryo UI"/>
              </a:rPr>
              <a:t>検査項目には「</a:t>
            </a:r>
            <a:r>
              <a:rPr lang="en-US" altLang="ja-JP" sz="950" b="1" dirty="0">
                <a:solidFill>
                  <a:schemeClr val="tx1"/>
                </a:solidFill>
                <a:latin typeface="Meiryo UI"/>
                <a:ea typeface="Meiryo UI"/>
              </a:rPr>
              <a:t>TP</a:t>
            </a:r>
            <a:r>
              <a:rPr lang="ja-JP" altLang="en-US" sz="950" dirty="0">
                <a:solidFill>
                  <a:schemeClr val="tx1"/>
                </a:solidFill>
                <a:latin typeface="Meiryo UI"/>
                <a:ea typeface="Meiryo UI"/>
              </a:rPr>
              <a:t>」が表示される</a:t>
            </a:r>
            <a:endParaRPr sz="950" u="none" dirty="0">
              <a:solidFill>
                <a:schemeClr val="tx1"/>
              </a:solidFill>
              <a:latin typeface="Meiryo UI"/>
              <a:ea typeface="Meiryo UI"/>
            </a:endParaRPr>
          </a:p>
        </p:txBody>
      </p:sp>
      <p:sp>
        <p:nvSpPr>
          <p:cNvPr id="524" name="TextBox 523"/>
          <p:cNvSpPr txBox="1"/>
          <p:nvPr/>
        </p:nvSpPr>
        <p:spPr>
          <a:xfrm>
            <a:off x="4416520" y="5257282"/>
            <a:ext cx="856961" cy="405683"/>
          </a:xfrm>
          <a:prstGeom prst="rect">
            <a:avLst/>
          </a:prstGeom>
          <a:noFill/>
        </p:spPr>
        <p:txBody>
          <a:bodyPr wrap="square" lIns="54000" tIns="18000" rIns="54000" bIns="18000" anchor="ctr">
            <a:spAutoFit/>
          </a:bodyPr>
          <a:lstStyle/>
          <a:p>
            <a:pPr algn="ctr"/>
            <a:r>
              <a:rPr sz="2400" b="1" u="none" dirty="0">
                <a:solidFill>
                  <a:srgbClr val="1F3864"/>
                </a:solidFill>
                <a:latin typeface="Meiryo UI"/>
                <a:ea typeface="Meiryo UI"/>
              </a:rPr>
              <a:t>≠</a:t>
            </a:r>
          </a:p>
        </p:txBody>
      </p:sp>
      <p:cxnSp>
        <p:nvCxnSpPr>
          <p:cNvPr id="4" name="コネクタ: カギ線 3">
            <a:extLst>
              <a:ext uri="{FF2B5EF4-FFF2-40B4-BE49-F238E27FC236}">
                <a16:creationId xmlns:a16="http://schemas.microsoft.com/office/drawing/2014/main" id="{6BEC2C5B-51DF-E312-D60D-C10C05B1F2DC}"/>
              </a:ext>
            </a:extLst>
          </p:cNvPr>
          <p:cNvCxnSpPr>
            <a:cxnSpLocks/>
            <a:stCxn id="503" idx="2"/>
            <a:endCxn id="511" idx="0"/>
          </p:cNvCxnSpPr>
          <p:nvPr/>
        </p:nvCxnSpPr>
        <p:spPr bwMode="auto">
          <a:xfrm rot="5400000">
            <a:off x="3481325" y="3023231"/>
            <a:ext cx="666000" cy="2035610"/>
          </a:xfrm>
          <a:prstGeom prst="bentConnector3">
            <a:avLst>
              <a:gd name="adj1" fmla="val 50000"/>
            </a:avLst>
          </a:prstGeom>
          <a:solidFill>
            <a:schemeClr val="bg1"/>
          </a:solidFill>
          <a:ln w="9525" cap="flat" cmpd="sng" algn="ctr">
            <a:solidFill>
              <a:schemeClr val="tx1"/>
            </a:solidFill>
            <a:prstDash val="solid"/>
            <a:round/>
            <a:headEnd type="none" w="med" len="med"/>
            <a:tailEnd type="triangle"/>
          </a:ln>
          <a:effectLst/>
        </p:spPr>
      </p:cxnSp>
      <p:cxnSp>
        <p:nvCxnSpPr>
          <p:cNvPr id="6" name="コネクタ: カギ線 5">
            <a:extLst>
              <a:ext uri="{FF2B5EF4-FFF2-40B4-BE49-F238E27FC236}">
                <a16:creationId xmlns:a16="http://schemas.microsoft.com/office/drawing/2014/main" id="{849B1D7A-06AA-1F78-A92F-7323873164C2}"/>
              </a:ext>
            </a:extLst>
          </p:cNvPr>
          <p:cNvCxnSpPr>
            <a:cxnSpLocks/>
            <a:endCxn id="518" idx="0"/>
          </p:cNvCxnSpPr>
          <p:nvPr/>
        </p:nvCxnSpPr>
        <p:spPr bwMode="auto">
          <a:xfrm>
            <a:off x="4857871" y="4042760"/>
            <a:ext cx="2035610" cy="331276"/>
          </a:xfrm>
          <a:prstGeom prst="bentConnector2">
            <a:avLst/>
          </a:prstGeom>
          <a:solidFill>
            <a:schemeClr val="bg1"/>
          </a:solidFill>
          <a:ln w="9525" cap="flat" cmpd="sng" algn="ctr">
            <a:solidFill>
              <a:schemeClr val="tx1"/>
            </a:solidFill>
            <a:prstDash val="solid"/>
            <a:round/>
            <a:headEnd type="none" w="med" len="med"/>
            <a:tailEnd type="triangle"/>
          </a:ln>
          <a:effectLst/>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08E55-C816-19AC-E52F-E9EFEB6F55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AFA0E7-0B1B-6118-27BB-DA3A6CDF3D68}"/>
              </a:ext>
            </a:extLst>
          </p:cNvPr>
          <p:cNvSpPr>
            <a:spLocks noGrp="1"/>
          </p:cNvSpPr>
          <p:nvPr>
            <p:ph type="title"/>
          </p:nvPr>
        </p:nvSpPr>
        <p:spPr/>
        <p:txBody>
          <a:bodyPr/>
          <a:lstStyle/>
          <a:p>
            <a:r>
              <a:rPr dirty="0" err="1"/>
              <a:t>X.臨床情報詳細画面とPDF帳票の名称の差について</a:t>
            </a:r>
            <a:r>
              <a:rPr lang="ja-JP" altLang="en-US" dirty="0"/>
              <a:t>（</a:t>
            </a:r>
            <a:r>
              <a:rPr lang="en-US" altLang="ja-JP" dirty="0"/>
              <a:t>3/3</a:t>
            </a:r>
            <a:r>
              <a:rPr lang="ja-JP" altLang="en-US" dirty="0"/>
              <a:t>）</a:t>
            </a:r>
            <a:endParaRPr dirty="0"/>
          </a:p>
        </p:txBody>
      </p:sp>
      <p:sp>
        <p:nvSpPr>
          <p:cNvPr id="3" name="ラベル ご相談事項">
            <a:extLst>
              <a:ext uri="{FF2B5EF4-FFF2-40B4-BE49-F238E27FC236}">
                <a16:creationId xmlns:a16="http://schemas.microsoft.com/office/drawing/2014/main" id="{E898E210-5B19-7B41-5A56-35866107CCD5}"/>
              </a:ext>
            </a:extLst>
          </p:cNvPr>
          <p:cNvSpPr/>
          <p:nvPr/>
        </p:nvSpPr>
        <p:spPr>
          <a:xfrm>
            <a:off x="493050" y="850667"/>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ご相談事項</a:t>
            </a:r>
          </a:p>
        </p:txBody>
      </p:sp>
      <p:sp>
        <p:nvSpPr>
          <p:cNvPr id="104" name="本文">
            <a:extLst>
              <a:ext uri="{FF2B5EF4-FFF2-40B4-BE49-F238E27FC236}">
                <a16:creationId xmlns:a16="http://schemas.microsoft.com/office/drawing/2014/main" id="{714B7E67-BE8E-CEAE-9E86-588C47691780}"/>
              </a:ext>
            </a:extLst>
          </p:cNvPr>
          <p:cNvSpPr>
            <a:spLocks noGrp="1"/>
          </p:cNvSpPr>
          <p:nvPr>
            <p:ph idx="1"/>
          </p:nvPr>
        </p:nvSpPr>
        <p:spPr>
          <a:xfrm>
            <a:off x="493050" y="1102667"/>
            <a:ext cx="8919900" cy="809015"/>
          </a:xfrm>
        </p:spPr>
        <p:txBody>
          <a:bodyPr/>
          <a:lstStyle/>
          <a:p>
            <a:pPr marL="285750" indent="-285750">
              <a:spcAft>
                <a:spcPts val="300"/>
              </a:spcAft>
              <a:buFont typeface="Arial" panose="020B0604020202020204" pitchFamily="34" charset="0"/>
              <a:buChar char="•"/>
            </a:pPr>
            <a:r>
              <a:rPr lang="ja-JP" altLang="en-US" sz="1100" dirty="0"/>
              <a:t>上記のとおり表示に差分が生じうる可能性があるため、改修の可否・時期・費用を機構に照会し、費用対効果を確認した上で、</a:t>
            </a:r>
            <a:r>
              <a:rPr lang="ja-JP" altLang="en-US" sz="1100" b="1" dirty="0"/>
              <a:t>傷病名</a:t>
            </a:r>
            <a:r>
              <a:rPr lang="en-US" altLang="ja-JP" sz="1100" b="1" dirty="0"/>
              <a:t>(</a:t>
            </a:r>
            <a:r>
              <a:rPr lang="ja-JP" altLang="en-US" sz="1100" b="1" dirty="0"/>
              <a:t>案件213</a:t>
            </a:r>
            <a:r>
              <a:rPr lang="en-US" altLang="ja-JP" sz="1100" b="1" dirty="0"/>
              <a:t>)</a:t>
            </a:r>
            <a:r>
              <a:rPr lang="ja-JP" altLang="en-US" sz="1100" b="1" dirty="0"/>
              <a:t>と同様に、臨床情報詳細画面の名称をPDFに揃える改修を機構に求める方向</a:t>
            </a:r>
            <a:r>
              <a:rPr lang="ja-JP" altLang="en-US" sz="1100" dirty="0"/>
              <a:t>でよろしいでしょうか。</a:t>
            </a:r>
          </a:p>
          <a:p>
            <a:pPr marL="285750" indent="-285750">
              <a:spcAft>
                <a:spcPts val="300"/>
              </a:spcAft>
              <a:buFont typeface="Arial" panose="020B0604020202020204" pitchFamily="34" charset="0"/>
              <a:buChar char="•"/>
            </a:pPr>
            <a:r>
              <a:rPr lang="ja-JP" altLang="en-US" sz="1100" dirty="0"/>
              <a:t>あわせて、改修までの間、差分があることを医療機関に周知するかについてもご意向を伺いたい。</a:t>
            </a:r>
          </a:p>
        </p:txBody>
      </p:sp>
    </p:spTree>
    <p:extLst>
      <p:ext uri="{BB962C8B-B14F-4D97-AF65-F5344CB8AC3E}">
        <p14:creationId xmlns:p14="http://schemas.microsoft.com/office/powerpoint/2010/main" val="1183329414"/>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err="1"/>
              <a:t>X.臨床情報詳細画面とPDF帳票の名称の差について</a:t>
            </a:r>
            <a:r>
              <a:rPr lang="ja-JP" altLang="en-US" dirty="0"/>
              <a:t>（参考）</a:t>
            </a:r>
            <a:endParaRPr dirty="0"/>
          </a:p>
        </p:txBody>
      </p:sp>
      <p:sp>
        <p:nvSpPr>
          <p:cNvPr id="105" name="ラベル 参考">
            <a:extLst>
              <a:ext uri="{FF2B5EF4-FFF2-40B4-BE49-F238E27FC236}">
                <a16:creationId xmlns:a16="http://schemas.microsoft.com/office/drawing/2014/main" id="{10B3CE16-A82C-C4F4-3204-AD9B576EF40B}"/>
              </a:ext>
            </a:extLst>
          </p:cNvPr>
          <p:cNvSpPr/>
          <p:nvPr/>
        </p:nvSpPr>
        <p:spPr>
          <a:xfrm>
            <a:off x="493200" y="827999"/>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参考</a:t>
            </a:r>
          </a:p>
        </p:txBody>
      </p:sp>
      <p:sp>
        <p:nvSpPr>
          <p:cNvPr id="106" name="本文">
            <a:extLst>
              <a:ext uri="{FF2B5EF4-FFF2-40B4-BE49-F238E27FC236}">
                <a16:creationId xmlns:a16="http://schemas.microsoft.com/office/drawing/2014/main" id="{19B0B31A-D24C-127D-FE2A-C96C34222213}"/>
              </a:ext>
            </a:extLst>
          </p:cNvPr>
          <p:cNvSpPr>
            <a:spLocks noGrp="1"/>
          </p:cNvSpPr>
          <p:nvPr>
            <p:ph idx="1"/>
          </p:nvPr>
        </p:nvSpPr>
        <p:spPr>
          <a:xfrm>
            <a:off x="493200" y="1080000"/>
            <a:ext cx="8919900" cy="809015"/>
          </a:xfrm>
        </p:spPr>
        <p:txBody>
          <a:bodyPr/>
          <a:lstStyle/>
          <a:p>
            <a:pPr marL="285750" indent="-285750">
              <a:spcAft>
                <a:spcPts val="300"/>
              </a:spcAft>
              <a:buFont typeface="Arial" panose="020B0604020202020204" pitchFamily="34" charset="0"/>
              <a:buChar char="•"/>
            </a:pPr>
            <a:r>
              <a:rPr lang="ja-JP" altLang="en-US" sz="1200" b="1"/>
              <a:t>詳細画面・PDFが参照するFHIRパスの定義</a:t>
            </a:r>
            <a:r>
              <a:rPr lang="ja-JP" altLang="en-US" sz="1200"/>
              <a:t>（JP-CLINS v1.13.0）</a:t>
            </a:r>
          </a:p>
        </p:txBody>
      </p:sp>
      <p:graphicFrame>
        <p:nvGraphicFramePr>
          <p:cNvPr id="107" name="Table 106"/>
          <p:cNvGraphicFramePr>
            <a:graphicFrameLocks noGrp="1"/>
          </p:cNvGraphicFramePr>
          <p:nvPr/>
        </p:nvGraphicFramePr>
        <p:xfrm>
          <a:off x="684000" y="1368000"/>
          <a:ext cx="8567999" cy="1970280"/>
        </p:xfrm>
        <a:graphic>
          <a:graphicData uri="http://schemas.openxmlformats.org/drawingml/2006/table">
            <a:tbl>
              <a:tblPr>
                <a:tableStyleId>{5C22544A-7EE6-4342-B048-85BDC9FD1C3A}</a:tableStyleId>
              </a:tblPr>
              <a:tblGrid>
                <a:gridCol w="2015999">
                  <a:extLst>
                    <a:ext uri="{9D8B030D-6E8A-4147-A177-3AD203B41FA5}">
                      <a16:colId xmlns:a16="http://schemas.microsoft.com/office/drawing/2014/main" val="20000"/>
                    </a:ext>
                  </a:extLst>
                </a:gridCol>
                <a:gridCol w="1296000">
                  <a:extLst>
                    <a:ext uri="{9D8B030D-6E8A-4147-A177-3AD203B41FA5}">
                      <a16:colId xmlns:a16="http://schemas.microsoft.com/office/drawing/2014/main" val="20001"/>
                    </a:ext>
                  </a:extLst>
                </a:gridCol>
                <a:gridCol w="792000">
                  <a:extLst>
                    <a:ext uri="{9D8B030D-6E8A-4147-A177-3AD203B41FA5}">
                      <a16:colId xmlns:a16="http://schemas.microsoft.com/office/drawing/2014/main" val="20002"/>
                    </a:ext>
                  </a:extLst>
                </a:gridCol>
                <a:gridCol w="4464000">
                  <a:extLst>
                    <a:ext uri="{9D8B030D-6E8A-4147-A177-3AD203B41FA5}">
                      <a16:colId xmlns:a16="http://schemas.microsoft.com/office/drawing/2014/main" val="20003"/>
                    </a:ext>
                  </a:extLst>
                </a:gridCol>
              </a:tblGrid>
              <a:tr h="306000">
                <a:tc>
                  <a:txBody>
                    <a:bodyPr/>
                    <a:lstStyle/>
                    <a:p>
                      <a:r>
                        <a:rPr sz="900" b="1">
                          <a:solidFill>
                            <a:srgbClr val="000000"/>
                          </a:solidFill>
                          <a:latin typeface="Meiryo UI"/>
                          <a:ea typeface="Meiryo UI"/>
                        </a:rPr>
                        <a:t>プロファイル</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a:lstStyle/>
                    <a:p>
                      <a:r>
                        <a:rPr sz="900" b="1">
                          <a:solidFill>
                            <a:srgbClr val="000000"/>
                          </a:solidFill>
                          <a:latin typeface="Meiryo UI"/>
                          <a:ea typeface="Meiryo UI"/>
                        </a:rPr>
                        <a:t>FHIRパス</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a:lstStyle/>
                    <a:p>
                      <a:r>
                        <a:rPr sz="900" b="1">
                          <a:solidFill>
                            <a:srgbClr val="000000"/>
                          </a:solidFill>
                          <a:latin typeface="Meiryo UI"/>
                          <a:ea typeface="Meiryo UI"/>
                        </a:rPr>
                        <a:t>多重度</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a:lstStyle/>
                    <a:p>
                      <a:r>
                        <a:rPr sz="900" b="1">
                          <a:solidFill>
                            <a:srgbClr val="000000"/>
                          </a:solidFill>
                          <a:latin typeface="Meiryo UI"/>
                          <a:ea typeface="Meiryo UI"/>
                        </a:rPr>
                        <a:t>定義（抜粋）</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extLst>
                  <a:ext uri="{0D108BD9-81ED-4DB2-BD59-A6C34878D82A}">
                    <a16:rowId xmlns:a16="http://schemas.microsoft.com/office/drawing/2014/main" val="10000"/>
                  </a:ext>
                </a:extLst>
              </a:tr>
              <a:tr h="306000">
                <a:tc>
                  <a:txBody>
                    <a:bodyPr/>
                    <a:lstStyle/>
                    <a:p>
                      <a:r>
                        <a:rPr sz="900" b="0">
                          <a:solidFill>
                            <a:srgbClr val="000000"/>
                          </a:solidFill>
                          <a:latin typeface="Meiryo UI"/>
                          <a:ea typeface="Meiryo UI"/>
                        </a:rPr>
                        <a:t>JP_Observation_LabResult_eCS</a:t>
                      </a:r>
                    </a:p>
                    <a:p>
                      <a:r>
                        <a:rPr sz="900" b="0">
                          <a:solidFill>
                            <a:srgbClr val="000000"/>
                          </a:solidFill>
                          <a:latin typeface="Meiryo UI"/>
                          <a:ea typeface="Meiryo UI"/>
                        </a:rPr>
                        <a:t>（検査・感染症）</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項目名。報告書などに記載する場合に使用する表示名。（注釈：多くの場合、coding.displayと同一になるが…）</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1"/>
                  </a:ext>
                </a:extLst>
              </a:tr>
              <a:tr h="306000">
                <a:tc>
                  <a:txBody>
                    <a:bodyPr/>
                    <a:lstStyle/>
                    <a:p>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code.coding</a:t>
                      </a:r>
                    </a:p>
                    <a:p>
                      <a:r>
                        <a:rPr sz="900" b="0">
                          <a:solidFill>
                            <a:srgbClr val="000000"/>
                          </a:solidFill>
                          <a:latin typeface="Meiryo UI"/>
                          <a:ea typeface="Meiryo UI"/>
                        </a:rPr>
                        <a:t>（JLAC10）.display</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項目ごとに固定値（fixedString）。例：総蛋白＝TP、アルブミン＝ALB、HbA1c＝HbA1c-NGSP</a:t>
                      </a:r>
                    </a:p>
                    <a:p>
                      <a:r>
                        <a:rPr sz="900" b="0">
                          <a:solidFill>
                            <a:srgbClr val="000000"/>
                          </a:solidFill>
                          <a:latin typeface="Meiryo UI"/>
                          <a:ea typeface="Meiryo UI"/>
                        </a:rPr>
                        <a:t>（技術解説書の「FHIR識別文字列」）</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2"/>
                  </a:ext>
                </a:extLst>
              </a:tr>
              <a:tr h="306000">
                <a:tc>
                  <a:txBody>
                    <a:bodyPr/>
                    <a:lstStyle/>
                    <a:p>
                      <a:r>
                        <a:rPr sz="900" b="0">
                          <a:solidFill>
                            <a:srgbClr val="000000"/>
                          </a:solidFill>
                          <a:latin typeface="Meiryo UI"/>
                          <a:ea typeface="Meiryo UI"/>
                        </a:rPr>
                        <a:t>JP_AllergyIntolerance_eCS</a:t>
                      </a:r>
                    </a:p>
                    <a:p>
                      <a:r>
                        <a:rPr sz="900" b="0">
                          <a:solidFill>
                            <a:srgbClr val="000000"/>
                          </a:solidFill>
                          <a:latin typeface="Meiryo UI"/>
                          <a:ea typeface="Meiryo UI"/>
                        </a:rPr>
                        <a:t>（薬剤・その他アレルギー）</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電子カルテシステム等で登録され表示されている文字列をcode.textに必ず設定すること。</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3"/>
                  </a:ext>
                </a:extLst>
              </a:tr>
              <a:tr h="306000">
                <a:tc>
                  <a:txBody>
                    <a:bodyPr/>
                    <a:lstStyle/>
                    <a:p>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code.coding</a:t>
                      </a:r>
                    </a:p>
                    <a:p>
                      <a:r>
                        <a:rPr sz="900" b="0">
                          <a:solidFill>
                            <a:srgbClr val="000000"/>
                          </a:solidFill>
                          <a:latin typeface="Meiryo UI"/>
                          <a:ea typeface="Meiryo UI"/>
                        </a:rPr>
                        <a:t>（JFAGY）.display</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コードに対応する表示名（JFAGYのコード表の名称）。</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4"/>
                  </a:ext>
                </a:extLst>
              </a:tr>
              <a:tr h="306000">
                <a:tc>
                  <a:txBody>
                    <a:bodyPr/>
                    <a:lstStyle/>
                    <a:p>
                      <a:r>
                        <a:rPr sz="900" b="0">
                          <a:solidFill>
                            <a:srgbClr val="000000"/>
                          </a:solidFill>
                          <a:latin typeface="Meiryo UI"/>
                          <a:ea typeface="Meiryo UI"/>
                        </a:rPr>
                        <a:t>（参考）JP_Condition_eCS</a:t>
                      </a:r>
                    </a:p>
                    <a:p>
                      <a:r>
                        <a:rPr sz="900" b="0">
                          <a:solidFill>
                            <a:srgbClr val="000000"/>
                          </a:solidFill>
                          <a:latin typeface="Meiryo UI"/>
                          <a:ea typeface="Meiryo UI"/>
                        </a:rPr>
                        <a:t>（傷病名）</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a:solidFill>
                            <a:srgbClr val="000000"/>
                          </a:solidFill>
                          <a:latin typeface="Meiryo UI"/>
                          <a:ea typeface="Meiryo UI"/>
                        </a:rPr>
                        <a:t>前置修飾語、後置修飾語も含めて電子カルテ上での表示（入力）文字列全体を設定する。</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3" name="本文">
            <a:extLst>
              <a:ext uri="{FF2B5EF4-FFF2-40B4-BE49-F238E27FC236}">
                <a16:creationId xmlns:a16="http://schemas.microsoft.com/office/drawing/2014/main" id="{19B0B31A-D24C-127D-FE2A-C96C34222213}"/>
              </a:ext>
            </a:extLst>
          </p:cNvPr>
          <p:cNvSpPr>
            <a:spLocks noGrp="1"/>
          </p:cNvSpPr>
          <p:nvPr>
            <p:ph idx="1"/>
          </p:nvPr>
        </p:nvSpPr>
        <p:spPr>
          <a:xfrm>
            <a:off x="490801" y="3429000"/>
            <a:ext cx="8919900" cy="809015"/>
          </a:xfrm>
        </p:spPr>
        <p:txBody>
          <a:bodyPr/>
          <a:lstStyle/>
          <a:p>
            <a:pPr marL="285750" indent="-285750">
              <a:spcAft>
                <a:spcPts val="300"/>
              </a:spcAft>
              <a:buFont typeface="Arial" panose="020B0604020202020204" pitchFamily="34" charset="0"/>
              <a:buChar char="•"/>
            </a:pPr>
            <a:r>
              <a:rPr lang="ja-JP" altLang="en-US" sz="1100" dirty="0"/>
              <a:t>code.textは医療機関が自由に設定する名称、code.coding.displayはコード表で決まった名称である。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9A3A2CF-8C38-3A6A-836C-D47406540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DC1F6C-BBDD-0FDF-FF75-EBE863D4C3A7}"/>
              </a:ext>
            </a:extLst>
          </p:cNvPr>
          <p:cNvSpPr>
            <a:spLocks noGrp="1"/>
          </p:cNvSpPr>
          <p:nvPr>
            <p:ph type="title"/>
          </p:nvPr>
        </p:nvSpPr>
        <p:spPr/>
        <p:txBody>
          <a:bodyPr/>
          <a:lstStyle/>
          <a:p>
            <a:r>
              <a:t>X.臨床情報詳細画面とPDF帳票の名称の差について</a:t>
            </a:r>
          </a:p>
        </p:txBody>
      </p:sp>
      <p:sp>
        <p:nvSpPr>
          <p:cNvPr id="101" name="ラベル 背景・状況">
            <a:extLst>
              <a:ext uri="{FF2B5EF4-FFF2-40B4-BE49-F238E27FC236}">
                <a16:creationId xmlns:a16="http://schemas.microsoft.com/office/drawing/2014/main" id="{FAB6E54C-7A94-5511-95F9-891F36054783}"/>
              </a:ext>
            </a:extLst>
          </p:cNvPr>
          <p:cNvSpPr/>
          <p:nvPr/>
        </p:nvSpPr>
        <p:spPr>
          <a:xfrm>
            <a:off x="493200" y="827999"/>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背景・状況</a:t>
            </a:r>
          </a:p>
        </p:txBody>
      </p:sp>
      <p:sp>
        <p:nvSpPr>
          <p:cNvPr id="102" name="本文">
            <a:extLst>
              <a:ext uri="{FF2B5EF4-FFF2-40B4-BE49-F238E27FC236}">
                <a16:creationId xmlns:a16="http://schemas.microsoft.com/office/drawing/2014/main" id="{B21E2789-185D-D4B1-E350-4CB3391513D6}"/>
              </a:ext>
            </a:extLst>
          </p:cNvPr>
          <p:cNvSpPr>
            <a:spLocks noGrp="1"/>
          </p:cNvSpPr>
          <p:nvPr>
            <p:ph idx="1"/>
          </p:nvPr>
        </p:nvSpPr>
        <p:spPr>
          <a:xfrm>
            <a:off x="493200" y="1080000"/>
            <a:ext cx="8919900" cy="809015"/>
          </a:xfrm>
        </p:spPr>
        <p:txBody>
          <a:bodyPr/>
          <a:lstStyle/>
          <a:p>
            <a:pPr marL="285750" indent="-285750">
              <a:spcAft>
                <a:spcPts val="300"/>
              </a:spcAft>
              <a:buFont typeface="Arial" panose="020B0604020202020204" pitchFamily="34" charset="0"/>
              <a:buChar char="•"/>
            </a:pPr>
            <a:r>
              <a:rPr lang="ja-JP" altLang="en-US" sz="1200" dirty="0"/>
              <a:t>案件196「</a:t>
            </a:r>
            <a:r>
              <a:rPr lang="en-US" altLang="ja-JP" sz="1200" dirty="0"/>
              <a:t>XX</a:t>
            </a:r>
            <a:r>
              <a:rPr lang="ja-JP" altLang="en-US" sz="1200" dirty="0"/>
              <a:t>」の検討で、</a:t>
            </a:r>
            <a:r>
              <a:rPr lang="en-US" altLang="ja-JP" sz="1200" dirty="0"/>
              <a:t>PDF</a:t>
            </a:r>
            <a:r>
              <a:rPr lang="ja-JP" altLang="en-US" sz="1200" dirty="0"/>
              <a:t>には表示される傷病名末尾の「疑い」が臨床情報詳細画面には表示されないことが判明し、12月リリース（案件213「</a:t>
            </a:r>
            <a:r>
              <a:rPr lang="en-US" altLang="ja-JP" sz="1200" dirty="0"/>
              <a:t>XXX</a:t>
            </a:r>
            <a:r>
              <a:rPr lang="ja-JP" altLang="en-US" sz="1200" dirty="0"/>
              <a:t>」）にて改修することとなった。</a:t>
            </a:r>
          </a:p>
          <a:p>
            <a:pPr marL="285750" indent="-285750">
              <a:spcAft>
                <a:spcPts val="300"/>
              </a:spcAft>
              <a:buFont typeface="Arial" panose="020B0604020202020204" pitchFamily="34" charset="0"/>
              <a:buChar char="•"/>
            </a:pPr>
            <a:r>
              <a:rPr lang="ja-JP" altLang="en-US" sz="1200" dirty="0"/>
              <a:t>このような臨床情報詳細画面と</a:t>
            </a:r>
            <a:r>
              <a:rPr lang="en-US" altLang="ja-JP" sz="1200" dirty="0"/>
              <a:t>PDF</a:t>
            </a:r>
            <a:r>
              <a:rPr lang="ja-JP" altLang="en-US" sz="1200" dirty="0"/>
              <a:t>で表示が異なる項目が他にもないか、DX機構にて確認を実施した。（ToDo#1228）</a:t>
            </a:r>
          </a:p>
          <a:p>
            <a:pPr marL="285750" indent="-285750">
              <a:spcAft>
                <a:spcPts val="300"/>
              </a:spcAft>
              <a:buFont typeface="Arial" panose="020B0604020202020204" pitchFamily="34" charset="0"/>
              <a:buChar char="•"/>
            </a:pPr>
            <a:r>
              <a:rPr lang="ja-JP" altLang="en-US" sz="1200" dirty="0"/>
              <a:t>確認の結果、検査項目・薬剤名・アレルギー物質の項目について、以下表のとおり</a:t>
            </a:r>
            <a:r>
              <a:rPr lang="en-US" altLang="ja-JP" sz="1200" dirty="0"/>
              <a:t>FHIR</a:t>
            </a:r>
            <a:r>
              <a:rPr lang="ja-JP" altLang="en-US" sz="1200" dirty="0"/>
              <a:t>パスの差分が生じており、臨床情報詳細画面と</a:t>
            </a:r>
            <a:r>
              <a:rPr lang="en-US" altLang="ja-JP" sz="1200" dirty="0"/>
              <a:t>PDF</a:t>
            </a:r>
            <a:r>
              <a:rPr lang="ja-JP" altLang="en-US" sz="1200" dirty="0"/>
              <a:t>の表示にも差分が生じかねない状況であることから、対応方針（基金に改修を求めるか）のすり合わせをさせていただきたい。</a:t>
            </a:r>
          </a:p>
          <a:p>
            <a:pPr marL="285750" indent="-285750">
              <a:spcAft>
                <a:spcPts val="300"/>
              </a:spcAft>
              <a:buFont typeface="Arial" panose="020B0604020202020204" pitchFamily="34" charset="0"/>
              <a:buChar char="•"/>
            </a:pPr>
            <a:r>
              <a:rPr lang="ja-JP" altLang="en-US" sz="1200" dirty="0"/>
              <a:t>なお、</a:t>
            </a:r>
            <a:r>
              <a:rPr lang="en-US" altLang="ja-JP" sz="1200" dirty="0"/>
              <a:t>10/5</a:t>
            </a:r>
            <a:r>
              <a:rPr lang="ja-JP" altLang="en-US" sz="1200" dirty="0"/>
              <a:t>開発課題検討会にて、機構より「案件</a:t>
            </a:r>
            <a:r>
              <a:rPr lang="en-US" altLang="ja-JP" sz="1200" dirty="0"/>
              <a:t>ID213</a:t>
            </a:r>
            <a:r>
              <a:rPr lang="ja-JP" altLang="en-US" sz="1200" dirty="0"/>
              <a:t>以外の臨床情報詳細画面・</a:t>
            </a:r>
            <a:r>
              <a:rPr lang="en-US" altLang="ja-JP" sz="1200" dirty="0"/>
              <a:t>PDF</a:t>
            </a:r>
            <a:r>
              <a:rPr lang="ja-JP" altLang="en-US" sz="1200" dirty="0"/>
              <a:t>の差分の解消は、品質担保の観点から3月リリースでの修正は困難」との回答を受けている。</a:t>
            </a:r>
          </a:p>
        </p:txBody>
      </p:sp>
      <p:graphicFrame>
        <p:nvGraphicFramePr>
          <p:cNvPr id="103" name="Table 102">
            <a:extLst>
              <a:ext uri="{FF2B5EF4-FFF2-40B4-BE49-F238E27FC236}">
                <a16:creationId xmlns:a16="http://schemas.microsoft.com/office/drawing/2014/main" id="{26555382-6241-B90F-0E8E-CDFBA5D92B4B}"/>
              </a:ext>
            </a:extLst>
          </p:cNvPr>
          <p:cNvGraphicFramePr>
            <a:graphicFrameLocks noGrp="1"/>
          </p:cNvGraphicFramePr>
          <p:nvPr/>
        </p:nvGraphicFramePr>
        <p:xfrm>
          <a:off x="493200" y="2901144"/>
          <a:ext cx="9235262" cy="2252836"/>
        </p:xfrm>
        <a:graphic>
          <a:graphicData uri="http://schemas.openxmlformats.org/drawingml/2006/table">
            <a:tbl>
              <a:tblPr>
                <a:tableStyleId>{5C22544A-7EE6-4342-B048-85BDC9FD1C3A}</a:tableStyleId>
              </a:tblPr>
              <a:tblGrid>
                <a:gridCol w="955205">
                  <a:extLst>
                    <a:ext uri="{9D8B030D-6E8A-4147-A177-3AD203B41FA5}">
                      <a16:colId xmlns:a16="http://schemas.microsoft.com/office/drawing/2014/main" val="20000"/>
                    </a:ext>
                  </a:extLst>
                </a:gridCol>
                <a:gridCol w="1379636">
                  <a:extLst>
                    <a:ext uri="{9D8B030D-6E8A-4147-A177-3AD203B41FA5}">
                      <a16:colId xmlns:a16="http://schemas.microsoft.com/office/drawing/2014/main" val="20001"/>
                    </a:ext>
                  </a:extLst>
                </a:gridCol>
                <a:gridCol w="3175956">
                  <a:extLst>
                    <a:ext uri="{9D8B030D-6E8A-4147-A177-3AD203B41FA5}">
                      <a16:colId xmlns:a16="http://schemas.microsoft.com/office/drawing/2014/main" val="20002"/>
                    </a:ext>
                  </a:extLst>
                </a:gridCol>
                <a:gridCol w="1697702">
                  <a:extLst>
                    <a:ext uri="{9D8B030D-6E8A-4147-A177-3AD203B41FA5}">
                      <a16:colId xmlns:a16="http://schemas.microsoft.com/office/drawing/2014/main" val="20003"/>
                    </a:ext>
                  </a:extLst>
                </a:gridCol>
                <a:gridCol w="2026763">
                  <a:extLst>
                    <a:ext uri="{9D8B030D-6E8A-4147-A177-3AD203B41FA5}">
                      <a16:colId xmlns:a16="http://schemas.microsoft.com/office/drawing/2014/main" val="20004"/>
                    </a:ext>
                  </a:extLst>
                </a:gridCol>
              </a:tblGrid>
              <a:tr h="177278">
                <a:tc rowSpan="2">
                  <a:txBody>
                    <a:bodyPr/>
                    <a:lstStyle/>
                    <a:p>
                      <a:pPr algn="ctr"/>
                      <a:r>
                        <a:rPr sz="900" b="1" dirty="0" err="1">
                          <a:solidFill>
                            <a:srgbClr val="000000"/>
                          </a:solidFill>
                          <a:latin typeface="Meiryo UI"/>
                          <a:ea typeface="Meiryo UI"/>
                        </a:rPr>
                        <a:t>項目</a:t>
                      </a:r>
                      <a:endParaRPr sz="900" b="1"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chemeClr val="accent1">
                        <a:lumMod val="20000"/>
                        <a:lumOff val="80000"/>
                      </a:schemeClr>
                    </a:solidFill>
                  </a:tcPr>
                </a:tc>
                <a:tc gridSpan="2">
                  <a:txBody>
                    <a:bodyPr/>
                    <a:lstStyle/>
                    <a:p>
                      <a:pPr algn="ctr"/>
                      <a:r>
                        <a:rPr lang="ja-JP" altLang="en-US" sz="900" b="1" dirty="0">
                          <a:solidFill>
                            <a:srgbClr val="000000"/>
                          </a:solidFill>
                          <a:latin typeface="Meiryo UI"/>
                          <a:ea typeface="Meiryo UI"/>
                        </a:rPr>
                        <a:t>項目の出力仕様</a:t>
                      </a:r>
                      <a:r>
                        <a:rPr sz="900" b="1" dirty="0">
                          <a:solidFill>
                            <a:srgbClr val="000000"/>
                          </a:solidFill>
                          <a:latin typeface="Meiryo UI"/>
                          <a:ea typeface="Meiryo UI"/>
                        </a:rPr>
                        <a:t>（</a:t>
                      </a:r>
                      <a:r>
                        <a:rPr sz="900" b="1" dirty="0" err="1">
                          <a:solidFill>
                            <a:srgbClr val="000000"/>
                          </a:solidFill>
                          <a:latin typeface="Meiryo UI"/>
                          <a:ea typeface="Meiryo UI"/>
                        </a:rPr>
                        <a:t>FHIRパス</a:t>
                      </a:r>
                      <a:r>
                        <a:rPr sz="900" b="1" dirty="0">
                          <a:solidFill>
                            <a:srgbClr val="000000"/>
                          </a:solidFill>
                          <a:latin typeface="Meiryo UI"/>
                          <a:ea typeface="Meiryo UI"/>
                        </a:rPr>
                        <a: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dirty="0"/>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round/>
                      <a:headEnd type="none" w="med" len="med"/>
                      <a:tailEnd type="none" w="med" len="med"/>
                    </a:lnB>
                    <a:solidFill>
                      <a:schemeClr val="accent1">
                        <a:lumMod val="20000"/>
                        <a:lumOff val="80000"/>
                      </a:schemeClr>
                    </a:solidFill>
                  </a:tcPr>
                </a:tc>
                <a:tc rowSpan="2">
                  <a:txBody>
                    <a:bodyPr/>
                    <a:lstStyle/>
                    <a:p>
                      <a:pPr algn="ctr"/>
                      <a:r>
                        <a:rPr sz="900" b="1" dirty="0" err="1">
                          <a:solidFill>
                            <a:srgbClr val="000000"/>
                          </a:solidFill>
                          <a:latin typeface="Meiryo UI"/>
                          <a:ea typeface="Meiryo UI"/>
                        </a:rPr>
                        <a:t>表示</a:t>
                      </a:r>
                      <a:r>
                        <a:rPr lang="ja-JP" altLang="en-US" sz="900" b="1" dirty="0">
                          <a:solidFill>
                            <a:srgbClr val="000000"/>
                          </a:solidFill>
                          <a:latin typeface="Meiryo UI"/>
                          <a:ea typeface="Meiryo UI"/>
                        </a:rPr>
                        <a:t>における</a:t>
                      </a:r>
                      <a:r>
                        <a:rPr sz="900" b="1" dirty="0" err="1">
                          <a:solidFill>
                            <a:srgbClr val="000000"/>
                          </a:solidFill>
                          <a:latin typeface="Meiryo UI"/>
                          <a:ea typeface="Meiryo UI"/>
                        </a:rPr>
                        <a:t>差分</a:t>
                      </a:r>
                      <a:r>
                        <a:rPr lang="ja-JP" altLang="en-US" sz="900" b="1" dirty="0">
                          <a:solidFill>
                            <a:srgbClr val="000000"/>
                          </a:solidFill>
                          <a:latin typeface="Meiryo UI"/>
                          <a:ea typeface="Meiryo UI"/>
                        </a:rPr>
                        <a:t>有無</a:t>
                      </a:r>
                      <a:endParaRPr sz="900" b="1"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chemeClr val="accent1">
                        <a:lumMod val="20000"/>
                        <a:lumOff val="80000"/>
                      </a:schemeClr>
                    </a:solidFill>
                  </a:tcPr>
                </a:tc>
                <a:tc rowSpan="2">
                  <a:txBody>
                    <a:bodyPr/>
                    <a:lstStyle/>
                    <a:p>
                      <a:pPr algn="ctr"/>
                      <a:r>
                        <a:rPr lang="ja-JP" altLang="en-US" sz="900" b="1" dirty="0">
                          <a:solidFill>
                            <a:srgbClr val="000000"/>
                          </a:solidFill>
                          <a:latin typeface="Meiryo UI"/>
                          <a:ea typeface="Meiryo UI"/>
                        </a:rPr>
                        <a:t>当該項目に係る</a:t>
                      </a:r>
                      <a:endParaRPr lang="en-US" altLang="ja-JP" sz="900" b="1" dirty="0">
                        <a:solidFill>
                          <a:srgbClr val="000000"/>
                        </a:solidFill>
                        <a:latin typeface="Meiryo UI"/>
                        <a:ea typeface="Meiryo UI"/>
                      </a:endParaRPr>
                    </a:p>
                    <a:p>
                      <a:pPr algn="ctr"/>
                      <a:r>
                        <a:rPr lang="ja-JP" altLang="en-US" sz="900" b="1" dirty="0">
                          <a:solidFill>
                            <a:srgbClr val="000000"/>
                          </a:solidFill>
                          <a:latin typeface="Meiryo UI"/>
                          <a:ea typeface="Meiryo UI"/>
                        </a:rPr>
                        <a:t>今後の改修予定</a:t>
                      </a:r>
                      <a:endParaRPr sz="900" b="1"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chemeClr val="accent1">
                        <a:lumMod val="20000"/>
                        <a:lumOff val="80000"/>
                      </a:schemeClr>
                    </a:solidFill>
                  </a:tcPr>
                </a:tc>
                <a:extLst>
                  <a:ext uri="{0D108BD9-81ED-4DB2-BD59-A6C34878D82A}">
                    <a16:rowId xmlns:a16="http://schemas.microsoft.com/office/drawing/2014/main" val="10000"/>
                  </a:ext>
                </a:extLst>
              </a:tr>
              <a:tr h="177278">
                <a:tc vMerge="1">
                  <a:txBody>
                    <a:bodyPr/>
                    <a:lstStyle/>
                    <a:p>
                      <a:endParaRPr kumimoji="1" lang="ja-JP" altLang="en-US"/>
                    </a:p>
                  </a:txBody>
                  <a:tcPr/>
                </a:tc>
                <a:tc>
                  <a:txBody>
                    <a:bodyPr/>
                    <a:lstStyle/>
                    <a:p>
                      <a:pPr algn="ctr"/>
                      <a:r>
                        <a:rPr lang="ja-JP" altLang="en-US" sz="900" b="0" dirty="0">
                          <a:solidFill>
                            <a:srgbClr val="000000"/>
                          </a:solidFill>
                          <a:latin typeface="Meiryo UI"/>
                          <a:ea typeface="Meiryo UI"/>
                        </a:rPr>
                        <a:t>臨床情報詳細画面</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lnB>
                    <a:solidFill>
                      <a:schemeClr val="accent1">
                        <a:lumMod val="20000"/>
                        <a:lumOff val="80000"/>
                      </a:schemeClr>
                    </a:solidFill>
                  </a:tcPr>
                </a:tc>
                <a:tc>
                  <a:txBody>
                    <a:bodyPr/>
                    <a:lstStyle/>
                    <a:p>
                      <a:pPr algn="ctr"/>
                      <a:r>
                        <a:rPr lang="en-US" altLang="ja-JP" sz="900" b="0" dirty="0">
                          <a:solidFill>
                            <a:srgbClr val="000000"/>
                          </a:solidFill>
                          <a:latin typeface="Meiryo UI"/>
                          <a:ea typeface="Meiryo UI"/>
                        </a:rPr>
                        <a:t>PDF</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lnB>
                    <a:solidFill>
                      <a:schemeClr val="accent1">
                        <a:lumMod val="20000"/>
                        <a:lumOff val="80000"/>
                      </a:schemeClr>
                    </a:solidFill>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498220161"/>
                  </a:ext>
                </a:extLst>
              </a:tr>
              <a:tr h="465011">
                <a:tc>
                  <a:txBody>
                    <a:bodyPr/>
                    <a:lstStyle/>
                    <a:p>
                      <a:r>
                        <a:rPr sz="900" b="0" dirty="0" err="1">
                          <a:solidFill>
                            <a:srgbClr val="000000"/>
                          </a:solidFill>
                          <a:latin typeface="Meiryo UI"/>
                          <a:ea typeface="Meiryo UI"/>
                        </a:rPr>
                        <a:t>検査項目</a:t>
                      </a:r>
                      <a:endParaRPr sz="900" b="0" dirty="0">
                        <a:solidFill>
                          <a:srgbClr val="000000"/>
                        </a:solidFill>
                        <a:latin typeface="Meiryo UI"/>
                        <a:ea typeface="Meiryo UI"/>
                      </a:endParaRPr>
                    </a:p>
                    <a:p>
                      <a:r>
                        <a:rPr sz="900" b="0" dirty="0">
                          <a:solidFill>
                            <a:srgbClr val="000000"/>
                          </a:solidFill>
                          <a:latin typeface="Meiryo UI"/>
                          <a:ea typeface="Meiryo UI"/>
                        </a:rPr>
                        <a:t>（</a:t>
                      </a:r>
                      <a:r>
                        <a:rPr sz="900" b="0" dirty="0" err="1">
                          <a:solidFill>
                            <a:srgbClr val="000000"/>
                          </a:solidFill>
                          <a:latin typeface="Meiryo UI"/>
                          <a:ea typeface="Meiryo UI"/>
                        </a:rPr>
                        <a:t>感染症・検査</a:t>
                      </a:r>
                      <a:r>
                        <a:rPr sz="900" b="0" dirty="0">
                          <a:solidFill>
                            <a:srgbClr val="000000"/>
                          </a:solidFill>
                          <a:latin typeface="Meiryo UI"/>
                          <a:ea typeface="Meiryo UI"/>
                        </a:rPr>
                        <a: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b="0" dirty="0">
                          <a:solidFill>
                            <a:srgbClr val="000000"/>
                          </a:solidFill>
                          <a:latin typeface="Meiryo UI"/>
                          <a:ea typeface="Meiryo UI"/>
                        </a:rPr>
                        <a:t>「</a:t>
                      </a:r>
                      <a:r>
                        <a:rPr sz="900" b="0" dirty="0" err="1">
                          <a:solidFill>
                            <a:srgbClr val="000000"/>
                          </a:solidFill>
                          <a:latin typeface="Meiryo UI"/>
                          <a:ea typeface="Meiryo UI"/>
                        </a:rPr>
                        <a:t>code.text</a:t>
                      </a:r>
                      <a:r>
                        <a:rPr lang="en-US" altLang="ja-JP" sz="900" b="0" baseline="30000" dirty="0">
                          <a:solidFill>
                            <a:srgbClr val="000000"/>
                          </a:solidFill>
                          <a:latin typeface="Meiryo UI"/>
                          <a:ea typeface="Meiryo UI"/>
                        </a:rPr>
                        <a:t>※</a:t>
                      </a:r>
                      <a:r>
                        <a:rPr lang="ja-JP" altLang="en-US" sz="900" b="0" dirty="0">
                          <a:solidFill>
                            <a:srgbClr val="000000"/>
                          </a:solidFill>
                          <a:latin typeface="Meiryo UI"/>
                          <a:ea typeface="Meiryo UI"/>
                        </a:rPr>
                        <a:t>」より出力</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t>〇</a:t>
                      </a:r>
                      <a:r>
                        <a:rPr lang="ja-JP" altLang="ja-JP" sz="900" dirty="0"/>
                        <a:t>JLAC10コードが</a:t>
                      </a:r>
                      <a:r>
                        <a:rPr lang="ja-JP" altLang="en-US" sz="900" dirty="0"/>
                        <a:t>登録されている場合</a:t>
                      </a:r>
                      <a:r>
                        <a:rPr lang="ja-JP" altLang="ja-JP" sz="900" dirty="0"/>
                        <a:t>：「code.coding」</a:t>
                      </a:r>
                      <a:r>
                        <a:rPr lang="ja-JP" altLang="en-US" sz="900" dirty="0"/>
                        <a:t>のディスプレイ値</a:t>
                      </a:r>
                      <a:r>
                        <a:rPr lang="ja-JP" altLang="ja-JP" sz="900" dirty="0"/>
                        <a:t>より出力</a:t>
                      </a:r>
                      <a:br>
                        <a:rPr lang="ja-JP" altLang="ja-JP" sz="900" dirty="0"/>
                      </a:br>
                      <a:r>
                        <a:rPr lang="ja-JP" altLang="en-US" sz="900" dirty="0"/>
                        <a:t>〇上記以外</a:t>
                      </a:r>
                      <a:r>
                        <a:rPr lang="ja-JP" altLang="ja-JP" sz="900" dirty="0"/>
                        <a:t>の場合：「code.text※」より出力</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1" dirty="0" err="1">
                          <a:solidFill>
                            <a:srgbClr val="C00000"/>
                          </a:solidFill>
                          <a:latin typeface="Meiryo UI"/>
                          <a:ea typeface="Meiryo UI"/>
                        </a:rPr>
                        <a:t>生じ</a:t>
                      </a:r>
                      <a:r>
                        <a:rPr lang="ja-JP" altLang="en-US" sz="900" b="1" dirty="0">
                          <a:solidFill>
                            <a:srgbClr val="C00000"/>
                          </a:solidFill>
                          <a:latin typeface="Meiryo UI"/>
                          <a:ea typeface="Meiryo UI"/>
                        </a:rPr>
                        <a:t>う</a:t>
                      </a:r>
                      <a:r>
                        <a:rPr sz="900" b="1" dirty="0">
                          <a:solidFill>
                            <a:srgbClr val="C00000"/>
                          </a:solidFill>
                          <a:latin typeface="Meiryo UI"/>
                          <a:ea typeface="Meiryo UI"/>
                        </a:rPr>
                        <a:t>る</a:t>
                      </a:r>
                      <a:endParaRPr lang="en-US" sz="900" b="1" dirty="0">
                        <a:solidFill>
                          <a:srgbClr val="C00000"/>
                        </a:solidFill>
                        <a:latin typeface="Meiryo UI"/>
                        <a:ea typeface="Meiryo UI"/>
                      </a:endParaRPr>
                    </a:p>
                    <a:p>
                      <a:r>
                        <a:rPr lang="en-US" altLang="ja-JP" sz="900" b="0" dirty="0">
                          <a:solidFill>
                            <a:schemeClr val="tx1"/>
                          </a:solidFill>
                          <a:latin typeface="Meiryo UI"/>
                          <a:ea typeface="Meiryo UI"/>
                        </a:rPr>
                        <a:t>※JLAC10</a:t>
                      </a:r>
                      <a:r>
                        <a:rPr lang="ja-JP" altLang="en-US" sz="900" b="0" dirty="0">
                          <a:solidFill>
                            <a:schemeClr val="tx1"/>
                          </a:solidFill>
                          <a:latin typeface="Meiryo UI"/>
                          <a:ea typeface="Meiryo UI"/>
                        </a:rPr>
                        <a:t>コードのディスプレイ値と</a:t>
                      </a:r>
                      <a:r>
                        <a:rPr lang="en-US" altLang="ja-JP" sz="900" b="0" dirty="0" err="1">
                          <a:solidFill>
                            <a:schemeClr val="tx1"/>
                          </a:solidFill>
                          <a:latin typeface="Meiryo UI"/>
                          <a:ea typeface="Meiryo UI"/>
                        </a:rPr>
                        <a:t>code.text</a:t>
                      </a:r>
                      <a:r>
                        <a:rPr lang="ja-JP" altLang="en-US" sz="900" b="0" dirty="0">
                          <a:solidFill>
                            <a:schemeClr val="tx1"/>
                          </a:solidFill>
                          <a:latin typeface="Meiryo UI"/>
                          <a:ea typeface="Meiryo UI"/>
                        </a:rPr>
                        <a:t>の入力値が異なる場合に差分が生じる</a:t>
                      </a:r>
                      <a:endParaRPr lang="en-US" sz="900" b="0" dirty="0">
                        <a:solidFill>
                          <a:schemeClr val="tx1"/>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en-US" altLang="ja-JP" sz="900" b="0" dirty="0">
                          <a:solidFill>
                            <a:srgbClr val="000000"/>
                          </a:solidFill>
                          <a:latin typeface="Meiryo UI"/>
                          <a:ea typeface="Meiryo UI"/>
                        </a:rPr>
                        <a:t>3</a:t>
                      </a:r>
                      <a:r>
                        <a:rPr lang="ja-JP" altLang="en-US" sz="900" b="0" dirty="0">
                          <a:solidFill>
                            <a:srgbClr val="000000"/>
                          </a:solidFill>
                          <a:latin typeface="Meiryo UI"/>
                          <a:ea typeface="Meiryo UI"/>
                        </a:rPr>
                        <a:t>月リリースの案件</a:t>
                      </a:r>
                      <a:r>
                        <a:rPr lang="en-US" altLang="ja-JP" sz="900" b="0" dirty="0">
                          <a:solidFill>
                            <a:srgbClr val="000000"/>
                          </a:solidFill>
                          <a:latin typeface="Meiryo UI"/>
                          <a:ea typeface="Meiryo UI"/>
                        </a:rPr>
                        <a:t>ID221</a:t>
                      </a:r>
                      <a:r>
                        <a:rPr lang="ja-JP" altLang="en-US" sz="900" b="0" dirty="0">
                          <a:solidFill>
                            <a:srgbClr val="000000"/>
                          </a:solidFill>
                          <a:latin typeface="Meiryo UI"/>
                          <a:ea typeface="Meiryo UI"/>
                        </a:rPr>
                        <a:t>にて、臨床情報詳細画面・</a:t>
                      </a:r>
                      <a:r>
                        <a:rPr lang="en-US" altLang="ja-JP" sz="900" b="0" dirty="0">
                          <a:solidFill>
                            <a:srgbClr val="000000"/>
                          </a:solidFill>
                          <a:latin typeface="Meiryo UI"/>
                          <a:ea typeface="Meiryo UI"/>
                        </a:rPr>
                        <a:t>PDF</a:t>
                      </a:r>
                      <a:r>
                        <a:rPr lang="ja-JP" altLang="en-US" sz="900" b="0" dirty="0">
                          <a:solidFill>
                            <a:srgbClr val="000000"/>
                          </a:solidFill>
                          <a:latin typeface="Meiryo UI"/>
                          <a:ea typeface="Meiryo UI"/>
                        </a:rPr>
                        <a:t>ともに</a:t>
                      </a:r>
                      <a:r>
                        <a:rPr sz="900" b="0" dirty="0">
                          <a:solidFill>
                            <a:srgbClr val="000000"/>
                          </a:solidFill>
                          <a:latin typeface="Meiryo UI"/>
                          <a:ea typeface="Meiryo UI"/>
                        </a:rPr>
                        <a:t>JLAC11</a:t>
                      </a:r>
                      <a:r>
                        <a:rPr lang="ja-JP" altLang="en-US" sz="900" b="0" dirty="0">
                          <a:solidFill>
                            <a:srgbClr val="000000"/>
                          </a:solidFill>
                          <a:latin typeface="Meiryo UI"/>
                          <a:ea typeface="Meiryo UI"/>
                        </a:rPr>
                        <a:t>・</a:t>
                      </a:r>
                      <a:r>
                        <a:rPr lang="en-US" altLang="ja-JP" sz="900" b="0" dirty="0">
                          <a:solidFill>
                            <a:srgbClr val="000000"/>
                          </a:solidFill>
                          <a:latin typeface="Meiryo UI"/>
                          <a:ea typeface="Meiryo UI"/>
                        </a:rPr>
                        <a:t>JLAC10</a:t>
                      </a:r>
                      <a:r>
                        <a:rPr sz="900" b="0" dirty="0">
                          <a:solidFill>
                            <a:srgbClr val="000000"/>
                          </a:solidFill>
                          <a:latin typeface="Meiryo UI"/>
                          <a:ea typeface="Meiryo UI"/>
                        </a:rPr>
                        <a:t>併記時はJLAC11</a:t>
                      </a:r>
                      <a:r>
                        <a:rPr lang="ja-JP" altLang="en-US" sz="900" b="0" dirty="0">
                          <a:solidFill>
                            <a:srgbClr val="000000"/>
                          </a:solidFill>
                          <a:latin typeface="Meiryo UI"/>
                          <a:ea typeface="Meiryo UI"/>
                        </a:rPr>
                        <a:t>を</a:t>
                      </a:r>
                      <a:r>
                        <a:rPr sz="900" b="0" dirty="0" err="1">
                          <a:solidFill>
                            <a:srgbClr val="000000"/>
                          </a:solidFill>
                          <a:latin typeface="Meiryo UI"/>
                          <a:ea typeface="Meiryo UI"/>
                        </a:rPr>
                        <a:t>優先</a:t>
                      </a:r>
                      <a:r>
                        <a:rPr lang="ja-JP" altLang="en-US" sz="900" b="0" dirty="0">
                          <a:solidFill>
                            <a:srgbClr val="000000"/>
                          </a:solidFill>
                          <a:latin typeface="Meiryo UI"/>
                          <a:ea typeface="Meiryo UI"/>
                        </a:rPr>
                        <a:t>出力する仕様に改修予定</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1"/>
                  </a:ext>
                </a:extLst>
              </a:tr>
              <a:tr h="354556">
                <a:tc>
                  <a:txBody>
                    <a:bodyPr/>
                    <a:lstStyle/>
                    <a:p>
                      <a:r>
                        <a:rPr sz="900" b="0" dirty="0" err="1">
                          <a:solidFill>
                            <a:srgbClr val="000000"/>
                          </a:solidFill>
                          <a:latin typeface="Meiryo UI"/>
                          <a:ea typeface="Meiryo UI"/>
                        </a:rPr>
                        <a:t>薬剤名</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marL="0" marR="0" lvl="0" indent="0" algn="l" defTabSz="685673"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a:t>
                      </a:r>
                      <a:r>
                        <a:rPr kumimoji="1" lang="en-US" altLang="ja-JP" sz="900" b="0" i="0" u="none" strike="noStrike" kern="1200" cap="none" spc="0" normalizeH="0" baseline="0" noProof="0">
                          <a:ln>
                            <a:noFill/>
                          </a:ln>
                          <a:solidFill>
                            <a:srgbClr val="000000"/>
                          </a:solidFill>
                          <a:effectLst/>
                          <a:uLnTx/>
                          <a:uFillTx/>
                          <a:latin typeface="Meiryo UI"/>
                          <a:ea typeface="Meiryo UI"/>
                          <a:cs typeface="+mn-cs"/>
                        </a:rPr>
                        <a:t>code.text</a:t>
                      </a:r>
                      <a:r>
                        <a:rPr kumimoji="1" lang="en-US" altLang="ja-JP" sz="900" b="0" i="0" u="none" strike="noStrike" kern="1200" cap="none" spc="0" normalizeH="0" baseline="30000" noProof="0">
                          <a:ln>
                            <a:noFill/>
                          </a:ln>
                          <a:solidFill>
                            <a:srgbClr val="000000"/>
                          </a:solidFill>
                          <a:effectLst/>
                          <a:uLnTx/>
                          <a:uFillTx/>
                          <a:latin typeface="Meiryo UI"/>
                          <a:ea typeface="Meiryo UI"/>
                          <a:cs typeface="+mn-cs"/>
                        </a:rPr>
                        <a:t>※</a:t>
                      </a:r>
                      <a:r>
                        <a:rPr kumimoji="1" lang="ja-JP" altLang="en-US" sz="900" b="0" i="0" u="none" strike="noStrike" kern="1200" cap="none" spc="0" normalizeH="0" baseline="0" noProof="0">
                          <a:ln>
                            <a:noFill/>
                          </a:ln>
                          <a:solidFill>
                            <a:srgbClr val="000000"/>
                          </a:solidFill>
                          <a:effectLst/>
                          <a:uLnTx/>
                          <a:uFillTx/>
                          <a:latin typeface="Meiryo UI"/>
                          <a:ea typeface="Meiryo UI"/>
                          <a:cs typeface="+mn-cs"/>
                        </a:rPr>
                        <a:t>」より出力</a:t>
                      </a:r>
                      <a:endParaRPr kumimoji="1" lang="ja-JP" altLang="en-US" sz="900" b="0" i="0" u="none" strike="noStrike" kern="1200" cap="none" spc="0" normalizeH="0" baseline="0" noProof="0" dirty="0">
                        <a:ln>
                          <a:noFill/>
                        </a:ln>
                        <a:solidFill>
                          <a:srgbClr val="000000"/>
                        </a:solidFill>
                        <a:effectLst/>
                        <a:uLnTx/>
                        <a:uFillTx/>
                        <a:latin typeface="Meiryo UI"/>
                        <a:ea typeface="Meiryo UI"/>
                        <a:cs typeface="+mn-cs"/>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t>〇</a:t>
                      </a:r>
                      <a:r>
                        <a:rPr lang="ja-JP" altLang="ja-JP" sz="900" dirty="0"/>
                        <a:t>JFAGY医薬品コード</a:t>
                      </a:r>
                      <a:r>
                        <a:rPr lang="en-US" altLang="ja-JP" sz="900" dirty="0"/>
                        <a:t>(</a:t>
                      </a:r>
                      <a:r>
                        <a:rPr lang="ja-JP" altLang="ja-JP" sz="900" dirty="0"/>
                        <a:t>ダミーコード以外</a:t>
                      </a:r>
                      <a:r>
                        <a:rPr lang="en-US" altLang="ja-JP" sz="900" dirty="0"/>
                        <a:t>)</a:t>
                      </a:r>
                      <a:r>
                        <a:rPr lang="ja-JP" altLang="en-US" sz="900" dirty="0"/>
                        <a:t>が登録されている</a:t>
                      </a:r>
                      <a:r>
                        <a:rPr lang="ja-JP" altLang="ja-JP" sz="900" dirty="0"/>
                        <a:t>場合：「code.coding」</a:t>
                      </a:r>
                      <a:r>
                        <a:rPr lang="ja-JP" altLang="en-US" sz="900" dirty="0"/>
                        <a:t>のディスプレイ値</a:t>
                      </a:r>
                      <a:r>
                        <a:rPr lang="ja-JP" altLang="ja-JP" sz="900" dirty="0"/>
                        <a:t>より出力</a:t>
                      </a:r>
                      <a:br>
                        <a:rPr lang="ja-JP" altLang="ja-JP" sz="900" dirty="0"/>
                      </a:br>
                      <a:r>
                        <a:rPr lang="ja-JP" altLang="en-US" sz="900" dirty="0"/>
                        <a:t>〇ダミーコード</a:t>
                      </a:r>
                      <a:r>
                        <a:rPr lang="ja-JP" altLang="ja-JP" sz="900" dirty="0"/>
                        <a:t>の場合：「code.text※」より出力</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1" dirty="0" err="1">
                          <a:solidFill>
                            <a:srgbClr val="C00000"/>
                          </a:solidFill>
                          <a:latin typeface="Meiryo UI"/>
                          <a:ea typeface="Meiryo UI"/>
                        </a:rPr>
                        <a:t>生じうる</a:t>
                      </a:r>
                      <a:endParaRPr sz="900" b="1" dirty="0">
                        <a:solidFill>
                          <a:srgbClr val="C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dirty="0" err="1">
                          <a:solidFill>
                            <a:srgbClr val="000000"/>
                          </a:solidFill>
                          <a:latin typeface="Meiryo UI"/>
                          <a:ea typeface="Meiryo UI"/>
                        </a:rPr>
                        <a:t>なし</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2"/>
                  </a:ext>
                </a:extLst>
              </a:tr>
              <a:tr h="354556">
                <a:tc>
                  <a:txBody>
                    <a:bodyPr/>
                    <a:lstStyle/>
                    <a:p>
                      <a:r>
                        <a:rPr sz="900" b="0">
                          <a:solidFill>
                            <a:srgbClr val="000000"/>
                          </a:solidFill>
                          <a:latin typeface="Meiryo UI"/>
                          <a:ea typeface="Meiryo UI"/>
                        </a:rPr>
                        <a:t>アレルギー物質</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marL="0" marR="0" lvl="0" indent="0" algn="l" defTabSz="685673"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r>
                        <a:rPr kumimoji="1" lang="en-US" altLang="ja-JP" sz="900" b="0" i="0" u="none" strike="noStrike" kern="1200" cap="none" spc="0" normalizeH="0" baseline="0" noProof="0" dirty="0" err="1">
                          <a:ln>
                            <a:noFill/>
                          </a:ln>
                          <a:solidFill>
                            <a:srgbClr val="000000"/>
                          </a:solidFill>
                          <a:effectLst/>
                          <a:uLnTx/>
                          <a:uFillTx/>
                          <a:latin typeface="Meiryo UI"/>
                          <a:ea typeface="Meiryo UI"/>
                          <a:cs typeface="+mn-cs"/>
                        </a:rPr>
                        <a:t>code.text</a:t>
                      </a:r>
                      <a:r>
                        <a:rPr kumimoji="1" lang="en-US" altLang="ja-JP" sz="900" b="0" i="0" u="none" strike="noStrike" kern="1200" cap="none" spc="0" normalizeH="0" baseline="30000" noProof="0" dirty="0">
                          <a:ln>
                            <a:noFill/>
                          </a:ln>
                          <a:solidFill>
                            <a:srgbClr val="000000"/>
                          </a:solidFill>
                          <a:effectLst/>
                          <a:uLnTx/>
                          <a:uFillTx/>
                          <a:latin typeface="Meiryo UI"/>
                          <a:ea typeface="Meiryo UI"/>
                          <a:cs typeface="+mn-cs"/>
                        </a:rPr>
                        <a:t>※</a:t>
                      </a: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」より出力</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t>〇</a:t>
                      </a:r>
                      <a:r>
                        <a:rPr lang="ja-JP" altLang="ja-JP" sz="900" dirty="0"/>
                        <a:t>JFAGY食品・非食品</a:t>
                      </a:r>
                      <a:r>
                        <a:rPr lang="ja-JP" altLang="en-US" sz="900" dirty="0"/>
                        <a:t>・</a:t>
                      </a:r>
                      <a:r>
                        <a:rPr lang="ja-JP" altLang="ja-JP" sz="900" dirty="0"/>
                        <a:t>非医薬品コード</a:t>
                      </a:r>
                      <a:r>
                        <a:rPr lang="en-US" altLang="ja-JP" sz="900" dirty="0"/>
                        <a:t>(</a:t>
                      </a:r>
                      <a:r>
                        <a:rPr lang="ja-JP" altLang="en-US" sz="900" dirty="0"/>
                        <a:t>ダミーコード以外</a:t>
                      </a:r>
                      <a:r>
                        <a:rPr lang="en-US" altLang="ja-JP" sz="900" dirty="0"/>
                        <a:t>)</a:t>
                      </a:r>
                      <a:r>
                        <a:rPr lang="ja-JP" altLang="en-US" sz="900" dirty="0"/>
                        <a:t>が登録されている場合：「</a:t>
                      </a:r>
                      <a:r>
                        <a:rPr lang="en-US" altLang="ja-JP" sz="900" dirty="0" err="1"/>
                        <a:t>code.coding</a:t>
                      </a:r>
                      <a:r>
                        <a:rPr lang="ja-JP" altLang="en-US" sz="900" dirty="0"/>
                        <a:t>」のディスプレイ値より出力</a:t>
                      </a:r>
                      <a:br>
                        <a:rPr lang="ja-JP" altLang="en-US" sz="900" dirty="0"/>
                      </a:br>
                      <a:r>
                        <a:rPr lang="ja-JP" altLang="en-US" sz="900" dirty="0"/>
                        <a:t>〇ダミーコードの場合：「</a:t>
                      </a:r>
                      <a:r>
                        <a:rPr lang="en-US" altLang="ja-JP" sz="900" dirty="0" err="1"/>
                        <a:t>code.text</a:t>
                      </a:r>
                      <a:r>
                        <a:rPr lang="en-US" altLang="ja-JP" sz="900" dirty="0"/>
                        <a:t>※</a:t>
                      </a:r>
                      <a:r>
                        <a:rPr lang="ja-JP" altLang="en-US" sz="900" dirty="0"/>
                        <a:t>」より出力</a:t>
                      </a:r>
                      <a:endParaRPr lang="ja-JP" altLang="en-US" sz="900" b="0" dirty="0">
                        <a:solidFill>
                          <a:srgbClr val="000000"/>
                        </a:solidFill>
                        <a:latin typeface="Meiryo UI"/>
                        <a:ea typeface="+mn-ea"/>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1" dirty="0" err="1">
                          <a:solidFill>
                            <a:srgbClr val="C00000"/>
                          </a:solidFill>
                          <a:latin typeface="Meiryo UI"/>
                          <a:ea typeface="Meiryo UI"/>
                        </a:rPr>
                        <a:t>生じうる</a:t>
                      </a:r>
                      <a:endParaRPr sz="900" b="1" dirty="0">
                        <a:solidFill>
                          <a:srgbClr val="C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dirty="0" err="1">
                          <a:solidFill>
                            <a:srgbClr val="000000"/>
                          </a:solidFill>
                          <a:latin typeface="Meiryo UI"/>
                          <a:ea typeface="Meiryo UI"/>
                        </a:rPr>
                        <a:t>なし</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3"/>
                  </a:ext>
                </a:extLst>
              </a:tr>
              <a:tr h="354556">
                <a:tc>
                  <a:txBody>
                    <a:bodyPr/>
                    <a:lstStyle/>
                    <a:p>
                      <a:r>
                        <a:rPr sz="900" b="0">
                          <a:solidFill>
                            <a:srgbClr val="000000"/>
                          </a:solidFill>
                          <a:latin typeface="Meiryo UI"/>
                          <a:ea typeface="Meiryo UI"/>
                        </a:rPr>
                        <a:t>（参考）傷病名</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marL="0" marR="0" lvl="0" indent="0" algn="l" defTabSz="685673"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a:t>
                      </a:r>
                      <a:r>
                        <a:rPr kumimoji="1" lang="en-US" altLang="ja-JP" sz="900" b="0" i="0" u="none" strike="noStrike" kern="1200" cap="none" spc="0" normalizeH="0" baseline="0" noProof="0" dirty="0" err="1">
                          <a:ln>
                            <a:noFill/>
                          </a:ln>
                          <a:solidFill>
                            <a:srgbClr val="000000"/>
                          </a:solidFill>
                          <a:effectLst/>
                          <a:uLnTx/>
                          <a:uFillTx/>
                          <a:latin typeface="Meiryo UI"/>
                          <a:ea typeface="Meiryo UI"/>
                          <a:cs typeface="+mn-cs"/>
                        </a:rPr>
                        <a:t>code.text</a:t>
                      </a:r>
                      <a:r>
                        <a:rPr kumimoji="1" lang="en-US" altLang="ja-JP" sz="900" b="0" i="0" u="none" strike="noStrike" kern="1200" cap="none" spc="0" normalizeH="0" baseline="30000" noProof="0" dirty="0">
                          <a:ln>
                            <a:noFill/>
                          </a:ln>
                          <a:solidFill>
                            <a:srgbClr val="000000"/>
                          </a:solidFill>
                          <a:effectLst/>
                          <a:uLnTx/>
                          <a:uFillTx/>
                          <a:latin typeface="Meiryo UI"/>
                          <a:ea typeface="Meiryo UI"/>
                          <a:cs typeface="+mn-cs"/>
                        </a:rPr>
                        <a:t>※</a:t>
                      </a:r>
                      <a:r>
                        <a:rPr kumimoji="1" lang="ja-JP" altLang="en-US" sz="900" b="0" i="0" u="none" strike="noStrike" kern="1200" cap="none" spc="0" normalizeH="0" baseline="0" noProof="0" dirty="0">
                          <a:ln>
                            <a:noFill/>
                          </a:ln>
                          <a:solidFill>
                            <a:srgbClr val="000000"/>
                          </a:solidFill>
                          <a:effectLst/>
                          <a:uLnTx/>
                          <a:uFillTx/>
                          <a:latin typeface="Meiryo UI"/>
                          <a:ea typeface="Meiryo UI"/>
                          <a:cs typeface="+mn-cs"/>
                        </a:rPr>
                        <a:t>」より出力</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lang="ja-JP" altLang="en-US" sz="900" dirty="0"/>
                        <a:t>〇</a:t>
                      </a:r>
                      <a:r>
                        <a:rPr lang="ja-JP" altLang="ja-JP" sz="900" dirty="0"/>
                        <a:t>MEDIS病名管理番号</a:t>
                      </a:r>
                      <a:r>
                        <a:rPr lang="ja-JP" altLang="en-US" sz="900" dirty="0"/>
                        <a:t>が登録されている</a:t>
                      </a:r>
                      <a:r>
                        <a:rPr lang="ja-JP" altLang="ja-JP" sz="900" dirty="0"/>
                        <a:t>場合：「前置修飾語＋code.coding</a:t>
                      </a:r>
                      <a:r>
                        <a:rPr lang="ja-JP" altLang="en-US" sz="900" dirty="0"/>
                        <a:t>のディスプレイ値</a:t>
                      </a:r>
                      <a:r>
                        <a:rPr lang="ja-JP" altLang="ja-JP" sz="900" dirty="0"/>
                        <a:t>＋後置修飾語＋の疑い」を出力</a:t>
                      </a:r>
                      <a:br>
                        <a:rPr lang="ja-JP" altLang="ja-JP" sz="900" dirty="0"/>
                      </a:br>
                      <a:r>
                        <a:rPr lang="ja-JP" altLang="ja-JP" sz="900" dirty="0"/>
                        <a:t>ダミーコードの場合：「code.text※」より出力</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1" dirty="0" err="1">
                          <a:solidFill>
                            <a:srgbClr val="000000"/>
                          </a:solidFill>
                          <a:latin typeface="Meiryo UI"/>
                          <a:ea typeface="Meiryo UI"/>
                        </a:rPr>
                        <a:t>生じる</a:t>
                      </a:r>
                      <a:endParaRPr sz="900" b="1" dirty="0">
                        <a:solidFill>
                          <a:srgbClr val="000000"/>
                        </a:solidFill>
                        <a:latin typeface="Meiryo UI"/>
                        <a:ea typeface="Meiryo UI"/>
                      </a:endParaRPr>
                    </a:p>
                    <a:p>
                      <a:r>
                        <a:rPr lang="ja-JP" altLang="en-US" sz="900" b="0" dirty="0">
                          <a:solidFill>
                            <a:srgbClr val="000000"/>
                          </a:solidFill>
                          <a:latin typeface="Meiryo UI"/>
                          <a:ea typeface="Meiryo UI"/>
                        </a:rPr>
                        <a:t>臨床情報詳細画面は、</a:t>
                      </a:r>
                      <a:r>
                        <a:rPr sz="900" b="0" dirty="0" err="1">
                          <a:solidFill>
                            <a:srgbClr val="000000"/>
                          </a:solidFill>
                          <a:latin typeface="Meiryo UI"/>
                          <a:ea typeface="Meiryo UI"/>
                        </a:rPr>
                        <a:t>疑いフラグのみの場合「の疑い」が出ない</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r>
                        <a:rPr sz="900" b="0" dirty="0">
                          <a:solidFill>
                            <a:srgbClr val="000000"/>
                          </a:solidFill>
                          <a:latin typeface="Meiryo UI"/>
                          <a:ea typeface="Meiryo UI"/>
                        </a:rPr>
                        <a:t>12月</a:t>
                      </a:r>
                      <a:r>
                        <a:rPr lang="ja-JP" altLang="en-US" sz="900" b="0" dirty="0">
                          <a:solidFill>
                            <a:srgbClr val="000000"/>
                          </a:solidFill>
                          <a:latin typeface="Meiryo UI"/>
                          <a:ea typeface="Meiryo UI"/>
                        </a:rPr>
                        <a:t>リリースの</a:t>
                      </a:r>
                      <a:r>
                        <a:rPr sz="900" b="0" dirty="0">
                          <a:solidFill>
                            <a:srgbClr val="000000"/>
                          </a:solidFill>
                          <a:latin typeface="Meiryo UI"/>
                          <a:ea typeface="Meiryo UI"/>
                        </a:rPr>
                        <a:t>案件</a:t>
                      </a:r>
                      <a:r>
                        <a:rPr lang="en-US" altLang="ja-JP" sz="900" b="0" dirty="0">
                          <a:solidFill>
                            <a:srgbClr val="000000"/>
                          </a:solidFill>
                          <a:latin typeface="Meiryo UI"/>
                          <a:ea typeface="Meiryo UI"/>
                        </a:rPr>
                        <a:t>ID</a:t>
                      </a:r>
                      <a:r>
                        <a:rPr sz="900" b="0" dirty="0">
                          <a:solidFill>
                            <a:srgbClr val="000000"/>
                          </a:solidFill>
                          <a:latin typeface="Meiryo UI"/>
                          <a:ea typeface="Meiryo UI"/>
                        </a:rPr>
                        <a:t>2</a:t>
                      </a:r>
                      <a:r>
                        <a:rPr lang="en-US" sz="900" b="0" dirty="0">
                          <a:solidFill>
                            <a:srgbClr val="000000"/>
                          </a:solidFill>
                          <a:latin typeface="Meiryo UI"/>
                          <a:ea typeface="Meiryo UI"/>
                        </a:rPr>
                        <a:t>21</a:t>
                      </a:r>
                      <a:r>
                        <a:rPr lang="ja-JP" altLang="en-US" sz="900" b="0" dirty="0">
                          <a:solidFill>
                            <a:srgbClr val="000000"/>
                          </a:solidFill>
                          <a:latin typeface="Meiryo UI"/>
                          <a:ea typeface="Meiryo UI"/>
                        </a:rPr>
                        <a:t>にて、臨床情報詳細</a:t>
                      </a:r>
                      <a:r>
                        <a:rPr sz="900" b="0" dirty="0" err="1">
                          <a:solidFill>
                            <a:srgbClr val="000000"/>
                          </a:solidFill>
                          <a:latin typeface="Meiryo UI"/>
                          <a:ea typeface="Meiryo UI"/>
                        </a:rPr>
                        <a:t>画面をPDFと同様に出力</a:t>
                      </a:r>
                      <a:r>
                        <a:rPr lang="ja-JP" altLang="en-US" sz="900" b="0" dirty="0">
                          <a:solidFill>
                            <a:srgbClr val="000000"/>
                          </a:solidFill>
                          <a:latin typeface="Meiryo UI"/>
                          <a:ea typeface="Meiryo UI"/>
                        </a:rPr>
                        <a:t>するよう改修され、先の差分は解消される予定</a:t>
                      </a:r>
                      <a:endParaRPr sz="900" b="0" dirty="0">
                        <a:solidFill>
                          <a:srgbClr val="000000"/>
                        </a:solidFill>
                        <a:latin typeface="Meiryo UI"/>
                        <a:ea typeface="Meiryo UI"/>
                      </a:endParaRP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 name="ラベル ご相談事項">
            <a:extLst>
              <a:ext uri="{FF2B5EF4-FFF2-40B4-BE49-F238E27FC236}">
                <a16:creationId xmlns:a16="http://schemas.microsoft.com/office/drawing/2014/main" id="{DCA0314B-029C-6233-BD58-67770B0557AF}"/>
              </a:ext>
            </a:extLst>
          </p:cNvPr>
          <p:cNvSpPr/>
          <p:nvPr/>
        </p:nvSpPr>
        <p:spPr>
          <a:xfrm>
            <a:off x="493200" y="5595325"/>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ご相談事項</a:t>
            </a:r>
          </a:p>
        </p:txBody>
      </p:sp>
      <p:sp>
        <p:nvSpPr>
          <p:cNvPr id="104" name="本文">
            <a:extLst>
              <a:ext uri="{FF2B5EF4-FFF2-40B4-BE49-F238E27FC236}">
                <a16:creationId xmlns:a16="http://schemas.microsoft.com/office/drawing/2014/main" id="{871D180C-28CD-A8F9-9F00-A4ED0F140380}"/>
              </a:ext>
            </a:extLst>
          </p:cNvPr>
          <p:cNvSpPr>
            <a:spLocks noGrp="1"/>
          </p:cNvSpPr>
          <p:nvPr>
            <p:ph idx="1"/>
          </p:nvPr>
        </p:nvSpPr>
        <p:spPr>
          <a:xfrm>
            <a:off x="493200" y="5847325"/>
            <a:ext cx="8919900" cy="809015"/>
          </a:xfrm>
        </p:spPr>
        <p:txBody>
          <a:bodyPr/>
          <a:lstStyle/>
          <a:p>
            <a:pPr marL="285750" indent="-285750">
              <a:spcAft>
                <a:spcPts val="300"/>
              </a:spcAft>
              <a:buFont typeface="Arial" panose="020B0604020202020204" pitchFamily="34" charset="0"/>
              <a:buChar char="•"/>
            </a:pPr>
            <a:r>
              <a:rPr lang="ja-JP" altLang="en-US" sz="1100" dirty="0"/>
              <a:t>上記のとおり表示に差分が生じうる可能性があるため、</a:t>
            </a:r>
            <a:r>
              <a:rPr lang="ja-JP" altLang="en-US" sz="1100" b="1" dirty="0"/>
              <a:t>傷病名</a:t>
            </a:r>
            <a:r>
              <a:rPr lang="en-US" altLang="ja-JP" sz="1100" b="1" dirty="0"/>
              <a:t>(</a:t>
            </a:r>
            <a:r>
              <a:rPr lang="ja-JP" altLang="en-US" sz="1100" b="1" dirty="0"/>
              <a:t>案件213</a:t>
            </a:r>
            <a:r>
              <a:rPr lang="en-US" altLang="ja-JP" sz="1100" b="1" dirty="0"/>
              <a:t>)</a:t>
            </a:r>
            <a:r>
              <a:rPr lang="ja-JP" altLang="en-US" sz="1100" b="1" dirty="0"/>
              <a:t>と同様に、詳細画面の名称をPDFに揃える改修を機構に求める方向</a:t>
            </a:r>
            <a:r>
              <a:rPr lang="ja-JP" altLang="en-US" sz="1100" dirty="0"/>
              <a:t>でよろしいでしょうか。</a:t>
            </a:r>
          </a:p>
          <a:p>
            <a:pPr marL="285750" indent="-285750">
              <a:spcAft>
                <a:spcPts val="300"/>
              </a:spcAft>
              <a:buFont typeface="Arial" panose="020B0604020202020204" pitchFamily="34" charset="0"/>
              <a:buChar char="•"/>
            </a:pPr>
            <a:r>
              <a:rPr lang="ja-JP" altLang="en-US" sz="1100" dirty="0"/>
              <a:t>なお、薬剤名・アレルギー物質は、電子カルテ上の名称がJFAGYの名称と同じ場合は差分が出ませんが、</a:t>
            </a:r>
            <a:r>
              <a:rPr lang="ja-JP" altLang="en-US" sz="1100" b="1" dirty="0"/>
              <a:t>その場合でも念のため改修を求めますか。</a:t>
            </a:r>
          </a:p>
          <a:p>
            <a:pPr marL="285750" indent="-285750">
              <a:spcAft>
                <a:spcPts val="300"/>
              </a:spcAft>
              <a:buFont typeface="Arial" panose="020B0604020202020204" pitchFamily="34" charset="0"/>
              <a:buChar char="•"/>
            </a:pPr>
            <a:r>
              <a:rPr lang="ja-JP" altLang="en-US" sz="1100" dirty="0"/>
              <a:t>改修の可否・時期・費用を機構に照会し、費用対効果を見て判断する進め方でよろしいでしょうか。あわせて、改修までの間、差分があることを医療機関に周知するかについてご意向を伺いたい。</a:t>
            </a:r>
          </a:p>
        </p:txBody>
      </p:sp>
      <p:sp>
        <p:nvSpPr>
          <p:cNvPr id="4" name="正方形/長方形 3">
            <a:extLst>
              <a:ext uri="{FF2B5EF4-FFF2-40B4-BE49-F238E27FC236}">
                <a16:creationId xmlns:a16="http://schemas.microsoft.com/office/drawing/2014/main" id="{EB57FF30-3AFE-5942-AF35-1B61A2BA55FA}"/>
              </a:ext>
            </a:extLst>
          </p:cNvPr>
          <p:cNvSpPr/>
          <p:nvPr/>
        </p:nvSpPr>
        <p:spPr>
          <a:xfrm>
            <a:off x="493200" y="2635135"/>
            <a:ext cx="1551731" cy="182880"/>
          </a:xfrm>
          <a:prstGeom prst="rect">
            <a:avLst/>
          </a:prstGeom>
          <a:solidFill>
            <a:schemeClr val="accent3">
              <a:lumMod val="20000"/>
              <a:lumOff val="80000"/>
            </a:schemeClr>
          </a:solidFill>
          <a:ln>
            <a:solidFill>
              <a:schemeClr val="tx1"/>
            </a:solidFill>
          </a:ln>
        </p:spPr>
        <p:txBody>
          <a:bodyPr rtlCol="0" anchor="ctr"/>
          <a:lstStyle/>
          <a:p>
            <a:pPr algn="ctr" fontAlgn="base">
              <a:spcBef>
                <a:spcPct val="20000"/>
              </a:spcBef>
              <a:spcAft>
                <a:spcPct val="0"/>
              </a:spcAft>
            </a:pPr>
            <a:r>
              <a:rPr kumimoji="1" lang="ja-JP" altLang="en-US" sz="1000" b="1" dirty="0">
                <a:latin typeface="+mj-ea"/>
                <a:ea typeface="+mj-ea"/>
              </a:rPr>
              <a:t>表示に差分が生じる箇所</a:t>
            </a:r>
          </a:p>
        </p:txBody>
      </p:sp>
      <p:sp>
        <p:nvSpPr>
          <p:cNvPr id="5" name="本文">
            <a:extLst>
              <a:ext uri="{FF2B5EF4-FFF2-40B4-BE49-F238E27FC236}">
                <a16:creationId xmlns:a16="http://schemas.microsoft.com/office/drawing/2014/main" id="{E33972CD-95F8-CBE1-5E1B-01DD6B232EF6}"/>
              </a:ext>
            </a:extLst>
          </p:cNvPr>
          <p:cNvSpPr txBox="1">
            <a:spLocks/>
          </p:cNvSpPr>
          <p:nvPr/>
        </p:nvSpPr>
        <p:spPr bwMode="auto">
          <a:xfrm>
            <a:off x="490801" y="5153980"/>
            <a:ext cx="8919900" cy="248400"/>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rtl="0" eaLnBrk="1" fontAlgn="base" hangingPunct="1">
              <a:spcBef>
                <a:spcPts val="0"/>
              </a:spcBef>
              <a:spcAft>
                <a:spcPct val="0"/>
              </a:spcAft>
              <a:defRPr kumimoji="1" sz="1292">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a:lstStyle>
          <a:p>
            <a:r>
              <a:rPr lang="en-US" altLang="ja-JP" sz="900" dirty="0">
                <a:solidFill>
                  <a:srgbClr val="000000"/>
                </a:solidFill>
              </a:rPr>
              <a:t>※</a:t>
            </a:r>
            <a:r>
              <a:rPr lang="en-US" altLang="ja-JP" sz="900" dirty="0" err="1">
                <a:solidFill>
                  <a:srgbClr val="000000"/>
                </a:solidFill>
              </a:rPr>
              <a:t>code.text</a:t>
            </a:r>
            <a:r>
              <a:rPr lang="ja-JP" altLang="en-US" sz="900" dirty="0">
                <a:solidFill>
                  <a:srgbClr val="000000"/>
                </a:solidFill>
              </a:rPr>
              <a:t>は</a:t>
            </a:r>
            <a:r>
              <a:rPr lang="en-US" altLang="ja-JP" sz="900" dirty="0">
                <a:solidFill>
                  <a:srgbClr val="000000"/>
                </a:solidFill>
              </a:rPr>
              <a:t>FHIR</a:t>
            </a:r>
            <a:r>
              <a:rPr lang="ja-JP" altLang="en-US" sz="900" dirty="0">
                <a:solidFill>
                  <a:srgbClr val="000000"/>
                </a:solidFill>
              </a:rPr>
              <a:t>の定義上、必須項目となっている</a:t>
            </a:r>
            <a:endParaRPr lang="en-US" altLang="ja-JP" sz="900" dirty="0">
              <a:solidFill>
                <a:srgbClr val="000000"/>
              </a:solidFill>
            </a:endParaRPr>
          </a:p>
          <a:p>
            <a:r>
              <a:rPr lang="en-US" altLang="ja-JP" sz="900" dirty="0">
                <a:solidFill>
                  <a:srgbClr val="000000"/>
                </a:solidFill>
              </a:rPr>
              <a:t>※</a:t>
            </a:r>
            <a:r>
              <a:rPr lang="en-US" altLang="ja-JP" sz="900" dirty="0" err="1">
                <a:solidFill>
                  <a:srgbClr val="000000"/>
                </a:solidFill>
              </a:rPr>
              <a:t>code.codeing</a:t>
            </a:r>
            <a:r>
              <a:rPr lang="ja-JP" altLang="en-US" sz="900" dirty="0">
                <a:solidFill>
                  <a:srgbClr val="000000"/>
                </a:solidFill>
              </a:rPr>
              <a:t>は</a:t>
            </a:r>
            <a:r>
              <a:rPr lang="en-US" altLang="ja-JP" sz="900" dirty="0">
                <a:solidFill>
                  <a:srgbClr val="000000"/>
                </a:solidFill>
              </a:rPr>
              <a:t>FHIR</a:t>
            </a:r>
            <a:r>
              <a:rPr lang="ja-JP" altLang="en-US" sz="900" dirty="0">
                <a:solidFill>
                  <a:srgbClr val="000000"/>
                </a:solidFill>
              </a:rPr>
              <a:t>の定義上、必須項目となっている（ただし</a:t>
            </a:r>
            <a:r>
              <a:rPr lang="en-US" altLang="ja-JP" sz="900" dirty="0">
                <a:solidFill>
                  <a:srgbClr val="000000"/>
                </a:solidFill>
              </a:rPr>
              <a:t>JLAC10</a:t>
            </a:r>
            <a:r>
              <a:rPr lang="ja-JP" altLang="en-US" sz="900" dirty="0">
                <a:solidFill>
                  <a:srgbClr val="000000"/>
                </a:solidFill>
              </a:rPr>
              <a:t>・</a:t>
            </a:r>
            <a:r>
              <a:rPr lang="en-US" altLang="ja-JP" sz="900" dirty="0">
                <a:solidFill>
                  <a:srgbClr val="000000"/>
                </a:solidFill>
              </a:rPr>
              <a:t>JLAC11</a:t>
            </a:r>
            <a:r>
              <a:rPr lang="ja-JP" altLang="en-US" sz="900" dirty="0">
                <a:solidFill>
                  <a:srgbClr val="000000"/>
                </a:solidFill>
              </a:rPr>
              <a:t>のどちらでも登録可能なため、</a:t>
            </a:r>
            <a:r>
              <a:rPr lang="en-US" altLang="ja-JP" sz="900" dirty="0">
                <a:solidFill>
                  <a:srgbClr val="000000"/>
                </a:solidFill>
              </a:rPr>
              <a:t>JLAC10</a:t>
            </a:r>
            <a:r>
              <a:rPr lang="ja-JP" altLang="en-US" sz="900" dirty="0">
                <a:solidFill>
                  <a:srgbClr val="000000"/>
                </a:solidFill>
              </a:rPr>
              <a:t>での登録は必須ではない）</a:t>
            </a:r>
            <a:endParaRPr lang="en-US" altLang="ja-JP" sz="900" dirty="0">
              <a:solidFill>
                <a:srgbClr val="000000"/>
              </a:solidFill>
            </a:endParaRPr>
          </a:p>
        </p:txBody>
      </p:sp>
    </p:spTree>
    <p:extLst>
      <p:ext uri="{BB962C8B-B14F-4D97-AF65-F5344CB8AC3E}">
        <p14:creationId xmlns:p14="http://schemas.microsoft.com/office/powerpoint/2010/main" val="3753125742"/>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D87A6-3D5A-A8EA-A2DE-3799BD7C5B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FBBEF4-A966-367A-48AC-D49003850EE0}"/>
              </a:ext>
            </a:extLst>
          </p:cNvPr>
          <p:cNvSpPr>
            <a:spLocks noGrp="1"/>
          </p:cNvSpPr>
          <p:nvPr>
            <p:ph type="title"/>
          </p:nvPr>
        </p:nvSpPr>
        <p:spPr/>
        <p:txBody>
          <a:bodyPr/>
          <a:lstStyle/>
          <a:p>
            <a:r>
              <a:t>X.臨床情報詳細画面とPDF帳票の名称の差について（具体例）</a:t>
            </a:r>
          </a:p>
        </p:txBody>
      </p:sp>
      <p:sp>
        <p:nvSpPr>
          <p:cNvPr id="501" name="ラベル 背景・状況">
            <a:extLst>
              <a:ext uri="{FF2B5EF4-FFF2-40B4-BE49-F238E27FC236}">
                <a16:creationId xmlns:a16="http://schemas.microsoft.com/office/drawing/2014/main" id="{07CB9B8D-3EBB-E3FC-FC6A-F230CB467C99}"/>
              </a:ext>
            </a:extLst>
          </p:cNvPr>
          <p:cNvSpPr/>
          <p:nvPr/>
        </p:nvSpPr>
        <p:spPr>
          <a:xfrm>
            <a:off x="493200" y="827999"/>
            <a:ext cx="2232000" cy="248399"/>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具体例（検査項目の場合）</a:t>
            </a:r>
          </a:p>
        </p:txBody>
      </p:sp>
      <p:sp>
        <p:nvSpPr>
          <p:cNvPr id="502" name="本文">
            <a:extLst>
              <a:ext uri="{FF2B5EF4-FFF2-40B4-BE49-F238E27FC236}">
                <a16:creationId xmlns:a16="http://schemas.microsoft.com/office/drawing/2014/main" id="{10344C72-1A02-140E-39AF-F2EADE52BA41}"/>
              </a:ext>
            </a:extLst>
          </p:cNvPr>
          <p:cNvSpPr>
            <a:spLocks noGrp="1"/>
          </p:cNvSpPr>
          <p:nvPr>
            <p:ph idx="1"/>
          </p:nvPr>
        </p:nvSpPr>
        <p:spPr>
          <a:xfrm>
            <a:off x="493200" y="1080000"/>
            <a:ext cx="8928000" cy="432000"/>
          </a:xfrm>
        </p:spPr>
        <p:txBody>
          <a:bodyPr/>
          <a:lstStyle/>
          <a:p>
            <a:pPr marL="285750" indent="-285750">
              <a:spcAft>
                <a:spcPts val="300"/>
              </a:spcAft>
              <a:buFont typeface="Arial" panose="020B0604020202020204" pitchFamily="34" charset="0"/>
              <a:buChar char="•"/>
            </a:pPr>
            <a:r>
              <a:rPr lang="ja-JP" altLang="en-US" sz="1200"/>
              <a:t>医療機関Aが、検査項目「総タンパク」を</a:t>
            </a:r>
            <a:r>
              <a:rPr lang="ja-JP" altLang="en-US" sz="1200" b="1"/>
              <a:t>JLAC10コード付き</a:t>
            </a:r>
            <a:r>
              <a:rPr lang="ja-JP" altLang="en-US" sz="1200"/>
              <a:t>で登録した場合、</a:t>
            </a:r>
            <a:r>
              <a:rPr lang="ja-JP" altLang="en-US" sz="1200" b="1"/>
              <a:t>自院（A）が臨床情報詳細画面で見る名称と、他院（B）がPDFで見る名称が異なる。</a:t>
            </a:r>
          </a:p>
        </p:txBody>
      </p:sp>
      <p:sp>
        <p:nvSpPr>
          <p:cNvPr id="503" name="Rectangle 502">
            <a:extLst>
              <a:ext uri="{FF2B5EF4-FFF2-40B4-BE49-F238E27FC236}">
                <a16:creationId xmlns:a16="http://schemas.microsoft.com/office/drawing/2014/main" id="{AFDD6487-3204-F83B-CACC-0CDEF5A16E6F}"/>
              </a:ext>
            </a:extLst>
          </p:cNvPr>
          <p:cNvSpPr/>
          <p:nvPr/>
        </p:nvSpPr>
        <p:spPr>
          <a:xfrm>
            <a:off x="493200" y="2142000"/>
            <a:ext cx="3024000" cy="36360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4" name="Rectangle 503">
            <a:extLst>
              <a:ext uri="{FF2B5EF4-FFF2-40B4-BE49-F238E27FC236}">
                <a16:creationId xmlns:a16="http://schemas.microsoft.com/office/drawing/2014/main" id="{4E1C28AC-0F38-787E-D30F-E326FEC188CE}"/>
              </a:ext>
            </a:extLst>
          </p:cNvPr>
          <p:cNvSpPr/>
          <p:nvPr/>
        </p:nvSpPr>
        <p:spPr>
          <a:xfrm>
            <a:off x="493200" y="2142000"/>
            <a:ext cx="3024000" cy="288000"/>
          </a:xfrm>
          <a:prstGeom prst="rect">
            <a:avLst/>
          </a:prstGeom>
          <a:solidFill>
            <a:srgbClr val="C5D9F1"/>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1050" b="1" u="none">
                <a:solidFill>
                  <a:srgbClr val="000000"/>
                </a:solidFill>
                <a:latin typeface="Meiryo UI"/>
                <a:ea typeface="Meiryo UI"/>
              </a:rPr>
              <a:t>医療機関Aが登録する情報</a:t>
            </a:r>
          </a:p>
        </p:txBody>
      </p:sp>
      <p:sp>
        <p:nvSpPr>
          <p:cNvPr id="505" name="Rectangle 504">
            <a:extLst>
              <a:ext uri="{FF2B5EF4-FFF2-40B4-BE49-F238E27FC236}">
                <a16:creationId xmlns:a16="http://schemas.microsoft.com/office/drawing/2014/main" id="{51ACE21E-D6F0-43C9-DB4A-2BA3447B2DAD}"/>
              </a:ext>
            </a:extLst>
          </p:cNvPr>
          <p:cNvSpPr/>
          <p:nvPr/>
        </p:nvSpPr>
        <p:spPr>
          <a:xfrm>
            <a:off x="565201" y="2502000"/>
            <a:ext cx="2880000" cy="234000"/>
          </a:xfrm>
          <a:prstGeom prst="rect">
            <a:avLst/>
          </a:prstGeom>
          <a:solidFill>
            <a:srgbClr val="DCE6F2"/>
          </a:solidFill>
          <a:ln w="635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000000"/>
                </a:solidFill>
                <a:latin typeface="Meiryo UI"/>
                <a:ea typeface="Meiryo UI"/>
              </a:rPr>
              <a:t>登録データ（FHIR）</a:t>
            </a:r>
          </a:p>
        </p:txBody>
      </p:sp>
      <p:sp>
        <p:nvSpPr>
          <p:cNvPr id="506" name="Rounded Rectangle 505">
            <a:extLst>
              <a:ext uri="{FF2B5EF4-FFF2-40B4-BE49-F238E27FC236}">
                <a16:creationId xmlns:a16="http://schemas.microsoft.com/office/drawing/2014/main" id="{737690E4-C080-B0E9-A95D-B15AFBD79551}"/>
              </a:ext>
            </a:extLst>
          </p:cNvPr>
          <p:cNvSpPr/>
          <p:nvPr/>
        </p:nvSpPr>
        <p:spPr>
          <a:xfrm>
            <a:off x="637201" y="2825999"/>
            <a:ext cx="2736000" cy="2807999"/>
          </a:xfrm>
          <a:prstGeom prst="roundRect">
            <a:avLst>
              <a:gd name="adj" fmla="val 6000"/>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t"/>
          <a:lstStyle/>
          <a:p>
            <a:pPr algn="l"/>
            <a:r>
              <a:rPr sz="900" b="0" u="none" dirty="0" err="1">
                <a:solidFill>
                  <a:srgbClr val="000000"/>
                </a:solidFill>
                <a:latin typeface="Meiryo UI"/>
                <a:ea typeface="Meiryo UI"/>
              </a:rPr>
              <a:t>Bundleリソース</a:t>
            </a:r>
            <a:endParaRPr sz="900" b="0" u="none" dirty="0">
              <a:solidFill>
                <a:srgbClr val="000000"/>
              </a:solidFill>
              <a:latin typeface="Meiryo UI"/>
              <a:ea typeface="Meiryo UI"/>
            </a:endParaRPr>
          </a:p>
          <a:p>
            <a:pPr algn="l"/>
            <a:r>
              <a:rPr sz="900" b="0" u="none" dirty="0" err="1">
                <a:solidFill>
                  <a:srgbClr val="000000"/>
                </a:solidFill>
                <a:latin typeface="Meiryo UI"/>
                <a:ea typeface="Meiryo UI"/>
              </a:rPr>
              <a:t>患者名：厚労太郎</a:t>
            </a:r>
            <a:endParaRPr sz="900" b="0" u="none" dirty="0">
              <a:solidFill>
                <a:srgbClr val="000000"/>
              </a:solidFill>
              <a:latin typeface="Meiryo UI"/>
              <a:ea typeface="Meiryo UI"/>
            </a:endParaRPr>
          </a:p>
          <a:p>
            <a:pPr algn="l"/>
            <a:endParaRPr sz="900" b="0" u="none" dirty="0">
              <a:solidFill>
                <a:srgbClr val="000000"/>
              </a:solidFill>
              <a:latin typeface="Meiryo UI"/>
              <a:ea typeface="Meiryo UI"/>
            </a:endParaRPr>
          </a:p>
          <a:p>
            <a:pPr algn="l"/>
            <a:r>
              <a:rPr sz="900" b="1" u="none" dirty="0" err="1">
                <a:solidFill>
                  <a:srgbClr val="000000"/>
                </a:solidFill>
                <a:latin typeface="Meiryo UI"/>
                <a:ea typeface="Meiryo UI"/>
              </a:rPr>
              <a:t>Observationリソース</a:t>
            </a:r>
            <a:endParaRPr sz="900" b="1" u="none" dirty="0">
              <a:solidFill>
                <a:srgbClr val="000000"/>
              </a:solidFill>
              <a:latin typeface="Meiryo UI"/>
              <a:ea typeface="Meiryo UI"/>
            </a:endParaRPr>
          </a:p>
          <a:p>
            <a:pPr algn="l"/>
            <a:r>
              <a:rPr sz="1000" b="0" u="none" dirty="0" err="1">
                <a:solidFill>
                  <a:srgbClr val="000000"/>
                </a:solidFill>
                <a:latin typeface="Meiryo UI"/>
                <a:ea typeface="Meiryo UI"/>
              </a:rPr>
              <a:t>code.text：</a:t>
            </a:r>
            <a:r>
              <a:rPr sz="1000" b="1" u="none" dirty="0" err="1">
                <a:solidFill>
                  <a:srgbClr val="C00000"/>
                </a:solidFill>
                <a:latin typeface="Meiryo UI"/>
                <a:ea typeface="Meiryo UI"/>
              </a:rPr>
              <a:t>総タンパク</a:t>
            </a:r>
            <a:endParaRPr sz="1000" b="1" u="none" dirty="0">
              <a:solidFill>
                <a:srgbClr val="C00000"/>
              </a:solidFill>
              <a:latin typeface="Meiryo UI"/>
              <a:ea typeface="Meiryo UI"/>
            </a:endParaRPr>
          </a:p>
          <a:p>
            <a:pPr algn="l"/>
            <a:r>
              <a:rPr sz="1000" b="0" u="none" dirty="0">
                <a:solidFill>
                  <a:srgbClr val="000000"/>
                </a:solidFill>
                <a:latin typeface="Meiryo UI"/>
                <a:ea typeface="Meiryo UI"/>
              </a:rPr>
              <a:t>code.coding（JLAC10）</a:t>
            </a:r>
          </a:p>
          <a:p>
            <a:pPr algn="l"/>
            <a:r>
              <a:rPr sz="900" b="0" u="none" dirty="0">
                <a:solidFill>
                  <a:srgbClr val="000000"/>
                </a:solidFill>
                <a:latin typeface="Meiryo UI"/>
                <a:ea typeface="Meiryo UI"/>
              </a:rPr>
              <a:t>　code：（総蛋白のJLAC10コード）</a:t>
            </a:r>
          </a:p>
          <a:p>
            <a:pPr algn="l"/>
            <a:r>
              <a:rPr sz="1000" b="0" u="none" dirty="0">
                <a:solidFill>
                  <a:srgbClr val="000000"/>
                </a:solidFill>
                <a:latin typeface="Meiryo UI"/>
                <a:ea typeface="Meiryo UI"/>
              </a:rPr>
              <a:t>　</a:t>
            </a:r>
            <a:r>
              <a:rPr sz="1000" b="0" u="none" dirty="0" err="1">
                <a:solidFill>
                  <a:srgbClr val="000000"/>
                </a:solidFill>
                <a:latin typeface="Meiryo UI"/>
                <a:ea typeface="Meiryo UI"/>
              </a:rPr>
              <a:t>display：</a:t>
            </a:r>
            <a:r>
              <a:rPr sz="1000" b="1" u="none" dirty="0" err="1">
                <a:solidFill>
                  <a:srgbClr val="C00000"/>
                </a:solidFill>
                <a:latin typeface="Meiryo UI"/>
                <a:ea typeface="Meiryo UI"/>
              </a:rPr>
              <a:t>TP</a:t>
            </a:r>
            <a:endParaRPr sz="1000" b="1" u="none" dirty="0">
              <a:solidFill>
                <a:srgbClr val="C00000"/>
              </a:solidFill>
              <a:latin typeface="Meiryo UI"/>
              <a:ea typeface="Meiryo UI"/>
            </a:endParaRPr>
          </a:p>
          <a:p>
            <a:pPr algn="l"/>
            <a:r>
              <a:rPr sz="1000" b="0" u="none" dirty="0">
                <a:solidFill>
                  <a:srgbClr val="000000"/>
                </a:solidFill>
                <a:latin typeface="Meiryo UI"/>
                <a:ea typeface="Meiryo UI"/>
              </a:rPr>
              <a:t>valueQuantity：7.0 g/dL</a:t>
            </a:r>
          </a:p>
        </p:txBody>
      </p:sp>
      <p:sp>
        <p:nvSpPr>
          <p:cNvPr id="507" name="Rectangle 506">
            <a:extLst>
              <a:ext uri="{FF2B5EF4-FFF2-40B4-BE49-F238E27FC236}">
                <a16:creationId xmlns:a16="http://schemas.microsoft.com/office/drawing/2014/main" id="{6BE95FB3-0D2F-F17C-BA6E-124A0AA00DAF}"/>
              </a:ext>
            </a:extLst>
          </p:cNvPr>
          <p:cNvSpPr/>
          <p:nvPr/>
        </p:nvSpPr>
        <p:spPr>
          <a:xfrm>
            <a:off x="493201" y="5926880"/>
            <a:ext cx="3023999" cy="481120"/>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dirty="0" err="1">
                <a:solidFill>
                  <a:schemeClr val="tx1"/>
                </a:solidFill>
                <a:latin typeface="Meiryo UI"/>
                <a:ea typeface="Meiryo UI"/>
              </a:rPr>
              <a:t>医療機関の項目名（code.text）と</a:t>
            </a:r>
            <a:r>
              <a:rPr sz="950" b="1" u="none" dirty="0">
                <a:solidFill>
                  <a:schemeClr val="tx1"/>
                </a:solidFill>
                <a:latin typeface="Meiryo UI"/>
                <a:ea typeface="Meiryo UI"/>
              </a:rPr>
              <a:t>、</a:t>
            </a:r>
          </a:p>
          <a:p>
            <a:pPr algn="ctr"/>
            <a:r>
              <a:rPr sz="950" b="1" u="none" dirty="0">
                <a:solidFill>
                  <a:schemeClr val="tx1"/>
                </a:solidFill>
                <a:latin typeface="Meiryo UI"/>
                <a:ea typeface="Meiryo UI"/>
              </a:rPr>
              <a:t>JLAC10</a:t>
            </a:r>
            <a:r>
              <a:rPr lang="ja-JP" altLang="en-US" sz="950" b="1" u="none" dirty="0">
                <a:solidFill>
                  <a:schemeClr val="tx1"/>
                </a:solidFill>
                <a:latin typeface="Meiryo UI"/>
                <a:ea typeface="Meiryo UI"/>
              </a:rPr>
              <a:t>コード</a:t>
            </a:r>
            <a:r>
              <a:rPr sz="950" b="1" u="none" dirty="0">
                <a:solidFill>
                  <a:schemeClr val="tx1"/>
                </a:solidFill>
                <a:latin typeface="Meiryo UI"/>
                <a:ea typeface="Meiryo UI"/>
              </a:rPr>
              <a:t>の</a:t>
            </a:r>
            <a:r>
              <a:rPr lang="ja-JP" altLang="en-US" sz="950" b="1" u="none" dirty="0">
                <a:solidFill>
                  <a:schemeClr val="tx1"/>
                </a:solidFill>
                <a:latin typeface="Meiryo UI"/>
                <a:ea typeface="Meiryo UI"/>
              </a:rPr>
              <a:t>ディスプレイ値</a:t>
            </a:r>
            <a:r>
              <a:rPr sz="950" b="1" u="none" dirty="0">
                <a:solidFill>
                  <a:schemeClr val="tx1"/>
                </a:solidFill>
                <a:latin typeface="Meiryo UI"/>
                <a:ea typeface="Meiryo UI"/>
              </a:rPr>
              <a:t>（</a:t>
            </a:r>
            <a:r>
              <a:rPr sz="950" b="1" u="none" dirty="0" err="1">
                <a:solidFill>
                  <a:schemeClr val="tx1"/>
                </a:solidFill>
                <a:latin typeface="Meiryo UI"/>
                <a:ea typeface="Meiryo UI"/>
              </a:rPr>
              <a:t>display）の</a:t>
            </a:r>
            <a:endParaRPr sz="950" b="1" u="none" dirty="0">
              <a:solidFill>
                <a:schemeClr val="tx1"/>
              </a:solidFill>
              <a:latin typeface="Meiryo UI"/>
              <a:ea typeface="Meiryo UI"/>
            </a:endParaRPr>
          </a:p>
          <a:p>
            <a:pPr algn="ctr"/>
            <a:r>
              <a:rPr sz="950" b="1" u="none" dirty="0" err="1">
                <a:solidFill>
                  <a:schemeClr val="tx1"/>
                </a:solidFill>
                <a:latin typeface="Meiryo UI"/>
                <a:ea typeface="Meiryo UI"/>
              </a:rPr>
              <a:t>両方</a:t>
            </a:r>
            <a:r>
              <a:rPr lang="ja-JP" altLang="en-US" sz="950" b="1" u="none" dirty="0">
                <a:solidFill>
                  <a:schemeClr val="tx1"/>
                </a:solidFill>
                <a:latin typeface="Meiryo UI"/>
                <a:ea typeface="Meiryo UI"/>
              </a:rPr>
              <a:t>を</a:t>
            </a:r>
            <a:r>
              <a:rPr sz="950" b="1" u="none" dirty="0" err="1">
                <a:solidFill>
                  <a:schemeClr val="tx1"/>
                </a:solidFill>
                <a:latin typeface="Meiryo UI"/>
                <a:ea typeface="Meiryo UI"/>
              </a:rPr>
              <a:t>登録</a:t>
            </a:r>
            <a:r>
              <a:rPr lang="ja-JP" altLang="en-US" sz="950" b="1" u="none" dirty="0">
                <a:solidFill>
                  <a:schemeClr val="tx1"/>
                </a:solidFill>
                <a:latin typeface="Meiryo UI"/>
                <a:ea typeface="Meiryo UI"/>
              </a:rPr>
              <a:t>する</a:t>
            </a:r>
            <a:endParaRPr sz="950" b="1" u="none" dirty="0">
              <a:solidFill>
                <a:schemeClr val="tx1"/>
              </a:solidFill>
              <a:latin typeface="Meiryo UI"/>
              <a:ea typeface="Meiryo UI"/>
            </a:endParaRPr>
          </a:p>
        </p:txBody>
      </p:sp>
      <p:sp>
        <p:nvSpPr>
          <p:cNvPr id="508" name="Right Arrow 507">
            <a:extLst>
              <a:ext uri="{FF2B5EF4-FFF2-40B4-BE49-F238E27FC236}">
                <a16:creationId xmlns:a16="http://schemas.microsoft.com/office/drawing/2014/main" id="{13618E48-33EE-56A0-8DFF-A3CF66E0013F}"/>
              </a:ext>
            </a:extLst>
          </p:cNvPr>
          <p:cNvSpPr/>
          <p:nvPr/>
        </p:nvSpPr>
        <p:spPr>
          <a:xfrm>
            <a:off x="3625201" y="2718000"/>
            <a:ext cx="468000" cy="468000"/>
          </a:xfrm>
          <a:prstGeom prst="rightArrow">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9" name="Right Arrow 508">
            <a:extLst>
              <a:ext uri="{FF2B5EF4-FFF2-40B4-BE49-F238E27FC236}">
                <a16:creationId xmlns:a16="http://schemas.microsoft.com/office/drawing/2014/main" id="{03BA2AB2-6CF9-45F8-9116-6DF758A4510D}"/>
              </a:ext>
            </a:extLst>
          </p:cNvPr>
          <p:cNvSpPr/>
          <p:nvPr/>
        </p:nvSpPr>
        <p:spPr>
          <a:xfrm>
            <a:off x="3625201" y="4590000"/>
            <a:ext cx="468000" cy="468000"/>
          </a:xfrm>
          <a:prstGeom prst="rightArrow">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0" name="Rectangle 509">
            <a:extLst>
              <a:ext uri="{FF2B5EF4-FFF2-40B4-BE49-F238E27FC236}">
                <a16:creationId xmlns:a16="http://schemas.microsoft.com/office/drawing/2014/main" id="{3157B446-3403-491B-877D-6B25EA2AA4E1}"/>
              </a:ext>
            </a:extLst>
          </p:cNvPr>
          <p:cNvSpPr/>
          <p:nvPr/>
        </p:nvSpPr>
        <p:spPr>
          <a:xfrm>
            <a:off x="4201201" y="2142000"/>
            <a:ext cx="3240000" cy="16200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1" name="Rectangle 510">
            <a:extLst>
              <a:ext uri="{FF2B5EF4-FFF2-40B4-BE49-F238E27FC236}">
                <a16:creationId xmlns:a16="http://schemas.microsoft.com/office/drawing/2014/main" id="{8CD5AEC3-257F-93B1-6C13-141ED9218E2A}"/>
              </a:ext>
            </a:extLst>
          </p:cNvPr>
          <p:cNvSpPr/>
          <p:nvPr/>
        </p:nvSpPr>
        <p:spPr>
          <a:xfrm>
            <a:off x="4201201" y="2142000"/>
            <a:ext cx="3240000" cy="288000"/>
          </a:xfrm>
          <a:prstGeom prst="rect">
            <a:avLst/>
          </a:prstGeom>
          <a:solidFill>
            <a:srgbClr val="C5D9F1"/>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1050" b="1" u="none">
                <a:solidFill>
                  <a:srgbClr val="000000"/>
                </a:solidFill>
                <a:latin typeface="Meiryo UI"/>
                <a:ea typeface="Meiryo UI"/>
              </a:rPr>
              <a:t>自院（医療機関A）</a:t>
            </a:r>
          </a:p>
        </p:txBody>
      </p:sp>
      <p:sp>
        <p:nvSpPr>
          <p:cNvPr id="512" name="Rectangle 511">
            <a:extLst>
              <a:ext uri="{FF2B5EF4-FFF2-40B4-BE49-F238E27FC236}">
                <a16:creationId xmlns:a16="http://schemas.microsoft.com/office/drawing/2014/main" id="{9926DB3A-E2D1-F581-5CEF-322AB017C8EB}"/>
              </a:ext>
            </a:extLst>
          </p:cNvPr>
          <p:cNvSpPr/>
          <p:nvPr/>
        </p:nvSpPr>
        <p:spPr>
          <a:xfrm>
            <a:off x="4273200" y="2502000"/>
            <a:ext cx="3096000" cy="234000"/>
          </a:xfrm>
          <a:prstGeom prst="rect">
            <a:avLst/>
          </a:prstGeom>
          <a:solidFill>
            <a:srgbClr val="DCE6F2"/>
          </a:solidFill>
          <a:ln w="635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000000"/>
                </a:solidFill>
                <a:latin typeface="Meiryo UI"/>
                <a:ea typeface="Meiryo UI"/>
              </a:rPr>
              <a:t>臨床情報詳細画面（資格確認端末）</a:t>
            </a:r>
          </a:p>
        </p:txBody>
      </p:sp>
      <p:sp>
        <p:nvSpPr>
          <p:cNvPr id="513" name="Rounded Rectangle 512">
            <a:extLst>
              <a:ext uri="{FF2B5EF4-FFF2-40B4-BE49-F238E27FC236}">
                <a16:creationId xmlns:a16="http://schemas.microsoft.com/office/drawing/2014/main" id="{9AD66D2A-AC00-7A53-9941-1FE5B998E643}"/>
              </a:ext>
            </a:extLst>
          </p:cNvPr>
          <p:cNvSpPr/>
          <p:nvPr/>
        </p:nvSpPr>
        <p:spPr>
          <a:xfrm>
            <a:off x="4309201" y="2808000"/>
            <a:ext cx="3024000" cy="882000"/>
          </a:xfrm>
          <a:prstGeom prst="roundRect">
            <a:avLst>
              <a:gd name="adj" fmla="val 6000"/>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t"/>
          <a:lstStyle/>
          <a:p>
            <a:pPr algn="l"/>
            <a:r>
              <a:rPr sz="950" b="0" u="none">
                <a:solidFill>
                  <a:srgbClr val="000000"/>
                </a:solidFill>
                <a:latin typeface="Meiryo UI"/>
                <a:ea typeface="Meiryo UI"/>
              </a:rPr>
              <a:t>患者名：厚労太郎</a:t>
            </a:r>
          </a:p>
        </p:txBody>
      </p:sp>
      <p:sp>
        <p:nvSpPr>
          <p:cNvPr id="514" name="Rectangle 513">
            <a:extLst>
              <a:ext uri="{FF2B5EF4-FFF2-40B4-BE49-F238E27FC236}">
                <a16:creationId xmlns:a16="http://schemas.microsoft.com/office/drawing/2014/main" id="{E50206A4-6F6B-9DAC-F1AA-9BFE8CCB09B0}"/>
              </a:ext>
            </a:extLst>
          </p:cNvPr>
          <p:cNvSpPr/>
          <p:nvPr/>
        </p:nvSpPr>
        <p:spPr>
          <a:xfrm>
            <a:off x="4417201" y="3024000"/>
            <a:ext cx="2808000" cy="324000"/>
          </a:xfrm>
          <a:prstGeom prst="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r>
              <a:rPr sz="1100" b="0" u="none">
                <a:solidFill>
                  <a:srgbClr val="000000"/>
                </a:solidFill>
                <a:latin typeface="Meiryo UI"/>
                <a:ea typeface="Meiryo UI"/>
              </a:rPr>
              <a:t>検査項目：</a:t>
            </a:r>
            <a:r>
              <a:rPr sz="1200" b="1" u="none">
                <a:solidFill>
                  <a:srgbClr val="C00000"/>
                </a:solidFill>
                <a:latin typeface="Meiryo UI"/>
                <a:ea typeface="Meiryo UI"/>
              </a:rPr>
              <a:t>総タンパク</a:t>
            </a:r>
          </a:p>
        </p:txBody>
      </p:sp>
      <p:sp>
        <p:nvSpPr>
          <p:cNvPr id="515" name="TextBox 514">
            <a:extLst>
              <a:ext uri="{FF2B5EF4-FFF2-40B4-BE49-F238E27FC236}">
                <a16:creationId xmlns:a16="http://schemas.microsoft.com/office/drawing/2014/main" id="{139BA901-8219-9BA2-CBEB-F51A2E745E55}"/>
              </a:ext>
            </a:extLst>
          </p:cNvPr>
          <p:cNvSpPr txBox="1"/>
          <p:nvPr/>
        </p:nvSpPr>
        <p:spPr>
          <a:xfrm>
            <a:off x="4417201" y="3366000"/>
            <a:ext cx="2808000" cy="251999"/>
          </a:xfrm>
          <a:prstGeom prst="rect">
            <a:avLst/>
          </a:prstGeom>
          <a:noFill/>
        </p:spPr>
        <p:txBody>
          <a:bodyPr wrap="square" lIns="54000" tIns="18000" rIns="54000" bIns="18000" anchor="t">
            <a:spAutoFit/>
          </a:bodyPr>
          <a:lstStyle/>
          <a:p>
            <a:pPr algn="l"/>
            <a:r>
              <a:rPr sz="950" b="0" u="none">
                <a:solidFill>
                  <a:srgbClr val="000000"/>
                </a:solidFill>
                <a:latin typeface="Meiryo UI"/>
                <a:ea typeface="Meiryo UI"/>
              </a:rPr>
              <a:t>検査結果：7.0 g/dL</a:t>
            </a:r>
          </a:p>
        </p:txBody>
      </p:sp>
      <p:sp>
        <p:nvSpPr>
          <p:cNvPr id="516" name="Rectangle 515">
            <a:extLst>
              <a:ext uri="{FF2B5EF4-FFF2-40B4-BE49-F238E27FC236}">
                <a16:creationId xmlns:a16="http://schemas.microsoft.com/office/drawing/2014/main" id="{634DB807-A865-90E2-23AB-4F9640B06312}"/>
              </a:ext>
            </a:extLst>
          </p:cNvPr>
          <p:cNvSpPr/>
          <p:nvPr/>
        </p:nvSpPr>
        <p:spPr>
          <a:xfrm>
            <a:off x="7549201" y="2466000"/>
            <a:ext cx="2282956" cy="1007999"/>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dirty="0" err="1">
                <a:solidFill>
                  <a:schemeClr val="tx1"/>
                </a:solidFill>
                <a:latin typeface="Meiryo UI"/>
                <a:ea typeface="Meiryo UI"/>
              </a:rPr>
              <a:t>自院</a:t>
            </a:r>
            <a:r>
              <a:rPr lang="ja-JP" altLang="en-US" sz="950" b="1" u="none" dirty="0">
                <a:solidFill>
                  <a:schemeClr val="tx1"/>
                </a:solidFill>
                <a:latin typeface="Meiryo UI"/>
                <a:ea typeface="Meiryo UI"/>
              </a:rPr>
              <a:t>で臨床情報詳細画面を参照する</a:t>
            </a:r>
            <a:r>
              <a:rPr lang="ja-JP" altLang="en-US" sz="950" b="1" dirty="0">
                <a:solidFill>
                  <a:schemeClr val="tx1"/>
                </a:solidFill>
                <a:latin typeface="Meiryo UI"/>
                <a:ea typeface="Meiryo UI"/>
              </a:rPr>
              <a:t>場合</a:t>
            </a:r>
            <a:r>
              <a:rPr sz="950" b="1" u="none" dirty="0">
                <a:solidFill>
                  <a:schemeClr val="tx1"/>
                </a:solidFill>
                <a:latin typeface="Meiryo UI"/>
                <a:ea typeface="Meiryo UI"/>
              </a:rPr>
              <a:t>、</a:t>
            </a:r>
          </a:p>
          <a:p>
            <a:pPr algn="ctr"/>
            <a:r>
              <a:rPr lang="ja-JP" altLang="en-US" sz="950" b="1" dirty="0">
                <a:solidFill>
                  <a:schemeClr val="tx1"/>
                </a:solidFill>
                <a:latin typeface="Meiryo UI"/>
                <a:ea typeface="Meiryo UI"/>
              </a:rPr>
              <a:t>検査項目には</a:t>
            </a:r>
            <a:r>
              <a:rPr sz="950" b="1" u="none" dirty="0">
                <a:solidFill>
                  <a:schemeClr val="tx1"/>
                </a:solidFill>
                <a:latin typeface="Meiryo UI"/>
                <a:ea typeface="Meiryo UI"/>
              </a:rPr>
              <a:t>「</a:t>
            </a:r>
            <a:r>
              <a:rPr sz="950" b="1" u="none" dirty="0" err="1">
                <a:solidFill>
                  <a:schemeClr val="tx1"/>
                </a:solidFill>
                <a:latin typeface="Meiryo UI"/>
                <a:ea typeface="Meiryo UI"/>
              </a:rPr>
              <a:t>総タンパク</a:t>
            </a:r>
            <a:r>
              <a:rPr sz="950" b="1" u="none" dirty="0">
                <a:solidFill>
                  <a:schemeClr val="tx1"/>
                </a:solidFill>
                <a:latin typeface="Meiryo UI"/>
                <a:ea typeface="Meiryo UI"/>
              </a:rPr>
              <a:t>」</a:t>
            </a:r>
            <a:r>
              <a:rPr lang="ja-JP" altLang="en-US" sz="950" b="1" u="none" dirty="0">
                <a:solidFill>
                  <a:schemeClr val="tx1"/>
                </a:solidFill>
                <a:latin typeface="Meiryo UI"/>
                <a:ea typeface="Meiryo UI"/>
              </a:rPr>
              <a:t>が表示される</a:t>
            </a:r>
            <a:endParaRPr sz="950" b="1" u="none" dirty="0">
              <a:solidFill>
                <a:schemeClr val="tx1"/>
              </a:solidFill>
              <a:latin typeface="Meiryo UI"/>
              <a:ea typeface="Meiryo UI"/>
            </a:endParaRPr>
          </a:p>
        </p:txBody>
      </p:sp>
      <p:sp>
        <p:nvSpPr>
          <p:cNvPr id="517" name="Rectangle 516">
            <a:extLst>
              <a:ext uri="{FF2B5EF4-FFF2-40B4-BE49-F238E27FC236}">
                <a16:creationId xmlns:a16="http://schemas.microsoft.com/office/drawing/2014/main" id="{D2226553-6E1E-27B1-2170-29551C9039B0}"/>
              </a:ext>
            </a:extLst>
          </p:cNvPr>
          <p:cNvSpPr/>
          <p:nvPr/>
        </p:nvSpPr>
        <p:spPr>
          <a:xfrm>
            <a:off x="4201201" y="4158000"/>
            <a:ext cx="3240000" cy="16200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8" name="Rectangle 517">
            <a:extLst>
              <a:ext uri="{FF2B5EF4-FFF2-40B4-BE49-F238E27FC236}">
                <a16:creationId xmlns:a16="http://schemas.microsoft.com/office/drawing/2014/main" id="{50D1A381-7BBC-DACB-C0F0-759D698CE3CA}"/>
              </a:ext>
            </a:extLst>
          </p:cNvPr>
          <p:cNvSpPr/>
          <p:nvPr/>
        </p:nvSpPr>
        <p:spPr>
          <a:xfrm>
            <a:off x="4201201" y="4158000"/>
            <a:ext cx="3240000" cy="288000"/>
          </a:xfrm>
          <a:prstGeom prst="rect">
            <a:avLst/>
          </a:prstGeom>
          <a:solidFill>
            <a:srgbClr val="C5D9F1"/>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1050" b="1" u="none">
                <a:solidFill>
                  <a:srgbClr val="000000"/>
                </a:solidFill>
                <a:latin typeface="Meiryo UI"/>
                <a:ea typeface="Meiryo UI"/>
              </a:rPr>
              <a:t>他院（医療機関B）</a:t>
            </a:r>
          </a:p>
        </p:txBody>
      </p:sp>
      <p:sp>
        <p:nvSpPr>
          <p:cNvPr id="519" name="Rectangle 518">
            <a:extLst>
              <a:ext uri="{FF2B5EF4-FFF2-40B4-BE49-F238E27FC236}">
                <a16:creationId xmlns:a16="http://schemas.microsoft.com/office/drawing/2014/main" id="{72D23935-5B66-ED75-EA63-5513D989C2FC}"/>
              </a:ext>
            </a:extLst>
          </p:cNvPr>
          <p:cNvSpPr/>
          <p:nvPr/>
        </p:nvSpPr>
        <p:spPr>
          <a:xfrm>
            <a:off x="4273200" y="4518000"/>
            <a:ext cx="3096000" cy="234000"/>
          </a:xfrm>
          <a:prstGeom prst="rect">
            <a:avLst/>
          </a:prstGeom>
          <a:solidFill>
            <a:srgbClr val="DCE6F2"/>
          </a:solidFill>
          <a:ln w="635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000000"/>
                </a:solidFill>
                <a:latin typeface="Meiryo UI"/>
                <a:ea typeface="Meiryo UI"/>
              </a:rPr>
              <a:t>臨床情報一覧（PDF帳票）</a:t>
            </a:r>
          </a:p>
        </p:txBody>
      </p:sp>
      <p:sp>
        <p:nvSpPr>
          <p:cNvPr id="520" name="Rounded Rectangle 519">
            <a:extLst>
              <a:ext uri="{FF2B5EF4-FFF2-40B4-BE49-F238E27FC236}">
                <a16:creationId xmlns:a16="http://schemas.microsoft.com/office/drawing/2014/main" id="{125B8BE4-658E-C52E-149E-143B3269BD9C}"/>
              </a:ext>
            </a:extLst>
          </p:cNvPr>
          <p:cNvSpPr/>
          <p:nvPr/>
        </p:nvSpPr>
        <p:spPr>
          <a:xfrm>
            <a:off x="4309201" y="4824000"/>
            <a:ext cx="3024000" cy="882000"/>
          </a:xfrm>
          <a:prstGeom prst="roundRect">
            <a:avLst>
              <a:gd name="adj" fmla="val 6000"/>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t"/>
          <a:lstStyle/>
          <a:p>
            <a:pPr algn="l"/>
            <a:r>
              <a:rPr sz="950" b="0" u="none">
                <a:solidFill>
                  <a:srgbClr val="000000"/>
                </a:solidFill>
                <a:latin typeface="Meiryo UI"/>
                <a:ea typeface="Meiryo UI"/>
              </a:rPr>
              <a:t>患者名：厚労太郎</a:t>
            </a:r>
          </a:p>
        </p:txBody>
      </p:sp>
      <p:sp>
        <p:nvSpPr>
          <p:cNvPr id="521" name="Rectangle 520">
            <a:extLst>
              <a:ext uri="{FF2B5EF4-FFF2-40B4-BE49-F238E27FC236}">
                <a16:creationId xmlns:a16="http://schemas.microsoft.com/office/drawing/2014/main" id="{4BE49FDF-104E-BDE5-B1E5-8A7F3525D77D}"/>
              </a:ext>
            </a:extLst>
          </p:cNvPr>
          <p:cNvSpPr/>
          <p:nvPr/>
        </p:nvSpPr>
        <p:spPr>
          <a:xfrm>
            <a:off x="4417201" y="5040000"/>
            <a:ext cx="2808000" cy="324000"/>
          </a:xfrm>
          <a:prstGeom prst="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r>
              <a:rPr sz="1100" b="0" u="none">
                <a:solidFill>
                  <a:srgbClr val="000000"/>
                </a:solidFill>
                <a:latin typeface="Meiryo UI"/>
                <a:ea typeface="Meiryo UI"/>
              </a:rPr>
              <a:t>検査項目：</a:t>
            </a:r>
            <a:r>
              <a:rPr sz="1200" b="1" u="none">
                <a:solidFill>
                  <a:srgbClr val="C00000"/>
                </a:solidFill>
                <a:latin typeface="Meiryo UI"/>
                <a:ea typeface="Meiryo UI"/>
              </a:rPr>
              <a:t>TP</a:t>
            </a:r>
          </a:p>
        </p:txBody>
      </p:sp>
      <p:sp>
        <p:nvSpPr>
          <p:cNvPr id="522" name="TextBox 521">
            <a:extLst>
              <a:ext uri="{FF2B5EF4-FFF2-40B4-BE49-F238E27FC236}">
                <a16:creationId xmlns:a16="http://schemas.microsoft.com/office/drawing/2014/main" id="{E4636571-7FAF-9A53-82C8-C4FB8BE38A0B}"/>
              </a:ext>
            </a:extLst>
          </p:cNvPr>
          <p:cNvSpPr txBox="1"/>
          <p:nvPr/>
        </p:nvSpPr>
        <p:spPr>
          <a:xfrm>
            <a:off x="4417201" y="5382000"/>
            <a:ext cx="2808000" cy="251999"/>
          </a:xfrm>
          <a:prstGeom prst="rect">
            <a:avLst/>
          </a:prstGeom>
          <a:noFill/>
        </p:spPr>
        <p:txBody>
          <a:bodyPr wrap="square" lIns="54000" tIns="18000" rIns="54000" bIns="18000" anchor="t">
            <a:spAutoFit/>
          </a:bodyPr>
          <a:lstStyle/>
          <a:p>
            <a:pPr algn="l"/>
            <a:r>
              <a:rPr sz="950" b="0" u="none">
                <a:solidFill>
                  <a:srgbClr val="000000"/>
                </a:solidFill>
                <a:latin typeface="Meiryo UI"/>
                <a:ea typeface="Meiryo UI"/>
              </a:rPr>
              <a:t>検査結果：7.0 g/dL</a:t>
            </a:r>
          </a:p>
        </p:txBody>
      </p:sp>
      <p:sp>
        <p:nvSpPr>
          <p:cNvPr id="523" name="Rectangle 522">
            <a:extLst>
              <a:ext uri="{FF2B5EF4-FFF2-40B4-BE49-F238E27FC236}">
                <a16:creationId xmlns:a16="http://schemas.microsoft.com/office/drawing/2014/main" id="{1B028888-1D01-7436-DCCD-E23F4E25A0C9}"/>
              </a:ext>
            </a:extLst>
          </p:cNvPr>
          <p:cNvSpPr/>
          <p:nvPr/>
        </p:nvSpPr>
        <p:spPr>
          <a:xfrm>
            <a:off x="7549201" y="4482000"/>
            <a:ext cx="2282956" cy="1007999"/>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dirty="0" err="1">
                <a:solidFill>
                  <a:schemeClr val="tx1"/>
                </a:solidFill>
                <a:latin typeface="Meiryo UI"/>
                <a:ea typeface="Meiryo UI"/>
              </a:rPr>
              <a:t>他院</a:t>
            </a:r>
            <a:r>
              <a:rPr lang="ja-JP" altLang="en-US" sz="950" b="1" u="none" dirty="0">
                <a:solidFill>
                  <a:schemeClr val="tx1"/>
                </a:solidFill>
                <a:latin typeface="Meiryo UI"/>
                <a:ea typeface="Meiryo UI"/>
              </a:rPr>
              <a:t>で</a:t>
            </a:r>
            <a:r>
              <a:rPr sz="950" b="1" u="none" dirty="0">
                <a:solidFill>
                  <a:schemeClr val="tx1"/>
                </a:solidFill>
                <a:latin typeface="Meiryo UI"/>
                <a:ea typeface="Meiryo UI"/>
              </a:rPr>
              <a:t>PDF</a:t>
            </a:r>
            <a:r>
              <a:rPr lang="ja-JP" altLang="en-US" sz="950" b="1" dirty="0">
                <a:solidFill>
                  <a:schemeClr val="tx1"/>
                </a:solidFill>
                <a:latin typeface="Meiryo UI"/>
                <a:ea typeface="Meiryo UI"/>
              </a:rPr>
              <a:t>を参照する場合</a:t>
            </a:r>
            <a:r>
              <a:rPr sz="950" b="1" u="none" dirty="0">
                <a:solidFill>
                  <a:schemeClr val="tx1"/>
                </a:solidFill>
                <a:latin typeface="Meiryo UI"/>
                <a:ea typeface="Meiryo UI"/>
              </a:rPr>
              <a:t>、</a:t>
            </a:r>
          </a:p>
          <a:p>
            <a:pPr algn="ctr"/>
            <a:r>
              <a:rPr lang="ja-JP" altLang="en-US" sz="950" b="1" dirty="0">
                <a:solidFill>
                  <a:schemeClr val="tx1"/>
                </a:solidFill>
                <a:latin typeface="Meiryo UI"/>
                <a:ea typeface="Meiryo UI"/>
              </a:rPr>
              <a:t>検査項目には「</a:t>
            </a:r>
            <a:r>
              <a:rPr lang="en-US" altLang="ja-JP" sz="950" b="1" dirty="0">
                <a:solidFill>
                  <a:schemeClr val="tx1"/>
                </a:solidFill>
                <a:latin typeface="Meiryo UI"/>
                <a:ea typeface="Meiryo UI"/>
              </a:rPr>
              <a:t>TP</a:t>
            </a:r>
            <a:r>
              <a:rPr lang="ja-JP" altLang="en-US" sz="950" b="1" dirty="0">
                <a:solidFill>
                  <a:schemeClr val="tx1"/>
                </a:solidFill>
                <a:latin typeface="Meiryo UI"/>
                <a:ea typeface="Meiryo UI"/>
              </a:rPr>
              <a:t>」が表示される</a:t>
            </a:r>
            <a:endParaRPr sz="950" b="1" u="none" dirty="0">
              <a:solidFill>
                <a:schemeClr val="tx1"/>
              </a:solidFill>
              <a:latin typeface="Meiryo UI"/>
              <a:ea typeface="Meiryo UI"/>
            </a:endParaRPr>
          </a:p>
        </p:txBody>
      </p:sp>
      <p:sp>
        <p:nvSpPr>
          <p:cNvPr id="524" name="TextBox 523">
            <a:extLst>
              <a:ext uri="{FF2B5EF4-FFF2-40B4-BE49-F238E27FC236}">
                <a16:creationId xmlns:a16="http://schemas.microsoft.com/office/drawing/2014/main" id="{8875119C-8CC7-4D0A-DE0C-33AE75EB6287}"/>
              </a:ext>
            </a:extLst>
          </p:cNvPr>
          <p:cNvSpPr txBox="1"/>
          <p:nvPr/>
        </p:nvSpPr>
        <p:spPr>
          <a:xfrm>
            <a:off x="5533201" y="3743999"/>
            <a:ext cx="576000" cy="432000"/>
          </a:xfrm>
          <a:prstGeom prst="rect">
            <a:avLst/>
          </a:prstGeom>
          <a:noFill/>
        </p:spPr>
        <p:txBody>
          <a:bodyPr wrap="square" lIns="54000" tIns="18000" rIns="54000" bIns="18000" anchor="ctr">
            <a:spAutoFit/>
          </a:bodyPr>
          <a:lstStyle/>
          <a:p>
            <a:pPr algn="ctr"/>
            <a:r>
              <a:rPr sz="2400" b="1" u="none">
                <a:solidFill>
                  <a:srgbClr val="1F3864"/>
                </a:solidFill>
                <a:latin typeface="Meiryo UI"/>
                <a:ea typeface="Meiryo UI"/>
              </a:rPr>
              <a:t>≠</a:t>
            </a:r>
          </a:p>
        </p:txBody>
      </p:sp>
    </p:spTree>
    <p:extLst>
      <p:ext uri="{BB962C8B-B14F-4D97-AF65-F5344CB8AC3E}">
        <p14:creationId xmlns:p14="http://schemas.microsoft.com/office/powerpoint/2010/main" val="2248642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63002-93F2-579A-8248-7AD3B9F0C3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F36DC2-8A60-93D6-D00E-5BEE85D30E08}"/>
              </a:ext>
            </a:extLst>
          </p:cNvPr>
          <p:cNvSpPr>
            <a:spLocks noGrp="1"/>
          </p:cNvSpPr>
          <p:nvPr>
            <p:ph type="title"/>
          </p:nvPr>
        </p:nvSpPr>
        <p:spPr/>
        <p:txBody>
          <a:bodyPr/>
          <a:lstStyle/>
          <a:p>
            <a:r>
              <a:t>X.臨床情報詳細画面とPDF帳票の名称の差について（具体例）</a:t>
            </a:r>
          </a:p>
        </p:txBody>
      </p:sp>
      <p:sp>
        <p:nvSpPr>
          <p:cNvPr id="501" name="ラベル 背景・状況">
            <a:extLst>
              <a:ext uri="{FF2B5EF4-FFF2-40B4-BE49-F238E27FC236}">
                <a16:creationId xmlns:a16="http://schemas.microsoft.com/office/drawing/2014/main" id="{521FB90B-58C4-E432-BCC5-B03A0DBBE3AA}"/>
              </a:ext>
            </a:extLst>
          </p:cNvPr>
          <p:cNvSpPr/>
          <p:nvPr/>
        </p:nvSpPr>
        <p:spPr>
          <a:xfrm>
            <a:off x="493200" y="827999"/>
            <a:ext cx="2232000" cy="248399"/>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具体例（検査項目の場合）</a:t>
            </a:r>
          </a:p>
        </p:txBody>
      </p:sp>
      <p:sp>
        <p:nvSpPr>
          <p:cNvPr id="502" name="本文">
            <a:extLst>
              <a:ext uri="{FF2B5EF4-FFF2-40B4-BE49-F238E27FC236}">
                <a16:creationId xmlns:a16="http://schemas.microsoft.com/office/drawing/2014/main" id="{D9145C13-633F-A628-D76D-9F60F46CD148}"/>
              </a:ext>
            </a:extLst>
          </p:cNvPr>
          <p:cNvSpPr>
            <a:spLocks noGrp="1"/>
          </p:cNvSpPr>
          <p:nvPr>
            <p:ph idx="1"/>
          </p:nvPr>
        </p:nvSpPr>
        <p:spPr>
          <a:xfrm>
            <a:off x="493200" y="1080000"/>
            <a:ext cx="8928000" cy="432000"/>
          </a:xfrm>
        </p:spPr>
        <p:txBody>
          <a:bodyPr/>
          <a:lstStyle/>
          <a:p>
            <a:pPr marL="285750" indent="-285750">
              <a:spcAft>
                <a:spcPts val="300"/>
              </a:spcAft>
              <a:buFont typeface="Arial" panose="020B0604020202020204" pitchFamily="34" charset="0"/>
              <a:buChar char="•"/>
            </a:pPr>
            <a:r>
              <a:rPr lang="ja-JP" altLang="en-US" sz="1200"/>
              <a:t>医療機関Aが、検査項目「総タンパク」を</a:t>
            </a:r>
            <a:r>
              <a:rPr lang="ja-JP" altLang="en-US" sz="1200" b="1"/>
              <a:t>JLAC10コード付き</a:t>
            </a:r>
            <a:r>
              <a:rPr lang="ja-JP" altLang="en-US" sz="1200"/>
              <a:t>で登録した場合、</a:t>
            </a:r>
            <a:r>
              <a:rPr lang="ja-JP" altLang="en-US" sz="1200" b="1"/>
              <a:t>自院（A）が臨床情報詳細画面で見る名称と、他院（B）がPDFで見る名称が異なる。</a:t>
            </a:r>
          </a:p>
        </p:txBody>
      </p:sp>
      <p:sp>
        <p:nvSpPr>
          <p:cNvPr id="503" name="Rectangle 502">
            <a:extLst>
              <a:ext uri="{FF2B5EF4-FFF2-40B4-BE49-F238E27FC236}">
                <a16:creationId xmlns:a16="http://schemas.microsoft.com/office/drawing/2014/main" id="{0C06B8DD-A3FB-FFBF-9B93-10E356083EA9}"/>
              </a:ext>
            </a:extLst>
          </p:cNvPr>
          <p:cNvSpPr/>
          <p:nvPr/>
        </p:nvSpPr>
        <p:spPr>
          <a:xfrm>
            <a:off x="503999" y="1620000"/>
            <a:ext cx="3024000" cy="36360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4" name="Rectangle 503">
            <a:extLst>
              <a:ext uri="{FF2B5EF4-FFF2-40B4-BE49-F238E27FC236}">
                <a16:creationId xmlns:a16="http://schemas.microsoft.com/office/drawing/2014/main" id="{D09C80BD-B34B-1FDE-E316-A63F3BDF4C87}"/>
              </a:ext>
            </a:extLst>
          </p:cNvPr>
          <p:cNvSpPr/>
          <p:nvPr/>
        </p:nvSpPr>
        <p:spPr>
          <a:xfrm>
            <a:off x="503999" y="1620000"/>
            <a:ext cx="3024000" cy="288000"/>
          </a:xfrm>
          <a:prstGeom prst="rect">
            <a:avLst/>
          </a:prstGeom>
          <a:solidFill>
            <a:srgbClr val="C5D9F1"/>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1050" b="1" u="none">
                <a:solidFill>
                  <a:srgbClr val="000000"/>
                </a:solidFill>
                <a:latin typeface="Meiryo UI"/>
                <a:ea typeface="Meiryo UI"/>
              </a:rPr>
              <a:t>医療機関Aが登録する情報</a:t>
            </a:r>
          </a:p>
        </p:txBody>
      </p:sp>
      <p:sp>
        <p:nvSpPr>
          <p:cNvPr id="505" name="Rectangle 504">
            <a:extLst>
              <a:ext uri="{FF2B5EF4-FFF2-40B4-BE49-F238E27FC236}">
                <a16:creationId xmlns:a16="http://schemas.microsoft.com/office/drawing/2014/main" id="{E19EE9D2-8912-78CB-E0F8-1AE2B79A531D}"/>
              </a:ext>
            </a:extLst>
          </p:cNvPr>
          <p:cNvSpPr/>
          <p:nvPr/>
        </p:nvSpPr>
        <p:spPr>
          <a:xfrm>
            <a:off x="576000" y="1980000"/>
            <a:ext cx="2880000" cy="234000"/>
          </a:xfrm>
          <a:prstGeom prst="rect">
            <a:avLst/>
          </a:prstGeom>
          <a:solidFill>
            <a:srgbClr val="DCE6F2"/>
          </a:solidFill>
          <a:ln w="635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000000"/>
                </a:solidFill>
                <a:latin typeface="Meiryo UI"/>
                <a:ea typeface="Meiryo UI"/>
              </a:rPr>
              <a:t>登録データ（FHIR）</a:t>
            </a:r>
          </a:p>
        </p:txBody>
      </p:sp>
      <p:sp>
        <p:nvSpPr>
          <p:cNvPr id="506" name="Rounded Rectangle 505">
            <a:extLst>
              <a:ext uri="{FF2B5EF4-FFF2-40B4-BE49-F238E27FC236}">
                <a16:creationId xmlns:a16="http://schemas.microsoft.com/office/drawing/2014/main" id="{A14F27F3-4AB6-282B-E8E9-139799FA4B72}"/>
              </a:ext>
            </a:extLst>
          </p:cNvPr>
          <p:cNvSpPr/>
          <p:nvPr/>
        </p:nvSpPr>
        <p:spPr>
          <a:xfrm>
            <a:off x="648000" y="2304000"/>
            <a:ext cx="2736000" cy="1944000"/>
          </a:xfrm>
          <a:prstGeom prst="roundRect">
            <a:avLst>
              <a:gd name="adj" fmla="val 6000"/>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t"/>
          <a:lstStyle/>
          <a:p>
            <a:pPr algn="l"/>
            <a:r>
              <a:rPr sz="900" b="0" u="none" dirty="0" err="1">
                <a:solidFill>
                  <a:srgbClr val="000000"/>
                </a:solidFill>
                <a:latin typeface="Meiryo UI"/>
                <a:ea typeface="Meiryo UI"/>
              </a:rPr>
              <a:t>Bundleリソース</a:t>
            </a:r>
            <a:endParaRPr sz="900" b="0" u="none" dirty="0">
              <a:solidFill>
                <a:srgbClr val="000000"/>
              </a:solidFill>
              <a:latin typeface="Meiryo UI"/>
              <a:ea typeface="Meiryo UI"/>
            </a:endParaRPr>
          </a:p>
          <a:p>
            <a:pPr algn="l"/>
            <a:r>
              <a:rPr sz="900" b="0" u="none" dirty="0" err="1">
                <a:solidFill>
                  <a:srgbClr val="000000"/>
                </a:solidFill>
                <a:latin typeface="Meiryo UI"/>
                <a:ea typeface="Meiryo UI"/>
              </a:rPr>
              <a:t>患者名：厚労太郎</a:t>
            </a:r>
            <a:endParaRPr sz="900" b="0" u="none" dirty="0">
              <a:solidFill>
                <a:srgbClr val="000000"/>
              </a:solidFill>
              <a:latin typeface="Meiryo UI"/>
              <a:ea typeface="Meiryo UI"/>
            </a:endParaRPr>
          </a:p>
          <a:p>
            <a:pPr algn="l"/>
            <a:endParaRPr sz="900" b="0" u="none" dirty="0">
              <a:solidFill>
                <a:srgbClr val="000000"/>
              </a:solidFill>
              <a:latin typeface="Meiryo UI"/>
              <a:ea typeface="Meiryo UI"/>
            </a:endParaRPr>
          </a:p>
          <a:p>
            <a:pPr algn="l"/>
            <a:r>
              <a:rPr sz="900" b="1" u="none" dirty="0" err="1">
                <a:solidFill>
                  <a:srgbClr val="000000"/>
                </a:solidFill>
                <a:latin typeface="Meiryo UI"/>
                <a:ea typeface="Meiryo UI"/>
              </a:rPr>
              <a:t>Observationリソース</a:t>
            </a:r>
            <a:endParaRPr sz="900" b="1" u="none" dirty="0">
              <a:solidFill>
                <a:srgbClr val="000000"/>
              </a:solidFill>
              <a:latin typeface="Meiryo UI"/>
              <a:ea typeface="Meiryo UI"/>
            </a:endParaRPr>
          </a:p>
          <a:p>
            <a:pPr algn="l"/>
            <a:r>
              <a:rPr sz="1000" b="0" u="none" dirty="0" err="1">
                <a:solidFill>
                  <a:srgbClr val="000000"/>
                </a:solidFill>
                <a:latin typeface="Meiryo UI"/>
                <a:ea typeface="Meiryo UI"/>
              </a:rPr>
              <a:t>code.text：</a:t>
            </a:r>
            <a:r>
              <a:rPr sz="1000" b="1" u="none" dirty="0" err="1">
                <a:solidFill>
                  <a:srgbClr val="C00000"/>
                </a:solidFill>
                <a:latin typeface="Meiryo UI"/>
                <a:ea typeface="Meiryo UI"/>
              </a:rPr>
              <a:t>総タンパク</a:t>
            </a:r>
            <a:endParaRPr sz="1000" b="1" u="none" dirty="0">
              <a:solidFill>
                <a:srgbClr val="C00000"/>
              </a:solidFill>
              <a:latin typeface="Meiryo UI"/>
              <a:ea typeface="Meiryo UI"/>
            </a:endParaRPr>
          </a:p>
          <a:p>
            <a:pPr algn="l"/>
            <a:r>
              <a:rPr sz="1000" b="0" u="none" dirty="0">
                <a:solidFill>
                  <a:srgbClr val="000000"/>
                </a:solidFill>
                <a:latin typeface="Meiryo UI"/>
                <a:ea typeface="Meiryo UI"/>
              </a:rPr>
              <a:t>code.coding（JLAC10）</a:t>
            </a:r>
          </a:p>
          <a:p>
            <a:pPr algn="l"/>
            <a:r>
              <a:rPr sz="900" b="0" u="none" dirty="0">
                <a:solidFill>
                  <a:srgbClr val="000000"/>
                </a:solidFill>
                <a:latin typeface="Meiryo UI"/>
                <a:ea typeface="Meiryo UI"/>
              </a:rPr>
              <a:t>　code：（総蛋白のJLAC10コード）</a:t>
            </a:r>
          </a:p>
          <a:p>
            <a:pPr algn="l"/>
            <a:r>
              <a:rPr sz="1000" b="0" u="none" dirty="0">
                <a:solidFill>
                  <a:srgbClr val="000000"/>
                </a:solidFill>
                <a:latin typeface="Meiryo UI"/>
                <a:ea typeface="Meiryo UI"/>
              </a:rPr>
              <a:t>　</a:t>
            </a:r>
            <a:r>
              <a:rPr sz="1000" b="0" u="none" dirty="0" err="1">
                <a:solidFill>
                  <a:srgbClr val="000000"/>
                </a:solidFill>
                <a:latin typeface="Meiryo UI"/>
                <a:ea typeface="Meiryo UI"/>
              </a:rPr>
              <a:t>display：</a:t>
            </a:r>
            <a:r>
              <a:rPr sz="1000" b="1" u="none" dirty="0" err="1">
                <a:solidFill>
                  <a:srgbClr val="C00000"/>
                </a:solidFill>
                <a:latin typeface="Meiryo UI"/>
                <a:ea typeface="Meiryo UI"/>
              </a:rPr>
              <a:t>TP</a:t>
            </a:r>
            <a:endParaRPr sz="1000" b="1" u="none" dirty="0">
              <a:solidFill>
                <a:srgbClr val="C00000"/>
              </a:solidFill>
              <a:latin typeface="Meiryo UI"/>
              <a:ea typeface="Meiryo UI"/>
            </a:endParaRPr>
          </a:p>
          <a:p>
            <a:pPr algn="l"/>
            <a:r>
              <a:rPr sz="1000" b="0" u="none" dirty="0">
                <a:solidFill>
                  <a:srgbClr val="000000"/>
                </a:solidFill>
                <a:latin typeface="Meiryo UI"/>
                <a:ea typeface="Meiryo UI"/>
              </a:rPr>
              <a:t>valueQuantity：7.0 g/dL</a:t>
            </a:r>
          </a:p>
        </p:txBody>
      </p:sp>
      <p:sp>
        <p:nvSpPr>
          <p:cNvPr id="507" name="Rectangle 506">
            <a:extLst>
              <a:ext uri="{FF2B5EF4-FFF2-40B4-BE49-F238E27FC236}">
                <a16:creationId xmlns:a16="http://schemas.microsoft.com/office/drawing/2014/main" id="{ED1F4388-D986-CB4F-C88E-4DE8C2D638C4}"/>
              </a:ext>
            </a:extLst>
          </p:cNvPr>
          <p:cNvSpPr/>
          <p:nvPr/>
        </p:nvSpPr>
        <p:spPr>
          <a:xfrm>
            <a:off x="648000" y="4356000"/>
            <a:ext cx="2736000" cy="792000"/>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C00000"/>
                </a:solidFill>
                <a:latin typeface="Meiryo UI"/>
                <a:ea typeface="Meiryo UI"/>
              </a:rPr>
              <a:t>医療機関の項目名（code.text）と、</a:t>
            </a:r>
          </a:p>
          <a:p>
            <a:pPr algn="ctr"/>
            <a:r>
              <a:rPr sz="950" b="1" u="none">
                <a:solidFill>
                  <a:srgbClr val="C00000"/>
                </a:solidFill>
                <a:latin typeface="Meiryo UI"/>
                <a:ea typeface="Meiryo UI"/>
              </a:rPr>
              <a:t>JLAC10の固定の名称（display：TP）の</a:t>
            </a:r>
          </a:p>
          <a:p>
            <a:pPr algn="ctr"/>
            <a:r>
              <a:rPr sz="950" b="1" u="none">
                <a:solidFill>
                  <a:srgbClr val="C00000"/>
                </a:solidFill>
                <a:latin typeface="Meiryo UI"/>
                <a:ea typeface="Meiryo UI"/>
              </a:rPr>
              <a:t>両方が登録される</a:t>
            </a:r>
          </a:p>
        </p:txBody>
      </p:sp>
      <p:sp>
        <p:nvSpPr>
          <p:cNvPr id="508" name="Right Arrow 507">
            <a:extLst>
              <a:ext uri="{FF2B5EF4-FFF2-40B4-BE49-F238E27FC236}">
                <a16:creationId xmlns:a16="http://schemas.microsoft.com/office/drawing/2014/main" id="{45488B8B-EE04-C9BB-9588-5E3A97015D56}"/>
              </a:ext>
            </a:extLst>
          </p:cNvPr>
          <p:cNvSpPr/>
          <p:nvPr/>
        </p:nvSpPr>
        <p:spPr>
          <a:xfrm>
            <a:off x="3636000" y="2196000"/>
            <a:ext cx="468000" cy="468000"/>
          </a:xfrm>
          <a:prstGeom prst="rightArrow">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9" name="Right Arrow 508">
            <a:extLst>
              <a:ext uri="{FF2B5EF4-FFF2-40B4-BE49-F238E27FC236}">
                <a16:creationId xmlns:a16="http://schemas.microsoft.com/office/drawing/2014/main" id="{DBF04996-6D07-7D58-B713-760101019C74}"/>
              </a:ext>
            </a:extLst>
          </p:cNvPr>
          <p:cNvSpPr/>
          <p:nvPr/>
        </p:nvSpPr>
        <p:spPr>
          <a:xfrm>
            <a:off x="3636000" y="4068000"/>
            <a:ext cx="468000" cy="468000"/>
          </a:xfrm>
          <a:prstGeom prst="rightArrow">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0" name="Rectangle 509">
            <a:extLst>
              <a:ext uri="{FF2B5EF4-FFF2-40B4-BE49-F238E27FC236}">
                <a16:creationId xmlns:a16="http://schemas.microsoft.com/office/drawing/2014/main" id="{DE1CC509-95C0-ED7A-D8AA-37AD4B3DEB9E}"/>
              </a:ext>
            </a:extLst>
          </p:cNvPr>
          <p:cNvSpPr/>
          <p:nvPr/>
        </p:nvSpPr>
        <p:spPr>
          <a:xfrm>
            <a:off x="4212000" y="1620000"/>
            <a:ext cx="3240000" cy="16200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1" name="Rectangle 510">
            <a:extLst>
              <a:ext uri="{FF2B5EF4-FFF2-40B4-BE49-F238E27FC236}">
                <a16:creationId xmlns:a16="http://schemas.microsoft.com/office/drawing/2014/main" id="{2B06B268-E079-B758-9EF8-49836575B94C}"/>
              </a:ext>
            </a:extLst>
          </p:cNvPr>
          <p:cNvSpPr/>
          <p:nvPr/>
        </p:nvSpPr>
        <p:spPr>
          <a:xfrm>
            <a:off x="4212000" y="1620000"/>
            <a:ext cx="3240000" cy="288000"/>
          </a:xfrm>
          <a:prstGeom prst="rect">
            <a:avLst/>
          </a:prstGeom>
          <a:solidFill>
            <a:srgbClr val="C5D9F1"/>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1050" b="1" u="none">
                <a:solidFill>
                  <a:srgbClr val="000000"/>
                </a:solidFill>
                <a:latin typeface="Meiryo UI"/>
                <a:ea typeface="Meiryo UI"/>
              </a:rPr>
              <a:t>自院（医療機関A）</a:t>
            </a:r>
          </a:p>
        </p:txBody>
      </p:sp>
      <p:sp>
        <p:nvSpPr>
          <p:cNvPr id="512" name="Rectangle 511">
            <a:extLst>
              <a:ext uri="{FF2B5EF4-FFF2-40B4-BE49-F238E27FC236}">
                <a16:creationId xmlns:a16="http://schemas.microsoft.com/office/drawing/2014/main" id="{59466B6E-670A-DB52-600F-C5B724F9474F}"/>
              </a:ext>
            </a:extLst>
          </p:cNvPr>
          <p:cNvSpPr/>
          <p:nvPr/>
        </p:nvSpPr>
        <p:spPr>
          <a:xfrm>
            <a:off x="4283999" y="1980000"/>
            <a:ext cx="3096000" cy="234000"/>
          </a:xfrm>
          <a:prstGeom prst="rect">
            <a:avLst/>
          </a:prstGeom>
          <a:solidFill>
            <a:srgbClr val="DCE6F2"/>
          </a:solidFill>
          <a:ln w="635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000000"/>
                </a:solidFill>
                <a:latin typeface="Meiryo UI"/>
                <a:ea typeface="Meiryo UI"/>
              </a:rPr>
              <a:t>臨床情報詳細画面（資格確認端末）</a:t>
            </a:r>
          </a:p>
        </p:txBody>
      </p:sp>
      <p:sp>
        <p:nvSpPr>
          <p:cNvPr id="513" name="Rounded Rectangle 512">
            <a:extLst>
              <a:ext uri="{FF2B5EF4-FFF2-40B4-BE49-F238E27FC236}">
                <a16:creationId xmlns:a16="http://schemas.microsoft.com/office/drawing/2014/main" id="{1CB53322-9268-D600-D192-2952CA6BDBC1}"/>
              </a:ext>
            </a:extLst>
          </p:cNvPr>
          <p:cNvSpPr/>
          <p:nvPr/>
        </p:nvSpPr>
        <p:spPr>
          <a:xfrm>
            <a:off x="4320000" y="2286000"/>
            <a:ext cx="3024000" cy="882000"/>
          </a:xfrm>
          <a:prstGeom prst="roundRect">
            <a:avLst>
              <a:gd name="adj" fmla="val 6000"/>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t"/>
          <a:lstStyle/>
          <a:p>
            <a:pPr algn="l"/>
            <a:r>
              <a:rPr sz="950" b="0" u="none">
                <a:solidFill>
                  <a:srgbClr val="000000"/>
                </a:solidFill>
                <a:latin typeface="Meiryo UI"/>
                <a:ea typeface="Meiryo UI"/>
              </a:rPr>
              <a:t>患者名：厚労太郎</a:t>
            </a:r>
          </a:p>
        </p:txBody>
      </p:sp>
      <p:sp>
        <p:nvSpPr>
          <p:cNvPr id="514" name="Rectangle 513">
            <a:extLst>
              <a:ext uri="{FF2B5EF4-FFF2-40B4-BE49-F238E27FC236}">
                <a16:creationId xmlns:a16="http://schemas.microsoft.com/office/drawing/2014/main" id="{491FF31E-4AD7-24BE-6D09-FEC53DEEDF3D}"/>
              </a:ext>
            </a:extLst>
          </p:cNvPr>
          <p:cNvSpPr/>
          <p:nvPr/>
        </p:nvSpPr>
        <p:spPr>
          <a:xfrm>
            <a:off x="4428000" y="2502000"/>
            <a:ext cx="2808000" cy="324000"/>
          </a:xfrm>
          <a:prstGeom prst="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r>
              <a:rPr sz="1100" b="0" u="none">
                <a:solidFill>
                  <a:srgbClr val="000000"/>
                </a:solidFill>
                <a:latin typeface="Meiryo UI"/>
                <a:ea typeface="Meiryo UI"/>
              </a:rPr>
              <a:t>検査項目：</a:t>
            </a:r>
            <a:r>
              <a:rPr sz="1200" b="1" u="none">
                <a:solidFill>
                  <a:srgbClr val="C00000"/>
                </a:solidFill>
                <a:latin typeface="Meiryo UI"/>
                <a:ea typeface="Meiryo UI"/>
              </a:rPr>
              <a:t>総タンパク</a:t>
            </a:r>
          </a:p>
        </p:txBody>
      </p:sp>
      <p:sp>
        <p:nvSpPr>
          <p:cNvPr id="515" name="TextBox 514">
            <a:extLst>
              <a:ext uri="{FF2B5EF4-FFF2-40B4-BE49-F238E27FC236}">
                <a16:creationId xmlns:a16="http://schemas.microsoft.com/office/drawing/2014/main" id="{86551463-CCF5-D9CE-76FA-AEB3BBAB3AB6}"/>
              </a:ext>
            </a:extLst>
          </p:cNvPr>
          <p:cNvSpPr txBox="1"/>
          <p:nvPr/>
        </p:nvSpPr>
        <p:spPr>
          <a:xfrm>
            <a:off x="4428000" y="2844000"/>
            <a:ext cx="2808000" cy="251999"/>
          </a:xfrm>
          <a:prstGeom prst="rect">
            <a:avLst/>
          </a:prstGeom>
          <a:noFill/>
        </p:spPr>
        <p:txBody>
          <a:bodyPr wrap="square" lIns="54000" tIns="18000" rIns="54000" bIns="18000" anchor="t">
            <a:spAutoFit/>
          </a:bodyPr>
          <a:lstStyle/>
          <a:p>
            <a:pPr algn="l"/>
            <a:r>
              <a:rPr sz="950" b="0" u="none">
                <a:solidFill>
                  <a:srgbClr val="000000"/>
                </a:solidFill>
                <a:latin typeface="Meiryo UI"/>
                <a:ea typeface="Meiryo UI"/>
              </a:rPr>
              <a:t>検査結果：7.0 g/dL</a:t>
            </a:r>
          </a:p>
        </p:txBody>
      </p:sp>
      <p:sp>
        <p:nvSpPr>
          <p:cNvPr id="516" name="Rectangle 515">
            <a:extLst>
              <a:ext uri="{FF2B5EF4-FFF2-40B4-BE49-F238E27FC236}">
                <a16:creationId xmlns:a16="http://schemas.microsoft.com/office/drawing/2014/main" id="{0A2B7657-7017-D0DD-C69B-F6B017969D00}"/>
              </a:ext>
            </a:extLst>
          </p:cNvPr>
          <p:cNvSpPr/>
          <p:nvPr/>
        </p:nvSpPr>
        <p:spPr>
          <a:xfrm>
            <a:off x="7560000" y="1944000"/>
            <a:ext cx="1835999" cy="1007999"/>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C00000"/>
                </a:solidFill>
                <a:latin typeface="Meiryo UI"/>
                <a:ea typeface="Meiryo UI"/>
              </a:rPr>
              <a:t>自院の画面は、</a:t>
            </a:r>
          </a:p>
          <a:p>
            <a:pPr algn="ctr"/>
            <a:r>
              <a:rPr sz="950" b="1" u="none">
                <a:solidFill>
                  <a:srgbClr val="C00000"/>
                </a:solidFill>
                <a:latin typeface="Meiryo UI"/>
                <a:ea typeface="Meiryo UI"/>
              </a:rPr>
              <a:t>code.textを表示</a:t>
            </a:r>
          </a:p>
          <a:p>
            <a:pPr algn="ctr"/>
            <a:r>
              <a:rPr sz="950" b="1" u="none">
                <a:solidFill>
                  <a:srgbClr val="C00000"/>
                </a:solidFill>
                <a:latin typeface="Meiryo UI"/>
                <a:ea typeface="Meiryo UI"/>
              </a:rPr>
              <a:t>→「総タンパク」</a:t>
            </a:r>
          </a:p>
        </p:txBody>
      </p:sp>
      <p:sp>
        <p:nvSpPr>
          <p:cNvPr id="517" name="Rectangle 516">
            <a:extLst>
              <a:ext uri="{FF2B5EF4-FFF2-40B4-BE49-F238E27FC236}">
                <a16:creationId xmlns:a16="http://schemas.microsoft.com/office/drawing/2014/main" id="{F62258A7-21F8-7B04-9953-C8063928E667}"/>
              </a:ext>
            </a:extLst>
          </p:cNvPr>
          <p:cNvSpPr/>
          <p:nvPr/>
        </p:nvSpPr>
        <p:spPr>
          <a:xfrm>
            <a:off x="4212000" y="3636000"/>
            <a:ext cx="3240000" cy="16200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8" name="Rectangle 517">
            <a:extLst>
              <a:ext uri="{FF2B5EF4-FFF2-40B4-BE49-F238E27FC236}">
                <a16:creationId xmlns:a16="http://schemas.microsoft.com/office/drawing/2014/main" id="{BCCB5931-8F35-952F-9A9A-98F51337599F}"/>
              </a:ext>
            </a:extLst>
          </p:cNvPr>
          <p:cNvSpPr/>
          <p:nvPr/>
        </p:nvSpPr>
        <p:spPr>
          <a:xfrm>
            <a:off x="4212000" y="3636000"/>
            <a:ext cx="3240000" cy="288000"/>
          </a:xfrm>
          <a:prstGeom prst="rect">
            <a:avLst/>
          </a:prstGeom>
          <a:solidFill>
            <a:srgbClr val="C5D9F1"/>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1050" b="1" u="none">
                <a:solidFill>
                  <a:srgbClr val="000000"/>
                </a:solidFill>
                <a:latin typeface="Meiryo UI"/>
                <a:ea typeface="Meiryo UI"/>
              </a:rPr>
              <a:t>他院（医療機関B）</a:t>
            </a:r>
          </a:p>
        </p:txBody>
      </p:sp>
      <p:sp>
        <p:nvSpPr>
          <p:cNvPr id="519" name="Rectangle 518">
            <a:extLst>
              <a:ext uri="{FF2B5EF4-FFF2-40B4-BE49-F238E27FC236}">
                <a16:creationId xmlns:a16="http://schemas.microsoft.com/office/drawing/2014/main" id="{D5307045-B985-D474-658C-1DA2DFA8A3C1}"/>
              </a:ext>
            </a:extLst>
          </p:cNvPr>
          <p:cNvSpPr/>
          <p:nvPr/>
        </p:nvSpPr>
        <p:spPr>
          <a:xfrm>
            <a:off x="4283999" y="3996000"/>
            <a:ext cx="3096000" cy="234000"/>
          </a:xfrm>
          <a:prstGeom prst="rect">
            <a:avLst/>
          </a:prstGeom>
          <a:solidFill>
            <a:srgbClr val="DCE6F2"/>
          </a:solidFill>
          <a:ln w="635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000000"/>
                </a:solidFill>
                <a:latin typeface="Meiryo UI"/>
                <a:ea typeface="Meiryo UI"/>
              </a:rPr>
              <a:t>臨床情報一覧（PDF帳票）</a:t>
            </a:r>
          </a:p>
        </p:txBody>
      </p:sp>
      <p:sp>
        <p:nvSpPr>
          <p:cNvPr id="520" name="Rounded Rectangle 519">
            <a:extLst>
              <a:ext uri="{FF2B5EF4-FFF2-40B4-BE49-F238E27FC236}">
                <a16:creationId xmlns:a16="http://schemas.microsoft.com/office/drawing/2014/main" id="{7DF426A5-2FBC-B7FD-2FEF-CF096570F972}"/>
              </a:ext>
            </a:extLst>
          </p:cNvPr>
          <p:cNvSpPr/>
          <p:nvPr/>
        </p:nvSpPr>
        <p:spPr>
          <a:xfrm>
            <a:off x="4320000" y="4302000"/>
            <a:ext cx="3024000" cy="882000"/>
          </a:xfrm>
          <a:prstGeom prst="roundRect">
            <a:avLst>
              <a:gd name="adj" fmla="val 6000"/>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t"/>
          <a:lstStyle/>
          <a:p>
            <a:pPr algn="l"/>
            <a:r>
              <a:rPr sz="950" b="0" u="none">
                <a:solidFill>
                  <a:srgbClr val="000000"/>
                </a:solidFill>
                <a:latin typeface="Meiryo UI"/>
                <a:ea typeface="Meiryo UI"/>
              </a:rPr>
              <a:t>患者名：厚労太郎</a:t>
            </a:r>
          </a:p>
        </p:txBody>
      </p:sp>
      <p:sp>
        <p:nvSpPr>
          <p:cNvPr id="521" name="Rectangle 520">
            <a:extLst>
              <a:ext uri="{FF2B5EF4-FFF2-40B4-BE49-F238E27FC236}">
                <a16:creationId xmlns:a16="http://schemas.microsoft.com/office/drawing/2014/main" id="{F6F1DDE1-7402-857D-E55F-ACD57070CCFA}"/>
              </a:ext>
            </a:extLst>
          </p:cNvPr>
          <p:cNvSpPr/>
          <p:nvPr/>
        </p:nvSpPr>
        <p:spPr>
          <a:xfrm>
            <a:off x="4428000" y="4518000"/>
            <a:ext cx="2808000" cy="324000"/>
          </a:xfrm>
          <a:prstGeom prst="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r>
              <a:rPr sz="1100" b="0" u="none">
                <a:solidFill>
                  <a:srgbClr val="000000"/>
                </a:solidFill>
                <a:latin typeface="Meiryo UI"/>
                <a:ea typeface="Meiryo UI"/>
              </a:rPr>
              <a:t>検査項目：</a:t>
            </a:r>
            <a:r>
              <a:rPr sz="1200" b="1" u="none">
                <a:solidFill>
                  <a:srgbClr val="C00000"/>
                </a:solidFill>
                <a:latin typeface="Meiryo UI"/>
                <a:ea typeface="Meiryo UI"/>
              </a:rPr>
              <a:t>TP</a:t>
            </a:r>
          </a:p>
        </p:txBody>
      </p:sp>
      <p:sp>
        <p:nvSpPr>
          <p:cNvPr id="522" name="TextBox 521">
            <a:extLst>
              <a:ext uri="{FF2B5EF4-FFF2-40B4-BE49-F238E27FC236}">
                <a16:creationId xmlns:a16="http://schemas.microsoft.com/office/drawing/2014/main" id="{AE4A3250-FD85-D855-E508-82F218F986A2}"/>
              </a:ext>
            </a:extLst>
          </p:cNvPr>
          <p:cNvSpPr txBox="1"/>
          <p:nvPr/>
        </p:nvSpPr>
        <p:spPr>
          <a:xfrm>
            <a:off x="4428000" y="4860000"/>
            <a:ext cx="2808000" cy="251999"/>
          </a:xfrm>
          <a:prstGeom prst="rect">
            <a:avLst/>
          </a:prstGeom>
          <a:noFill/>
        </p:spPr>
        <p:txBody>
          <a:bodyPr wrap="square" lIns="54000" tIns="18000" rIns="54000" bIns="18000" anchor="t">
            <a:spAutoFit/>
          </a:bodyPr>
          <a:lstStyle/>
          <a:p>
            <a:pPr algn="l"/>
            <a:r>
              <a:rPr sz="950" b="0" u="none">
                <a:solidFill>
                  <a:srgbClr val="000000"/>
                </a:solidFill>
                <a:latin typeface="Meiryo UI"/>
                <a:ea typeface="Meiryo UI"/>
              </a:rPr>
              <a:t>検査結果：7.0 g/dL</a:t>
            </a:r>
          </a:p>
        </p:txBody>
      </p:sp>
      <p:sp>
        <p:nvSpPr>
          <p:cNvPr id="523" name="Rectangle 522">
            <a:extLst>
              <a:ext uri="{FF2B5EF4-FFF2-40B4-BE49-F238E27FC236}">
                <a16:creationId xmlns:a16="http://schemas.microsoft.com/office/drawing/2014/main" id="{638F4E94-506A-0744-9401-9BC5819A9896}"/>
              </a:ext>
            </a:extLst>
          </p:cNvPr>
          <p:cNvSpPr/>
          <p:nvPr/>
        </p:nvSpPr>
        <p:spPr>
          <a:xfrm>
            <a:off x="7560000" y="3960000"/>
            <a:ext cx="1835999" cy="1007999"/>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950" b="1" u="none">
                <a:solidFill>
                  <a:srgbClr val="C00000"/>
                </a:solidFill>
                <a:latin typeface="Meiryo UI"/>
                <a:ea typeface="Meiryo UI"/>
              </a:rPr>
              <a:t>他院のPDFは、</a:t>
            </a:r>
          </a:p>
          <a:p>
            <a:pPr algn="ctr"/>
            <a:r>
              <a:rPr sz="950" b="1" u="none">
                <a:solidFill>
                  <a:srgbClr val="C00000"/>
                </a:solidFill>
                <a:latin typeface="Meiryo UI"/>
                <a:ea typeface="Meiryo UI"/>
              </a:rPr>
              <a:t>JLAC10のdisplayを表示※</a:t>
            </a:r>
          </a:p>
          <a:p>
            <a:pPr algn="ctr"/>
            <a:r>
              <a:rPr sz="950" b="1" u="none">
                <a:solidFill>
                  <a:srgbClr val="C00000"/>
                </a:solidFill>
                <a:latin typeface="Meiryo UI"/>
                <a:ea typeface="Meiryo UI"/>
              </a:rPr>
              <a:t>→「TP」</a:t>
            </a:r>
          </a:p>
        </p:txBody>
      </p:sp>
      <p:sp>
        <p:nvSpPr>
          <p:cNvPr id="524" name="TextBox 523">
            <a:extLst>
              <a:ext uri="{FF2B5EF4-FFF2-40B4-BE49-F238E27FC236}">
                <a16:creationId xmlns:a16="http://schemas.microsoft.com/office/drawing/2014/main" id="{B0277FF0-9228-25AB-07AF-1B64EC0AB109}"/>
              </a:ext>
            </a:extLst>
          </p:cNvPr>
          <p:cNvSpPr txBox="1"/>
          <p:nvPr/>
        </p:nvSpPr>
        <p:spPr>
          <a:xfrm>
            <a:off x="5544000" y="3221999"/>
            <a:ext cx="576000" cy="432000"/>
          </a:xfrm>
          <a:prstGeom prst="rect">
            <a:avLst/>
          </a:prstGeom>
          <a:noFill/>
        </p:spPr>
        <p:txBody>
          <a:bodyPr wrap="square" lIns="54000" tIns="18000" rIns="54000" bIns="18000" anchor="ctr">
            <a:spAutoFit/>
          </a:bodyPr>
          <a:lstStyle/>
          <a:p>
            <a:pPr algn="ctr"/>
            <a:r>
              <a:rPr sz="2400" b="1" u="none">
                <a:solidFill>
                  <a:srgbClr val="1F3864"/>
                </a:solidFill>
                <a:latin typeface="Meiryo UI"/>
                <a:ea typeface="Meiryo UI"/>
              </a:rPr>
              <a:t>≠</a:t>
            </a:r>
          </a:p>
        </p:txBody>
      </p:sp>
      <p:sp>
        <p:nvSpPr>
          <p:cNvPr id="525" name="Rectangle 524">
            <a:extLst>
              <a:ext uri="{FF2B5EF4-FFF2-40B4-BE49-F238E27FC236}">
                <a16:creationId xmlns:a16="http://schemas.microsoft.com/office/drawing/2014/main" id="{8D158772-D82B-8F15-4E44-085C987643FF}"/>
              </a:ext>
            </a:extLst>
          </p:cNvPr>
          <p:cNvSpPr/>
          <p:nvPr/>
        </p:nvSpPr>
        <p:spPr>
          <a:xfrm>
            <a:off x="503999" y="5400000"/>
            <a:ext cx="8892000" cy="432000"/>
          </a:xfrm>
          <a:prstGeom prst="rect">
            <a:avLst/>
          </a:prstGeom>
          <a:solidFill>
            <a:srgbClr val="FBE5D6"/>
          </a:solidFill>
          <a:ln w="19050">
            <a:solidFill>
              <a:srgbClr val="F79646"/>
            </a:solidFill>
          </a:ln>
          <a:effectLst/>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ctr"/>
            <a:r>
              <a:rPr sz="1100" b="1" u="none">
                <a:solidFill>
                  <a:srgbClr val="000000"/>
                </a:solidFill>
                <a:latin typeface="Meiryo UI"/>
                <a:ea typeface="Meiryo UI"/>
              </a:rPr>
              <a:t>同じ登録データでも、自院が確認する名称（総タンパク）と他院が見る名称（TP）が異なり、自院の画面では他院に届く名称を確認できない</a:t>
            </a:r>
          </a:p>
        </p:txBody>
      </p:sp>
      <p:sp>
        <p:nvSpPr>
          <p:cNvPr id="526" name="TextBox 525">
            <a:extLst>
              <a:ext uri="{FF2B5EF4-FFF2-40B4-BE49-F238E27FC236}">
                <a16:creationId xmlns:a16="http://schemas.microsoft.com/office/drawing/2014/main" id="{9B906314-3FF1-2250-3114-A49CE495909B}"/>
              </a:ext>
            </a:extLst>
          </p:cNvPr>
          <p:cNvSpPr txBox="1"/>
          <p:nvPr/>
        </p:nvSpPr>
        <p:spPr>
          <a:xfrm>
            <a:off x="503999" y="5903999"/>
            <a:ext cx="8892000" cy="432000"/>
          </a:xfrm>
          <a:prstGeom prst="rect">
            <a:avLst/>
          </a:prstGeom>
          <a:noFill/>
        </p:spPr>
        <p:txBody>
          <a:bodyPr wrap="square" lIns="54000" tIns="18000" rIns="54000" bIns="18000" anchor="t">
            <a:spAutoFit/>
          </a:bodyPr>
          <a:lstStyle/>
          <a:p>
            <a:pPr algn="l"/>
            <a:r>
              <a:rPr sz="900" b="0" u="none" dirty="0">
                <a:solidFill>
                  <a:srgbClr val="000000"/>
                </a:solidFill>
                <a:latin typeface="Meiryo UI"/>
                <a:ea typeface="Meiryo UI"/>
              </a:rPr>
              <a:t>※</a:t>
            </a:r>
            <a:r>
              <a:rPr sz="900" b="0" u="none" dirty="0" err="1">
                <a:solidFill>
                  <a:srgbClr val="000000"/>
                </a:solidFill>
                <a:latin typeface="Meiryo UI"/>
                <a:ea typeface="Meiryo UI"/>
              </a:rPr>
              <a:t>技術解説書の記載どおりFHIR項目名称に変換している場合は「総蛋白</a:t>
            </a:r>
            <a:r>
              <a:rPr sz="900" b="0" u="none" dirty="0">
                <a:solidFill>
                  <a:srgbClr val="000000"/>
                </a:solidFill>
                <a:latin typeface="Meiryo UI"/>
                <a:ea typeface="Meiryo UI"/>
              </a:rPr>
              <a:t>(TP)」。</a:t>
            </a:r>
            <a:r>
              <a:rPr sz="900" b="0" u="none" dirty="0" err="1">
                <a:solidFill>
                  <a:srgbClr val="000000"/>
                </a:solidFill>
                <a:latin typeface="Meiryo UI"/>
                <a:ea typeface="Meiryo UI"/>
              </a:rPr>
              <a:t>いずれの場合も自院の画面の「総タンパク」とは異なる（変換の有無は機構に確認中</a:t>
            </a:r>
            <a:r>
              <a:rPr sz="900" b="0" u="none" dirty="0">
                <a:solidFill>
                  <a:srgbClr val="000000"/>
                </a:solidFill>
                <a:latin typeface="Meiryo UI"/>
                <a:ea typeface="Meiryo UI"/>
              </a:rPr>
              <a:t>）。</a:t>
            </a:r>
          </a:p>
          <a:p>
            <a:pPr algn="l"/>
            <a:r>
              <a:rPr sz="900" b="0" u="none" dirty="0">
                <a:solidFill>
                  <a:srgbClr val="000000"/>
                </a:solidFill>
                <a:latin typeface="Meiryo UI"/>
                <a:ea typeface="Meiryo UI"/>
              </a:rPr>
              <a:t>※名称・値は説明のための例。PDFの名称は、DX機構の調査結果（10/6）の記載「JLAC10のコードセットのディスプレイ値」と、JLACコードマスタのFHIR識別文字列（総蛋白＝TP）による。</a:t>
            </a:r>
          </a:p>
        </p:txBody>
      </p:sp>
    </p:spTree>
    <p:extLst>
      <p:ext uri="{BB962C8B-B14F-4D97-AF65-F5344CB8AC3E}">
        <p14:creationId xmlns:p14="http://schemas.microsoft.com/office/powerpoint/2010/main" val="6262167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ATE" val="2011/01/18 15:52:48"/>
  <p:tag name="STYLE" val="AcnSubjectTitle"/>
</p:tagLst>
</file>

<file path=ppt/tags/tag2.xml><?xml version="1.0" encoding="utf-8"?>
<p:tagLst xmlns:a="http://schemas.openxmlformats.org/drawingml/2006/main" xmlns:r="http://schemas.openxmlformats.org/officeDocument/2006/relationships" xmlns:p="http://schemas.openxmlformats.org/presentationml/2006/main">
  <p:tag name="DATE" val="2011/01/18 15:52:54"/>
  <p:tag name="STYLE" val="AcnUnitofMeasure"/>
</p:tagLst>
</file>

<file path=ppt/tags/tag3.xml><?xml version="1.0" encoding="utf-8"?>
<p:tagLst xmlns:a="http://schemas.openxmlformats.org/drawingml/2006/main" xmlns:r="http://schemas.openxmlformats.org/officeDocument/2006/relationships" xmlns:p="http://schemas.openxmlformats.org/presentationml/2006/main">
  <p:tag name="DATE" val="2011/01/18 15:55:34"/>
  <p:tag name="STYLE" val="AcnRoadmap"/>
</p:tagLst>
</file>

<file path=ppt/tags/tag4.xml><?xml version="1.0" encoding="utf-8"?>
<p:tagLst xmlns:a="http://schemas.openxmlformats.org/drawingml/2006/main" xmlns:r="http://schemas.openxmlformats.org/officeDocument/2006/relationships" xmlns:p="http://schemas.openxmlformats.org/presentationml/2006/main">
  <p:tag name="DATE" val="2011/01/18 15:55:37"/>
  <p:tag name="STYLE" val="AcnStamp"/>
</p:tagLst>
</file>

<file path=ppt/tags/tag5.xml><?xml version="1.0" encoding="utf-8"?>
<p:tagLst xmlns:a="http://schemas.openxmlformats.org/drawingml/2006/main" xmlns:r="http://schemas.openxmlformats.org/officeDocument/2006/relationships" xmlns:p="http://schemas.openxmlformats.org/presentationml/2006/main">
  <p:tag name="DATE" val="2011/01/18 15:55:37"/>
  <p:tag name="STYLE" val="AcnStpConnector"/>
</p:tagLst>
</file>

<file path=ppt/tags/tag6.xml><?xml version="1.0" encoding="utf-8"?>
<p:tagLst xmlns:a="http://schemas.openxmlformats.org/drawingml/2006/main" xmlns:r="http://schemas.openxmlformats.org/officeDocument/2006/relationships" xmlns:p="http://schemas.openxmlformats.org/presentationml/2006/main">
  <p:tag name="DATE" val="2011/01/18 15:55:37"/>
  <p:tag name="STYLE" val="AcnStpConnector"/>
</p:tagLst>
</file>

<file path=ppt/tags/tag7.xml><?xml version="1.0" encoding="utf-8"?>
<p:tagLst xmlns:a="http://schemas.openxmlformats.org/drawingml/2006/main" xmlns:r="http://schemas.openxmlformats.org/officeDocument/2006/relationships" xmlns:p="http://schemas.openxmlformats.org/presentationml/2006/main">
  <p:tag name="DATE" val="2011/01/18 15:59:16"/>
  <p:tag name="STYLE" val="AcnFootno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DATE" val="2025/09/10 16:00:42"/>
  <p:tag name="STYLE" val="AcnSubjectTitle"/>
</p:tagLst>
</file>

<file path=ppt/tags/tag10.xml><?xml version="1.0" encoding="utf-8"?>
<p:tagLst xmlns:a="http://schemas.openxmlformats.org/drawingml/2006/main" xmlns:r="http://schemas.openxmlformats.org/officeDocument/2006/relationships" xmlns:p="http://schemas.openxmlformats.org/presentationml/2006/main">
  <p:tag name="DATE" val="2025/09/10 16:00:42"/>
  <p:tag name="STYLE" val="AcnFootnote"/>
</p:tagLst>
</file>

<file path=ppt/theme/theme1.xml><?xml version="1.0" encoding="utf-8"?>
<a:theme xmlns:a="http://schemas.openxmlformats.org/drawingml/2006/main" name="MyTemplate">
  <a:themeElements>
    <a:clrScheme name="オレンジ">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Masumoto Style">
      <a:majorFont>
        <a:latin typeface="Century"/>
        <a:ea typeface="HGPｺﾞｼｯｸM"/>
        <a:cs typeface=""/>
      </a:majorFont>
      <a:minorFont>
        <a:latin typeface="Century"/>
        <a:ea typeface="HGPｺﾞｼｯｸ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75000"/>
          </a:schemeClr>
        </a:solidFill>
        <a:ln>
          <a:noFill/>
        </a:ln>
      </a:spPr>
      <a:bodyPr vert="horz" wrap="square" rtlCol="0" anchor="ctr">
        <a:noAutofit/>
      </a:bodyPr>
      <a:lstStyle>
        <a:defPPr algn="ctr">
          <a:defRPr kumimoji="1" sz="1000" dirty="0" smtClean="0">
            <a:latin typeface="Meiryo UI" panose="020B0604030504040204" pitchFamily="50" charset="-128"/>
            <a:ea typeface="Meiryo UI" panose="020B0604030504040204"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80000"/>
          </a:lnSpc>
          <a:spcBef>
            <a:spcPct val="0"/>
          </a:spcBef>
          <a:spcAft>
            <a:spcPct val="0"/>
          </a:spcAft>
          <a:buClrTx/>
          <a:buSzTx/>
          <a:buFontTx/>
          <a:buNone/>
          <a:tabLst/>
          <a:defRPr kumimoji="0" lang="en-AU" sz="3200" b="1" i="0" u="none" strike="noStrike" cap="none" normalizeH="0" baseline="0" smtClean="0">
            <a:ln>
              <a:noFill/>
            </a:ln>
            <a:solidFill>
              <a:schemeClr val="tx1"/>
            </a:solidFill>
            <a:effectLst/>
            <a:latin typeface="Arial" charset="0"/>
          </a:defRPr>
        </a:defPPr>
      </a:lstStyle>
    </a:lnDef>
  </a:objectDefaults>
  <a:extraClrSchemeLst>
    <a:extraClrScheme>
      <a:clrScheme name="InterpretationA_full 1">
        <a:dk1>
          <a:srgbClr val="000000"/>
        </a:dk1>
        <a:lt1>
          <a:srgbClr val="FFFFFF"/>
        </a:lt1>
        <a:dk2>
          <a:srgbClr val="000000"/>
        </a:dk2>
        <a:lt2>
          <a:srgbClr val="FFFFFF"/>
        </a:lt2>
        <a:accent1>
          <a:srgbClr val="969696"/>
        </a:accent1>
        <a:accent2>
          <a:srgbClr val="EAEAEA"/>
        </a:accent2>
        <a:accent3>
          <a:srgbClr val="FFFFFF"/>
        </a:accent3>
        <a:accent4>
          <a:srgbClr val="000000"/>
        </a:accent4>
        <a:accent5>
          <a:srgbClr val="C9C9C9"/>
        </a:accent5>
        <a:accent6>
          <a:srgbClr val="D4D4D4"/>
        </a:accent6>
        <a:hlink>
          <a:srgbClr val="5F5F5F"/>
        </a:hlink>
        <a:folHlink>
          <a:srgbClr val="CBCBCB"/>
        </a:folHlink>
      </a:clrScheme>
      <a:clrMap bg1="lt1" tx1="dk1" bg2="lt2" tx2="dk2" accent1="accent1" accent2="accent2" accent3="accent3" accent4="accent4" accent5="accent5" accent6="accent6" hlink="hlink" folHlink="folHlink"/>
    </a:extraClrScheme>
    <a:extraClrScheme>
      <a:clrScheme name="InterpretationA_full 2">
        <a:dk1>
          <a:srgbClr val="000000"/>
        </a:dk1>
        <a:lt1>
          <a:srgbClr val="FFFFFF"/>
        </a:lt1>
        <a:dk2>
          <a:srgbClr val="F8F8F8"/>
        </a:dk2>
        <a:lt2>
          <a:srgbClr val="C0C0C0"/>
        </a:lt2>
        <a:accent1>
          <a:srgbClr val="00AA99"/>
        </a:accent1>
        <a:accent2>
          <a:srgbClr val="DD4411"/>
        </a:accent2>
        <a:accent3>
          <a:srgbClr val="FFFFFF"/>
        </a:accent3>
        <a:accent4>
          <a:srgbClr val="000000"/>
        </a:accent4>
        <a:accent5>
          <a:srgbClr val="AAD2CA"/>
        </a:accent5>
        <a:accent6>
          <a:srgbClr val="C83D0E"/>
        </a:accent6>
        <a:hlink>
          <a:srgbClr val="BBBB00"/>
        </a:hlink>
        <a:folHlink>
          <a:srgbClr val="660000"/>
        </a:folHlink>
      </a:clrScheme>
      <a:clrMap bg1="lt1" tx1="dk1" bg2="lt2" tx2="dk2" accent1="accent1" accent2="accent2" accent3="accent3" accent4="accent4" accent5="accent5" accent6="accent6" hlink="hlink" folHlink="folHlink"/>
    </a:extraClrScheme>
    <a:extraClrScheme>
      <a:clrScheme name="InterpretationA_full 3">
        <a:dk1>
          <a:srgbClr val="000000"/>
        </a:dk1>
        <a:lt1>
          <a:srgbClr val="FFFFFF"/>
        </a:lt1>
        <a:dk2>
          <a:srgbClr val="F8F8F8"/>
        </a:dk2>
        <a:lt2>
          <a:srgbClr val="C0C0C0"/>
        </a:lt2>
        <a:accent1>
          <a:srgbClr val="AA1133"/>
        </a:accent1>
        <a:accent2>
          <a:srgbClr val="66AA44"/>
        </a:accent2>
        <a:accent3>
          <a:srgbClr val="FFFFFF"/>
        </a:accent3>
        <a:accent4>
          <a:srgbClr val="000000"/>
        </a:accent4>
        <a:accent5>
          <a:srgbClr val="D2AAAD"/>
        </a:accent5>
        <a:accent6>
          <a:srgbClr val="5C9A3D"/>
        </a:accent6>
        <a:hlink>
          <a:srgbClr val="887799"/>
        </a:hlink>
        <a:folHlink>
          <a:srgbClr val="224433"/>
        </a:folHlink>
      </a:clrScheme>
      <a:clrMap bg1="lt1" tx1="dk1" bg2="lt2" tx2="dk2" accent1="accent1" accent2="accent2" accent3="accent3" accent4="accent4" accent5="accent5" accent6="accent6" hlink="hlink" folHlink="folHlink"/>
    </a:extraClrScheme>
    <a:extraClrScheme>
      <a:clrScheme name="InterpretationA_full 4">
        <a:dk1>
          <a:srgbClr val="000000"/>
        </a:dk1>
        <a:lt1>
          <a:srgbClr val="FFFFFF"/>
        </a:lt1>
        <a:dk2>
          <a:srgbClr val="F8F8F8"/>
        </a:dk2>
        <a:lt2>
          <a:srgbClr val="C0C0C0"/>
        </a:lt2>
        <a:accent1>
          <a:srgbClr val="FF0000"/>
        </a:accent1>
        <a:accent2>
          <a:srgbClr val="FF9900"/>
        </a:accent2>
        <a:accent3>
          <a:srgbClr val="FFFFFF"/>
        </a:accent3>
        <a:accent4>
          <a:srgbClr val="000000"/>
        </a:accent4>
        <a:accent5>
          <a:srgbClr val="FFAAAA"/>
        </a:accent5>
        <a:accent6>
          <a:srgbClr val="E78A00"/>
        </a:accent6>
        <a:hlink>
          <a:srgbClr val="557799"/>
        </a:hlink>
        <a:folHlink>
          <a:srgbClr val="445511"/>
        </a:folHlink>
      </a:clrScheme>
      <a:clrMap bg1="lt1" tx1="dk1" bg2="lt2" tx2="dk2" accent1="accent1" accent2="accent2" accent3="accent3" accent4="accent4" accent5="accent5" accent6="accent6" hlink="hlink" folHlink="folHlink"/>
    </a:extraClrScheme>
    <a:extraClrScheme>
      <a:clrScheme name="InterpretationA_full 5">
        <a:dk1>
          <a:srgbClr val="000000"/>
        </a:dk1>
        <a:lt1>
          <a:srgbClr val="FFFFFF"/>
        </a:lt1>
        <a:dk2>
          <a:srgbClr val="F8F8F8"/>
        </a:dk2>
        <a:lt2>
          <a:srgbClr val="C0C0C0"/>
        </a:lt2>
        <a:accent1>
          <a:srgbClr val="00BBEE"/>
        </a:accent1>
        <a:accent2>
          <a:srgbClr val="DD4411"/>
        </a:accent2>
        <a:accent3>
          <a:srgbClr val="FFFFFF"/>
        </a:accent3>
        <a:accent4>
          <a:srgbClr val="000000"/>
        </a:accent4>
        <a:accent5>
          <a:srgbClr val="AADAF5"/>
        </a:accent5>
        <a:accent6>
          <a:srgbClr val="C83D0E"/>
        </a:accent6>
        <a:hlink>
          <a:srgbClr val="BBBB00"/>
        </a:hlink>
        <a:folHlink>
          <a:srgbClr val="66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3.xml><?xml version="1.0" encoding="utf-8"?>
<a:theme xmlns:a="http://schemas.openxmlformats.org/drawingml/2006/main" name="2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kumimoji="1" sz="1400" dirty="0" err="1">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62"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17C4542-2F77-4D8C-8F1E-183FA4CE280E}">
  <we:reference id="12cf32e2-483a-4204-b71b-bf2af83debf2" version="1.2.0.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05F1B5A1E0F1943BC6DE70F45133712" ma:contentTypeVersion="12" ma:contentTypeDescription="Create a new document." ma:contentTypeScope="" ma:versionID="20a18e3ff9fb0cc056a84525e9061d4f">
  <xsd:schema xmlns:xsd="http://www.w3.org/2001/XMLSchema" xmlns:xs="http://www.w3.org/2001/XMLSchema" xmlns:p="http://schemas.microsoft.com/office/2006/metadata/properties" xmlns:ns2="70c72344-a901-41cd-a6da-bfcf15d570e1" xmlns:ns3="22093b91-50a3-4498-82d5-91368db29ba4" targetNamespace="http://schemas.microsoft.com/office/2006/metadata/properties" ma:root="true" ma:fieldsID="31e3050130c87086719ba5c54b2edc86" ns2:_="" ns3:_="">
    <xsd:import namespace="70c72344-a901-41cd-a6da-bfcf15d570e1"/>
    <xsd:import namespace="22093b91-50a3-4498-82d5-91368db29ba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GenerationTime" minOccurs="0"/>
                <xsd:element ref="ns2:MediaServiceEventHashCode" minOccurs="0"/>
                <xsd:element ref="ns2:MediaLengthInSeconds" minOccurs="0"/>
                <xsd:element ref="ns2:MediaServiceDateTaken"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c72344-a901-41cd-a6da-bfcf15d570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2093b91-50a3-4498-82d5-91368db29ba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75ea22b-104f-4a38-8a21-90e040114398}" ma:internalName="TaxCatchAll" ma:showField="CatchAllData" ma:web="22093b91-50a3-4498-82d5-91368db29ba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2093b91-50a3-4498-82d5-91368db29ba4" xsi:nil="true"/>
    <lcf76f155ced4ddcb4097134ff3c332f xmlns="70c72344-a901-41cd-a6da-bfcf15d570e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AC13A84-679E-4972-B013-FA3F6080DACC}">
  <ds:schemaRefs>
    <ds:schemaRef ds:uri="22093b91-50a3-4498-82d5-91368db29ba4"/>
    <ds:schemaRef ds:uri="70c72344-a901-41cd-a6da-bfcf15d570e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23514D0-A311-4FBC-94C3-25B67EC60A33}">
  <ds:schemaRefs>
    <ds:schemaRef ds:uri="http://schemas.microsoft.com/sharepoint/v3/contenttype/forms"/>
  </ds:schemaRefs>
</ds:datastoreItem>
</file>

<file path=customXml/itemProps3.xml><?xml version="1.0" encoding="utf-8"?>
<ds:datastoreItem xmlns:ds="http://schemas.openxmlformats.org/officeDocument/2006/customXml" ds:itemID="{D91C391E-7B64-4950-AFEC-61954F399AAC}">
  <ds:schemaRefs>
    <ds:schemaRef ds:uri="22093b91-50a3-4498-82d5-91368db29ba4"/>
    <ds:schemaRef ds:uri="70c72344-a901-41cd-a6da-bfcf15d570e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
  <TotalTime>18</TotalTime>
  <Words>2254</Words>
  <Application>Microsoft Office PowerPoint</Application>
  <PresentationFormat>A4 210 x 297 mm</PresentationFormat>
  <Paragraphs>223</Paragraphs>
  <Slides>7</Slides>
  <Notes>0</Notes>
  <HiddenSlides>1</HiddenSlides>
  <MMClips>0</MMClips>
  <ScaleCrop>false</ScaleCrop>
  <HeadingPairs>
    <vt:vector size="8" baseType="variant">
      <vt:variant>
        <vt:lpstr>使用されているフォント</vt:lpstr>
      </vt:variant>
      <vt:variant>
        <vt:i4>9</vt:i4>
      </vt:variant>
      <vt:variant>
        <vt:lpstr>テーマ</vt:lpstr>
      </vt:variant>
      <vt:variant>
        <vt:i4>3</vt:i4>
      </vt:variant>
      <vt:variant>
        <vt:lpstr>埋め込まれた OLE サーバー</vt:lpstr>
      </vt:variant>
      <vt:variant>
        <vt:i4>1</vt:i4>
      </vt:variant>
      <vt:variant>
        <vt:lpstr>スライド タイトル</vt:lpstr>
      </vt:variant>
      <vt:variant>
        <vt:i4>7</vt:i4>
      </vt:variant>
    </vt:vector>
  </HeadingPairs>
  <TitlesOfParts>
    <vt:vector size="20" baseType="lpstr">
      <vt:lpstr>HGPｺﾞｼｯｸM</vt:lpstr>
      <vt:lpstr>Meiryo UI</vt:lpstr>
      <vt:lpstr>ＭＳ Ｐゴシック</vt:lpstr>
      <vt:lpstr>游ゴシック</vt:lpstr>
      <vt:lpstr>Arial</vt:lpstr>
      <vt:lpstr>Calibri</vt:lpstr>
      <vt:lpstr>Century</vt:lpstr>
      <vt:lpstr>Times New Roman</vt:lpstr>
      <vt:lpstr>Wingdings</vt:lpstr>
      <vt:lpstr>MyTemplate</vt:lpstr>
      <vt:lpstr>3_テーマ２（ACN用）</vt:lpstr>
      <vt:lpstr>2_テーマ２（ACN用）</vt:lpstr>
      <vt:lpstr>think-cellスライド</vt:lpstr>
      <vt:lpstr>X.臨床情報詳細画面とPDF帳票の名称の差について（1/3）</vt:lpstr>
      <vt:lpstr>X.臨床情報詳細画面とPDF帳票の名称の差について（2/3）</vt:lpstr>
      <vt:lpstr>X.臨床情報詳細画面とPDF帳票の名称の差について（3/3）</vt:lpstr>
      <vt:lpstr>X.臨床情報詳細画面とPDF帳票の名称の差について（参考）</vt:lpstr>
      <vt:lpstr>X.臨床情報詳細画面とPDF帳票の名称の差について</vt:lpstr>
      <vt:lpstr>X.臨床情報詳細画面とPDF帳票の名称の差について（具体例）</vt:lpstr>
      <vt:lpstr>X.臨床情報詳細画面とPDF帳票の名称の差について（具体例）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Nakazawa, Masato</cp:lastModifiedBy>
  <cp:revision>4</cp:revision>
  <dcterms:created xsi:type="dcterms:W3CDTF">2025-11-21T03:20:57Z</dcterms:created>
  <dcterms:modified xsi:type="dcterms:W3CDTF">2026-10-15T08:47:10Z</dcterms:modified>
  <cp:category/>
</cp:coreProperties>
</file>