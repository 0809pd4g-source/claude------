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0689336" cy="756208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6000" y="288000"/>
            <a:ext cx="9864000" cy="503999"/>
          </a:xfrm>
          <a:prstGeom prst="rect">
            <a:avLst/>
          </a:prstGeom>
          <a:noFill/>
        </p:spPr>
        <p:txBody>
          <a:bodyPr wrap="square" anchor="t" lIns="54000" rIns="54000" tIns="18000" bIns="18000">
            <a:spAutoFit/>
          </a:bodyPr>
          <a:lstStyle/>
          <a:p>
            <a:pPr algn="l"/>
            <a:r>
              <a:rPr sz="2200" b="1">
                <a:solidFill>
                  <a:srgbClr val="000000"/>
                </a:solidFill>
                <a:latin typeface="Meiryo UI"/>
              </a:rPr>
              <a:t>X. 臨床情報詳細画面とPDF帳票の名称の差に係る相談</a:t>
            </a:r>
          </a:p>
        </p:txBody>
      </p:sp>
      <p:cxnSp>
        <p:nvCxnSpPr>
          <p:cNvPr id="3" name="Connector 2"/>
          <p:cNvCxnSpPr/>
          <p:nvPr/>
        </p:nvCxnSpPr>
        <p:spPr>
          <a:xfrm>
            <a:off x="288000" y="827999"/>
            <a:ext cx="10152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96000" y="1007999"/>
            <a:ext cx="9864000" cy="396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3999" y="1007999"/>
            <a:ext cx="9684000" cy="396000"/>
          </a:xfrm>
          <a:prstGeom prst="rect">
            <a:avLst/>
          </a:prstGeom>
          <a:noFill/>
        </p:spPr>
        <p:txBody>
          <a:bodyPr wrap="square" anchor="ctr" lIns="54000" rIns="54000" tIns="18000" bIns="18000">
            <a:spAutoFit/>
          </a:bodyPr>
          <a:lstStyle/>
          <a:p>
            <a:pPr algn="l"/>
            <a:r>
              <a:rPr sz="1300" b="1">
                <a:solidFill>
                  <a:srgbClr val="FFFFFF"/>
                </a:solidFill>
                <a:latin typeface="Meiryo UI"/>
              </a:rPr>
              <a:t>ご相談事項：検査項目・薬剤名・アレルギー物質の名称が、詳細画面とPDFで異なる件の改修要否</a:t>
            </a:r>
          </a:p>
        </p:txBody>
      </p:sp>
      <p:sp>
        <p:nvSpPr>
          <p:cNvPr id="6" name="TextBox 5"/>
          <p:cNvSpPr txBox="1"/>
          <p:nvPr/>
        </p:nvSpPr>
        <p:spPr>
          <a:xfrm>
            <a:off x="396000" y="1475999"/>
            <a:ext cx="9864000" cy="468000"/>
          </a:xfrm>
          <a:prstGeom prst="rect">
            <a:avLst/>
          </a:prstGeom>
          <a:noFill/>
        </p:spPr>
        <p:txBody>
          <a:bodyPr wrap="square" anchor="t" lIns="54000" rIns="54000" tIns="18000" bIns="18000">
            <a:spAutoFit/>
          </a:bodyPr>
          <a:lstStyle/>
          <a:p>
            <a:pPr algn="l"/>
            <a:r>
              <a:rPr sz="1100" b="0">
                <a:solidFill>
                  <a:srgbClr val="000000"/>
                </a:solidFill>
                <a:latin typeface="Meiryo UI"/>
              </a:rPr>
              <a:t>ToDo#1228を受けたDX機構の調査結果（10/6）と、出力元であるXMLレイアウト（CIP-IF-002 臨床情報閲覧結果）・FHIRの定義を突き合わせ、詳細画面とPDFで表示に差分が生じるかを整理した。</a:t>
            </a:r>
          </a:p>
        </p:txBody>
      </p:sp>
      <p:graphicFrame>
        <p:nvGraphicFramePr>
          <p:cNvPr id="7" name="Table 6"/>
          <p:cNvGraphicFramePr>
            <a:graphicFrameLocks noGrp="1"/>
          </p:cNvGraphicFramePr>
          <p:nvPr/>
        </p:nvGraphicFramePr>
        <p:xfrm>
          <a:off x="396000" y="1980000"/>
          <a:ext cx="9864000" cy="2880000"/>
        </p:xfrm>
        <a:graphic>
          <a:graphicData uri="http://schemas.openxmlformats.org/drawingml/2006/table">
            <a:tbl>
              <a:tblPr firstRow="1" bandRow="1">
                <a:tableStyleId>{5C22544A-7EE6-4342-B048-85BDC9FD1C3A}</a:tableStyleId>
              </a:tblPr>
              <a:tblGrid>
                <a:gridCol w="972000"/>
                <a:gridCol w="1224000"/>
                <a:gridCol w="1800000"/>
                <a:gridCol w="3096000"/>
                <a:gridCol w="2772000"/>
              </a:tblGrid>
              <a:tr h="576000">
                <a:tc>
                  <a:txBody>
                    <a:bodyPr wrap="square"/>
                    <a:lstStyle/>
                    <a:p>
                      <a:r>
                        <a:rPr sz="950" b="1">
                          <a:solidFill>
                            <a:srgbClr val="FFFFFF"/>
                          </a:solidFill>
                          <a:latin typeface="Meiryo UI"/>
                        </a:rPr>
                        <a:t>項目</a:t>
                      </a:r>
                    </a:p>
                  </a:txBody>
                  <a:tcPr marL="54000" marR="54000" marT="28800" marB="28800" anchor="ctr">
                    <a:solidFill>
                      <a:srgbClr val="1F3864"/>
                    </a:solidFill>
                  </a:tcPr>
                </a:tc>
                <a:tc>
                  <a:txBody>
                    <a:bodyPr wrap="square"/>
                    <a:lstStyle/>
                    <a:p>
                      <a:r>
                        <a:rPr sz="950" b="1">
                          <a:solidFill>
                            <a:srgbClr val="FFFFFF"/>
                          </a:solidFill>
                          <a:latin typeface="Meiryo UI"/>
                        </a:rPr>
                        <a:t>① 現状：詳細画面</a:t>
                      </a:r>
                    </a:p>
                  </a:txBody>
                  <a:tcPr marL="54000" marR="54000" marT="28800" marB="28800" anchor="ctr">
                    <a:solidFill>
                      <a:srgbClr val="1F3864"/>
                    </a:solidFill>
                  </a:tcPr>
                </a:tc>
                <a:tc>
                  <a:txBody>
                    <a:bodyPr wrap="square"/>
                    <a:lstStyle/>
                    <a:p>
                      <a:r>
                        <a:rPr sz="950" b="1">
                          <a:solidFill>
                            <a:srgbClr val="FFFFFF"/>
                          </a:solidFill>
                          <a:latin typeface="Meiryo UI"/>
                        </a:rPr>
                        <a:t>① 現状：PDF帳票</a:t>
                      </a:r>
                    </a:p>
                  </a:txBody>
                  <a:tcPr marL="54000" marR="54000" marT="28800" marB="28800" anchor="ctr">
                    <a:solidFill>
                      <a:srgbClr val="1F3864"/>
                    </a:solidFill>
                  </a:tcPr>
                </a:tc>
                <a:tc>
                  <a:txBody>
                    <a:bodyPr wrap="square"/>
                    <a:lstStyle/>
                    <a:p>
                      <a:r>
                        <a:rPr sz="950" b="1">
                          <a:solidFill>
                            <a:srgbClr val="FFFFFF"/>
                          </a:solidFill>
                          <a:latin typeface="Meiryo UI"/>
                        </a:rPr>
                        <a:t>② XMLレイアウト・FHIRのルール</a:t>
                      </a:r>
                    </a:p>
                  </a:txBody>
                  <a:tcPr marL="54000" marR="54000" marT="28800" marB="28800" anchor="ctr">
                    <a:solidFill>
                      <a:srgbClr val="1F3864"/>
                    </a:solidFill>
                  </a:tcPr>
                </a:tc>
                <a:tc>
                  <a:txBody>
                    <a:bodyPr wrap="square"/>
                    <a:lstStyle/>
                    <a:p>
                      <a:r>
                        <a:rPr sz="950" b="1">
                          <a:solidFill>
                            <a:srgbClr val="FFFFFF"/>
                          </a:solidFill>
                          <a:latin typeface="Meiryo UI"/>
                        </a:rPr>
                        <a:t>③ 表示に差分が生じるか</a:t>
                      </a:r>
                    </a:p>
                  </a:txBody>
                  <a:tcPr marL="54000" marR="54000" marT="28800" marB="28800" anchor="ctr">
                    <a:solidFill>
                      <a:srgbClr val="1F3864"/>
                    </a:solidFill>
                  </a:tcPr>
                </a:tc>
              </a:tr>
              <a:tr h="576000">
                <a:tc>
                  <a:txBody>
                    <a:bodyPr wrap="square"/>
                    <a:lstStyle/>
                    <a:p>
                      <a:r>
                        <a:rPr sz="950" b="0">
                          <a:solidFill>
                            <a:srgbClr val="000000"/>
                          </a:solidFill>
                          <a:latin typeface="Meiryo UI"/>
                        </a:rPr>
                        <a:t>検査項目</a:t>
                      </a:r>
                    </a:p>
                    <a:p>
                      <a:r>
                        <a:rPr sz="950" b="0">
                          <a:solidFill>
                            <a:srgbClr val="000000"/>
                          </a:solidFill>
                          <a:latin typeface="Meiryo UI"/>
                        </a:rPr>
                        <a:t>（感染症</a:t>
                      </a:r>
                    </a:p>
                    <a:p>
                      <a:r>
                        <a:rPr sz="950" b="0">
                          <a:solidFill>
                            <a:srgbClr val="000000"/>
                          </a:solidFill>
                          <a:latin typeface="Meiryo UI"/>
                        </a:rPr>
                        <a:t>・検査）</a:t>
                      </a:r>
                    </a:p>
                  </a:txBody>
                  <a:tcPr marL="54000" marR="54000" marT="28800" marB="28800" anchor="ctr">
                    <a:solidFill>
                      <a:srgbClr val="D9D9D9"/>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JLAC10のコードの名称</a:t>
                      </a:r>
                    </a:p>
                    <a:p>
                      <a:r>
                        <a:rPr sz="950" b="0">
                          <a:solidFill>
                            <a:srgbClr val="000000"/>
                          </a:solidFill>
                          <a:latin typeface="Meiryo UI"/>
                        </a:rPr>
                        <a:t>（display）</a:t>
                      </a:r>
                    </a:p>
                    <a:p>
                      <a:r>
                        <a:rPr sz="950" b="0">
                          <a:solidFill>
                            <a:srgbClr val="000000"/>
                          </a:solidFill>
                          <a:latin typeface="Meiryo UI"/>
                        </a:rPr>
                        <a:t>JLAC10のコードがない場合は</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XMLの検査名は「FHIR識別名」（＝JLACの標準名称）を設定</a:t>
                      </a:r>
                    </a:p>
                    <a:p>
                      <a:r>
                        <a:rPr sz="950" b="0">
                          <a:solidFill>
                            <a:srgbClr val="000000"/>
                          </a:solidFill>
                          <a:latin typeface="Meiryo UI"/>
                        </a:rPr>
                        <a:t>FHIRでは、登録名称（text）とコードの名称（display）は別の要素で、一致させる決まりはない</a:t>
                      </a:r>
                    </a:p>
                  </a:txBody>
                  <a:tcPr marL="54000" marR="54000" marT="28800" marB="28800" anchor="ctr">
                    <a:solidFill>
                      <a:srgbClr val="FFFFFF"/>
                    </a:solidFill>
                  </a:tcPr>
                </a:tc>
                <a:tc>
                  <a:txBody>
                    <a:bodyPr wrap="square"/>
                    <a:lstStyle/>
                    <a:p>
                      <a:r>
                        <a:rPr sz="950" b="1">
                          <a:solidFill>
                            <a:srgbClr val="C00000"/>
                          </a:solidFill>
                          <a:latin typeface="Meiryo UI"/>
                        </a:rPr>
                        <a:t>生じうる</a:t>
                      </a:r>
                    </a:p>
                    <a:p>
                      <a:r>
                        <a:rPr sz="950" b="0">
                          <a:solidFill>
                            <a:srgbClr val="000000"/>
                          </a:solidFill>
                          <a:latin typeface="Meiryo UI"/>
                        </a:rPr>
                        <a:t>登録名称がJLAC10の名称と違えば差分が出る</a:t>
                      </a:r>
                    </a:p>
                    <a:p>
                      <a:r>
                        <a:rPr sz="950" b="0">
                          <a:solidFill>
                            <a:srgbClr val="000000"/>
                          </a:solidFill>
                          <a:latin typeface="Meiryo UI"/>
                        </a:rPr>
                        <a:t>（出ないのは、JLAC10のコードがない場合と、登録名称が同じ場合）</a:t>
                      </a:r>
                    </a:p>
                  </a:txBody>
                  <a:tcPr marL="54000" marR="54000" marT="28800" marB="28800" anchor="ctr">
                    <a:solidFill>
                      <a:srgbClr val="FFFFFF"/>
                    </a:solidFill>
                  </a:tcPr>
                </a:tc>
              </a:tr>
              <a:tr h="576000">
                <a:tc>
                  <a:txBody>
                    <a:bodyPr wrap="square"/>
                    <a:lstStyle/>
                    <a:p>
                      <a:r>
                        <a:rPr sz="950" b="0">
                          <a:solidFill>
                            <a:srgbClr val="000000"/>
                          </a:solidFill>
                          <a:latin typeface="Meiryo UI"/>
                        </a:rPr>
                        <a:t>薬剤名</a:t>
                      </a:r>
                    </a:p>
                  </a:txBody>
                  <a:tcPr marL="54000" marR="54000" marT="28800" marB="28800" anchor="ctr">
                    <a:solidFill>
                      <a:srgbClr val="D9D9D9"/>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JFAGYコードの名称</a:t>
                      </a:r>
                    </a:p>
                    <a:p>
                      <a:r>
                        <a:rPr sz="950" b="0">
                          <a:solidFill>
                            <a:srgbClr val="000000"/>
                          </a:solidFill>
                          <a:latin typeface="Meiryo UI"/>
                        </a:rPr>
                        <a:t>（display）</a:t>
                      </a:r>
                    </a:p>
                    <a:p>
                      <a:r>
                        <a:rPr sz="950" b="0">
                          <a:solidFill>
                            <a:srgbClr val="000000"/>
                          </a:solidFill>
                          <a:latin typeface="Meiryo UI"/>
                        </a:rPr>
                        <a:t>ダミーコードの場合はcode.text</a:t>
                      </a:r>
                    </a:p>
                  </a:txBody>
                  <a:tcPr marL="54000" marR="54000" marT="28800" marB="28800" anchor="ctr">
                    <a:solidFill>
                      <a:srgbClr val="FFFFFF"/>
                    </a:solidFill>
                  </a:tcPr>
                </a:tc>
                <a:tc>
                  <a:txBody>
                    <a:bodyPr wrap="square"/>
                    <a:lstStyle/>
                    <a:p>
                      <a:r>
                        <a:rPr sz="950" b="0">
                          <a:solidFill>
                            <a:srgbClr val="000000"/>
                          </a:solidFill>
                          <a:latin typeface="Meiryo UI"/>
                        </a:rPr>
                        <a:t>XMLは薬剤名とJFAGYのコード（display必須）を出力</a:t>
                      </a:r>
                    </a:p>
                    <a:p>
                      <a:r>
                        <a:rPr sz="950" b="0">
                          <a:solidFill>
                            <a:srgbClr val="000000"/>
                          </a:solidFill>
                          <a:latin typeface="Meiryo UI"/>
                        </a:rPr>
                        <a:t>FHIRのcode.textは「電子カルテ等で表示されている文字列」で、JFAGYの名称と一致させる決まりはない</a:t>
                      </a:r>
                    </a:p>
                  </a:txBody>
                  <a:tcPr marL="54000" marR="54000" marT="28800" marB="28800" anchor="ctr">
                    <a:solidFill>
                      <a:srgbClr val="FFFFFF"/>
                    </a:solidFill>
                  </a:tcPr>
                </a:tc>
                <a:tc>
                  <a:txBody>
                    <a:bodyPr wrap="square"/>
                    <a:lstStyle/>
                    <a:p>
                      <a:r>
                        <a:rPr sz="950" b="1">
                          <a:solidFill>
                            <a:srgbClr val="C00000"/>
                          </a:solidFill>
                          <a:latin typeface="Meiryo UI"/>
                        </a:rPr>
                        <a:t>生じうる</a:t>
                      </a:r>
                    </a:p>
                    <a:p>
                      <a:r>
                        <a:rPr sz="950" b="0">
                          <a:solidFill>
                            <a:srgbClr val="000000"/>
                          </a:solidFill>
                          <a:latin typeface="Meiryo UI"/>
                        </a:rPr>
                        <a:t>登録名称がJFAGYの名称と違えば差分が出る</a:t>
                      </a:r>
                    </a:p>
                    <a:p>
                      <a:r>
                        <a:rPr sz="950" b="0">
                          <a:solidFill>
                            <a:srgbClr val="000000"/>
                          </a:solidFill>
                          <a:latin typeface="Meiryo UI"/>
                        </a:rPr>
                        <a:t>（出ないのは、ダミーコードの場合と、登録名称が同じ場合）</a:t>
                      </a:r>
                    </a:p>
                  </a:txBody>
                  <a:tcPr marL="54000" marR="54000" marT="28800" marB="28800" anchor="ctr">
                    <a:solidFill>
                      <a:srgbClr val="FFFFFF"/>
                    </a:solidFill>
                  </a:tcPr>
                </a:tc>
              </a:tr>
              <a:tr h="576000">
                <a:tc>
                  <a:txBody>
                    <a:bodyPr wrap="square"/>
                    <a:lstStyle/>
                    <a:p>
                      <a:r>
                        <a:rPr sz="950" b="0">
                          <a:solidFill>
                            <a:srgbClr val="000000"/>
                          </a:solidFill>
                          <a:latin typeface="Meiryo UI"/>
                        </a:rPr>
                        <a:t>アレルギー物質</a:t>
                      </a:r>
                    </a:p>
                  </a:txBody>
                  <a:tcPr marL="54000" marR="54000" marT="28800" marB="28800" anchor="ctr">
                    <a:solidFill>
                      <a:srgbClr val="D9D9D9"/>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txBody>
                  <a:tcPr marL="54000" marR="54000" marT="28800" marB="28800" anchor="ctr">
                    <a:solidFill>
                      <a:srgbClr val="FFFFFF"/>
                    </a:solidFill>
                  </a:tcPr>
                </a:tc>
                <a:tc>
                  <a:txBody>
                    <a:bodyPr wrap="square"/>
                    <a:lstStyle/>
                    <a:p>
                      <a:r>
                        <a:rPr sz="950" b="0">
                          <a:solidFill>
                            <a:srgbClr val="000000"/>
                          </a:solidFill>
                          <a:latin typeface="Meiryo UI"/>
                        </a:rPr>
                        <a:t>JFAGYコードの名称</a:t>
                      </a:r>
                    </a:p>
                    <a:p>
                      <a:r>
                        <a:rPr sz="950" b="0">
                          <a:solidFill>
                            <a:srgbClr val="000000"/>
                          </a:solidFill>
                          <a:latin typeface="Meiryo UI"/>
                        </a:rPr>
                        <a:t>（display）</a:t>
                      </a:r>
                    </a:p>
                    <a:p>
                      <a:r>
                        <a:rPr sz="950" b="0">
                          <a:solidFill>
                            <a:srgbClr val="000000"/>
                          </a:solidFill>
                          <a:latin typeface="Meiryo UI"/>
                        </a:rPr>
                        <a:t>ダミーコードの場合はcode.text</a:t>
                      </a:r>
                    </a:p>
                  </a:txBody>
                  <a:tcPr marL="54000" marR="54000" marT="28800" marB="28800" anchor="ctr">
                    <a:solidFill>
                      <a:srgbClr val="FFFFFF"/>
                    </a:solidFill>
                  </a:tcPr>
                </a:tc>
                <a:tc>
                  <a:txBody>
                    <a:bodyPr wrap="square"/>
                    <a:lstStyle/>
                    <a:p>
                      <a:r>
                        <a:rPr sz="950" b="0">
                          <a:solidFill>
                            <a:srgbClr val="000000"/>
                          </a:solidFill>
                          <a:latin typeface="Meiryo UI"/>
                        </a:rPr>
                        <a:t>薬剤名と同じ</a:t>
                      </a:r>
                    </a:p>
                    <a:p>
                      <a:r>
                        <a:rPr sz="950" b="0">
                          <a:solidFill>
                            <a:srgbClr val="000000"/>
                          </a:solidFill>
                          <a:latin typeface="Meiryo UI"/>
                        </a:rPr>
                        <a:t>（XMLは「アレルギー名を設定」とJFAGYのコード）</a:t>
                      </a:r>
                    </a:p>
                  </a:txBody>
                  <a:tcPr marL="54000" marR="54000" marT="28800" marB="28800" anchor="ctr">
                    <a:solidFill>
                      <a:srgbClr val="FFFFFF"/>
                    </a:solidFill>
                  </a:tcPr>
                </a:tc>
                <a:tc>
                  <a:txBody>
                    <a:bodyPr wrap="square"/>
                    <a:lstStyle/>
                    <a:p>
                      <a:r>
                        <a:rPr sz="950" b="1">
                          <a:solidFill>
                            <a:srgbClr val="C00000"/>
                          </a:solidFill>
                          <a:latin typeface="Meiryo UI"/>
                        </a:rPr>
                        <a:t>生じうる</a:t>
                      </a:r>
                    </a:p>
                    <a:p>
                      <a:r>
                        <a:rPr sz="950" b="0">
                          <a:solidFill>
                            <a:srgbClr val="000000"/>
                          </a:solidFill>
                          <a:latin typeface="Meiryo UI"/>
                        </a:rPr>
                        <a:t>薬剤名と同じ</a:t>
                      </a:r>
                    </a:p>
                  </a:txBody>
                  <a:tcPr marL="54000" marR="54000" marT="28800" marB="28800" anchor="ctr">
                    <a:solidFill>
                      <a:srgbClr val="FFFFFF"/>
                    </a:solidFill>
                  </a:tcPr>
                </a:tc>
              </a:tr>
              <a:tr h="576000">
                <a:tc>
                  <a:txBody>
                    <a:bodyPr wrap="square"/>
                    <a:lstStyle/>
                    <a:p>
                      <a:r>
                        <a:rPr sz="950" b="0">
                          <a:solidFill>
                            <a:srgbClr val="000000"/>
                          </a:solidFill>
                          <a:latin typeface="Meiryo UI"/>
                        </a:rPr>
                        <a:t>（参考）</a:t>
                      </a:r>
                    </a:p>
                    <a:p>
                      <a:r>
                        <a:rPr sz="950" b="0">
                          <a:solidFill>
                            <a:srgbClr val="000000"/>
                          </a:solidFill>
                          <a:latin typeface="Meiryo UI"/>
                        </a:rPr>
                        <a:t>傷病名</a:t>
                      </a:r>
                    </a:p>
                  </a:txBody>
                  <a:tcPr marL="54000" marR="54000" marT="28800" marB="28800" anchor="ctr">
                    <a:solidFill>
                      <a:srgbClr val="F2DCDB"/>
                    </a:solidFill>
                  </a:tcPr>
                </a:tc>
                <a:tc>
                  <a:txBody>
                    <a:bodyPr wrap="square"/>
                    <a:lstStyle/>
                    <a:p>
                      <a:r>
                        <a:rPr sz="950" b="0">
                          <a:solidFill>
                            <a:srgbClr val="000000"/>
                          </a:solidFill>
                          <a:latin typeface="Meiryo UI"/>
                        </a:rPr>
                        <a:t>医療機関の登録名称</a:t>
                      </a:r>
                    </a:p>
                    <a:p>
                      <a:r>
                        <a:rPr sz="950" b="0">
                          <a:solidFill>
                            <a:srgbClr val="000000"/>
                          </a:solidFill>
                          <a:latin typeface="Meiryo UI"/>
                        </a:rPr>
                        <a:t>（code.text）</a:t>
                      </a:r>
                    </a:p>
                    <a:p>
                      <a:r>
                        <a:rPr sz="950" b="0">
                          <a:solidFill>
                            <a:srgbClr val="000000"/>
                          </a:solidFill>
                          <a:latin typeface="Meiryo UI"/>
                        </a:rPr>
                        <a:t>「の疑い」が付かない</a:t>
                      </a:r>
                    </a:p>
                  </a:txBody>
                  <a:tcPr marL="54000" marR="54000" marT="28800" marB="28800" anchor="ctr">
                    <a:solidFill>
                      <a:srgbClr val="F2DCDB"/>
                    </a:solidFill>
                  </a:tcPr>
                </a:tc>
                <a:tc>
                  <a:txBody>
                    <a:bodyPr wrap="square"/>
                    <a:lstStyle/>
                    <a:p>
                      <a:r>
                        <a:rPr sz="950" b="0">
                          <a:solidFill>
                            <a:srgbClr val="000000"/>
                          </a:solidFill>
                          <a:latin typeface="Meiryo UI"/>
                        </a:rPr>
                        <a:t>前置修飾語＋傷病名＋後置修飾語＋「の疑い」</a:t>
                      </a:r>
                    </a:p>
                  </a:txBody>
                  <a:tcPr marL="54000" marR="54000" marT="28800" marB="28800" anchor="ctr">
                    <a:solidFill>
                      <a:srgbClr val="F2DCDB"/>
                    </a:solidFill>
                  </a:tcPr>
                </a:tc>
                <a:tc>
                  <a:txBody>
                    <a:bodyPr wrap="square"/>
                    <a:lstStyle/>
                    <a:p>
                      <a:r>
                        <a:rPr sz="950" b="0">
                          <a:solidFill>
                            <a:srgbClr val="000000"/>
                          </a:solidFill>
                          <a:latin typeface="Meiryo UI"/>
                        </a:rPr>
                        <a:t>XMLの傷病名は「前置修飾語＋傷病名＋後置修飾語」に加工して出力。疑いは別の欄</a:t>
                      </a:r>
                    </a:p>
                  </a:txBody>
                  <a:tcPr marL="54000" marR="54000" marT="28800" marB="28800" anchor="ctr">
                    <a:solidFill>
                      <a:srgbClr val="F2DCDB"/>
                    </a:solidFill>
                  </a:tcPr>
                </a:tc>
                <a:tc>
                  <a:txBody>
                    <a:bodyPr wrap="square"/>
                    <a:lstStyle/>
                    <a:p>
                      <a:r>
                        <a:rPr sz="950" b="1">
                          <a:solidFill>
                            <a:srgbClr val="000000"/>
                          </a:solidFill>
                          <a:latin typeface="Meiryo UI"/>
                        </a:rPr>
                        <a:t>生じる → 対応済み</a:t>
                      </a:r>
                    </a:p>
                    <a:p>
                      <a:r>
                        <a:rPr sz="950" b="0">
                          <a:solidFill>
                            <a:srgbClr val="000000"/>
                          </a:solidFill>
                          <a:latin typeface="Meiryo UI"/>
                        </a:rPr>
                        <a:t>12月リリース（案件213）で画面をPDFと同様に出力</a:t>
                      </a:r>
                    </a:p>
                  </a:txBody>
                  <a:tcPr marL="54000" marR="54000" marT="28800" marB="28800" anchor="ctr">
                    <a:solidFill>
                      <a:srgbClr val="F2DCDB"/>
                    </a:solidFill>
                  </a:tcPr>
                </a:tc>
              </a:tr>
            </a:tbl>
          </a:graphicData>
        </a:graphic>
      </p:graphicFrame>
      <p:sp>
        <p:nvSpPr>
          <p:cNvPr id="8" name="TextBox 7"/>
          <p:cNvSpPr txBox="1"/>
          <p:nvPr/>
        </p:nvSpPr>
        <p:spPr>
          <a:xfrm>
            <a:off x="396000" y="5112000"/>
            <a:ext cx="9864000" cy="288000"/>
          </a:xfrm>
          <a:prstGeom prst="rect">
            <a:avLst/>
          </a:prstGeom>
          <a:noFill/>
        </p:spPr>
        <p:txBody>
          <a:bodyPr wrap="square" anchor="t" lIns="54000" rIns="54000" tIns="18000" bIns="18000">
            <a:spAutoFit/>
          </a:bodyPr>
          <a:lstStyle/>
          <a:p>
            <a:pPr algn="l"/>
            <a:r>
              <a:rPr sz="1100" b="1">
                <a:solidFill>
                  <a:srgbClr val="000000"/>
                </a:solidFill>
                <a:latin typeface="Meiryo UI"/>
              </a:rPr>
              <a:t>→ XMLレイアウト・FHIRの記載上、3項目とも「表示に差分が生じない」とは言えない（医療機関の登録内容しだいで生じる）。</a:t>
            </a:r>
          </a:p>
        </p:txBody>
      </p:sp>
      <p:sp>
        <p:nvSpPr>
          <p:cNvPr id="9" name="Rectangle 8"/>
          <p:cNvSpPr/>
          <p:nvPr/>
        </p:nvSpPr>
        <p:spPr>
          <a:xfrm>
            <a:off x="396000" y="5436000"/>
            <a:ext cx="9864000" cy="324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3999" y="5436000"/>
            <a:ext cx="9684000" cy="324000"/>
          </a:xfrm>
          <a:prstGeom prst="rect">
            <a:avLst/>
          </a:prstGeom>
          <a:noFill/>
        </p:spPr>
        <p:txBody>
          <a:bodyPr wrap="square" anchor="ctr" lIns="54000" rIns="54000" tIns="18000" bIns="18000">
            <a:spAutoFit/>
          </a:bodyPr>
          <a:lstStyle/>
          <a:p>
            <a:pPr algn="l"/>
            <a:r>
              <a:rPr sz="1200" b="1">
                <a:solidFill>
                  <a:srgbClr val="FFFFFF"/>
                </a:solidFill>
                <a:latin typeface="Meiryo UI"/>
              </a:rPr>
              <a:t>④ 厚労省にご意向を伺いたい事項</a:t>
            </a:r>
          </a:p>
        </p:txBody>
      </p:sp>
      <p:sp>
        <p:nvSpPr>
          <p:cNvPr id="11" name="TextBox 10"/>
          <p:cNvSpPr txBox="1"/>
          <p:nvPr/>
        </p:nvSpPr>
        <p:spPr>
          <a:xfrm>
            <a:off x="396000" y="5796000"/>
            <a:ext cx="9864000" cy="1224000"/>
          </a:xfrm>
          <a:prstGeom prst="rect">
            <a:avLst/>
          </a:prstGeom>
          <a:noFill/>
        </p:spPr>
        <p:txBody>
          <a:bodyPr wrap="square" anchor="t" lIns="54000" rIns="54000" tIns="18000" bIns="18000">
            <a:spAutoFit/>
          </a:bodyPr>
          <a:lstStyle/>
          <a:p>
            <a:pPr algn="l"/>
            <a:r>
              <a:rPr sz="1100" b="1">
                <a:solidFill>
                  <a:srgbClr val="000000"/>
                </a:solidFill>
                <a:latin typeface="Meiryo UI"/>
              </a:rPr>
              <a:t>（1）</a:t>
            </a:r>
            <a:r>
              <a:rPr sz="1100" b="0">
                <a:solidFill>
                  <a:srgbClr val="000000"/>
                </a:solidFill>
                <a:latin typeface="Meiryo UI"/>
              </a:rPr>
              <a:t>表示に差分が生じうるため、傷病名（案件213）と同様に、画面の名称をPDF（XMLレイアウトの標準名称）に揃える改修を機構に求める方向でよろしいでしょうか。</a:t>
            </a:r>
          </a:p>
          <a:p>
            <a:pPr algn="l"/>
            <a:r>
              <a:rPr sz="1100" b="1">
                <a:solidFill>
                  <a:srgbClr val="000000"/>
                </a:solidFill>
                <a:latin typeface="Meiryo UI"/>
              </a:rPr>
              <a:t>（2）</a:t>
            </a:r>
            <a:r>
              <a:rPr sz="1100" b="0">
                <a:solidFill>
                  <a:srgbClr val="000000"/>
                </a:solidFill>
                <a:latin typeface="Meiryo UI"/>
              </a:rPr>
              <a:t>医療機関の登録名称が標準名称と同じで、実際には差分が出ていない場合もありますが、その場合でも念のため改修を求めますか。</a:t>
            </a:r>
          </a:p>
          <a:p>
            <a:pPr algn="l"/>
            <a:r>
              <a:rPr sz="1100" b="1">
                <a:solidFill>
                  <a:srgbClr val="000000"/>
                </a:solidFill>
                <a:latin typeface="Meiryo UI"/>
              </a:rPr>
              <a:t>（3）</a:t>
            </a:r>
            <a:r>
              <a:rPr sz="1100" b="0">
                <a:solidFill>
                  <a:srgbClr val="000000"/>
                </a:solidFill>
                <a:latin typeface="Meiryo UI"/>
              </a:rPr>
              <a:t>富士通からは「品質担保の観点から3月リリースでの修正は困難」との回答のため、改修の可否・時期・費用を機構に照会し、費用対効果を見て判断する進め方でよろしいでしょうか。あわせて、改修までの間、差分があることを医療機関に周知するか。</a:t>
            </a:r>
          </a:p>
        </p:txBody>
      </p:sp>
      <p:sp>
        <p:nvSpPr>
          <p:cNvPr id="12" name="TextBox 11"/>
          <p:cNvSpPr txBox="1"/>
          <p:nvPr/>
        </p:nvSpPr>
        <p:spPr>
          <a:xfrm>
            <a:off x="396000" y="7056000"/>
            <a:ext cx="9864000" cy="251999"/>
          </a:xfrm>
          <a:prstGeom prst="rect">
            <a:avLst/>
          </a:prstGeom>
          <a:noFill/>
        </p:spPr>
        <p:txBody>
          <a:bodyPr wrap="square" anchor="t" lIns="54000" rIns="54000" tIns="18000" bIns="18000">
            <a:spAutoFit/>
          </a:bodyPr>
          <a:lstStyle/>
          <a:p>
            <a:pPr algn="l"/>
            <a:r>
              <a:rPr sz="900" b="0">
                <a:solidFill>
                  <a:srgbClr val="000000"/>
                </a:solidFill>
                <a:latin typeface="Meiryo UI"/>
              </a:rPr>
              <a:t>出典：DX機構「PDFと詳細画面の差異に関する調査結果」（2026/10/6）、別紙3-2 XMLレイアウト Ver5.10（CIP-IF-002）、JP-CLINS v1.13.0、案件台帳（令和8年度）</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96000" y="288000"/>
            <a:ext cx="9864000" cy="503999"/>
          </a:xfrm>
          <a:prstGeom prst="rect">
            <a:avLst/>
          </a:prstGeom>
          <a:noFill/>
        </p:spPr>
        <p:txBody>
          <a:bodyPr wrap="square" anchor="t" lIns="54000" rIns="54000" tIns="18000" bIns="18000">
            <a:spAutoFit/>
          </a:bodyPr>
          <a:lstStyle/>
          <a:p>
            <a:pPr algn="l"/>
            <a:r>
              <a:rPr sz="2200" b="1">
                <a:solidFill>
                  <a:srgbClr val="000000"/>
                </a:solidFill>
                <a:latin typeface="Meiryo UI"/>
              </a:rPr>
              <a:t>X. 臨床情報詳細画面とPDF帳票の名称の差に係る相談</a:t>
            </a:r>
          </a:p>
        </p:txBody>
      </p:sp>
      <p:cxnSp>
        <p:nvCxnSpPr>
          <p:cNvPr id="3" name="Connector 2"/>
          <p:cNvCxnSpPr/>
          <p:nvPr/>
        </p:nvCxnSpPr>
        <p:spPr>
          <a:xfrm>
            <a:off x="288000" y="827999"/>
            <a:ext cx="10152000" cy="0"/>
          </a:xfrm>
          <a:prstGeom prst="line">
            <a:avLst/>
          </a:prstGeom>
          <a:ln w="19050">
            <a:solidFill>
              <a:srgbClr val="1F3864"/>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96000" y="1007999"/>
            <a:ext cx="9864000" cy="396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3999" y="1007999"/>
            <a:ext cx="9684000" cy="396000"/>
          </a:xfrm>
          <a:prstGeom prst="rect">
            <a:avLst/>
          </a:prstGeom>
          <a:noFill/>
        </p:spPr>
        <p:txBody>
          <a:bodyPr wrap="square" anchor="ctr" lIns="54000" rIns="54000" tIns="18000" bIns="18000">
            <a:spAutoFit/>
          </a:bodyPr>
          <a:lstStyle/>
          <a:p>
            <a:pPr algn="l"/>
            <a:r>
              <a:rPr sz="1300" b="1">
                <a:solidFill>
                  <a:srgbClr val="FFFFFF"/>
                </a:solidFill>
                <a:latin typeface="Meiryo UI"/>
              </a:rPr>
              <a:t>（参考）判断の根拠：FHIRの定義と技術解説書の記載</a:t>
            </a:r>
          </a:p>
        </p:txBody>
      </p:sp>
      <p:sp>
        <p:nvSpPr>
          <p:cNvPr id="6" name="TextBox 5"/>
          <p:cNvSpPr txBox="1"/>
          <p:nvPr/>
        </p:nvSpPr>
        <p:spPr>
          <a:xfrm>
            <a:off x="396000" y="1475999"/>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1. 詳細画面が表示しているcode.textの定義（JP-CLINS v1.13.0）</a:t>
            </a:r>
          </a:p>
        </p:txBody>
      </p:sp>
      <p:graphicFrame>
        <p:nvGraphicFramePr>
          <p:cNvPr id="7" name="Table 6"/>
          <p:cNvGraphicFramePr>
            <a:graphicFrameLocks noGrp="1"/>
          </p:cNvGraphicFramePr>
          <p:nvPr/>
        </p:nvGraphicFramePr>
        <p:xfrm>
          <a:off x="396000" y="1764000"/>
          <a:ext cx="9863999" cy="1440000"/>
        </p:xfrm>
        <a:graphic>
          <a:graphicData uri="http://schemas.openxmlformats.org/drawingml/2006/table">
            <a:tbl>
              <a:tblPr firstRow="1" bandRow="1">
                <a:tableStyleId>{5C22544A-7EE6-4342-B048-85BDC9FD1C3A}</a:tableStyleId>
              </a:tblPr>
              <a:tblGrid>
                <a:gridCol w="2376000"/>
                <a:gridCol w="1007999"/>
                <a:gridCol w="6480000"/>
              </a:tblGrid>
              <a:tr h="360000">
                <a:tc>
                  <a:txBody>
                    <a:bodyPr wrap="square"/>
                    <a:lstStyle/>
                    <a:p>
                      <a:r>
                        <a:rPr sz="1000" b="1">
                          <a:solidFill>
                            <a:srgbClr val="FFFFFF"/>
                          </a:solidFill>
                          <a:latin typeface="Meiryo UI"/>
                        </a:rPr>
                        <a:t>プロファイル</a:t>
                      </a:r>
                    </a:p>
                  </a:txBody>
                  <a:tcPr marL="54000" marR="54000" marT="28800" marB="28800" anchor="ctr">
                    <a:solidFill>
                      <a:srgbClr val="1F3864"/>
                    </a:solidFill>
                  </a:tcPr>
                </a:tc>
                <a:tc>
                  <a:txBody>
                    <a:bodyPr wrap="square"/>
                    <a:lstStyle/>
                    <a:p>
                      <a:r>
                        <a:rPr sz="1000" b="1">
                          <a:solidFill>
                            <a:srgbClr val="FFFFFF"/>
                          </a:solidFill>
                          <a:latin typeface="Meiryo UI"/>
                        </a:rPr>
                        <a:t>code.text</a:t>
                      </a:r>
                    </a:p>
                  </a:txBody>
                  <a:tcPr marL="54000" marR="54000" marT="28800" marB="28800" anchor="ctr">
                    <a:solidFill>
                      <a:srgbClr val="1F3864"/>
                    </a:solidFill>
                  </a:tcPr>
                </a:tc>
                <a:tc>
                  <a:txBody>
                    <a:bodyPr wrap="square"/>
                    <a:lstStyle/>
                    <a:p>
                      <a:r>
                        <a:rPr sz="1000" b="1">
                          <a:solidFill>
                            <a:srgbClr val="FFFFFF"/>
                          </a:solidFill>
                          <a:latin typeface="Meiryo UI"/>
                        </a:rPr>
                        <a:t>定義（抜粋）</a:t>
                      </a:r>
                    </a:p>
                  </a:txBody>
                  <a:tcPr marL="54000" marR="54000" marT="28800" marB="28800" anchor="ctr">
                    <a:solidFill>
                      <a:srgbClr val="1F3864"/>
                    </a:solidFill>
                  </a:tcPr>
                </a:tc>
              </a:tr>
              <a:tr h="360000">
                <a:tc>
                  <a:txBody>
                    <a:bodyPr wrap="square"/>
                    <a:lstStyle/>
                    <a:p>
                      <a:r>
                        <a:rPr sz="1000" b="0">
                          <a:solidFill>
                            <a:srgbClr val="000000"/>
                          </a:solidFill>
                          <a:latin typeface="Meiryo UI"/>
                        </a:rPr>
                        <a:t>JP_Observation_LabResult_eCS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項目名。報告書などに記載する場合に使用する表示名。</a:t>
                      </a:r>
                    </a:p>
                  </a:txBody>
                  <a:tcPr marL="54000" marR="54000" marT="28800" marB="28800" anchor="ctr">
                    <a:solidFill>
                      <a:srgbClr val="FFFFFF"/>
                    </a:solidFill>
                  </a:tcPr>
                </a:tc>
              </a:tr>
              <a:tr h="360000">
                <a:tc>
                  <a:txBody>
                    <a:bodyPr wrap="square"/>
                    <a:lstStyle/>
                    <a:p>
                      <a:r>
                        <a:rPr sz="1000" b="0">
                          <a:solidFill>
                            <a:srgbClr val="000000"/>
                          </a:solidFill>
                          <a:latin typeface="Meiryo UI"/>
                        </a:rPr>
                        <a:t>JP_AllergyIntolerance_eCS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電子カルテシステム等で登録され表示されている文字列をcode.textに必ず設定すること。</a:t>
                      </a:r>
                    </a:p>
                  </a:txBody>
                  <a:tcPr marL="54000" marR="54000" marT="28800" marB="28800" anchor="ctr">
                    <a:solidFill>
                      <a:srgbClr val="FFFFFF"/>
                    </a:solidFill>
                  </a:tcPr>
                </a:tc>
              </a:tr>
              <a:tr h="360000">
                <a:tc>
                  <a:txBody>
                    <a:bodyPr wrap="square"/>
                    <a:lstStyle/>
                    <a:p>
                      <a:r>
                        <a:rPr sz="1000" b="0">
                          <a:solidFill>
                            <a:srgbClr val="000000"/>
                          </a:solidFill>
                          <a:latin typeface="Meiryo UI"/>
                        </a:rPr>
                        <a:t>（参考）</a:t>
                      </a:r>
                    </a:p>
                    <a:p>
                      <a:r>
                        <a:rPr sz="1000" b="0">
                          <a:solidFill>
                            <a:srgbClr val="000000"/>
                          </a:solidFill>
                          <a:latin typeface="Meiryo UI"/>
                        </a:rPr>
                        <a:t>JP_Condition_eCS</a:t>
                      </a:r>
                    </a:p>
                  </a:txBody>
                  <a:tcPr marL="54000" marR="54000" marT="28800" marB="28800" anchor="ctr">
                    <a:solidFill>
                      <a:srgbClr val="D9D9D9"/>
                    </a:solidFill>
                  </a:tcPr>
                </a:tc>
                <a:tc>
                  <a:txBody>
                    <a:bodyPr wrap="square"/>
                    <a:lstStyle/>
                    <a:p>
                      <a:r>
                        <a:rPr sz="1000" b="0">
                          <a:solidFill>
                            <a:srgbClr val="000000"/>
                          </a:solidFill>
                          <a:latin typeface="Meiryo UI"/>
                        </a:rPr>
                        <a:t>1..1（必須）</a:t>
                      </a:r>
                    </a:p>
                  </a:txBody>
                  <a:tcPr marL="54000" marR="54000" marT="28800" marB="28800" anchor="ctr">
                    <a:solidFill>
                      <a:srgbClr val="FFFFFF"/>
                    </a:solidFill>
                  </a:tcPr>
                </a:tc>
                <a:tc>
                  <a:txBody>
                    <a:bodyPr wrap="square"/>
                    <a:lstStyle/>
                    <a:p>
                      <a:r>
                        <a:rPr sz="1000" b="0">
                          <a:solidFill>
                            <a:srgbClr val="000000"/>
                          </a:solidFill>
                          <a:latin typeface="Meiryo UI"/>
                        </a:rPr>
                        <a:t>前置修飾語、後置修飾語も含めて電子カルテ上での表示（入力）文字列全体を設定する。</a:t>
                      </a:r>
                    </a:p>
                  </a:txBody>
                  <a:tcPr marL="54000" marR="54000" marT="28800" marB="28800" anchor="ctr">
                    <a:solidFill>
                      <a:srgbClr val="FFFFFF"/>
                    </a:solidFill>
                  </a:tcPr>
                </a:tc>
              </a:tr>
            </a:tbl>
          </a:graphicData>
        </a:graphic>
      </p:graphicFrame>
      <p:sp>
        <p:nvSpPr>
          <p:cNvPr id="8" name="TextBox 7"/>
          <p:cNvSpPr txBox="1"/>
          <p:nvPr/>
        </p:nvSpPr>
        <p:spPr>
          <a:xfrm>
            <a:off x="396000" y="3276000"/>
            <a:ext cx="9864000" cy="432000"/>
          </a:xfrm>
          <a:prstGeom prst="rect">
            <a:avLst/>
          </a:prstGeom>
          <a:noFill/>
        </p:spPr>
        <p:txBody>
          <a:bodyPr wrap="square" anchor="t" lIns="54000" rIns="54000" tIns="18000" bIns="18000">
            <a:spAutoFit/>
          </a:bodyPr>
          <a:lstStyle/>
          <a:p>
            <a:pPr algn="l"/>
            <a:r>
              <a:rPr sz="1100" b="0">
                <a:solidFill>
                  <a:srgbClr val="000000"/>
                </a:solidFill>
                <a:latin typeface="Meiryo UI"/>
              </a:rPr>
              <a:t>→ 必須のため画面が空欄になることはない。code.textは医療機関の電子カルテ上の名称で、標準名称（コードの名称）と一致させる決まりはない。</a:t>
            </a:r>
          </a:p>
          <a:p>
            <a:pPr algn="l"/>
            <a:r>
              <a:rPr sz="1100" b="0">
                <a:solidFill>
                  <a:srgbClr val="000000"/>
                </a:solidFill>
                <a:latin typeface="Meiryo UI"/>
              </a:rPr>
              <a:t>　（検査の注釈：「多くの場合、coding.displayと同一になるが、coding.displayに異なる複数の表現が格納される場合を想定し…」）</a:t>
            </a:r>
          </a:p>
        </p:txBody>
      </p:sp>
      <p:sp>
        <p:nvSpPr>
          <p:cNvPr id="9" name="TextBox 8"/>
          <p:cNvSpPr txBox="1"/>
          <p:nvPr/>
        </p:nvSpPr>
        <p:spPr>
          <a:xfrm>
            <a:off x="396000" y="3708000"/>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2. 閲覧時に表示する名称（技術解説書2.1.0版）</a:t>
            </a:r>
          </a:p>
        </p:txBody>
      </p:sp>
      <p:sp>
        <p:nvSpPr>
          <p:cNvPr id="10" name="TextBox 9"/>
          <p:cNvSpPr txBox="1"/>
          <p:nvPr/>
        </p:nvSpPr>
        <p:spPr>
          <a:xfrm>
            <a:off x="396000" y="3996000"/>
            <a:ext cx="9864000" cy="936000"/>
          </a:xfrm>
          <a:prstGeom prst="rect">
            <a:avLst/>
          </a:prstGeom>
          <a:noFill/>
        </p:spPr>
        <p:txBody>
          <a:bodyPr wrap="square" anchor="t" lIns="54000" rIns="54000" tIns="18000" bIns="18000">
            <a:spAutoFit/>
          </a:bodyPr>
          <a:lstStyle/>
          <a:p>
            <a:pPr algn="l"/>
            <a:r>
              <a:rPr sz="1100" b="0">
                <a:solidFill>
                  <a:srgbClr val="000000"/>
                </a:solidFill>
                <a:latin typeface="Meiryo UI"/>
              </a:rPr>
              <a:t>・表24：FHIR項目名称は「臨床情報一覧やマイナポータル等の閲覧画面で利用者が直感的に理解しやすい形で表示するための検査項目名称」。</a:t>
            </a:r>
          </a:p>
          <a:p>
            <a:pPr algn="l"/>
            <a:r>
              <a:rPr sz="1100" b="0">
                <a:solidFill>
                  <a:srgbClr val="000000"/>
                </a:solidFill>
                <a:latin typeface="Meiryo UI"/>
              </a:rPr>
              <a:t>・本文：臨床情報一覧のXMLレイアウトやPDF帳票上の検査項目名は、FHIR識別文字列を本サービス側でFHIR項目名称に自動変換して出力する。</a:t>
            </a:r>
          </a:p>
          <a:p>
            <a:pPr algn="l"/>
            <a:r>
              <a:rPr sz="1100" b="0">
                <a:solidFill>
                  <a:srgbClr val="000000"/>
                </a:solidFill>
                <a:latin typeface="Meiryo UI"/>
              </a:rPr>
              <a:t>・表18：薬剤名・アレルギー物質は、JFAGYコードの表示名称（display値）を表示し、ダミーコードの場合のみtext値を表示する。</a:t>
            </a:r>
          </a:p>
        </p:txBody>
      </p:sp>
      <p:sp>
        <p:nvSpPr>
          <p:cNvPr id="11" name="TextBox 10"/>
          <p:cNvSpPr txBox="1"/>
          <p:nvPr/>
        </p:nvSpPr>
        <p:spPr>
          <a:xfrm>
            <a:off x="396000" y="5040000"/>
            <a:ext cx="9864000" cy="288000"/>
          </a:xfrm>
          <a:prstGeom prst="rect">
            <a:avLst/>
          </a:prstGeom>
          <a:noFill/>
        </p:spPr>
        <p:txBody>
          <a:bodyPr wrap="square" anchor="t" lIns="54000" rIns="54000" tIns="18000" bIns="18000">
            <a:spAutoFit/>
          </a:bodyPr>
          <a:lstStyle/>
          <a:p>
            <a:pPr algn="l"/>
            <a:r>
              <a:rPr sz="1200" b="1">
                <a:solidFill>
                  <a:srgbClr val="000000"/>
                </a:solidFill>
                <a:latin typeface="Meiryo UI"/>
              </a:rPr>
              <a:t>3. 機構への確認事項（ToDo#1228の照会に含める）</a:t>
            </a:r>
          </a:p>
        </p:txBody>
      </p:sp>
      <p:sp>
        <p:nvSpPr>
          <p:cNvPr id="12" name="TextBox 11"/>
          <p:cNvSpPr txBox="1"/>
          <p:nvPr/>
        </p:nvSpPr>
        <p:spPr>
          <a:xfrm>
            <a:off x="396000" y="5328000"/>
            <a:ext cx="9864000" cy="1224000"/>
          </a:xfrm>
          <a:prstGeom prst="rect">
            <a:avLst/>
          </a:prstGeom>
          <a:noFill/>
        </p:spPr>
        <p:txBody>
          <a:bodyPr wrap="square" anchor="t" lIns="54000" rIns="54000" tIns="18000" bIns="18000">
            <a:spAutoFit/>
          </a:bodyPr>
          <a:lstStyle/>
          <a:p>
            <a:pPr algn="l"/>
            <a:r>
              <a:rPr sz="1100" b="0">
                <a:solidFill>
                  <a:srgbClr val="000000"/>
                </a:solidFill>
                <a:latin typeface="Meiryo UI"/>
              </a:rPr>
              <a:t>・XMLレイアウトの薬剤名（YkName）・アレルギー名（ArName）に設定しているのは、code.textかdisplayか（項目説明に記載がないため）。</a:t>
            </a:r>
          </a:p>
          <a:p>
            <a:pPr algn="l"/>
            <a:r>
              <a:rPr sz="1100" b="0">
                <a:solidFill>
                  <a:srgbClr val="000000"/>
                </a:solidFill>
                <a:latin typeface="Meiryo UI"/>
              </a:rPr>
              <a:t>・詳細画面の名称をXMLレイアウト・PDFに揃える改修の可否、可能な場合の時期と費用。</a:t>
            </a:r>
          </a:p>
          <a:p>
            <a:pPr algn="l"/>
            <a:r>
              <a:rPr sz="1100" b="0">
                <a:solidFill>
                  <a:srgbClr val="000000"/>
                </a:solidFill>
                <a:latin typeface="Meiryo UI"/>
              </a:rPr>
              <a:t>・PDFの検査項目名は、調査結果では「JLAC10のディスプレイ値」だが、技術解説書の「FHIR項目名称に自動変換して出力」と同じものか。</a:t>
            </a:r>
          </a:p>
          <a:p>
            <a:pPr algn="l"/>
            <a:r>
              <a:rPr sz="1100" b="0">
                <a:solidFill>
                  <a:srgbClr val="000000"/>
                </a:solidFill>
                <a:latin typeface="Meiryo UI"/>
              </a:rPr>
              <a:t>・3月リリース（案件221：JLAC11を優先して出力）の後、PDFの検査項目名はどうなるか（JLAC11だけの登録はcode.textになるのか）。詳細画面は変わらないという理解でよいか。</a:t>
            </a:r>
          </a:p>
        </p:txBody>
      </p:sp>
      <p:sp>
        <p:nvSpPr>
          <p:cNvPr id="13" name="TextBox 12"/>
          <p:cNvSpPr txBox="1"/>
          <p:nvPr/>
        </p:nvSpPr>
        <p:spPr>
          <a:xfrm>
            <a:off x="396000" y="7056000"/>
            <a:ext cx="9864000" cy="251999"/>
          </a:xfrm>
          <a:prstGeom prst="rect">
            <a:avLst/>
          </a:prstGeom>
          <a:noFill/>
        </p:spPr>
        <p:txBody>
          <a:bodyPr wrap="square" anchor="t" lIns="54000" rIns="54000" tIns="18000" bIns="18000">
            <a:spAutoFit/>
          </a:bodyPr>
          <a:lstStyle/>
          <a:p>
            <a:pPr algn="l"/>
            <a:r>
              <a:rPr sz="900" b="0">
                <a:solidFill>
                  <a:srgbClr val="000000"/>
                </a:solidFill>
                <a:latin typeface="Meiryo UI"/>
              </a:rPr>
              <a:t>出典：JP-CLINS v1.13.0（StructureDefinition）、技術解説書2.1.0版（表18・表24・検体検査のJLACコードの記述）、別紙3-2 XMLレイアウト Ver5.10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2013-01-27T09:14:16Z</dcterms:created>
  <dcterms:modified xsi:type="dcterms:W3CDTF">2013-01-27T09:15:58Z</dcterms:modified>
  <cp:category/>
</cp:coreProperties>
</file>