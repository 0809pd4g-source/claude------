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288000"/>
            <a:ext cx="9864000" cy="503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eiryo UI"/>
              </a:rPr>
              <a:t>X. 臨床情報詳細画面とPDF帳票の名称の差に係る相談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8000" y="827999"/>
            <a:ext cx="101520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96000" y="1007999"/>
            <a:ext cx="9864000" cy="39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07999"/>
            <a:ext cx="9684000" cy="396000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 UI"/>
              </a:rPr>
              <a:t>ご相談事項：検査項目・薬剤名・アレルギー物質の名称が、詳細画面とPDFで異なる件の改修要否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1475999"/>
            <a:ext cx="9864000" cy="46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</a:rPr>
              <a:t>ToDo#1228を受けたDX機構の調査結果（10/6）と、出力元であるXMLレイアウト（CIP-IF-002 臨床情報閲覧結果）・FHIRの定義を突き合わせ、詳細画面とPDFで表示に差分が生じるかを整理した。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" y="1980000"/>
          <a:ext cx="9864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2000"/>
                <a:gridCol w="1224000"/>
                <a:gridCol w="1800000"/>
                <a:gridCol w="3096000"/>
                <a:gridCol w="2772000"/>
              </a:tblGrid>
              <a:tr h="576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項目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① 現状：詳細画面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① 現状：PDF帳票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② XMLレイアウト・FHIRのルール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③ 表示に差分が生じるか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検査項目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（感染症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・検査）</a:t>
                      </a:r>
                    </a:p>
                  </a:txBody>
                  <a:tcPr marL="54000" marR="54000" marT="28800" marB="2880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医療機関の登録名称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（code.text）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JLAC10のコードの名称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（display）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JLAC10のコードがない場合は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code.text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XMLは、名称欄（検査名）に登録名称（code.text）、コードセットにJLACのコードの名称（display）の両方を持つ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両者を一致させる決まりはない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00000"/>
                          </a:solidFill>
                          <a:latin typeface="Meiryo UI"/>
                        </a:rPr>
                        <a:t>生じうる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登録名称がJLAC10の名称と違えば差分が出る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（出ないのは、JLAC10のコードがない場合と、登録名称が同じ場合）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薬剤名</a:t>
                      </a:r>
                    </a:p>
                  </a:txBody>
                  <a:tcPr marL="54000" marR="54000" marT="28800" marB="2880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医療機関の登録名称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（code.text）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JFAGYコードの名称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（display）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ダミーコードの場合はcode.text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XMLは、名称欄（薬剤名）に登録名称（code.text）、コードセットにJFAGYのコードの名称（display）の両方を持つ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両者を一致させる決まりはない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00000"/>
                          </a:solidFill>
                          <a:latin typeface="Meiryo UI"/>
                        </a:rPr>
                        <a:t>生じうる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登録名称がJFAGYの名称と違えば差分が出る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（出ないのは、ダミーコードの場合と、登録名称が同じ場合）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アレルギー物質</a:t>
                      </a:r>
                    </a:p>
                  </a:txBody>
                  <a:tcPr marL="54000" marR="54000" marT="28800" marB="2880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医療機関の登録名称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（code.text）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JFAGYコードの名称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（display）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ダミーコードの場合はcode.text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薬剤名と同じ（名称欄＝アレルギー名）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C00000"/>
                          </a:solidFill>
                          <a:latin typeface="Meiryo UI"/>
                        </a:rPr>
                        <a:t>生じうる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薬剤名と同じ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</a:tr>
              <a:tr h="576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（参考）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傷病名</a:t>
                      </a:r>
                    </a:p>
                  </a:txBody>
                  <a:tcPr marL="54000" marR="54000" marT="28800" marB="28800" anchor="ctr">
                    <a:solidFill>
                      <a:srgbClr val="F2DCD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医療機関の登録名称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（code.text）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「の疑い」が付かない</a:t>
                      </a:r>
                    </a:p>
                  </a:txBody>
                  <a:tcPr marL="54000" marR="54000" marT="28800" marB="28800" anchor="ctr">
                    <a:solidFill>
                      <a:srgbClr val="F2DCD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前置修飾語＋傷病名＋後置修飾語＋「の疑い」</a:t>
                      </a:r>
                    </a:p>
                  </a:txBody>
                  <a:tcPr marL="54000" marR="54000" marT="28800" marB="28800" anchor="ctr">
                    <a:solidFill>
                      <a:srgbClr val="F2DCD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XMLの傷病名は「前置修飾語＋傷病名＋後置修飾語」に加工して出力。疑いは別の欄</a:t>
                      </a:r>
                    </a:p>
                  </a:txBody>
                  <a:tcPr marL="54000" marR="54000" marT="28800" marB="28800" anchor="ctr">
                    <a:solidFill>
                      <a:srgbClr val="F2DCD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000000"/>
                          </a:solidFill>
                          <a:latin typeface="Meiryo UI"/>
                        </a:rPr>
                        <a:t>生じる → 対応済み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12月リリース（案件213）で画面をPDFと同様に出力</a:t>
                      </a:r>
                    </a:p>
                  </a:txBody>
                  <a:tcPr marL="54000" marR="54000" marT="28800" marB="28800" anchor="ctr">
                    <a:solidFill>
                      <a:srgbClr val="F2DCD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6000" y="5040000"/>
            <a:ext cx="9864000" cy="396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eiryo UI"/>
              </a:rPr>
              <a:t>→ XMLは1件の中に登録名称とコードの名称の両方を持ち、画面は登録名称、PDFはコードの名称を表示している。両者を一致させる決まりはないため、3項目とも表示に差分は生じうる（医療機関の登録内容しだい）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396000" y="5508000"/>
            <a:ext cx="9864000" cy="324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3999" y="5508000"/>
            <a:ext cx="9684000" cy="324000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eiryo UI"/>
              </a:rPr>
              <a:t>④ 厚労省にご意向を伺いたい事項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6000" y="5868000"/>
            <a:ext cx="9864000" cy="118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Meiryo UI"/>
              </a:rPr>
              <a:t>（1）</a:t>
            </a:r>
            <a:r>
              <a:rPr sz="1100" b="0">
                <a:solidFill>
                  <a:srgbClr val="000000"/>
                </a:solidFill>
                <a:latin typeface="Meiryo UI"/>
              </a:rPr>
              <a:t>表示に差分が生じうるため、傷病名（案件213）と同様に、画面の名称をPDF（コードの名称）に揃える改修を機構に求める方向でよろしいでしょうか。なお、登録名称は必須項目のため、揃えても名称が空欄になることはありません。</a:t>
            </a:r>
          </a:p>
          <a:p>
            <a:pPr algn="l"/>
            <a:r>
              <a:rPr sz="1100" b="1">
                <a:solidFill>
                  <a:srgbClr val="000000"/>
                </a:solidFill>
                <a:latin typeface="Meiryo UI"/>
              </a:rPr>
              <a:t>（2）</a:t>
            </a:r>
            <a:r>
              <a:rPr sz="1100" b="0">
                <a:solidFill>
                  <a:srgbClr val="000000"/>
                </a:solidFill>
                <a:latin typeface="Meiryo UI"/>
              </a:rPr>
              <a:t>医療機関の登録名称が標準名称と同じで、実際には差分が出ていない場合もありますが、その場合でも念のため改修を求めますか。</a:t>
            </a:r>
          </a:p>
          <a:p>
            <a:pPr algn="l"/>
            <a:r>
              <a:rPr sz="1100" b="1">
                <a:solidFill>
                  <a:srgbClr val="000000"/>
                </a:solidFill>
                <a:latin typeface="Meiryo UI"/>
              </a:rPr>
              <a:t>（3）</a:t>
            </a:r>
            <a:r>
              <a:rPr sz="1100" b="0">
                <a:solidFill>
                  <a:srgbClr val="000000"/>
                </a:solidFill>
                <a:latin typeface="Meiryo UI"/>
              </a:rPr>
              <a:t>富士通からは「品質担保の観点から3月リリースでの修正は困難」との回答のため、改修の可否・時期・費用を機構に照会し、費用対効果を見て判断する進め方でよろしいでしょうか。あわせて、改修までの間、差分があることを医療機関に周知する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7056000"/>
            <a:ext cx="9864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出典：DX機構「PDFと詳細画面の差異に関する調査結果」（2026/10/6）、別紙3-2 XMLレイアウト Ver5.10（CIP-IF-002）、JP-CLINS v1.13.0、案件台帳（令和8年度）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96000" y="288000"/>
            <a:ext cx="9864000" cy="503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Meiryo UI"/>
              </a:rPr>
              <a:t>X. 臨床情報詳細画面とPDF帳票の名称の差に係る相談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88000" y="827999"/>
            <a:ext cx="10152000" cy="0"/>
          </a:xfrm>
          <a:prstGeom prst="line">
            <a:avLst/>
          </a:prstGeom>
          <a:ln w="19050">
            <a:solidFill>
              <a:srgbClr val="1F386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96000" y="1007999"/>
            <a:ext cx="9864000" cy="396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3999" y="1007999"/>
            <a:ext cx="9684000" cy="396000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Meiryo UI"/>
              </a:rPr>
              <a:t>（参考）判断の根拠：FHIRの定義とXMLの名称欄の中身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000" y="1475999"/>
            <a:ext cx="9864000" cy="28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</a:rPr>
              <a:t>1. 詳細画面が表示しているcode.textの定義（JP-CLINS v1.13.0）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" y="1764000"/>
          <a:ext cx="9863999" cy="129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1007999"/>
                <a:gridCol w="6480000"/>
              </a:tblGrid>
              <a:tr h="3240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プロファイル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code.text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</a:rPr>
                        <a:t>定義（抜粋）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eiryo UI"/>
                        </a:rPr>
                        <a:t>JP_Observation_LabResult_eCS</a:t>
                      </a:r>
                    </a:p>
                  </a:txBody>
                  <a:tcPr marL="54000" marR="54000" marT="28800" marB="2880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eiryo UI"/>
                        </a:rPr>
                        <a:t>1..1（必須）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eiryo UI"/>
                        </a:rPr>
                        <a:t>項目名。報告書などに記載する場合に使用する表示名。（注釈：多くの場合、coding.displayと同一になるが…）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eiryo UI"/>
                        </a:rPr>
                        <a:t>JP_AllergyIntolerance_eCS</a:t>
                      </a:r>
                    </a:p>
                  </a:txBody>
                  <a:tcPr marL="54000" marR="54000" marT="28800" marB="2880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eiryo UI"/>
                        </a:rPr>
                        <a:t>1..1（必須）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eiryo UI"/>
                        </a:rPr>
                        <a:t>電子カルテシステム等で登録され表示されている文字列をcode.textに必ず設定すること。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</a:tr>
              <a:tr h="324000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eiryo UI"/>
                        </a:rPr>
                        <a:t>（参考）</a:t>
                      </a:r>
                    </a:p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eiryo UI"/>
                        </a:rPr>
                        <a:t>JP_Condition_eCS</a:t>
                      </a:r>
                    </a:p>
                  </a:txBody>
                  <a:tcPr marL="54000" marR="54000" marT="28800" marB="2880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eiryo UI"/>
                        </a:rPr>
                        <a:t>1..1（必須）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000000"/>
                          </a:solidFill>
                          <a:latin typeface="Meiryo UI"/>
                        </a:rPr>
                        <a:t>前置修飾語、後置修飾語も含めて電子カルテ上での表示（入力）文字列全体を設定する。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96000" y="3204000"/>
            <a:ext cx="9864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100" b="0">
                <a:solidFill>
                  <a:srgbClr val="000000"/>
                </a:solidFill>
                <a:latin typeface="Meiryo UI"/>
              </a:rPr>
              <a:t>→ 必須のため、画面の名称が空欄になることはない。登録名称はコードの名称と一致させる決まりはない。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6000" y="3528000"/>
            <a:ext cx="9864000" cy="28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</a:rPr>
              <a:t>2. XMLレイアウト（CIP-IF-002）の名称欄に入っている値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" y="3816000"/>
          <a:ext cx="98639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6000"/>
                <a:gridCol w="1655999"/>
                <a:gridCol w="5832000"/>
              </a:tblGrid>
              <a:tr h="360000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XMLの欄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入っている値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Meiryo UI"/>
                        </a:rPr>
                        <a:t>根拠</a:t>
                      </a:r>
                    </a:p>
                  </a:txBody>
                  <a:tcPr marL="54000" marR="54000" marT="28800" marB="28800" anchor="ctr">
                    <a:solidFill>
                      <a:srgbClr val="1F3864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名称欄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（検査名・感染症名・薬剤名・アレルギー名）</a:t>
                      </a:r>
                    </a:p>
                  </a:txBody>
                  <a:tcPr marL="54000" marR="54000" marT="28800" marB="2880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登録名称（code.text）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DX機構の調査結果：参照元を「検査/感染症名（code.text）」「アレルギー/薬剤名（code.text）」と記載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基金の確認結果（2026/4）：「system値なし：検査名ObservationText」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患者サマリーの対応づけ（NTTデータ）：「ConditionText：code.textから設定」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コードセットのdisplay値</a:t>
                      </a:r>
                    </a:p>
                  </a:txBody>
                  <a:tcPr marL="54000" marR="54000" marT="28800" marB="28800" anchor="ctr">
                    <a:solidFill>
                      <a:srgbClr val="D9D9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コードの名称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（coding.display）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XMLレイアウト：「system値に相対する文字列を設定」（出現回数1..1）</a:t>
                      </a:r>
                    </a:p>
                    <a:p>
                      <a:r>
                        <a:rPr sz="950" b="0">
                          <a:solidFill>
                            <a:srgbClr val="000000"/>
                          </a:solidFill>
                          <a:latin typeface="Meiryo UI"/>
                        </a:rPr>
                        <a:t>DX機構の調査結果：PDFは「コードセットのディスプレイ値」を表示</a:t>
                      </a:r>
                    </a:p>
                  </a:txBody>
                  <a:tcPr marL="54000" marR="54000" marT="28800" marB="28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96000" y="5400000"/>
            <a:ext cx="9864000" cy="288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200" b="1">
                <a:solidFill>
                  <a:srgbClr val="000000"/>
                </a:solidFill>
                <a:latin typeface="Meiryo UI"/>
              </a:rPr>
              <a:t>3. 機構への確認事項（ToDo#1228の照会に含める）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000" y="5688000"/>
            <a:ext cx="9864000" cy="1332000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1050" b="0">
                <a:solidFill>
                  <a:srgbClr val="000000"/>
                </a:solidFill>
                <a:latin typeface="Meiryo UI"/>
              </a:rPr>
              <a:t>・XMLレイアウトの検査名（KnName）・感染症名（KsName）の項目説明「FHIR識別名が設定される」は、実際の設定値（code.text）と異なるのではないか。</a:t>
            </a:r>
          </a:p>
          <a:p>
            <a:pPr algn="l"/>
            <a:r>
              <a:rPr sz="1050" b="0">
                <a:solidFill>
                  <a:srgbClr val="000000"/>
                </a:solidFill>
                <a:latin typeface="Meiryo UI"/>
              </a:rPr>
              <a:t>・その他アレルギーのdisplay値（ArDisplay・項番75）の項目説明「JFAGY医薬品アレルギーコードに相対する文字列」は、食品・非食品非医薬品コードの誤記ではないか。</a:t>
            </a:r>
          </a:p>
          <a:p>
            <a:pPr algn="l"/>
            <a:r>
              <a:rPr sz="1050" b="0">
                <a:solidFill>
                  <a:srgbClr val="000000"/>
                </a:solidFill>
                <a:latin typeface="Meiryo UI"/>
              </a:rPr>
              <a:t>・PDFの検査項目名は、調査結果では「JLAC10のディスプレイ値」だが、技術解説書の「FHIR項目名称に自動変換して出力」と同じものか。案件221（JLAC11優先）の後はどうなるか。</a:t>
            </a:r>
          </a:p>
          <a:p>
            <a:pPr algn="l"/>
            <a:r>
              <a:rPr sz="1050" b="0">
                <a:solidFill>
                  <a:srgbClr val="000000"/>
                </a:solidFill>
                <a:latin typeface="Meiryo UI"/>
              </a:rPr>
              <a:t>・詳細画面の名称をPDFに揃える改修の可否、可能な場合の時期と費用。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6000" y="7056000"/>
            <a:ext cx="9864000" cy="251999"/>
          </a:xfrm>
          <a:prstGeom prst="rect">
            <a:avLst/>
          </a:prstGeom>
          <a:noFill/>
        </p:spPr>
        <p:txBody>
          <a:bodyPr wrap="square" anchor="t" lIns="54000" rIns="54000" tIns="18000" bIns="18000">
            <a:sp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Meiryo UI"/>
              </a:rPr>
              <a:t>出典：JP-CLINS v1.13.0（StructureDefinition）、別紙3-2 XMLレイアウト Ver5.10、DX機構 調査結果（2026/10/6）、技術解説書2.1.0版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