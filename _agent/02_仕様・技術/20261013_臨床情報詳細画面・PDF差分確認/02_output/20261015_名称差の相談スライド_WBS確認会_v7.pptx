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4"/>
    <p:sldMasterId id="2147483749" r:id="rId5"/>
    <p:sldMasterId id="2147484623" r:id="rId6"/>
  </p:sldMasterIdLst>
  <p:notesMasterIdLst>
    <p:notesMasterId r:id="rId11"/>
  </p:notesMasterIdLst>
  <p:sldIdLst>
    <p:sldId id="256" r:id="rId10"/>
    <p:sldId id="257" r:id="rId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メモ" id="{BC0E1D18-7150-4EB4-9D69-903A4A83FA4D}">
          <p14:sldIdLst>
            <p14:sldId id="2147483642"/>
          </p14:sldIdLst>
        </p14:section>
        <p14:section name="20260902_血液型の共有の対応策" id="{7248C1CC-8891-4B92-ACE5-8860CE227BF4}">
          <p14:sldIdLst>
            <p14:sldId id="2147483644"/>
            <p14:sldId id="2147483645"/>
          </p14:sldIdLst>
        </p14:section>
        <p14:section name="20260831_開発課題検討会資料" id="{9050B11D-D215-4EE1-BC9A-4FD94858CA8A}">
          <p14:sldIdLst>
            <p14:sldId id="260"/>
          </p14:sldIdLst>
        </p14:section>
      </p14:sectionLst>
    </p:ext>
    <p:ext uri="{EFAFB233-063F-42B5-8137-9DF3F51BA10A}">
      <p15:sldGuideLst xmlns:p15="http://schemas.microsoft.com/office/powerpoint/2012/main">
        <p15:guide id="1" orient="horz" pos="2160" userDrawn="1">
          <p15:clr>
            <a:srgbClr val="A4A3A4"/>
          </p15:clr>
        </p15:guide>
        <p15:guide id="2" pos="2850" userDrawn="1">
          <p15:clr>
            <a:srgbClr val="A4A3A4"/>
          </p15:clr>
        </p15:guide>
        <p15:guide id="3" pos="1548" userDrawn="1">
          <p15:clr>
            <a:srgbClr val="A4A3A4"/>
          </p15:clr>
        </p15:guide>
        <p15:guide id="4" pos="5798"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 id="{160D5511-E3AA-B467-0730-11A32BDB3A2C}" name="高橋 悠一(takahashi-yuuichi01)" initials="悠高" userId="S::TYGFN@lansys.mhlw.go.jp::a665279f-c78e-464b-a8c6-4c9b03677b39" providerId="AD"/>
  <p188:author id="{6ECA532E-61E6-26D5-2715-F415BEA539F7}" name="Honda, Keiko" initials="KH" userId="S::keiko.honda@accenture.com::375496db-4b17-4194-84b5-e6f9bb884af8" providerId="AD"/>
  <p188:author id="{98785B48-ADE0-7F42-E4B1-997A7A00A437}" name="Mukai, Chiaki" initials="CM" userId="S::chiaki.mukai@accenture.com::4981200e-0e53-4de9-9471-8cf3db9590d5" providerId="AD"/>
  <p188:author id="{8272DF57-0B53-32E1-54F0-8A71B081A01F}" name="Kurokawa, Hanae" initials="HK" userId="S::hanae.kurokawa@accenture.com::396a447f-a51c-4cf9-8f28-aa835a4fdd63" providerId="AD"/>
  <p188:author id="{D9933879-0126-D391-4149-48774B4FCB84}" name="Sakurai, Keita A." initials="KS" userId="S::keita.a.sakurai@accenture.com::24824900-c7fb-463d-9182-1568b03f6256" providerId="AD"/>
  <p188:author id="{B3A3ADB2-27D1-C9D0-9DE5-F696F8E61B1A}" name="長谷川 聖(hasegawa-satoru.f83)" initials="聖長" userId="S::HSXAE@lansys.mhlw.go.jp::0328cc67-5612-4c45-a253-85389a058c6a" providerId="AD"/>
  <p188:author id="{CD7A14DE-D95B-209D-BEF4-5D860CD0546A}" name="Masubuchi, Ryotaro" initials="MR" userId="S::ryotaro.masubuchi@accenture.com::c9d63f4e-b2c3-4763-95e0-611e922cd01d" providerId="AD"/>
  <p188:author id="{10EB5CEE-279F-C1A6-6148-0C38680EEDD2}" name="Yamakawa, Rion" initials="RY" userId="S::rion.yamakawa@accenture.com::5623036d-59d7-4fb8-b6b7-e50aa9ebf0c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作成者"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4AD8B"/>
    <a:srgbClr val="F8EDEC"/>
    <a:srgbClr val="D99694"/>
    <a:srgbClr val="339933"/>
    <a:srgbClr val="FFE07D"/>
    <a:srgbClr val="B0005C"/>
    <a:srgbClr val="FFCF37"/>
    <a:srgbClr val="AC8300"/>
    <a:srgbClr val="745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49B1C4-E8B6-48AC-BEAB-250268B57B30}" v="1755" dt="2026-09-02T04:07:17.282"/>
    <p1510:client id="{B4BA6874-D779-4214-A8A6-15F7505D2759}" v="641" dt="2026-09-02T04:09:05.1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50"/>
        <p:guide pos="1548"/>
        <p:guide pos="5798"/>
        <p:guide pos="2285"/>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notesMaster" Target="notesMasters/notes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5/10/relationships/revisionInfo" Target="revisionInfo.xml"/><Relationship Id="rId18"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2026/10/1</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ea"/>
                <a:ea typeface="+mj-ea"/>
              </a:defRPr>
            </a:lvl1pPr>
          </a:lstStyle>
          <a:p>
            <a:r>
              <a:rPr lang="ja-JP" altLang="en-US"/>
              <a:t>マスタ タイトルの書式設定</a:t>
            </a:r>
            <a:endParaRPr lang="en-AU"/>
          </a:p>
        </p:txBody>
      </p:sp>
      <p:sp>
        <p:nvSpPr>
          <p:cNvPr id="3" name="Content Placeholder 2"/>
          <p:cNvSpPr>
            <a:spLocks noGrp="1"/>
          </p:cNvSpPr>
          <p:nvPr>
            <p:ph idx="1"/>
          </p:nvPr>
        </p:nvSpPr>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AU"/>
          </a:p>
        </p:txBody>
      </p:sp>
      <p:sp>
        <p:nvSpPr>
          <p:cNvPr id="4" name="Rectangle 60"/>
          <p:cNvSpPr>
            <a:spLocks noGrp="1" noChangeArrowheads="1"/>
          </p:cNvSpPr>
          <p:nvPr>
            <p:ph type="sldNum" sz="quarter" idx="10"/>
          </p:nvPr>
        </p:nvSpPr>
        <p:spPr>
          <a:xfrm>
            <a:off x="7874927" y="6576167"/>
            <a:ext cx="1835017" cy="197699"/>
          </a:xfrm>
          <a:prstGeom prst="rect">
            <a:avLst/>
          </a:prstGeom>
          <a:ln/>
        </p:spPr>
        <p:txBody>
          <a:bodyPr/>
          <a:lstStyle>
            <a:lvl1pPr>
              <a:defRPr/>
            </a:lvl1pPr>
          </a:lstStyle>
          <a:p>
            <a:pPr>
              <a:defRPr/>
            </a:pPr>
            <a:fld id="{28A37779-3EFF-4C44-81BE-A0A03BDD188D}" type="slidenum">
              <a:rPr lang="en-AU" smtClean="0"/>
              <a:pPr>
                <a:defRPr/>
              </a:pPr>
              <a:t>‹#›</a:t>
            </a:fld>
            <a:endParaRPr lang="en-AU"/>
          </a:p>
        </p:txBody>
      </p:sp>
      <p:sp>
        <p:nvSpPr>
          <p:cNvPr id="5" name="Rectangle 62">
            <a:extLst>
              <a:ext uri="{FF2B5EF4-FFF2-40B4-BE49-F238E27FC236}">
                <a16:creationId xmlns:a16="http://schemas.microsoft.com/office/drawing/2014/main" id="{D54D1348-7466-405C-BEAC-0E7E1CFE657B}"/>
              </a:ext>
            </a:extLst>
          </p:cNvPr>
          <p:cNvSpPr>
            <a:spLocks noGrp="1" noChangeArrowheads="1"/>
          </p:cNvSpPr>
          <p:nvPr>
            <p:ph type="ftr" sz="quarter" idx="3"/>
          </p:nvPr>
        </p:nvSpPr>
        <p:spPr bwMode="gray">
          <a:xfrm>
            <a:off x="156503" y="6563638"/>
            <a:ext cx="4863571" cy="218162"/>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675" b="0">
                <a:solidFill>
                  <a:schemeClr val="tx1"/>
                </a:solidFill>
              </a:defRPr>
            </a:lvl1pPr>
          </a:lstStyle>
          <a:p>
            <a:pPr>
              <a:defRPr/>
            </a:pPr>
            <a:r>
              <a:rPr lang="en-AU"/>
              <a:t>Copyright © 2020 Accenture All Rights Reserved.</a:t>
            </a:r>
          </a:p>
        </p:txBody>
      </p:sp>
    </p:spTree>
    <p:extLst>
      <p:ext uri="{BB962C8B-B14F-4D97-AF65-F5344CB8AC3E}">
        <p14:creationId xmlns:p14="http://schemas.microsoft.com/office/powerpoint/2010/main" val="1918514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8892000"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141550366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20848904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94856584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3873802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82903500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9971934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550795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0637151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088559161"/>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0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85775316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2000"/>
            </a:lvl1pPr>
          </a:lstStyle>
          <a:p>
            <a:endParaRPr lang="ja-JP" altLang="en-US" sz="1800"/>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2000"/>
            </a:lvl1pPr>
          </a:lstStyle>
          <a:p>
            <a:r>
              <a:rPr lang="ja-JP" altLang="en-US" sz="1800"/>
              <a:t>資料作成日付、</a:t>
            </a:r>
            <a:br>
              <a:rPr lang="en-US" altLang="ja-JP" sz="1800"/>
            </a:br>
            <a:r>
              <a:rPr lang="ja-JP" altLang="en-US" sz="1800"/>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0" y="2708273"/>
            <a:ext cx="8891323" cy="864000"/>
          </a:xfrm>
          <a:prstGeom prst="rect">
            <a:avLst/>
          </a:prstGeom>
        </p:spPr>
        <p:txBody>
          <a:bodyPr lIns="36000" tIns="36000" rIns="36000" bIns="36000">
            <a:noAutofit/>
          </a:bodyPr>
          <a:lstStyle>
            <a:lvl1pPr>
              <a:defRPr sz="2400" b="1">
                <a:latin typeface="+mj-ea"/>
                <a:ea typeface="+mj-ea"/>
              </a:defRPr>
            </a:lvl1pPr>
            <a:lvl2pPr>
              <a:defRPr sz="2400">
                <a:latin typeface="+mj-ea"/>
                <a:ea typeface="+mj-ea"/>
              </a:defRPr>
            </a:lvl2pPr>
            <a:lvl3pPr>
              <a:defRPr sz="2400">
                <a:latin typeface="+mj-ea"/>
                <a:ea typeface="+mj-ea"/>
              </a:defRPr>
            </a:lvl3pPr>
            <a:lvl4pPr>
              <a:defRPr sz="2400">
                <a:latin typeface="+mj-ea"/>
                <a:ea typeface="+mj-ea"/>
              </a:defRPr>
            </a:lvl4pPr>
            <a:lvl5pPr>
              <a:defRPr sz="2400">
                <a:latin typeface="+mj-ea"/>
                <a:ea typeface="+mj-ea"/>
              </a:defRPr>
            </a:lvl5pPr>
          </a:lstStyle>
          <a:p>
            <a:pPr lvl="0"/>
            <a:r>
              <a:rPr kumimoji="1" lang="ja-JP" altLang="en-US"/>
              <a:t>ファイルタイトルを入力</a:t>
            </a:r>
          </a:p>
        </p:txBody>
      </p:sp>
      <p:sp>
        <p:nvSpPr>
          <p:cNvPr id="19" name="フッター プレースホルダー 30">
            <a:extLst>
              <a:ext uri="{FF2B5EF4-FFF2-40B4-BE49-F238E27FC236}">
                <a16:creationId xmlns:a16="http://schemas.microsoft.com/office/drawing/2014/main" id="{B4D97D15-DA45-B1F1-85D3-A756D8DC3E38}"/>
              </a:ext>
            </a:extLst>
          </p:cNvPr>
          <p:cNvSpPr>
            <a:spLocks noGrp="1"/>
          </p:cNvSpPr>
          <p:nvPr>
            <p:ph type="ftr" sz="quarter" idx="3"/>
          </p:nvPr>
        </p:nvSpPr>
        <p:spPr>
          <a:xfrm>
            <a:off x="5889459" y="6309320"/>
            <a:ext cx="3198000" cy="360000"/>
          </a:xfrm>
          <a:prstGeom prst="rect">
            <a:avLst/>
          </a:prstGeom>
        </p:spPr>
        <p:txBody>
          <a:bodyPr vert="horz" lIns="91440" tIns="45720" rIns="91440" bIns="45720" rtlCol="0" anchor="ctr"/>
          <a:lstStyle>
            <a:lvl1pPr algn="ctr">
              <a:defRPr sz="900">
                <a:solidFill>
                  <a:schemeClr val="tx1"/>
                </a:solidFill>
                <a:latin typeface="+mj-ea"/>
                <a:ea typeface="+mj-ea"/>
              </a:defRPr>
            </a:lvl1pPr>
          </a:lstStyle>
          <a:p>
            <a:r>
              <a:rPr lang="en-US" altLang="ja-JP"/>
              <a:t>Copyright © 2023 Accenture All Rights Reserved.</a:t>
            </a:r>
            <a:endParaRPr lang="ja-JP" altLang="en-US"/>
          </a:p>
        </p:txBody>
      </p:sp>
    </p:spTree>
    <p:extLst>
      <p:ext uri="{BB962C8B-B14F-4D97-AF65-F5344CB8AC3E}">
        <p14:creationId xmlns:p14="http://schemas.microsoft.com/office/powerpoint/2010/main" val="67130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8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259200396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7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38388772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6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06451733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7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38388772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6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06451733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5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184303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2102169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1676129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2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9074591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1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68674115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9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51189169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_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973687977"/>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2102169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1676129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2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9074591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1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68674115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9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51189169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_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973687977"/>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13845453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23048394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52465057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84257678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681205988"/>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49111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F89283-9EFF-B094-A52B-520847C7056F}"/>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Tree>
    <p:extLst>
      <p:ext uri="{BB962C8B-B14F-4D97-AF65-F5344CB8AC3E}">
        <p14:creationId xmlns:p14="http://schemas.microsoft.com/office/powerpoint/2010/main" val="4794861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r>
              <a:rPr lang="en-US" altLang="ja-JP"/>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313246826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tags" Target="../tags/tag1.xml"/><Relationship Id="rId4" Type="http://schemas.openxmlformats.org/officeDocument/2006/relationships/tags" Target="../tags/tag2.xml"/><Relationship Id="rId5" Type="http://schemas.openxmlformats.org/officeDocument/2006/relationships/tags" Target="../tags/tag3.xml"/><Relationship Id="rId6" Type="http://schemas.openxmlformats.org/officeDocument/2006/relationships/tags" Target="../tags/tag4.xml"/><Relationship Id="rId7" Type="http://schemas.openxmlformats.org/officeDocument/2006/relationships/tags" Target="../tags/tag5.xml"/><Relationship Id="rId8" Type="http://schemas.openxmlformats.org/officeDocument/2006/relationships/tags" Target="../tags/tag6.xml"/><Relationship Id="rId9" Type="http://schemas.openxmlformats.org/officeDocument/2006/relationships/tags" Target="../tags/tag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slideLayout" Target="../slideLayouts/slideLayout14.xml"/><Relationship Id="rId14" Type="http://schemas.openxmlformats.org/officeDocument/2006/relationships/slideLayout" Target="../slideLayouts/slideLayout15.xml"/><Relationship Id="rId15" Type="http://schemas.openxmlformats.org/officeDocument/2006/relationships/slideLayout" Target="../slideLayouts/slideLayout16.xml"/><Relationship Id="rId16" Type="http://schemas.openxmlformats.org/officeDocument/2006/relationships/slideLayout" Target="../slideLayouts/slideLayout17.xml"/><Relationship Id="rId17" Type="http://schemas.openxmlformats.org/officeDocument/2006/relationships/slideLayout" Target="../slideLayouts/slideLayout18.xml"/><Relationship Id="rId18" Type="http://schemas.openxmlformats.org/officeDocument/2006/relationships/slideLayout" Target="../slideLayouts/slideLayout19.xml"/><Relationship Id="rId19" Type="http://schemas.openxmlformats.org/officeDocument/2006/relationships/slideLayout" Target="../slideLayouts/slideLayout20.xml"/><Relationship Id="rId20" Type="http://schemas.openxmlformats.org/officeDocument/2006/relationships/slideLayout" Target="../slideLayouts/slideLayout21.xml"/><Relationship Id="rId21" Type="http://schemas.openxmlformats.org/officeDocument/2006/relationships/slideLayout" Target="../slideLayouts/slideLayout22.xml"/><Relationship Id="rId22" Type="http://schemas.openxmlformats.org/officeDocument/2006/relationships/slideLayout" Target="../slideLayouts/slideLayout23.xml"/><Relationship Id="rId23" Type="http://schemas.openxmlformats.org/officeDocument/2006/relationships/slideLayout" Target="../slideLayouts/slideLayout24.xml"/><Relationship Id="rId24" Type="http://schemas.openxmlformats.org/officeDocument/2006/relationships/slideLayout" Target="../slideLayouts/slideLayout25.xml"/><Relationship Id="rId25" Type="http://schemas.openxmlformats.org/officeDocument/2006/relationships/slideLayout" Target="../slideLayouts/slideLayout26.xml"/><Relationship Id="rId26" Type="http://schemas.openxmlformats.org/officeDocument/2006/relationships/slideLayout" Target="../slideLayouts/slideLayout27.xml"/><Relationship Id="rId27" Type="http://schemas.openxmlformats.org/officeDocument/2006/relationships/slideLayout" Target="../slideLayouts/slideLayout28.xml"/><Relationship Id="rId28" Type="http://schemas.openxmlformats.org/officeDocument/2006/relationships/slideLayout" Target="../slideLayouts/slideLayout29.xml"/><Relationship Id="rId29" Type="http://schemas.openxmlformats.org/officeDocument/2006/relationships/slideLayout" Target="../slideLayouts/slideLayout30.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theme" Target="../theme/theme3.xml"/><Relationship Id="rId10" Type="http://schemas.openxmlformats.org/officeDocument/2006/relationships/tags" Target="../tags/tag8.xml"/><Relationship Id="rId11" Type="http://schemas.openxmlformats.org/officeDocument/2006/relationships/tags" Target="../tags/tag9.xml"/><Relationship Id="rId12" Type="http://schemas.openxmlformats.org/officeDocument/2006/relationships/tags" Target="../tags/tag10.xml"/><Relationship Id="rId13" Type="http://schemas.openxmlformats.org/officeDocument/2006/relationships/oleObject" Target="../embeddings/oleObject1.bin"/><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29"/>
          <p:cNvSpPr>
            <a:spLocks noGrp="1" noChangeArrowheads="1"/>
          </p:cNvSpPr>
          <p:nvPr>
            <p:ph type="body" idx="1"/>
          </p:nvPr>
        </p:nvSpPr>
        <p:spPr bwMode="gray">
          <a:xfrm>
            <a:off x="156501" y="1429558"/>
            <a:ext cx="9562042" cy="5008823"/>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AU"/>
          </a:p>
        </p:txBody>
      </p:sp>
      <p:sp>
        <p:nvSpPr>
          <p:cNvPr id="1086" name="Rectangle 62"/>
          <p:cNvSpPr>
            <a:spLocks noGrp="1" noChangeArrowheads="1"/>
          </p:cNvSpPr>
          <p:nvPr>
            <p:ph type="ftr" sz="quarter" idx="3"/>
          </p:nvPr>
        </p:nvSpPr>
        <p:spPr bwMode="gray">
          <a:xfrm>
            <a:off x="156503" y="6563638"/>
            <a:ext cx="4863571" cy="218162"/>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675" b="0">
                <a:solidFill>
                  <a:schemeClr val="tx1"/>
                </a:solidFill>
                <a:latin typeface="Meiryo UI" panose="020B0604030504040204" pitchFamily="50" charset="-128"/>
                <a:ea typeface="Meiryo UI" panose="020B0604030504040204" pitchFamily="50" charset="-128"/>
              </a:defRPr>
            </a:lvl1pPr>
          </a:lstStyle>
          <a:p>
            <a:pPr>
              <a:defRPr/>
            </a:pPr>
            <a:r>
              <a:rPr lang="en-AU"/>
              <a:t>Copyright © 202</a:t>
            </a:r>
            <a:r>
              <a:rPr lang="en-US" altLang="ja-JP"/>
              <a:t>2</a:t>
            </a:r>
            <a:r>
              <a:rPr lang="en-AU"/>
              <a:t> Accenture All Rights Reserved.</a:t>
            </a:r>
          </a:p>
        </p:txBody>
      </p:sp>
      <p:sp>
        <p:nvSpPr>
          <p:cNvPr id="1030" name="Rectangle 65"/>
          <p:cNvSpPr>
            <a:spLocks noGrp="1" noChangeArrowheads="1"/>
          </p:cNvSpPr>
          <p:nvPr>
            <p:ph type="title"/>
          </p:nvPr>
        </p:nvSpPr>
        <p:spPr bwMode="gray">
          <a:xfrm>
            <a:off x="156503" y="250525"/>
            <a:ext cx="8571785" cy="380543"/>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ja-JP" altLang="en-US"/>
              <a:t>マスタ タイトルの書式設定</a:t>
            </a:r>
            <a:endParaRPr lang="en-AU"/>
          </a:p>
        </p:txBody>
      </p:sp>
      <p:sp>
        <p:nvSpPr>
          <p:cNvPr id="10" name="AcnSubjectTitle_ID_10" hidden="1"/>
          <p:cNvSpPr txBox="1"/>
          <p:nvPr>
            <p:custDataLst>
              <p:tags r:id="rId3"/>
            </p:custDataLst>
          </p:nvPr>
        </p:nvSpPr>
        <p:spPr bwMode="gray">
          <a:xfrm>
            <a:off x="156501" y="756935"/>
            <a:ext cx="9555000" cy="184666"/>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marL="65485" indent="-65485" algn="l" rtl="0" eaLnBrk="1" fontAlgn="base" hangingPunct="1">
              <a:lnSpc>
                <a:spcPct val="100000"/>
              </a:lnSpc>
              <a:spcBef>
                <a:spcPct val="0"/>
              </a:spcBef>
              <a:spcAft>
                <a:spcPct val="0"/>
              </a:spcAft>
              <a:buClr>
                <a:schemeClr val="tx1"/>
              </a:buClr>
              <a:buFont typeface="Arial" pitchFamily="34" charset="0"/>
              <a:buNone/>
            </a:pPr>
            <a:r>
              <a:rPr lang="en-US" altLang="ja-JP" sz="1200" b="0" i="0">
                <a:solidFill>
                  <a:schemeClr val="tx1"/>
                </a:solidFill>
                <a:latin typeface="+mn-ea"/>
                <a:ea typeface="+mn-ea"/>
                <a:cs typeface="+mn-cs"/>
              </a:rPr>
              <a:t>Subject Title</a:t>
            </a:r>
            <a:endParaRPr lang="ja-JP" altLang="en-US" sz="1200" b="0" i="0">
              <a:solidFill>
                <a:schemeClr val="tx1"/>
              </a:solidFill>
              <a:latin typeface="+mn-ea"/>
              <a:ea typeface="+mn-ea"/>
              <a:cs typeface="+mn-cs"/>
            </a:endParaRPr>
          </a:p>
        </p:txBody>
      </p:sp>
      <p:sp>
        <p:nvSpPr>
          <p:cNvPr id="11" name="AcnUnitofMeasure_ID_11" hidden="1"/>
          <p:cNvSpPr txBox="1"/>
          <p:nvPr>
            <p:custDataLst>
              <p:tags r:id="rId4"/>
            </p:custDataLst>
          </p:nvPr>
        </p:nvSpPr>
        <p:spPr bwMode="gray">
          <a:xfrm>
            <a:off x="212310" y="1045687"/>
            <a:ext cx="7567083" cy="161583"/>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algn="l" rtl="0" eaLnBrk="1" fontAlgn="base" hangingPunct="1">
              <a:lnSpc>
                <a:spcPct val="100000"/>
              </a:lnSpc>
              <a:spcBef>
                <a:spcPct val="0"/>
              </a:spcBef>
              <a:spcAft>
                <a:spcPct val="0"/>
              </a:spcAft>
              <a:buClr>
                <a:schemeClr val="tx1"/>
              </a:buClr>
              <a:buNone/>
            </a:pPr>
            <a:r>
              <a:rPr lang="en-US" altLang="ja-JP" sz="1050" b="0" i="0">
                <a:solidFill>
                  <a:schemeClr val="tx1"/>
                </a:solidFill>
                <a:latin typeface="+mn-ea"/>
                <a:ea typeface="+mn-ea"/>
                <a:cs typeface="+mn-cs"/>
              </a:rPr>
              <a:t>Unit of Measure</a:t>
            </a:r>
            <a:endParaRPr lang="ja-JP" altLang="en-US" sz="1050" b="0" i="0">
              <a:solidFill>
                <a:schemeClr val="tx1"/>
              </a:solidFill>
              <a:latin typeface="+mn-ea"/>
              <a:ea typeface="+mn-ea"/>
              <a:cs typeface="+mn-cs"/>
            </a:endParaRPr>
          </a:p>
        </p:txBody>
      </p:sp>
      <p:sp>
        <p:nvSpPr>
          <p:cNvPr id="13" name="AcnRoadmap_ID_13" hidden="1"/>
          <p:cNvSpPr txBox="1"/>
          <p:nvPr>
            <p:custDataLst>
              <p:tags r:id="rId5"/>
            </p:custDataLst>
          </p:nvPr>
        </p:nvSpPr>
        <p:spPr bwMode="gray">
          <a:xfrm>
            <a:off x="8820297" y="88902"/>
            <a:ext cx="897000" cy="138499"/>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algn="r" rtl="0" eaLnBrk="1" fontAlgn="base" hangingPunct="1">
              <a:lnSpc>
                <a:spcPct val="100000"/>
              </a:lnSpc>
              <a:spcBef>
                <a:spcPct val="0"/>
              </a:spcBef>
              <a:spcAft>
                <a:spcPct val="0"/>
              </a:spcAft>
              <a:buClr>
                <a:schemeClr val="tx1"/>
              </a:buClr>
              <a:buNone/>
            </a:pPr>
            <a:r>
              <a:rPr lang="en-US" altLang="ja-JP" sz="900" b="1" i="1">
                <a:solidFill>
                  <a:schemeClr val="tx1"/>
                </a:solidFill>
                <a:latin typeface="+mn-lt"/>
                <a:ea typeface="+mn-ea"/>
                <a:cs typeface="+mn-cs"/>
              </a:rPr>
              <a:t>Roadmap</a:t>
            </a:r>
            <a:endParaRPr lang="ja-JP" altLang="en-US" sz="900" b="1" i="1">
              <a:solidFill>
                <a:schemeClr val="tx1"/>
              </a:solidFill>
              <a:latin typeface="+mn-lt"/>
              <a:ea typeface="+mn-ea"/>
              <a:cs typeface="+mn-cs"/>
            </a:endParaRPr>
          </a:p>
        </p:txBody>
      </p:sp>
      <p:sp>
        <p:nvSpPr>
          <p:cNvPr id="14" name="AcnStamp_ID_14" hidden="1"/>
          <p:cNvSpPr/>
          <p:nvPr>
            <p:custDataLst>
              <p:tags r:id="rId6"/>
            </p:custDataLst>
          </p:nvPr>
        </p:nvSpPr>
        <p:spPr bwMode="gray">
          <a:xfrm>
            <a:off x="8728287" y="880044"/>
            <a:ext cx="0" cy="0"/>
          </a:xfrm>
          <a:prstGeom prst="leftRightArrow">
            <a:avLst>
              <a:gd name="adj1" fmla="val 0"/>
              <a:gd name="adj2" fmla="val 0"/>
            </a:avLst>
          </a:prstGeom>
          <a:noFill/>
          <a:ln w="9525" cap="flat" cmpd="sng" algn="ctr">
            <a:noFill/>
            <a:prstDash val="solid"/>
            <a:round/>
            <a:headEnd type="none" w="med" len="med"/>
            <a:tailEnd type="none" w="med" len="med"/>
          </a:ln>
          <a:effectLst/>
        </p:spPr>
        <p:txBody>
          <a:bodyPr vert="horz" wrap="none" lIns="0" tIns="19050" rIns="0" bIns="19050" numCol="1" rtlCol="0" anchor="t" anchorCtr="0" compatLnSpc="1">
            <a:prstTxWarp prst="textNoShape">
              <a:avLst/>
            </a:prstTxWarp>
            <a:spAutoFit/>
          </a:bodyPr>
          <a:lstStyle/>
          <a:p>
            <a:pPr marL="0" marR="0" indent="0" algn="r" defTabSz="685800" rtl="0" eaLnBrk="0" fontAlgn="base" latinLnBrk="0" hangingPunct="0">
              <a:lnSpc>
                <a:spcPct val="100000"/>
              </a:lnSpc>
              <a:spcBef>
                <a:spcPct val="0"/>
              </a:spcBef>
              <a:spcAft>
                <a:spcPct val="0"/>
              </a:spcAft>
              <a:buClrTx/>
              <a:buSzTx/>
              <a:buFontTx/>
              <a:buNone/>
              <a:tabLst/>
            </a:pPr>
            <a:r>
              <a:rPr kumimoji="0" lang="en-US" altLang="ja-JP" sz="1050" b="1" i="0" u="none" strike="noStrike" cap="none" normalizeH="0" baseline="0">
                <a:ln>
                  <a:noFill/>
                </a:ln>
                <a:solidFill>
                  <a:schemeClr val="tx1"/>
                </a:solidFill>
                <a:effectLst/>
                <a:latin typeface="Arial" charset="0"/>
              </a:rPr>
              <a:t>MASTER STAMP</a:t>
            </a:r>
            <a:endParaRPr kumimoji="0" lang="ja-JP" altLang="en-US" sz="1050" b="1" i="0" u="none" strike="noStrike" cap="none" normalizeH="0" baseline="0">
              <a:ln>
                <a:noFill/>
              </a:ln>
              <a:solidFill>
                <a:schemeClr val="tx1"/>
              </a:solidFill>
              <a:effectLst/>
              <a:latin typeface="Arial" charset="0"/>
            </a:endParaRPr>
          </a:p>
        </p:txBody>
      </p:sp>
      <p:cxnSp>
        <p:nvCxnSpPr>
          <p:cNvPr id="15" name="AcnStpConnector_ID_15" hidden="1"/>
          <p:cNvCxnSpPr>
            <a:stCxn id="14" idx="2"/>
            <a:endCxn id="14" idx="0"/>
          </p:cNvCxnSpPr>
          <p:nvPr>
            <p:custDataLst>
              <p:tags r:id="rId7"/>
            </p:custDataLst>
          </p:nvPr>
        </p:nvCxnSpPr>
        <p:spPr bwMode="gray">
          <a:xfrm rot="5400000" flipH="1" flipV="1">
            <a:off x="8728353" y="879979"/>
            <a:ext cx="1588" cy="1720"/>
          </a:xfrm>
          <a:prstGeom prst="straightConnector1">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AcnStpConnector_ID_16" hidden="1"/>
          <p:cNvCxnSpPr>
            <a:stCxn id="14" idx="4"/>
            <a:endCxn id="14" idx="6"/>
          </p:cNvCxnSpPr>
          <p:nvPr>
            <p:custDataLst>
              <p:tags r:id="rId8"/>
            </p:custDataLst>
          </p:nvPr>
        </p:nvCxnSpPr>
        <p:spPr bwMode="gray">
          <a:xfrm rot="5400000">
            <a:off x="8728353" y="879979"/>
            <a:ext cx="1588" cy="1720"/>
          </a:xfrm>
          <a:prstGeom prst="straightConnector1">
            <a:avLst/>
          </a:prstGeom>
          <a:solidFill>
            <a:schemeClr val="accent1"/>
          </a:solidFill>
          <a:ln w="9525" cap="flat" cmpd="sng" algn="ctr">
            <a:solidFill>
              <a:schemeClr val="tx1"/>
            </a:solidFill>
            <a:prstDash val="solid"/>
            <a:round/>
            <a:headEnd type="none" w="med" len="med"/>
            <a:tailEnd type="none" w="med" len="med"/>
          </a:ln>
          <a:effectLst/>
        </p:spPr>
      </p:cxnSp>
      <p:sp>
        <p:nvSpPr>
          <p:cNvPr id="17" name="AcnFootnote_ID_17" hidden="1"/>
          <p:cNvSpPr txBox="1"/>
          <p:nvPr>
            <p:custDataLst>
              <p:tags r:id="rId9"/>
            </p:custDataLst>
          </p:nvPr>
        </p:nvSpPr>
        <p:spPr bwMode="gray">
          <a:xfrm>
            <a:off x="164832" y="6300751"/>
            <a:ext cx="8571785" cy="253916"/>
          </a:xfrm>
          <a:prstGeom prst="rect">
            <a:avLst/>
          </a:prstGeom>
          <a:noFill/>
          <a:ln w="12700">
            <a:noFill/>
            <a:miter lim="800000"/>
            <a:headEnd/>
            <a:tailEnd/>
          </a:ln>
        </p:spPr>
        <p:txBody>
          <a:bodyPr vert="horz" wrap="square" lIns="0" tIns="0" rIns="0" bIns="0" numCol="1" anchor="b" anchorCtr="0" compatLnSpc="1">
            <a:prstTxWarp prst="textNoShape">
              <a:avLst/>
            </a:prstTxWarp>
            <a:spAutoFit/>
          </a:bodyPr>
          <a:lstStyle/>
          <a:p>
            <a:pPr marL="403622" indent="-403622" algn="l" rtl="0" eaLnBrk="1" fontAlgn="base" hangingPunct="1">
              <a:lnSpc>
                <a:spcPct val="100000"/>
              </a:lnSpc>
              <a:spcBef>
                <a:spcPct val="0"/>
              </a:spcBef>
              <a:spcAft>
                <a:spcPct val="0"/>
              </a:spcAft>
              <a:buClr>
                <a:schemeClr val="tx1"/>
              </a:buClr>
              <a:buNone/>
            </a:pPr>
            <a:r>
              <a:rPr lang="en-US" altLang="ja-JP" sz="750" b="0" i="0">
                <a:solidFill>
                  <a:schemeClr val="tx1"/>
                </a:solidFill>
                <a:latin typeface="+mn-lt"/>
                <a:ea typeface="+mn-ea"/>
                <a:cs typeface="+mn-cs"/>
              </a:rPr>
              <a:t>*Footnote</a:t>
            </a:r>
          </a:p>
          <a:p>
            <a:pPr marL="403622" indent="-403622" algn="l" rtl="0" eaLnBrk="1" fontAlgn="base" hangingPunct="1">
              <a:lnSpc>
                <a:spcPct val="100000"/>
              </a:lnSpc>
              <a:spcBef>
                <a:spcPct val="20000"/>
              </a:spcBef>
              <a:spcAft>
                <a:spcPct val="0"/>
              </a:spcAft>
              <a:buClr>
                <a:schemeClr val="tx1"/>
              </a:buClr>
              <a:buNone/>
            </a:pPr>
            <a:r>
              <a:rPr lang="en-US" altLang="ja-JP" sz="750" b="0" i="0">
                <a:solidFill>
                  <a:schemeClr val="tx1"/>
                </a:solidFill>
                <a:latin typeface="+mn-lt"/>
                <a:ea typeface="+mn-ea"/>
                <a:cs typeface="+mn-cs"/>
              </a:rPr>
              <a:t>Source:	Source</a:t>
            </a:r>
            <a:endParaRPr lang="ja-JP" altLang="en-US" sz="750" b="0" i="0">
              <a:solidFill>
                <a:schemeClr val="tx1"/>
              </a:solidFill>
              <a:latin typeface="+mn-lt"/>
              <a:ea typeface="+mn-ea"/>
              <a:cs typeface="+mn-cs"/>
            </a:endParaRPr>
          </a:p>
        </p:txBody>
      </p:sp>
    </p:spTree>
    <p:extLst>
      <p:ext uri="{BB962C8B-B14F-4D97-AF65-F5344CB8AC3E}">
        <p14:creationId xmlns:p14="http://schemas.microsoft.com/office/powerpoint/2010/main" val="3822481044"/>
      </p:ext>
    </p:extLst>
  </p:cSld>
  <p:clrMap bg1="lt1" tx1="dk1" bg2="lt2" tx2="dk2" accent1="accent1" accent2="accent2" accent3="accent3" accent4="accent4" accent5="accent5" accent6="accent6" hlink="hlink" folHlink="folHlink"/>
  <p:sldLayoutIdLst>
    <p:sldLayoutId id="2147483661" r:id="rId1"/>
  </p:sldLayoutIdLst>
  <p:hf hdr="0" dt="0"/>
  <p:txStyles>
    <p:titleStyle>
      <a:lvl1pPr algn="l" rtl="0" eaLnBrk="1" fontAlgn="base" hangingPunct="1">
        <a:spcBef>
          <a:spcPct val="0"/>
        </a:spcBef>
        <a:spcAft>
          <a:spcPct val="0"/>
        </a:spcAft>
        <a:defRPr kumimoji="1" sz="1350" b="1">
          <a:solidFill>
            <a:schemeClr val="tx1"/>
          </a:solidFill>
          <a:latin typeface="+mj-ea"/>
          <a:ea typeface="+mj-ea"/>
          <a:cs typeface="+mj-cs"/>
        </a:defRPr>
      </a:lvl1pPr>
      <a:lvl2pPr algn="l" rtl="0" eaLnBrk="1" fontAlgn="base" hangingPunct="1">
        <a:spcBef>
          <a:spcPct val="0"/>
        </a:spcBef>
        <a:spcAft>
          <a:spcPct val="0"/>
        </a:spcAft>
        <a:defRPr kumimoji="1" sz="2400" b="1">
          <a:solidFill>
            <a:schemeClr val="bg1"/>
          </a:solidFill>
          <a:latin typeface="Arial" charset="0"/>
        </a:defRPr>
      </a:lvl2pPr>
      <a:lvl3pPr algn="l" rtl="0" eaLnBrk="1" fontAlgn="base" hangingPunct="1">
        <a:spcBef>
          <a:spcPct val="0"/>
        </a:spcBef>
        <a:spcAft>
          <a:spcPct val="0"/>
        </a:spcAft>
        <a:defRPr kumimoji="1" sz="2400" b="1">
          <a:solidFill>
            <a:schemeClr val="bg1"/>
          </a:solidFill>
          <a:latin typeface="Arial" charset="0"/>
        </a:defRPr>
      </a:lvl3pPr>
      <a:lvl4pPr algn="l" rtl="0" eaLnBrk="1" fontAlgn="base" hangingPunct="1">
        <a:spcBef>
          <a:spcPct val="0"/>
        </a:spcBef>
        <a:spcAft>
          <a:spcPct val="0"/>
        </a:spcAft>
        <a:defRPr kumimoji="1" sz="2400" b="1">
          <a:solidFill>
            <a:schemeClr val="bg1"/>
          </a:solidFill>
          <a:latin typeface="Arial" charset="0"/>
        </a:defRPr>
      </a:lvl4pPr>
      <a:lvl5pPr algn="l" rtl="0" eaLnBrk="1" fontAlgn="base" hangingPunct="1">
        <a:spcBef>
          <a:spcPct val="0"/>
        </a:spcBef>
        <a:spcAft>
          <a:spcPct val="0"/>
        </a:spcAft>
        <a:defRPr kumimoji="1" sz="2400" b="1">
          <a:solidFill>
            <a:schemeClr val="bg1"/>
          </a:solidFill>
          <a:latin typeface="Arial" charset="0"/>
        </a:defRPr>
      </a:lvl5pPr>
      <a:lvl6pPr marL="342900" algn="l" rtl="0" eaLnBrk="1" fontAlgn="base" hangingPunct="1">
        <a:spcBef>
          <a:spcPct val="0"/>
        </a:spcBef>
        <a:spcAft>
          <a:spcPct val="0"/>
        </a:spcAft>
        <a:defRPr kumimoji="1" sz="2400" b="1">
          <a:solidFill>
            <a:schemeClr val="bg1"/>
          </a:solidFill>
          <a:latin typeface="Arial" charset="0"/>
        </a:defRPr>
      </a:lvl6pPr>
      <a:lvl7pPr marL="685800" algn="l" rtl="0" eaLnBrk="1" fontAlgn="base" hangingPunct="1">
        <a:spcBef>
          <a:spcPct val="0"/>
        </a:spcBef>
        <a:spcAft>
          <a:spcPct val="0"/>
        </a:spcAft>
        <a:defRPr kumimoji="1" sz="2400" b="1">
          <a:solidFill>
            <a:schemeClr val="bg1"/>
          </a:solidFill>
          <a:latin typeface="Arial" charset="0"/>
        </a:defRPr>
      </a:lvl7pPr>
      <a:lvl8pPr marL="1028700" algn="l" rtl="0" eaLnBrk="1" fontAlgn="base" hangingPunct="1">
        <a:spcBef>
          <a:spcPct val="0"/>
        </a:spcBef>
        <a:spcAft>
          <a:spcPct val="0"/>
        </a:spcAft>
        <a:defRPr kumimoji="1" sz="2400" b="1">
          <a:solidFill>
            <a:schemeClr val="bg1"/>
          </a:solidFill>
          <a:latin typeface="Arial" charset="0"/>
        </a:defRPr>
      </a:lvl8pPr>
      <a:lvl9pPr marL="1371600" algn="l" rtl="0" eaLnBrk="1" fontAlgn="base" hangingPunct="1">
        <a:spcBef>
          <a:spcPct val="0"/>
        </a:spcBef>
        <a:spcAft>
          <a:spcPct val="0"/>
        </a:spcAft>
        <a:defRPr kumimoji="1" sz="2400" b="1">
          <a:solidFill>
            <a:schemeClr val="bg1"/>
          </a:solidFill>
          <a:latin typeface="Arial" charset="0"/>
        </a:defRPr>
      </a:lvl9pPr>
    </p:titleStyle>
    <p:bodyStyle>
      <a:lvl1pPr marL="132160" indent="-132160" algn="l" rtl="0" eaLnBrk="1" fontAlgn="base" hangingPunct="1">
        <a:spcBef>
          <a:spcPct val="20000"/>
        </a:spcBef>
        <a:spcAft>
          <a:spcPct val="0"/>
        </a:spcAft>
        <a:buClr>
          <a:schemeClr val="tx1"/>
        </a:buClr>
        <a:buChar char="•"/>
        <a:defRPr kumimoji="1" sz="1050">
          <a:solidFill>
            <a:schemeClr val="tx1"/>
          </a:solidFill>
          <a:latin typeface="+mn-ea"/>
          <a:ea typeface="+mn-ea"/>
          <a:cs typeface="+mn-cs"/>
        </a:defRPr>
      </a:lvl1pPr>
      <a:lvl2pPr marL="432197" indent="-214313" algn="l" rtl="0" eaLnBrk="1" fontAlgn="base" hangingPunct="1">
        <a:spcBef>
          <a:spcPct val="20000"/>
        </a:spcBef>
        <a:spcAft>
          <a:spcPct val="0"/>
        </a:spcAft>
        <a:buClr>
          <a:schemeClr val="tx1"/>
        </a:buClr>
        <a:buChar char="–"/>
        <a:defRPr kumimoji="1" sz="1050">
          <a:solidFill>
            <a:schemeClr val="tx1"/>
          </a:solidFill>
          <a:latin typeface="+mn-ea"/>
          <a:ea typeface="+mn-ea"/>
        </a:defRPr>
      </a:lvl2pPr>
      <a:lvl3pPr marL="644129" indent="-126206" algn="l" rtl="0" eaLnBrk="1" fontAlgn="base" hangingPunct="1">
        <a:spcBef>
          <a:spcPct val="20000"/>
        </a:spcBef>
        <a:spcAft>
          <a:spcPct val="0"/>
        </a:spcAft>
        <a:buClr>
          <a:schemeClr val="tx1"/>
        </a:buClr>
        <a:buChar char="•"/>
        <a:defRPr kumimoji="1" sz="1050">
          <a:solidFill>
            <a:schemeClr val="tx1"/>
          </a:solidFill>
          <a:latin typeface="+mn-ea"/>
          <a:ea typeface="+mn-ea"/>
        </a:defRPr>
      </a:lvl3pPr>
      <a:lvl4pPr marL="900113" indent="-170260" algn="l" rtl="0" eaLnBrk="1" fontAlgn="base" hangingPunct="1">
        <a:spcBef>
          <a:spcPct val="20000"/>
        </a:spcBef>
        <a:spcAft>
          <a:spcPct val="0"/>
        </a:spcAft>
        <a:buClr>
          <a:schemeClr val="tx1"/>
        </a:buClr>
        <a:buChar char="–"/>
        <a:defRPr kumimoji="1" sz="1050">
          <a:solidFill>
            <a:schemeClr val="tx1"/>
          </a:solidFill>
          <a:latin typeface="+mn-ea"/>
          <a:ea typeface="+mn-ea"/>
        </a:defRPr>
      </a:lvl4pPr>
      <a:lvl5pPr marL="1110854" indent="-125016" algn="l" rtl="0" eaLnBrk="1" fontAlgn="base" hangingPunct="1">
        <a:spcBef>
          <a:spcPct val="20000"/>
        </a:spcBef>
        <a:spcAft>
          <a:spcPct val="0"/>
        </a:spcAft>
        <a:buClr>
          <a:schemeClr val="tx1"/>
        </a:buClr>
        <a:buChar char="•"/>
        <a:defRPr kumimoji="1" sz="1050">
          <a:solidFill>
            <a:schemeClr val="tx1"/>
          </a:solidFill>
          <a:latin typeface="+mn-ea"/>
          <a:ea typeface="+mn-ea"/>
        </a:defRPr>
      </a:lvl5pPr>
      <a:lvl6pPr marL="1453754" indent="-125016" algn="l" rtl="0" eaLnBrk="1" fontAlgn="base" hangingPunct="1">
        <a:spcBef>
          <a:spcPct val="20000"/>
        </a:spcBef>
        <a:spcAft>
          <a:spcPct val="0"/>
        </a:spcAft>
        <a:buClr>
          <a:schemeClr val="tx1"/>
        </a:buClr>
        <a:buChar char="•"/>
        <a:defRPr kumimoji="1" sz="1500">
          <a:solidFill>
            <a:schemeClr val="tx1"/>
          </a:solidFill>
          <a:latin typeface="+mn-lt"/>
        </a:defRPr>
      </a:lvl6pPr>
      <a:lvl7pPr marL="1796654" indent="-125016" algn="l" rtl="0" eaLnBrk="1" fontAlgn="base" hangingPunct="1">
        <a:spcBef>
          <a:spcPct val="20000"/>
        </a:spcBef>
        <a:spcAft>
          <a:spcPct val="0"/>
        </a:spcAft>
        <a:buClr>
          <a:schemeClr val="tx1"/>
        </a:buClr>
        <a:buChar char="•"/>
        <a:defRPr kumimoji="1" sz="1500">
          <a:solidFill>
            <a:schemeClr val="tx1"/>
          </a:solidFill>
          <a:latin typeface="+mn-lt"/>
        </a:defRPr>
      </a:lvl7pPr>
      <a:lvl8pPr marL="2139554" indent="-125016" algn="l" rtl="0" eaLnBrk="1" fontAlgn="base" hangingPunct="1">
        <a:spcBef>
          <a:spcPct val="20000"/>
        </a:spcBef>
        <a:spcAft>
          <a:spcPct val="0"/>
        </a:spcAft>
        <a:buClr>
          <a:schemeClr val="tx1"/>
        </a:buClr>
        <a:buChar char="•"/>
        <a:defRPr kumimoji="1" sz="1500">
          <a:solidFill>
            <a:schemeClr val="tx1"/>
          </a:solidFill>
          <a:latin typeface="+mn-lt"/>
        </a:defRPr>
      </a:lvl8pPr>
      <a:lvl9pPr marL="2482454" indent="-125016" algn="l" rtl="0" eaLnBrk="1" fontAlgn="base" hangingPunct="1">
        <a:spcBef>
          <a:spcPct val="20000"/>
        </a:spcBef>
        <a:spcAft>
          <a:spcPct val="0"/>
        </a:spcAft>
        <a:buClr>
          <a:schemeClr val="tx1"/>
        </a:buClr>
        <a:buChar char="•"/>
        <a:defRPr kumimoji="1" sz="1500">
          <a:solidFill>
            <a:schemeClr val="tx1"/>
          </a:solidFill>
          <a:latin typeface="+mn-lt"/>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2787754749"/>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4499" r:id="rId10"/>
    <p:sldLayoutId id="2147484502" r:id="rId11"/>
    <p:sldLayoutId id="2147484534" r:id="rId12"/>
    <p:sldLayoutId id="2147484535" r:id="rId13"/>
    <p:sldLayoutId id="2147484536" r:id="rId14"/>
    <p:sldLayoutId id="2147484616" r:id="rId15"/>
    <p:sldLayoutId id="2147484618" r:id="rId16"/>
    <p:sldLayoutId id="2147484537" r:id="rId17"/>
    <p:sldLayoutId id="2147484538" r:id="rId18"/>
    <p:sldLayoutId id="2147484539" r:id="rId19"/>
    <p:sldLayoutId id="2147484540" r:id="rId20"/>
    <p:sldLayoutId id="2147484541" r:id="rId21"/>
    <p:sldLayoutId id="2147484542" r:id="rId22"/>
    <p:sldLayoutId id="2147484543" r:id="rId23"/>
    <p:sldLayoutId id="2147484619" r:id="rId24"/>
    <p:sldLayoutId id="2147484620" r:id="rId25"/>
    <p:sldLayoutId id="2147484621" r:id="rId26"/>
    <p:sldLayoutId id="2147484622" r:id="rId27"/>
    <p:sldLayoutId id="2147484615" r:id="rId28"/>
    <p:sldLayoutId id="2147484617" r:id="rId29"/>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10"/>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3" imgW="360" imgH="360" progId="TCLayout.ActiveDocument.1">
                  <p:embed/>
                </p:oleObj>
              </mc:Choice>
              <mc:Fallback>
                <p:oleObj name="think-cellスライド" r:id="rId13"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4"/>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11"/>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a:solidFill>
                  <a:schemeClr val="tx1"/>
                </a:solidFill>
                <a:latin typeface="Meiryo UI" panose="020B0604030504040204" pitchFamily="50" charset="-128"/>
                <a:ea typeface="Meiryo UI" panose="020B0604030504040204" pitchFamily="50" charset="-128"/>
              </a:rPr>
              <a:t>Subject 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2"/>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21753914"/>
      </p:ext>
    </p:extLst>
  </p:cSld>
  <p:clrMap bg1="lt1" tx1="dk1" bg2="lt2" tx2="dk2" accent1="accent1" accent2="accent2" accent3="accent3" accent4="accent4" accent5="accent5" accent6="accent6" hlink="hlink" folHlink="folHlink"/>
  <p:sldLayoutIdLst>
    <p:sldLayoutId id="2147484624" r:id="rId1"/>
    <p:sldLayoutId id="2147484625" r:id="rId2"/>
    <p:sldLayoutId id="2147484626" r:id="rId3"/>
    <p:sldLayoutId id="2147484627" r:id="rId4"/>
    <p:sldLayoutId id="2147484628" r:id="rId5"/>
    <p:sldLayoutId id="2147484629" r:id="rId6"/>
    <p:sldLayoutId id="2147484630" r:id="rId7"/>
    <p:sldLayoutId id="2147484631" r:id="rId8"/>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X.臨床情報詳細画面とPDF帳票の名称の差について</a:t>
            </a:r>
          </a:p>
        </p:txBody>
      </p:sp>
      <p:sp>
        <p:nvSpPr>
          <p:cNvPr id="101" name="ラベル 背景・状況">
            <a:extLst>
              <a:ext uri="{FF2B5EF4-FFF2-40B4-BE49-F238E27FC236}" cx="1645200" cy="248399">
                <a16:creationId xmlns:a16="http://schemas.microsoft.com/office/drawing/2014/main" id="{10B3CE16-A82C-C4F4-3204-AD9B576EF40B}"/>
              </a:ext>
            </a:extLst>
          </p:cNvPr>
          <p:cNvSpPr/>
          <p:nvPr/>
        </p:nvSpPr>
        <p:spPr>
          <a:xfrm>
            <a:off x="493200" y="827999"/>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背景・状況</a:t>
            </a:r>
          </a:p>
        </p:txBody>
      </p:sp>
      <p:sp>
        <p:nvSpPr>
          <p:cNvPr id="102" name="本文">
            <a:extLst>
              <a:ext uri="{FF2B5EF4-FFF2-40B4-BE49-F238E27FC236}" cx="8928000" cy="1404000">
                <a16:creationId xmlns:a16="http://schemas.microsoft.com/office/drawing/2014/main" id="{19B0B31A-D24C-127D-FE2A-C96C34222213}"/>
              </a:ext>
            </a:extLst>
          </p:cNvPr>
          <p:cNvSpPr>
            <a:spLocks noGrp="1"/>
          </p:cNvSpPr>
          <p:nvPr>
            <p:ph idx="1"/>
          </p:nvPr>
        </p:nvSpPr>
        <p:spPr>
          <a:xfrm>
            <a:off x="493200" y="1080000"/>
            <a:ext cx="8919900" cy="809015"/>
          </a:xfrm>
        </p:spPr>
        <p:txBody>
          <a:bodyPr/>
          <a:lstStyle/>
          <a:p>
            <a:pPr marL="285750" indent="-285750">
              <a:spcAft>
                <a:spcPts val="300"/>
              </a:spcAft>
              <a:buFont typeface="Arial" panose="020B0604020202020204" pitchFamily="34" charset="0"/>
              <a:buChar char="•"/>
            </a:pPr>
            <a:r>
              <a:rPr lang="ja-JP" altLang="en-US" sz="1200"/>
              <a:t>案件196の検討で、詳細画面の傷病名に「疑い」が表示されないことが判明した。詳細画面は自施設の登録内容を確認する手段のため、</a:t>
            </a:r>
            <a:r>
              <a:rPr lang="ja-JP" altLang="en-US" sz="1200" b="1"/>
              <a:t>12月リリース（案件213）で画面をPDFと同様に出力する</a:t>
            </a:r>
            <a:r>
              <a:rPr lang="ja-JP" altLang="en-US" sz="1200"/>
              <a:t>こととなった。</a:t>
            </a:r>
          </a:p>
          <a:p>
            <a:pPr marL="285750" indent="-285750">
              <a:spcAft>
                <a:spcPts val="300"/>
              </a:spcAft>
              <a:buFont typeface="Arial" panose="020B0604020202020204" pitchFamily="34" charset="0"/>
              <a:buChar char="•"/>
            </a:pPr>
            <a:r>
              <a:rPr lang="ja-JP" altLang="en-US" sz="1200"/>
              <a:t>傷病名以外にも同様の差がないかをFHIRパスで確認し、DX機構から調査結果が共有された（10/6、ToDo#1228）。</a:t>
            </a:r>
          </a:p>
          <a:p>
            <a:pPr marL="285750" indent="-285750">
              <a:spcAft>
                <a:spcPts val="300"/>
              </a:spcAft>
              <a:buFont typeface="Arial" panose="020B0604020202020204" pitchFamily="34" charset="0"/>
              <a:buChar char="•"/>
            </a:pPr>
            <a:r>
              <a:rPr lang="ja-JP" altLang="en-US" sz="1200"/>
              <a:t>検査項目・薬剤名・アレルギー物質は、</a:t>
            </a:r>
            <a:r>
              <a:rPr lang="ja-JP" altLang="en-US" sz="1200" b="1"/>
              <a:t>詳細画面とPDFで参照するFHIRパスが異なるため、表示に差分が生じる</a:t>
            </a:r>
            <a:r>
              <a:rPr lang="ja-JP" altLang="en-US" sz="1200"/>
              <a:t>（下表）。</a:t>
            </a:r>
          </a:p>
          <a:p>
            <a:pPr marL="285750" indent="-285750">
              <a:spcAft>
                <a:spcPts val="300"/>
              </a:spcAft>
              <a:buFont typeface="Arial" panose="020B0604020202020204" pitchFamily="34" charset="0"/>
              <a:buChar char="•"/>
            </a:pPr>
            <a:r>
              <a:rPr lang="ja-JP" altLang="en-US" sz="1200"/>
              <a:t>富士通からは「品質担保の観点から3月リリースでの修正は困難」との回答（10/5）。3月リリース後も、画面の名称の出し方は変わらない。</a:t>
            </a:r>
          </a:p>
        </p:txBody>
      </p:sp>
      <p:graphicFrame>
        <p:nvGraphicFramePr>
          <p:cNvPr id="103" name="Table 102"/>
          <p:cNvGraphicFramePr>
            <a:graphicFrameLocks noGrp="1"/>
          </p:cNvGraphicFramePr>
          <p:nvPr/>
        </p:nvGraphicFramePr>
        <p:xfrm>
          <a:off x="684000" y="2520000"/>
          <a:ext cx="8567998" cy="1440000"/>
        </p:xfrm>
        <a:graphic>
          <a:graphicData uri="http://schemas.openxmlformats.org/drawingml/2006/table">
            <a:tbl>
              <a:tblPr>
                <a:tableStyleId>{5C22544A-7EE6-4342-B048-85BDC9FD1C3A}</a:tableStyleId>
              </a:tblPr>
              <a:tblGrid>
                <a:gridCol w="936000"/>
                <a:gridCol w="1655999"/>
                <a:gridCol w="2808000"/>
                <a:gridCol w="1655999"/>
                <a:gridCol w="1512000"/>
              </a:tblGrid>
              <a:tr h="288000">
                <a:tc>
                  <a:txBody>
                    <a:bodyPr wrap="square"/>
                    <a:lstStyle/>
                    <a:p>
                      <a:r>
                        <a:rPr sz="900" b="1">
                          <a:solidFill>
                            <a:srgbClr val="000000"/>
                          </a:solidFill>
                          <a:latin typeface="Meiryo UI"/>
                          <a:ea typeface="Meiryo UI"/>
                        </a:rPr>
                        <a:t>項目</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wrap="square"/>
                    <a:lstStyle/>
                    <a:p>
                      <a:r>
                        <a:rPr sz="900" b="1">
                          <a:solidFill>
                            <a:srgbClr val="000000"/>
                          </a:solidFill>
                          <a:latin typeface="Meiryo UI"/>
                          <a:ea typeface="Meiryo UI"/>
                        </a:rPr>
                        <a:t>詳細画面（FHIRパス）</a:t>
                      </a:r>
                    </a:p>
                    <a:p>
                      <a:r>
                        <a:rPr sz="900" b="0">
                          <a:solidFill>
                            <a:srgbClr val="000000"/>
                          </a:solidFill>
                          <a:latin typeface="Meiryo UI"/>
                          <a:ea typeface="Meiryo UI"/>
                        </a:rPr>
                        <a:t>※code.textはFHIRの定義上、入力必須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wrap="square"/>
                    <a:lstStyle/>
                    <a:p>
                      <a:r>
                        <a:rPr sz="900" b="1">
                          <a:solidFill>
                            <a:srgbClr val="000000"/>
                          </a:solidFill>
                          <a:latin typeface="Meiryo UI"/>
                          <a:ea typeface="Meiryo UI"/>
                        </a:rPr>
                        <a:t>PDF帳票（FHIRパス）</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wrap="square"/>
                    <a:lstStyle/>
                    <a:p>
                      <a:r>
                        <a:rPr sz="900" b="1">
                          <a:solidFill>
                            <a:srgbClr val="000000"/>
                          </a:solidFill>
                          <a:latin typeface="Meiryo UI"/>
                          <a:ea typeface="Meiryo UI"/>
                        </a:rPr>
                        <a:t>表示の差分</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wrap="square"/>
                    <a:lstStyle/>
                    <a:p>
                      <a:r>
                        <a:rPr sz="900" b="1">
                          <a:solidFill>
                            <a:srgbClr val="000000"/>
                          </a:solidFill>
                          <a:latin typeface="Meiryo UI"/>
                          <a:ea typeface="Meiryo UI"/>
                        </a:rPr>
                        <a:t>3月リリース後</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r>
              <a:tr h="288000">
                <a:tc>
                  <a:txBody>
                    <a:bodyPr wrap="square"/>
                    <a:lstStyle/>
                    <a:p>
                      <a:r>
                        <a:rPr sz="900" b="0">
                          <a:solidFill>
                            <a:srgbClr val="000000"/>
                          </a:solidFill>
                          <a:latin typeface="Meiryo UI"/>
                          <a:ea typeface="Meiryo UI"/>
                        </a:rPr>
                        <a:t>検査項目</a:t>
                      </a:r>
                    </a:p>
                    <a:p>
                      <a:r>
                        <a:rPr sz="900" b="0">
                          <a:solidFill>
                            <a:srgbClr val="000000"/>
                          </a:solidFill>
                          <a:latin typeface="Meiryo UI"/>
                          <a:ea typeface="Meiryo UI"/>
                        </a:rPr>
                        <a:t>（感染症・検査）</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Observation.code.text</a:t>
                      </a:r>
                    </a:p>
                    <a:p>
                      <a:r>
                        <a:rPr sz="900" b="0">
                          <a:solidFill>
                            <a:srgbClr val="000000"/>
                          </a:solidFill>
                          <a:latin typeface="Meiryo UI"/>
                          <a:ea typeface="Meiryo UI"/>
                        </a:rPr>
                        <a:t>（医療機関の項目名）</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Observation.code.coding（JLAC10）.display</a:t>
                      </a:r>
                    </a:p>
                    <a:p>
                      <a:r>
                        <a:rPr sz="900" b="0">
                          <a:solidFill>
                            <a:srgbClr val="000000"/>
                          </a:solidFill>
                          <a:latin typeface="Meiryo UI"/>
                          <a:ea typeface="Meiryo UI"/>
                        </a:rPr>
                        <a:t>＝項目ごとの固定の文字列（例：TP、ALB）</a:t>
                      </a:r>
                    </a:p>
                    <a:p>
                      <a:r>
                        <a:rPr sz="900" b="0">
                          <a:solidFill>
                            <a:srgbClr val="000000"/>
                          </a:solidFill>
                          <a:latin typeface="Meiryo UI"/>
                          <a:ea typeface="Meiryo UI"/>
                        </a:rPr>
                        <a:t>※JLAC10がない場合はcode.text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1">
                          <a:solidFill>
                            <a:srgbClr val="C00000"/>
                          </a:solidFill>
                          <a:latin typeface="Meiryo UI"/>
                          <a:ea typeface="Meiryo UI"/>
                        </a:rPr>
                        <a:t>生じる</a:t>
                      </a:r>
                    </a:p>
                    <a:p>
                      <a:r>
                        <a:rPr sz="900" b="0">
                          <a:solidFill>
                            <a:srgbClr val="000000"/>
                          </a:solidFill>
                          <a:latin typeface="Meiryo UI"/>
                          <a:ea typeface="Meiryo UI"/>
                        </a:rPr>
                        <a:t>項目名が固定の文字列と同じ場合を除く</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画面：変更なし</a:t>
                      </a:r>
                    </a:p>
                    <a:p>
                      <a:r>
                        <a:rPr sz="900" b="0">
                          <a:solidFill>
                            <a:srgbClr val="000000"/>
                          </a:solidFill>
                          <a:latin typeface="Meiryo UI"/>
                          <a:ea typeface="Meiryo UI"/>
                        </a:rPr>
                        <a:t>PDF：JLAC11併記時はJLAC11優先（案件221）</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r h="288000">
                <a:tc>
                  <a:txBody>
                    <a:bodyPr wrap="square"/>
                    <a:lstStyle/>
                    <a:p>
                      <a:r>
                        <a:rPr sz="900" b="0">
                          <a:solidFill>
                            <a:srgbClr val="000000"/>
                          </a:solidFill>
                          <a:latin typeface="Meiryo UI"/>
                          <a:ea typeface="Meiryo UI"/>
                        </a:rPr>
                        <a:t>薬剤名</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AllergyIntolerance.code.text</a:t>
                      </a:r>
                    </a:p>
                    <a:p>
                      <a:r>
                        <a:rPr sz="900" b="0">
                          <a:solidFill>
                            <a:srgbClr val="000000"/>
                          </a:solidFill>
                          <a:latin typeface="Meiryo UI"/>
                          <a:ea typeface="Meiryo UI"/>
                        </a:rPr>
                        <a:t>（電子カルテ上の名称）</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AllergyIntolerance.code.coding（JFAGY）.display</a:t>
                      </a:r>
                    </a:p>
                    <a:p>
                      <a:r>
                        <a:rPr sz="900" b="0">
                          <a:solidFill>
                            <a:srgbClr val="000000"/>
                          </a:solidFill>
                          <a:latin typeface="Meiryo UI"/>
                          <a:ea typeface="Meiryo UI"/>
                        </a:rPr>
                        <a:t>※ダミーコードの場合はcode.text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1">
                          <a:solidFill>
                            <a:srgbClr val="C00000"/>
                          </a:solidFill>
                          <a:latin typeface="Meiryo UI"/>
                          <a:ea typeface="Meiryo UI"/>
                        </a:rPr>
                        <a:t>生じうる</a:t>
                      </a:r>
                    </a:p>
                    <a:p>
                      <a:r>
                        <a:rPr sz="900" b="0">
                          <a:solidFill>
                            <a:srgbClr val="000000"/>
                          </a:solidFill>
                          <a:latin typeface="Meiryo UI"/>
                          <a:ea typeface="Meiryo UI"/>
                        </a:rPr>
                        <a:t>電子カルテ上の名称がJFAGYの名称と異なる場合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変更なし</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r h="288000">
                <a:tc>
                  <a:txBody>
                    <a:bodyPr wrap="square"/>
                    <a:lstStyle/>
                    <a:p>
                      <a:r>
                        <a:rPr sz="900" b="0">
                          <a:solidFill>
                            <a:srgbClr val="000000"/>
                          </a:solidFill>
                          <a:latin typeface="Meiryo UI"/>
                          <a:ea typeface="Meiryo UI"/>
                        </a:rPr>
                        <a:t>アレルギー物質</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AllergyIntolerance.code.text</a:t>
                      </a:r>
                    </a:p>
                    <a:p>
                      <a:r>
                        <a:rPr sz="900" b="0">
                          <a:solidFill>
                            <a:srgbClr val="000000"/>
                          </a:solidFill>
                          <a:latin typeface="Meiryo UI"/>
                          <a:ea typeface="Meiryo UI"/>
                        </a:rPr>
                        <a:t>（電子カルテ上の名称）</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AllergyIntolerance.code.coding（JFAGY）.display</a:t>
                      </a:r>
                    </a:p>
                    <a:p>
                      <a:r>
                        <a:rPr sz="900" b="0">
                          <a:solidFill>
                            <a:srgbClr val="000000"/>
                          </a:solidFill>
                          <a:latin typeface="Meiryo UI"/>
                          <a:ea typeface="Meiryo UI"/>
                        </a:rPr>
                        <a:t>※ダミーコードの場合はcode.text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1">
                          <a:solidFill>
                            <a:srgbClr val="C00000"/>
                          </a:solidFill>
                          <a:latin typeface="Meiryo UI"/>
                          <a:ea typeface="Meiryo UI"/>
                        </a:rPr>
                        <a:t>生じうる</a:t>
                      </a:r>
                    </a:p>
                    <a:p>
                      <a:r>
                        <a:rPr sz="900" b="0">
                          <a:solidFill>
                            <a:srgbClr val="000000"/>
                          </a:solidFill>
                          <a:latin typeface="Meiryo UI"/>
                          <a:ea typeface="Meiryo UI"/>
                        </a:rPr>
                        <a:t>薬剤名と同じ</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変更なし</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r h="288000">
                <a:tc>
                  <a:txBody>
                    <a:bodyPr wrap="square"/>
                    <a:lstStyle/>
                    <a:p>
                      <a:r>
                        <a:rPr sz="900" b="0">
                          <a:solidFill>
                            <a:srgbClr val="000000"/>
                          </a:solidFill>
                          <a:latin typeface="Meiryo UI"/>
                          <a:ea typeface="Meiryo UI"/>
                        </a:rPr>
                        <a:t>（参考）傷病名</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Condition.code.text</a:t>
                      </a:r>
                    </a:p>
                    <a:p>
                      <a:r>
                        <a:rPr sz="900" b="0">
                          <a:solidFill>
                            <a:srgbClr val="000000"/>
                          </a:solidFill>
                          <a:latin typeface="Meiryo UI"/>
                          <a:ea typeface="Meiryo UI"/>
                        </a:rPr>
                        <a:t>（修飾語を含む入力文字列）</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前置修飾語＋傷病名（MEDIS）＋後置修飾語＋「の疑い」（verificationStatus）</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1">
                          <a:solidFill>
                            <a:srgbClr val="000000"/>
                          </a:solidFill>
                          <a:latin typeface="Meiryo UI"/>
                          <a:ea typeface="Meiryo UI"/>
                        </a:rPr>
                        <a:t>生じる</a:t>
                      </a:r>
                    </a:p>
                    <a:p>
                      <a:r>
                        <a:rPr sz="900" b="0">
                          <a:solidFill>
                            <a:srgbClr val="000000"/>
                          </a:solidFill>
                          <a:latin typeface="Meiryo UI"/>
                          <a:ea typeface="Meiryo UI"/>
                        </a:rPr>
                        <a:t>疑いフラグのみの場合「の疑い」が出ない</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12月（案件213）で</a:t>
                      </a:r>
                    </a:p>
                    <a:p>
                      <a:r>
                        <a:rPr sz="900" b="0">
                          <a:solidFill>
                            <a:srgbClr val="000000"/>
                          </a:solidFill>
                          <a:latin typeface="Meiryo UI"/>
                          <a:ea typeface="Meiryo UI"/>
                        </a:rPr>
                        <a:t>画面をPDFと同様に出力</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bl>
          </a:graphicData>
        </a:graphic>
      </p:graphicFrame>
      <p:sp>
        <p:nvSpPr>
          <p:cNvPr id="103" name="ラベル ご相談事項">
            <a:extLst>
              <a:ext uri="{FF2B5EF4-FFF2-40B4-BE49-F238E27FC236}" cx="1645200" cy="248399">
                <a16:creationId xmlns:a16="http://schemas.microsoft.com/office/drawing/2014/main" id="{10B3CE16-A82C-C4F4-3204-AD9B576EF40B}"/>
              </a:ext>
            </a:extLst>
          </p:cNvPr>
          <p:cNvSpPr/>
          <p:nvPr/>
        </p:nvSpPr>
        <p:spPr>
          <a:xfrm>
            <a:off x="493200" y="4824000"/>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ご相談事項</a:t>
            </a:r>
          </a:p>
        </p:txBody>
      </p:sp>
      <p:sp>
        <p:nvSpPr>
          <p:cNvPr id="104" name="本文">
            <a:extLst>
              <a:ext uri="{FF2B5EF4-FFF2-40B4-BE49-F238E27FC236}" cx="8928000" cy="1404000">
                <a16:creationId xmlns:a16="http://schemas.microsoft.com/office/drawing/2014/main" id="{19B0B31A-D24C-127D-FE2A-C96C34222213}"/>
              </a:ext>
            </a:extLst>
          </p:cNvPr>
          <p:cNvSpPr>
            <a:spLocks noGrp="1"/>
          </p:cNvSpPr>
          <p:nvPr>
            <p:ph idx="1"/>
          </p:nvPr>
        </p:nvSpPr>
        <p:spPr>
          <a:xfrm>
            <a:off x="493200" y="5076000"/>
            <a:ext cx="8919900" cy="809015"/>
          </a:xfrm>
        </p:spPr>
        <p:txBody>
          <a:bodyPr/>
          <a:lstStyle/>
          <a:p>
            <a:pPr marL="285750" indent="-285750">
              <a:spcAft>
                <a:spcPts val="300"/>
              </a:spcAft>
              <a:buFont typeface="Arial" panose="020B0604020202020204" pitchFamily="34" charset="0"/>
              <a:buChar char="•"/>
            </a:pPr>
            <a:r>
              <a:rPr lang="ja-JP" altLang="en-US" sz="1100"/>
              <a:t>表示に差分が生じるため、</a:t>
            </a:r>
            <a:r>
              <a:rPr lang="ja-JP" altLang="en-US" sz="1100" b="1"/>
              <a:t>傷病名（案件213）と同様に、詳細画面の名称をPDFに揃える改修を機構に求める方向</a:t>
            </a:r>
            <a:r>
              <a:rPr lang="ja-JP" altLang="en-US" sz="1100"/>
              <a:t>でよろしいでしょうか。</a:t>
            </a:r>
          </a:p>
          <a:p>
            <a:pPr marL="285750" indent="-285750">
              <a:spcAft>
                <a:spcPts val="300"/>
              </a:spcAft>
              <a:buFont typeface="Arial" panose="020B0604020202020204" pitchFamily="34" charset="0"/>
              <a:buChar char="•"/>
            </a:pPr>
            <a:r>
              <a:rPr lang="ja-JP" altLang="en-US" sz="1100"/>
              <a:t>薬剤名・アレルギー物質は、電子カルテ上の名称がJFAGYの名称と同じ場合は差分が出ませんが、</a:t>
            </a:r>
            <a:r>
              <a:rPr lang="ja-JP" altLang="en-US" sz="1100" b="1"/>
              <a:t>その場合でも念のため改修を求めますか。</a:t>
            </a:r>
          </a:p>
          <a:p>
            <a:pPr marL="285750" indent="-285750">
              <a:spcAft>
                <a:spcPts val="300"/>
              </a:spcAft>
              <a:buFont typeface="Arial" panose="020B0604020202020204" pitchFamily="34" charset="0"/>
              <a:buChar char="•"/>
            </a:pPr>
            <a:r>
              <a:rPr lang="ja-JP" altLang="en-US" sz="1100"/>
              <a:t>改修の可否・時期・費用を機構に照会し、費用対効果を見て判断する進め方でよろしいでしょうか。あわせて、改修までの間、差分があることを医療機関に周知するかについてご意向を伺いたい。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X.臨床情報詳細画面とPDF帳票の名称の差について</a:t>
            </a:r>
          </a:p>
        </p:txBody>
      </p:sp>
      <p:sp>
        <p:nvSpPr>
          <p:cNvPr id="105" name="ラベル 参考">
            <a:extLst>
              <a:ext uri="{FF2B5EF4-FFF2-40B4-BE49-F238E27FC236}" cx="1645200" cy="248399">
                <a16:creationId xmlns:a16="http://schemas.microsoft.com/office/drawing/2014/main" id="{10B3CE16-A82C-C4F4-3204-AD9B576EF40B}"/>
              </a:ext>
            </a:extLst>
          </p:cNvPr>
          <p:cNvSpPr/>
          <p:nvPr/>
        </p:nvSpPr>
        <p:spPr>
          <a:xfrm>
            <a:off x="493200" y="827999"/>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参考</a:t>
            </a:r>
          </a:p>
        </p:txBody>
      </p:sp>
      <p:sp>
        <p:nvSpPr>
          <p:cNvPr id="106" name="本文">
            <a:extLst>
              <a:ext uri="{FF2B5EF4-FFF2-40B4-BE49-F238E27FC236}" cx="8928000" cy="288000">
                <a16:creationId xmlns:a16="http://schemas.microsoft.com/office/drawing/2014/main" id="{19B0B31A-D24C-127D-FE2A-C96C34222213}"/>
              </a:ext>
            </a:extLst>
          </p:cNvPr>
          <p:cNvSpPr>
            <a:spLocks noGrp="1"/>
          </p:cNvSpPr>
          <p:nvPr>
            <p:ph idx="1"/>
          </p:nvPr>
        </p:nvSpPr>
        <p:spPr>
          <a:xfrm>
            <a:off x="493200" y="1080000"/>
            <a:ext cx="8919900" cy="809015"/>
          </a:xfrm>
        </p:spPr>
        <p:txBody>
          <a:bodyPr/>
          <a:lstStyle/>
          <a:p>
            <a:pPr marL="285750" indent="-285750">
              <a:spcAft>
                <a:spcPts val="300"/>
              </a:spcAft>
              <a:buFont typeface="Arial" panose="020B0604020202020204" pitchFamily="34" charset="0"/>
              <a:buChar char="•"/>
            </a:pPr>
            <a:r>
              <a:rPr lang="ja-JP" altLang="en-US" sz="1200" b="1"/>
              <a:t>詳細画面・PDFが参照するFHIRパスの定義</a:t>
            </a:r>
            <a:r>
              <a:rPr lang="ja-JP" altLang="en-US" sz="1200"/>
              <a:t>（JP-CLINS v1.13.0）</a:t>
            </a:r>
          </a:p>
        </p:txBody>
      </p:sp>
      <p:graphicFrame>
        <p:nvGraphicFramePr>
          <p:cNvPr id="107" name="Table 106"/>
          <p:cNvGraphicFramePr>
            <a:graphicFrameLocks noGrp="1"/>
          </p:cNvGraphicFramePr>
          <p:nvPr/>
        </p:nvGraphicFramePr>
        <p:xfrm>
          <a:off x="684000" y="1368000"/>
          <a:ext cx="8567999" cy="1836000"/>
        </p:xfrm>
        <a:graphic>
          <a:graphicData uri="http://schemas.openxmlformats.org/drawingml/2006/table">
            <a:tbl>
              <a:tblPr>
                <a:tableStyleId>{5C22544A-7EE6-4342-B048-85BDC9FD1C3A}</a:tableStyleId>
              </a:tblPr>
              <a:tblGrid>
                <a:gridCol w="2015999"/>
                <a:gridCol w="1296000"/>
                <a:gridCol w="792000"/>
                <a:gridCol w="4464000"/>
              </a:tblGrid>
              <a:tr h="306000">
                <a:tc>
                  <a:txBody>
                    <a:bodyPr wrap="square"/>
                    <a:lstStyle/>
                    <a:p>
                      <a:r>
                        <a:rPr sz="900" b="1">
                          <a:solidFill>
                            <a:srgbClr val="000000"/>
                          </a:solidFill>
                          <a:latin typeface="Meiryo UI"/>
                          <a:ea typeface="Meiryo UI"/>
                        </a:rPr>
                        <a:t>プロファイル</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wrap="square"/>
                    <a:lstStyle/>
                    <a:p>
                      <a:r>
                        <a:rPr sz="900" b="1">
                          <a:solidFill>
                            <a:srgbClr val="000000"/>
                          </a:solidFill>
                          <a:latin typeface="Meiryo UI"/>
                          <a:ea typeface="Meiryo UI"/>
                        </a:rPr>
                        <a:t>FHIRパス</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wrap="square"/>
                    <a:lstStyle/>
                    <a:p>
                      <a:r>
                        <a:rPr sz="900" b="1">
                          <a:solidFill>
                            <a:srgbClr val="000000"/>
                          </a:solidFill>
                          <a:latin typeface="Meiryo UI"/>
                          <a:ea typeface="Meiryo UI"/>
                        </a:rPr>
                        <a:t>多重度</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c>
                  <a:txBody>
                    <a:bodyPr wrap="square"/>
                    <a:lstStyle/>
                    <a:p>
                      <a:r>
                        <a:rPr sz="900" b="1">
                          <a:solidFill>
                            <a:srgbClr val="000000"/>
                          </a:solidFill>
                          <a:latin typeface="Meiryo UI"/>
                          <a:ea typeface="Meiryo UI"/>
                        </a:rPr>
                        <a:t>定義（抜粋）</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2CEEF"/>
                    </a:solidFill>
                  </a:tcPr>
                </a:tc>
              </a:tr>
              <a:tr h="306000">
                <a:tc>
                  <a:txBody>
                    <a:bodyPr wrap="square"/>
                    <a:lstStyle/>
                    <a:p>
                      <a:r>
                        <a:rPr sz="900" b="0">
                          <a:solidFill>
                            <a:srgbClr val="000000"/>
                          </a:solidFill>
                          <a:latin typeface="Meiryo UI"/>
                          <a:ea typeface="Meiryo UI"/>
                        </a:rPr>
                        <a:t>JP_Observation_LabResult_eCS</a:t>
                      </a:r>
                    </a:p>
                    <a:p>
                      <a:r>
                        <a:rPr sz="900" b="0">
                          <a:solidFill>
                            <a:srgbClr val="000000"/>
                          </a:solidFill>
                          <a:latin typeface="Meiryo UI"/>
                          <a:ea typeface="Meiryo UI"/>
                        </a:rPr>
                        <a:t>（検査・感染症）</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項目名。報告書などに記載する場合に使用する表示名。（注釈：多くの場合、coding.displayと同一になるが…）</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r h="306000">
                <a:tc>
                  <a:txBody>
                    <a:bodyPr wrap="square"/>
                    <a:lstStyle/>
                    <a:p>
                      <a:r>
                        <a:rPr sz="900" b="0">
                          <a:solidFill>
                            <a:srgbClr val="000000"/>
                          </a:solidFill>
                          <a:latin typeface="Meiryo UI"/>
                          <a:ea typeface="Meiryo UI"/>
                        </a:rPr>
                        <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code.coding</a:t>
                      </a:r>
                    </a:p>
                    <a:p>
                      <a:r>
                        <a:rPr sz="900" b="0">
                          <a:solidFill>
                            <a:srgbClr val="000000"/>
                          </a:solidFill>
                          <a:latin typeface="Meiryo UI"/>
                          <a:ea typeface="Meiryo UI"/>
                        </a:rPr>
                        <a:t>（JLAC10）.display</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項目ごとに固定値（fixedString）。例：総蛋白＝TP、アルブミン＝ALB、HbA1c＝HbA1c-NGSP</a:t>
                      </a:r>
                    </a:p>
                    <a:p>
                      <a:r>
                        <a:rPr sz="900" b="0">
                          <a:solidFill>
                            <a:srgbClr val="000000"/>
                          </a:solidFill>
                          <a:latin typeface="Meiryo UI"/>
                          <a:ea typeface="Meiryo UI"/>
                        </a:rPr>
                        <a:t>（技術解説書の「FHIR識別文字列」）</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r h="306000">
                <a:tc>
                  <a:txBody>
                    <a:bodyPr wrap="square"/>
                    <a:lstStyle/>
                    <a:p>
                      <a:r>
                        <a:rPr sz="900" b="0">
                          <a:solidFill>
                            <a:srgbClr val="000000"/>
                          </a:solidFill>
                          <a:latin typeface="Meiryo UI"/>
                          <a:ea typeface="Meiryo UI"/>
                        </a:rPr>
                        <a:t>JP_AllergyIntolerance_eCS</a:t>
                      </a:r>
                    </a:p>
                    <a:p>
                      <a:r>
                        <a:rPr sz="900" b="0">
                          <a:solidFill>
                            <a:srgbClr val="000000"/>
                          </a:solidFill>
                          <a:latin typeface="Meiryo UI"/>
                          <a:ea typeface="Meiryo UI"/>
                        </a:rPr>
                        <a:t>（薬剤・その他アレルギー）</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電子カルテシステム等で登録され表示されている文字列をcode.textに必ず設定すること。</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r h="306000">
                <a:tc>
                  <a:txBody>
                    <a:bodyPr wrap="square"/>
                    <a:lstStyle/>
                    <a:p>
                      <a:r>
                        <a:rPr sz="900" b="0">
                          <a:solidFill>
                            <a:srgbClr val="000000"/>
                          </a:solidFill>
                          <a:latin typeface="Meiryo UI"/>
                          <a:ea typeface="Meiryo UI"/>
                        </a:rPr>
                        <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code.coding</a:t>
                      </a:r>
                    </a:p>
                    <a:p>
                      <a:r>
                        <a:rPr sz="900" b="0">
                          <a:solidFill>
                            <a:srgbClr val="000000"/>
                          </a:solidFill>
                          <a:latin typeface="Meiryo UI"/>
                          <a:ea typeface="Meiryo UI"/>
                        </a:rPr>
                        <a:t>（JFAGY）.display</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コードに対応する表示名（JFAGYのコード表の名称）。</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r h="306000">
                <a:tc>
                  <a:txBody>
                    <a:bodyPr wrap="square"/>
                    <a:lstStyle/>
                    <a:p>
                      <a:r>
                        <a:rPr sz="900" b="0">
                          <a:solidFill>
                            <a:srgbClr val="000000"/>
                          </a:solidFill>
                          <a:latin typeface="Meiryo UI"/>
                          <a:ea typeface="Meiryo UI"/>
                        </a:rPr>
                        <a:t>（参考）JP_Condition_eCS</a:t>
                      </a:r>
                    </a:p>
                    <a:p>
                      <a:r>
                        <a:rPr sz="900" b="0">
                          <a:solidFill>
                            <a:srgbClr val="000000"/>
                          </a:solidFill>
                          <a:latin typeface="Meiryo UI"/>
                          <a:ea typeface="Meiryo UI"/>
                        </a:rPr>
                        <a:t>（傷病名）</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code.text</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1..1（必須）</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wrap="square"/>
                    <a:lstStyle/>
                    <a:p>
                      <a:r>
                        <a:rPr sz="900" b="0">
                          <a:solidFill>
                            <a:srgbClr val="000000"/>
                          </a:solidFill>
                          <a:latin typeface="Meiryo UI"/>
                          <a:ea typeface="Meiryo UI"/>
                        </a:rPr>
                        <a:t>前置修飾語、後置修飾語も含めて電子カルテ上での表示（入力）文字列全体を設定する。</a:t>
                      </a:r>
                    </a:p>
                  </a:txBody>
                  <a:tcPr marL="36000" marR="36000" marT="18000" marB="10800"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r>
            </a:tbl>
          </a:graphicData>
        </a:graphic>
      </p:graphicFrame>
      <p:sp>
        <p:nvSpPr>
          <p:cNvPr id="107" name="本文">
            <a:extLst>
              <a:ext uri="{FF2B5EF4-FFF2-40B4-BE49-F238E27FC236}" cx="8928000" cy="684000">
                <a16:creationId xmlns:a16="http://schemas.microsoft.com/office/drawing/2014/main" id="{19B0B31A-D24C-127D-FE2A-C96C34222213}"/>
              </a:ext>
            </a:extLst>
          </p:cNvPr>
          <p:cNvSpPr>
            <a:spLocks noGrp="1"/>
          </p:cNvSpPr>
          <p:nvPr>
            <p:ph idx="1"/>
          </p:nvPr>
        </p:nvSpPr>
        <p:spPr>
          <a:xfrm>
            <a:off x="493200" y="3384000"/>
            <a:ext cx="8919900" cy="809015"/>
          </a:xfrm>
        </p:spPr>
        <p:txBody>
          <a:bodyPr/>
          <a:lstStyle/>
          <a:p>
            <a:pPr marL="285750" indent="-285750">
              <a:spcAft>
                <a:spcPts val="300"/>
              </a:spcAft>
              <a:buFont typeface="Arial" panose="020B0604020202020204" pitchFamily="34" charset="0"/>
              <a:buChar char="•"/>
            </a:pPr>
            <a:r>
              <a:rPr lang="ja-JP" altLang="en-US" sz="1100"/>
              <a:t>詳細画面・PDFがどのFHIRパスを参照しているかは、DX機構の調査結果（10/6）の「参照元」欄による。</a:t>
            </a:r>
          </a:p>
          <a:p>
            <a:pPr marL="285750" indent="-285750">
              <a:spcAft>
                <a:spcPts val="300"/>
              </a:spcAft>
              <a:buFont typeface="Arial" panose="020B0604020202020204" pitchFamily="34" charset="0"/>
              <a:buChar char="•"/>
            </a:pPr>
            <a:r>
              <a:rPr lang="ja-JP" altLang="en-US" sz="1100"/>
              <a:t>code.textは医療機関が自由に設定する名称、code.coding.displayはコード表で決まった名称であり、両者が一致する保証はない。</a:t>
            </a:r>
          </a:p>
        </p:txBody>
      </p:sp>
      <p:sp>
        <p:nvSpPr>
          <p:cNvPr id="108" name="ラベル 機構への確認事項">
            <a:extLst>
              <a:ext uri="{FF2B5EF4-FFF2-40B4-BE49-F238E27FC236}" cx="1645200" cy="248399">
                <a16:creationId xmlns:a16="http://schemas.microsoft.com/office/drawing/2014/main" id="{10B3CE16-A82C-C4F4-3204-AD9B576EF40B}"/>
              </a:ext>
            </a:extLst>
          </p:cNvPr>
          <p:cNvSpPr/>
          <p:nvPr/>
        </p:nvSpPr>
        <p:spPr>
          <a:xfrm>
            <a:off x="493200" y="4176000"/>
            <a:ext cx="1646007" cy="248400"/>
          </a:xfrm>
          <a:prstGeom prst="roundRect">
            <a:avLst>
              <a:gd name="adj" fmla="val 0"/>
            </a:avLst>
          </a:prstGeom>
          <a:solidFill>
            <a:srgbClr val="1F497D"/>
          </a:solidFill>
          <a:ln w="9525" cap="flat" cmpd="sng" algn="ctr">
            <a:solidFill>
              <a:srgbClr val="1F497D"/>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機構への確認事項</a:t>
            </a:r>
          </a:p>
        </p:txBody>
      </p:sp>
      <p:sp>
        <p:nvSpPr>
          <p:cNvPr id="109" name="本文">
            <a:extLst>
              <a:ext uri="{FF2B5EF4-FFF2-40B4-BE49-F238E27FC236}" cx="8928000" cy="1620000">
                <a16:creationId xmlns:a16="http://schemas.microsoft.com/office/drawing/2014/main" id="{19B0B31A-D24C-127D-FE2A-C96C34222213}"/>
              </a:ext>
            </a:extLst>
          </p:cNvPr>
          <p:cNvSpPr>
            <a:spLocks noGrp="1"/>
          </p:cNvSpPr>
          <p:nvPr>
            <p:ph idx="1"/>
          </p:nvPr>
        </p:nvSpPr>
        <p:spPr>
          <a:xfrm>
            <a:off x="493200" y="4428000"/>
            <a:ext cx="8919900" cy="809015"/>
          </a:xfrm>
        </p:spPr>
        <p:txBody>
          <a:bodyPr/>
          <a:lstStyle/>
          <a:p>
            <a:pPr marL="285750" indent="-285750">
              <a:spcAft>
                <a:spcPts val="300"/>
              </a:spcAft>
              <a:buFont typeface="Arial" panose="020B0604020202020204" pitchFamily="34" charset="0"/>
              <a:buChar char="•"/>
            </a:pPr>
            <a:r>
              <a:rPr lang="ja-JP" altLang="en-US" sz="1100"/>
              <a:t>PDFの検査項目名は、調査結果では「JLAC10のディスプレイ値」（＝固定の文字列。例：TP）だが、技術解説書の「FHIR識別文字列をFHIR項目名称に自動変換して出力」のとおり変換して表示しているか。</a:t>
            </a:r>
          </a:p>
          <a:p>
            <a:pPr marL="285750" indent="-285750">
              <a:spcAft>
                <a:spcPts val="300"/>
              </a:spcAft>
              <a:buFont typeface="Arial" panose="020B0604020202020204" pitchFamily="34" charset="0"/>
              <a:buChar char="•"/>
            </a:pPr>
            <a:r>
              <a:rPr lang="ja-JP" altLang="en-US" sz="1100"/>
              <a:t>案件221（3月、JLAC11優先）の後、PDFの検査項目名はJLAC11のdisplayになるか。JLAC11のみで登録された場合はcode.textのままか。</a:t>
            </a:r>
          </a:p>
          <a:p>
            <a:pPr marL="285750" indent="-285750">
              <a:spcAft>
                <a:spcPts val="300"/>
              </a:spcAft>
              <a:buFont typeface="Arial" panose="020B0604020202020204" pitchFamily="34" charset="0"/>
              <a:buChar char="•"/>
            </a:pPr>
            <a:r>
              <a:rPr lang="ja-JP" altLang="en-US" sz="1100"/>
              <a:t>詳細画面の名称をPDFに揃える改修の可否、可能な場合の時期と費用。</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ATE" val="2011/01/18 15:52:48"/>
  <p:tag name="STYLE" val="AcnSubjectTitle"/>
</p:tagLst>
</file>

<file path=ppt/tags/tag2.xml><?xml version="1.0" encoding="utf-8"?>
<p:tagLst xmlns:a="http://schemas.openxmlformats.org/drawingml/2006/main" xmlns:r="http://schemas.openxmlformats.org/officeDocument/2006/relationships" xmlns:p="http://schemas.openxmlformats.org/presentationml/2006/main">
  <p:tag name="DATE" val="2011/01/18 15:52:54"/>
  <p:tag name="STYLE" val="AcnUnitofMeasure"/>
</p:tagLst>
</file>

<file path=ppt/tags/tag3.xml><?xml version="1.0" encoding="utf-8"?>
<p:tagLst xmlns:a="http://schemas.openxmlformats.org/drawingml/2006/main" xmlns:r="http://schemas.openxmlformats.org/officeDocument/2006/relationships" xmlns:p="http://schemas.openxmlformats.org/presentationml/2006/main">
  <p:tag name="DATE" val="2011/01/18 15:55:34"/>
  <p:tag name="STYLE" val="AcnRoadmap"/>
</p:tagLst>
</file>

<file path=ppt/tags/tag4.xml><?xml version="1.0" encoding="utf-8"?>
<p:tagLst xmlns:a="http://schemas.openxmlformats.org/drawingml/2006/main" xmlns:r="http://schemas.openxmlformats.org/officeDocument/2006/relationships" xmlns:p="http://schemas.openxmlformats.org/presentationml/2006/main">
  <p:tag name="DATE" val="2011/01/18 15:55:37"/>
  <p:tag name="STYLE" val="AcnStamp"/>
</p:tagLst>
</file>

<file path=ppt/tags/tag5.xml><?xml version="1.0" encoding="utf-8"?>
<p:tagLst xmlns:a="http://schemas.openxmlformats.org/drawingml/2006/main" xmlns:r="http://schemas.openxmlformats.org/officeDocument/2006/relationships" xmlns:p="http://schemas.openxmlformats.org/presentationml/2006/main">
  <p:tag name="DATE" val="2011/01/18 15:55:37"/>
  <p:tag name="STYLE" val="AcnStpConnector"/>
</p:tagLst>
</file>

<file path=ppt/tags/tag6.xml><?xml version="1.0" encoding="utf-8"?>
<p:tagLst xmlns:a="http://schemas.openxmlformats.org/drawingml/2006/main" xmlns:r="http://schemas.openxmlformats.org/officeDocument/2006/relationships" xmlns:p="http://schemas.openxmlformats.org/presentationml/2006/main">
  <p:tag name="DATE" val="2011/01/18 15:55:37"/>
  <p:tag name="STYLE" val="AcnStpConnector"/>
</p:tagLst>
</file>

<file path=ppt/tags/tag7.xml><?xml version="1.0" encoding="utf-8"?>
<p:tagLst xmlns:a="http://schemas.openxmlformats.org/drawingml/2006/main" xmlns:r="http://schemas.openxmlformats.org/officeDocument/2006/relationships" xmlns:p="http://schemas.openxmlformats.org/presentationml/2006/main">
  <p:tag name="DATE" val="2011/01/18 15:59:16"/>
  <p:tag name="STYLE" val="AcnFootno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10.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MyTemplate">
  <a:themeElements>
    <a:clrScheme name="オレンジ">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Masumoto Style">
      <a:majorFont>
        <a:latin typeface="Century"/>
        <a:ea typeface="HGPｺﾞｼｯｸM"/>
        <a:cs typeface=""/>
      </a:majorFont>
      <a:minorFont>
        <a:latin typeface="Century"/>
        <a:ea typeface="HGPｺﾞｼｯｸ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75000"/>
          </a:schemeClr>
        </a:solidFill>
        <a:ln>
          <a:noFill/>
        </a:ln>
      </a:spPr>
      <a:bodyPr vert="horz" wrap="square" rtlCol="0" anchor="ctr">
        <a:noAutofit/>
      </a:bodyPr>
      <a:lstStyle>
        <a:defPPr algn="ctr">
          <a:defRPr kumimoji="1" sz="1000" dirty="0" smtClean="0">
            <a:latin typeface="Meiryo UI" panose="020B0604030504040204" pitchFamily="50" charset="-128"/>
            <a:ea typeface="Meiryo UI" panose="020B0604030504040204"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0"/>
          </a:spcBef>
          <a:spcAft>
            <a:spcPct val="0"/>
          </a:spcAft>
          <a:buClrTx/>
          <a:buSzTx/>
          <a:buFontTx/>
          <a:buNone/>
          <a:tabLst/>
          <a:defRPr kumimoji="0" lang="en-AU" sz="3200" b="1" i="0" u="none" strike="noStrike" cap="none" normalizeH="0" baseline="0" smtClean="0">
            <a:ln>
              <a:noFill/>
            </a:ln>
            <a:solidFill>
              <a:schemeClr val="tx1"/>
            </a:solidFill>
            <a:effectLst/>
            <a:latin typeface="Arial" charset="0"/>
          </a:defRPr>
        </a:defPPr>
      </a:lstStyle>
    </a:lnDef>
  </a:objectDefaults>
  <a:extraClrSchemeLst>
    <a:extraClrScheme>
      <a:clrScheme name="InterpretationA_full 1">
        <a:dk1>
          <a:srgbClr val="000000"/>
        </a:dk1>
        <a:lt1>
          <a:srgbClr val="FFFFFF"/>
        </a:lt1>
        <a:dk2>
          <a:srgbClr val="000000"/>
        </a:dk2>
        <a:lt2>
          <a:srgbClr val="FFFFFF"/>
        </a:lt2>
        <a:accent1>
          <a:srgbClr val="969696"/>
        </a:accent1>
        <a:accent2>
          <a:srgbClr val="EAEAEA"/>
        </a:accent2>
        <a:accent3>
          <a:srgbClr val="FFFFFF"/>
        </a:accent3>
        <a:accent4>
          <a:srgbClr val="000000"/>
        </a:accent4>
        <a:accent5>
          <a:srgbClr val="C9C9C9"/>
        </a:accent5>
        <a:accent6>
          <a:srgbClr val="D4D4D4"/>
        </a:accent6>
        <a:hlink>
          <a:srgbClr val="5F5F5F"/>
        </a:hlink>
        <a:folHlink>
          <a:srgbClr val="CBCBCB"/>
        </a:folHlink>
      </a:clrScheme>
      <a:clrMap bg1="lt1" tx1="dk1" bg2="lt2" tx2="dk2" accent1="accent1" accent2="accent2" accent3="accent3" accent4="accent4" accent5="accent5" accent6="accent6" hlink="hlink" folHlink="folHlink"/>
    </a:extraClrScheme>
    <a:extraClrScheme>
      <a:clrScheme name="InterpretationA_full 2">
        <a:dk1>
          <a:srgbClr val="000000"/>
        </a:dk1>
        <a:lt1>
          <a:srgbClr val="FFFFFF"/>
        </a:lt1>
        <a:dk2>
          <a:srgbClr val="F8F8F8"/>
        </a:dk2>
        <a:lt2>
          <a:srgbClr val="C0C0C0"/>
        </a:lt2>
        <a:accent1>
          <a:srgbClr val="00AA99"/>
        </a:accent1>
        <a:accent2>
          <a:srgbClr val="DD4411"/>
        </a:accent2>
        <a:accent3>
          <a:srgbClr val="FFFFFF"/>
        </a:accent3>
        <a:accent4>
          <a:srgbClr val="000000"/>
        </a:accent4>
        <a:accent5>
          <a:srgbClr val="AAD2CA"/>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
      <a:clrScheme name="InterpretationA_full 3">
        <a:dk1>
          <a:srgbClr val="000000"/>
        </a:dk1>
        <a:lt1>
          <a:srgbClr val="FFFFFF"/>
        </a:lt1>
        <a:dk2>
          <a:srgbClr val="F8F8F8"/>
        </a:dk2>
        <a:lt2>
          <a:srgbClr val="C0C0C0"/>
        </a:lt2>
        <a:accent1>
          <a:srgbClr val="AA1133"/>
        </a:accent1>
        <a:accent2>
          <a:srgbClr val="66AA44"/>
        </a:accent2>
        <a:accent3>
          <a:srgbClr val="FFFFFF"/>
        </a:accent3>
        <a:accent4>
          <a:srgbClr val="000000"/>
        </a:accent4>
        <a:accent5>
          <a:srgbClr val="D2AAAD"/>
        </a:accent5>
        <a:accent6>
          <a:srgbClr val="5C9A3D"/>
        </a:accent6>
        <a:hlink>
          <a:srgbClr val="887799"/>
        </a:hlink>
        <a:folHlink>
          <a:srgbClr val="224433"/>
        </a:folHlink>
      </a:clrScheme>
      <a:clrMap bg1="lt1" tx1="dk1" bg2="lt2" tx2="dk2" accent1="accent1" accent2="accent2" accent3="accent3" accent4="accent4" accent5="accent5" accent6="accent6" hlink="hlink" folHlink="folHlink"/>
    </a:extraClrScheme>
    <a:extraClrScheme>
      <a:clrScheme name="InterpretationA_full 4">
        <a:dk1>
          <a:srgbClr val="000000"/>
        </a:dk1>
        <a:lt1>
          <a:srgbClr val="FFFFFF"/>
        </a:lt1>
        <a:dk2>
          <a:srgbClr val="F8F8F8"/>
        </a:dk2>
        <a:lt2>
          <a:srgbClr val="C0C0C0"/>
        </a:lt2>
        <a:accent1>
          <a:srgbClr val="FF0000"/>
        </a:accent1>
        <a:accent2>
          <a:srgbClr val="FF9900"/>
        </a:accent2>
        <a:accent3>
          <a:srgbClr val="FFFFFF"/>
        </a:accent3>
        <a:accent4>
          <a:srgbClr val="000000"/>
        </a:accent4>
        <a:accent5>
          <a:srgbClr val="FFAAAA"/>
        </a:accent5>
        <a:accent6>
          <a:srgbClr val="E78A00"/>
        </a:accent6>
        <a:hlink>
          <a:srgbClr val="557799"/>
        </a:hlink>
        <a:folHlink>
          <a:srgbClr val="445511"/>
        </a:folHlink>
      </a:clrScheme>
      <a:clrMap bg1="lt1" tx1="dk1" bg2="lt2" tx2="dk2" accent1="accent1" accent2="accent2" accent3="accent3" accent4="accent4" accent5="accent5" accent6="accent6" hlink="hlink" folHlink="folHlink"/>
    </a:extraClrScheme>
    <a:extraClrScheme>
      <a:clrScheme name="InterpretationA_full 5">
        <a:dk1>
          <a:srgbClr val="000000"/>
        </a:dk1>
        <a:lt1>
          <a:srgbClr val="FFFFFF"/>
        </a:lt1>
        <a:dk2>
          <a:srgbClr val="F8F8F8"/>
        </a:dk2>
        <a:lt2>
          <a:srgbClr val="C0C0C0"/>
        </a:lt2>
        <a:accent1>
          <a:srgbClr val="00BBEE"/>
        </a:accent1>
        <a:accent2>
          <a:srgbClr val="DD4411"/>
        </a:accent2>
        <a:accent3>
          <a:srgbClr val="FFFFFF"/>
        </a:accent3>
        <a:accent4>
          <a:srgbClr val="000000"/>
        </a:accent4>
        <a:accent5>
          <a:srgbClr val="AADAF5"/>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2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kumimoji="1" sz="1400" dirty="0" err="1">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62"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17C4542-2F77-4D8C-8F1E-183FA4CE280E}">
  <we:reference id="12cf32e2-483a-4204-b71b-bf2af83debf2" version="1.2.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2093b91-50a3-4498-82d5-91368db29ba4" xsi:nil="true"/>
    <lcf76f155ced4ddcb4097134ff3c332f xmlns="70c72344-a901-41cd-a6da-bfcf15d570e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05F1B5A1E0F1943BC6DE70F45133712" ma:contentTypeVersion="12" ma:contentTypeDescription="Create a new document." ma:contentTypeScope="" ma:versionID="20a18e3ff9fb0cc056a84525e9061d4f">
  <xsd:schema xmlns:xsd="http://www.w3.org/2001/XMLSchema" xmlns:xs="http://www.w3.org/2001/XMLSchema" xmlns:p="http://schemas.microsoft.com/office/2006/metadata/properties" xmlns:ns2="70c72344-a901-41cd-a6da-bfcf15d570e1" xmlns:ns3="22093b91-50a3-4498-82d5-91368db29ba4" targetNamespace="http://schemas.microsoft.com/office/2006/metadata/properties" ma:root="true" ma:fieldsID="31e3050130c87086719ba5c54b2edc86" ns2:_="" ns3:_="">
    <xsd:import namespace="70c72344-a901-41cd-a6da-bfcf15d570e1"/>
    <xsd:import namespace="22093b91-50a3-4498-82d5-91368db29ba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c72344-a901-41cd-a6da-bfcf15d570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093b91-50a3-4498-82d5-91368db29ba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75ea22b-104f-4a38-8a21-90e040114398}" ma:internalName="TaxCatchAll" ma:showField="CatchAllData" ma:web="22093b91-50a3-4498-82d5-91368db29ba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3514D0-A311-4FBC-94C3-25B67EC60A33}">
  <ds:schemaRefs>
    <ds:schemaRef ds:uri="http://schemas.microsoft.com/sharepoint/v3/contenttype/forms"/>
  </ds:schemaRefs>
</ds:datastoreItem>
</file>

<file path=customXml/itemProps2.xml><?xml version="1.0" encoding="utf-8"?>
<ds:datastoreItem xmlns:ds="http://schemas.openxmlformats.org/officeDocument/2006/customXml" ds:itemID="{D91C391E-7B64-4950-AFEC-61954F399AAC}">
  <ds:schemaRefs>
    <ds:schemaRef ds:uri="22093b91-50a3-4498-82d5-91368db29ba4"/>
    <ds:schemaRef ds:uri="70c72344-a901-41cd-a6da-bfcf15d570e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AC13A84-679E-4972-B013-FA3F6080DACC}">
  <ds:schemaRefs>
    <ds:schemaRef ds:uri="22093b91-50a3-4498-82d5-91368db29ba4"/>
    <ds:schemaRef ds:uri="70c72344-a901-41cd-a6da-bfcf15d570e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A4 Paper (210x297 mm)</PresentationFormat>
  <Slides>4</Slides>
  <Notes>0</Notes>
  <HiddenSlides>0</HiddenSlides>
  <ScaleCrop>false</ScaleCrop>
  <HeadingPairs>
    <vt:vector size="4" baseType="variant">
      <vt:variant>
        <vt:lpstr>Theme</vt:lpstr>
      </vt:variant>
      <vt:variant>
        <vt:i4>3</vt:i4>
      </vt:variant>
      <vt:variant>
        <vt:lpstr>Slide Titles</vt:lpstr>
      </vt:variant>
      <vt:variant>
        <vt:i4>4</vt:i4>
      </vt:variant>
    </vt:vector>
  </HeadingPairs>
  <TitlesOfParts>
    <vt:vector size="7" baseType="lpstr">
      <vt:lpstr>MyTemplate</vt:lpstr>
      <vt:lpstr>3_テーマ２（ACN用）</vt:lpstr>
      <vt:lpstr>2_テーマ２（ACN用）</vt:lpstr>
      <vt:lpstr>PowerPoint Presentation</vt:lpstr>
      <vt:lpstr>血液型の共有の取り扱いについて</vt:lpstr>
      <vt:lpstr>血液型の共有の取り扱いについて</vt:lpstr>
      <vt:lpstr>４.血液型に関する情報の取り扱いに対する改修見積もり依頼</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2025-11-21T03:20:57Z</dcterms:created>
  <dcterms:modified xsi:type="dcterms:W3CDTF">2026-10-01T10:05:57Z</dcterms:modified>
  <cp:lastModifiedBy/>
  <dc:subject/>
  <cp:keywords/>
  <dc:description/>
  <cp:category/>
</cp:coreProperties>
</file>