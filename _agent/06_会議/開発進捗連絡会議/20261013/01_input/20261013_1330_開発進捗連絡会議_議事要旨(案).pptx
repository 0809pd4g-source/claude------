
<file path=[Content_Types].xml><?xml version="1.0" encoding="utf-8"?>
<Types xmlns="http://schemas.openxmlformats.org/package/2006/content-types">
  <Default Extension="bin" ContentType="application/vnd.openxmlformats-officedocument.oleObject"/>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theme/theme1.xml" ContentType="application/vnd.openxmlformats-officedocument.theme+xml"/>
  <Override PartName="/ppt/authors.xml" ContentType="application/vnd.ms-powerpoint.authors+xml"/>
  <Override PartName="/ppt/theme/theme3.xml" ContentType="application/vnd.openxmlformats-officedocument.theme+xml"/>
  <Override PartName="/ppt/theme/theme4.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ags/tag1.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tags/tag3.xml" ContentType="application/vnd.openxmlformats-officedocument.presentationml.tags+xml"/>
  <Override PartName="/ppt/tags/tag2.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removePersonalInfoOnSave="1" saveSubsetFonts="1">
  <p:sldMasterIdLst>
    <p:sldMasterId id="2147483718" r:id="rId1"/>
    <p:sldMasterId id="2147483858" r:id="rId2"/>
    <p:sldMasterId id="2147483868" r:id="rId3"/>
  </p:sldMasterIdLst>
  <p:notesMasterIdLst>
    <p:notesMasterId r:id="rId7"/>
  </p:notesMasterIdLst>
  <p:sldIdLst>
    <p:sldId id="2147483639" r:id="rId4"/>
    <p:sldId id="2147483474" r:id="rId5"/>
    <p:sldId id="2147483645" r:id="rId6"/>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2B9ED6F1-69FF-4FF5-88D9-4436D6088C09}">
          <p14:sldIdLst>
            <p14:sldId id="2147483639"/>
            <p14:sldId id="2147483474"/>
            <p14:sldId id="2147483645"/>
          </p14:sldIdLst>
        </p14:section>
      </p14:sectionLst>
    </p:ext>
    <p:ext uri="{EFAFB233-063F-42B5-8137-9DF3F51BA10A}">
      <p15:sldGuideLst xmlns:p15="http://schemas.microsoft.com/office/powerpoint/2012/main">
        <p15:guide id="1" orient="horz" pos="2160" userDrawn="1">
          <p15:clr>
            <a:srgbClr val="A4A3A4"/>
          </p15:clr>
        </p15:guide>
        <p15:guide id="2" pos="2871" userDrawn="1">
          <p15:clr>
            <a:srgbClr val="A4A3A4"/>
          </p15:clr>
        </p15:guide>
        <p15:guide id="3" pos="1548" userDrawn="1">
          <p15:clr>
            <a:srgbClr val="A4A3A4"/>
          </p15:clr>
        </p15:guide>
        <p15:guide id="4" pos="5798" userDrawn="1">
          <p15:clr>
            <a:srgbClr val="A4A3A4"/>
          </p15:clr>
        </p15:guide>
        <p15:guide id="5" pos="228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作成者"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作成者" initials="A" lastIdx="0"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a:srgbClr val="C0C1C1"/>
    <a:srgbClr val="DCE6F2"/>
    <a:srgbClr val="FCD5B5"/>
    <a:srgbClr val="FFFFCC"/>
    <a:srgbClr val="BFBFC0"/>
    <a:srgbClr val="0070C0"/>
    <a:srgbClr val="FFFF00"/>
    <a:srgbClr val="C9DEF3"/>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35" dt="2026-10-14T00:09:43.792"/>
    <p1510:client id="{26FF32AB-B0BA-496F-BB19-72C2487DA6A0}" v="375" dt="2026-10-14T01:14:18.290"/>
    <p1510:client id="{6FA4B50F-2E33-423D-9A3D-E3E20477EE24}" v="17" dt="2026-10-14T01:53:16.687"/>
    <p1510:client id="{AC36E28C-F199-482B-9F6E-FB50B8379D1D}" v="2788" dt="2026-10-14T01:03:37.903"/>
    <p1510:client id="{F2A2B6E2-6415-4A13-B125-A9013DA31FB5}" v="1" dt="2026-10-13T10:18:39.19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616" y="48"/>
      </p:cViewPr>
      <p:guideLst>
        <p:guide orient="horz" pos="2160"/>
        <p:guide pos="2871"/>
        <p:guide pos="1548"/>
        <p:guide pos="5798"/>
        <p:guide pos="228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13" Type="http://schemas.microsoft.com/office/2015/10/relationships/revisionInfo" Target="revisionInfo.xml"/><Relationship Id="rId3" Type="http://schemas.openxmlformats.org/officeDocument/2006/relationships/slideMaster" Target="slideMasters/slideMaster3.xml"/><Relationship Id="rId7" Type="http://schemas.openxmlformats.org/officeDocument/2006/relationships/notesMaster" Target="notesMasters/notesMaster1.xml"/><Relationship Id="rId12" Type="http://schemas.openxmlformats.org/officeDocument/2006/relationships/tableStyles" Target="tableStyles.xml"/><Relationship Id="rId17" Type="http://schemas.openxmlformats.org/officeDocument/2006/relationships/customXml" Target="../customXml/item3.xml"/><Relationship Id="rId2" Type="http://schemas.openxmlformats.org/officeDocument/2006/relationships/slideMaster" Target="slideMasters/slideMaster2.xml"/><Relationship Id="rId16"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customXml" Target="../customXml/item1.xml"/><Relationship Id="rId10"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presProps" Target="presProps.xml"/><Relationship Id="rId14"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44A5029F-57BE-43E3-9C03-B6FF93903E43}" type="datetimeFigureOut">
              <a:rPr kumimoji="1" lang="ja-JP" altLang="en-US" smtClean="0"/>
              <a:t>2026/10/14</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94B835EC-ACD9-4FA2-8966-5C69F0553117}" type="slidenum">
              <a:rPr kumimoji="1" lang="ja-JP" altLang="en-US" smtClean="0"/>
              <a:t>‹#›</a:t>
            </a:fld>
            <a:endParaRPr kumimoji="1" lang="ja-JP" altLang="en-US"/>
          </a:p>
        </p:txBody>
      </p:sp>
    </p:spTree>
    <p:extLst>
      <p:ext uri="{BB962C8B-B14F-4D97-AF65-F5344CB8AC3E}">
        <p14:creationId xmlns:p14="http://schemas.microsoft.com/office/powerpoint/2010/main" val="17529059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DEC1B-2992-589F-281A-F8D421CF61C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4D3BB78-DB63-3B9D-177B-A2EBCC05056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91BFDF4-7C86-F39D-2769-70EF969C62D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292869B-C933-9957-9A1C-C8547356DC3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518935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EF610-462A-96CE-B0F2-ABA274AF56F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7F2E25A-DDE6-148F-409C-531EC8EDF5F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ABB412C-0E7C-800C-14F8-6574B67CE744}"/>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5FC7256-AC82-F366-5D19-D1B46AA2795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4890915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fld id="{48F63A3B-78C7-47BE-AE5E-E10140E04643}" type="slidenum">
              <a:rPr lang="en-US" smtClean="0"/>
              <a:pPr/>
              <a:t>‹#›</a:t>
            </a:fld>
            <a:endParaRPr lang="en-US"/>
          </a:p>
        </p:txBody>
      </p:sp>
    </p:spTree>
    <p:extLst>
      <p:ext uri="{BB962C8B-B14F-4D97-AF65-F5344CB8AC3E}">
        <p14:creationId xmlns:p14="http://schemas.microsoft.com/office/powerpoint/2010/main" val="2037372111"/>
      </p:ext>
    </p:extLst>
  </p:cSld>
  <p:clrMapOvr>
    <a:masterClrMapping/>
  </p:clrMapOvr>
  <p:hf hdr="0" dt="0"/>
  <p:extLst>
    <p:ext uri="{DCECCB84-F9BA-43D5-87BE-67443E8EF086}">
      <p15:sldGuideLst xmlns:p15="http://schemas.microsoft.com/office/powerpoint/2012/main">
        <p15:guide id="1" orient="horz" pos="2160" userDrawn="1">
          <p15:clr>
            <a:srgbClr val="FBAE40"/>
          </p15:clr>
        </p15:guide>
        <p15:guide id="2" pos="244" userDrawn="1">
          <p15:clr>
            <a:srgbClr val="FBAE40"/>
          </p15:clr>
        </p15:guide>
        <p15:guide id="3" pos="651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991080517"/>
      </p:ext>
    </p:extLst>
  </p:cSld>
  <p:clrMapOvr>
    <a:masterClrMapping/>
  </p:clrMapOvr>
  <p:hf hdr="0" dt="0"/>
  <p:extLst>
    <p:ext uri="{DCECCB84-F9BA-43D5-87BE-67443E8EF086}">
      <p15:sldGuideLst xmlns:p15="http://schemas.microsoft.com/office/powerpoint/2012/main">
        <p15:guide id="1" orient="horz" pos="2160" userDrawn="1">
          <p15:clr>
            <a:srgbClr val="FBAE40"/>
          </p15:clr>
        </p15:guide>
        <p15:guide id="2" pos="6516" userDrawn="1">
          <p15:clr>
            <a:srgbClr val="FBAE40"/>
          </p15:clr>
        </p15:guide>
        <p15:guide id="3" pos="24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557948855"/>
      </p:ext>
    </p:extLst>
  </p:cSld>
  <p:clrMapOvr>
    <a:masterClrMapping/>
  </p:clrMapOvr>
  <p:hf hdr="0" dt="0"/>
  <p:extLst>
    <p:ext uri="{DCECCB84-F9BA-43D5-87BE-67443E8EF086}">
      <p15:sldGuideLst xmlns:p15="http://schemas.microsoft.com/office/powerpoint/2012/main">
        <p15:guide id="1" orient="horz" pos="2160" userDrawn="1">
          <p15:clr>
            <a:srgbClr val="FBAE40"/>
          </p15:clr>
        </p15:guide>
        <p15:guide id="2" pos="6515" userDrawn="1">
          <p15:clr>
            <a:srgbClr val="FBAE40"/>
          </p15:clr>
        </p15:guide>
        <p15:guide id="3" pos="245"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p:nvSpPr>
        <p:spPr>
          <a:xfrm>
            <a:off x="0" y="0"/>
            <a:ext cx="1579278" cy="241476"/>
          </a:xfrm>
          <a:prstGeom prst="rect">
            <a:avLst/>
          </a:prstGeom>
        </p:spPr>
        <p:txBody>
          <a:bodyPr wrap="none">
            <a:spAutoFit/>
          </a:bodyPr>
          <a:lstStyle/>
          <a:p>
            <a:r>
              <a:rPr lang="en-US" altLang="ja-JP" sz="969" i="0">
                <a:latin typeface="+mj-ea"/>
                <a:ea typeface="+mj-ea"/>
              </a:rPr>
              <a:t>Ⅲ</a:t>
            </a:r>
            <a:r>
              <a:rPr lang="ja-JP" altLang="en-US" sz="969"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469767805"/>
      </p:ext>
    </p:extLst>
  </p:cSld>
  <p:clrMapOvr>
    <a:masterClrMapping/>
  </p:clrMapOvr>
  <p:hf hdr="0" dt="0"/>
  <p:extLst>
    <p:ext uri="{DCECCB84-F9BA-43D5-87BE-67443E8EF086}">
      <p15:sldGuideLst xmlns:p15="http://schemas.microsoft.com/office/powerpoint/2012/main">
        <p15:guide id="1" orient="horz" pos="2160" userDrawn="1">
          <p15:clr>
            <a:srgbClr val="FBAE40"/>
          </p15:clr>
        </p15:guide>
        <p15:guide id="2" pos="244" userDrawn="1">
          <p15:clr>
            <a:srgbClr val="FBAE40"/>
          </p15:clr>
        </p15:guide>
        <p15:guide id="3" pos="651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416700677"/>
      </p:ext>
    </p:extLst>
  </p:cSld>
  <p:clrMapOvr>
    <a:masterClrMapping/>
  </p:clrMapOvr>
  <p:hf hdr="0" dt="0"/>
  <p:extLst>
    <p:ext uri="{DCECCB84-F9BA-43D5-87BE-67443E8EF086}">
      <p15:sldGuideLst xmlns:p15="http://schemas.microsoft.com/office/powerpoint/2012/main">
        <p15:guide id="1" orient="horz" pos="2160" userDrawn="1">
          <p15:clr>
            <a:srgbClr val="FBAE40"/>
          </p15:clr>
        </p15:guide>
        <p15:guide id="2" pos="246" userDrawn="1">
          <p15:clr>
            <a:srgbClr val="FBAE40"/>
          </p15:clr>
        </p15:guide>
        <p15:guide id="3" pos="651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916583156"/>
      </p:ext>
    </p:extLst>
  </p:cSld>
  <p:clrMapOvr>
    <a:masterClrMapping/>
  </p:clrMapOvr>
  <p:hf hdr="0" dt="0"/>
  <p:extLst>
    <p:ext uri="{DCECCB84-F9BA-43D5-87BE-67443E8EF086}">
      <p15:sldGuideLst xmlns:p15="http://schemas.microsoft.com/office/powerpoint/2012/main">
        <p15:guide id="1" orient="horz" pos="2160" userDrawn="1">
          <p15:clr>
            <a:srgbClr val="FBAE40"/>
          </p15:clr>
        </p15:guide>
        <p15:guide id="2" pos="246" userDrawn="1">
          <p15:clr>
            <a:srgbClr val="FBAE40"/>
          </p15:clr>
        </p15:guide>
        <p15:guide id="3" pos="651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375698"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a:t>
            </a:r>
            <a:r>
              <a:rPr lang="en-US" altLang="ja-JP" sz="969" i="0">
                <a:latin typeface="+mj-ea"/>
                <a:ea typeface="+mj-ea"/>
              </a:rPr>
              <a:t>(</a:t>
            </a:r>
            <a:r>
              <a:rPr lang="ja-JP" altLang="en-US" sz="969" i="0">
                <a:latin typeface="+mj-ea"/>
                <a:ea typeface="+mj-ea"/>
              </a:rPr>
              <a:t>案</a:t>
            </a:r>
            <a:r>
              <a:rPr lang="en-US" altLang="ja-JP" sz="969" i="0">
                <a:latin typeface="+mj-ea"/>
                <a:ea typeface="+mj-ea"/>
              </a:rPr>
              <a:t>)</a:t>
            </a:r>
            <a:endParaRPr lang="ja-JP" altLang="en-US" sz="969" i="0">
              <a:latin typeface="+mj-ea"/>
              <a:ea typeface="+mj-ea"/>
            </a:endParaRP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854568662"/>
      </p:ext>
    </p:extLst>
  </p:cSld>
  <p:clrMapOvr>
    <a:masterClrMapping/>
  </p:clrMapOvr>
  <p:hf hdr="0" dt="0"/>
  <p:extLst>
    <p:ext uri="{DCECCB84-F9BA-43D5-87BE-67443E8EF086}">
      <p15:sldGuideLst xmlns:p15="http://schemas.microsoft.com/office/powerpoint/2012/main">
        <p15:guide id="1" orient="horz" pos="2160" userDrawn="1">
          <p15:clr>
            <a:srgbClr val="FBAE40"/>
          </p15:clr>
        </p15:guide>
        <p15:guide id="2" pos="244" userDrawn="1">
          <p15:clr>
            <a:srgbClr val="FBAE40"/>
          </p15:clr>
        </p15:guide>
        <p15:guide id="3" pos="651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p:nvSpPr>
        <p:spPr>
          <a:xfrm>
            <a:off x="0" y="0"/>
            <a:ext cx="1375698" cy="241476"/>
          </a:xfrm>
          <a:prstGeom prst="rect">
            <a:avLst/>
          </a:prstGeom>
        </p:spPr>
        <p:txBody>
          <a:bodyPr wrap="none">
            <a:spAutoFit/>
          </a:bodyPr>
          <a:lstStyle/>
          <a:p>
            <a:r>
              <a:rPr lang="en-US" altLang="ja-JP" sz="969" i="0">
                <a:latin typeface="+mj-ea"/>
                <a:ea typeface="+mj-ea"/>
              </a:rPr>
              <a:t>Ⅶ</a:t>
            </a:r>
            <a:r>
              <a:rPr lang="ja-JP" altLang="en-US" sz="969" i="0">
                <a:latin typeface="+mj-ea"/>
                <a:ea typeface="+mj-ea"/>
              </a:rPr>
              <a:t>章　技術解説書</a:t>
            </a:r>
            <a:r>
              <a:rPr lang="en-US" altLang="ja-JP" sz="969" i="0">
                <a:latin typeface="+mj-ea"/>
                <a:ea typeface="+mj-ea"/>
              </a:rPr>
              <a:t>(</a:t>
            </a:r>
            <a:r>
              <a:rPr lang="ja-JP" altLang="en-US" sz="969" i="0">
                <a:latin typeface="+mj-ea"/>
                <a:ea typeface="+mj-ea"/>
              </a:rPr>
              <a:t>案</a:t>
            </a:r>
            <a:r>
              <a:rPr lang="en-US" altLang="ja-JP" sz="969" i="0">
                <a:latin typeface="+mj-ea"/>
                <a:ea typeface="+mj-ea"/>
              </a:rPr>
              <a:t>)</a:t>
            </a:r>
            <a:endParaRPr lang="ja-JP" altLang="en-US" sz="969" i="0">
              <a:latin typeface="+mj-ea"/>
              <a:ea typeface="+mj-ea"/>
            </a:endParaRP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604074224"/>
      </p:ext>
    </p:extLst>
  </p:cSld>
  <p:clrMapOvr>
    <a:masterClrMapping/>
  </p:clrMapOvr>
  <p:hf hdr="0" dt="0"/>
  <p:extLst>
    <p:ext uri="{DCECCB84-F9BA-43D5-87BE-67443E8EF086}">
      <p15:sldGuideLst xmlns:p15="http://schemas.microsoft.com/office/powerpoint/2012/main">
        <p15:guide id="1" orient="horz" pos="2160" userDrawn="1">
          <p15:clr>
            <a:srgbClr val="FBAE40"/>
          </p15:clr>
        </p15:guide>
        <p15:guide id="2" pos="244" userDrawn="1">
          <p15:clr>
            <a:srgbClr val="FBAE40"/>
          </p15:clr>
        </p15:guide>
        <p15:guide id="3" pos="651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154468410"/>
      </p:ext>
    </p:extLst>
  </p:cSld>
  <p:clrMapOvr>
    <a:masterClrMapping/>
  </p:clrMapOvr>
  <p:hf hdr="0" dt="0"/>
  <p:extLst>
    <p:ext uri="{DCECCB84-F9BA-43D5-87BE-67443E8EF086}">
      <p15:sldGuideLst xmlns:p15="http://schemas.microsoft.com/office/powerpoint/2012/main">
        <p15:guide id="1" orient="horz" pos="2160" userDrawn="1">
          <p15:clr>
            <a:srgbClr val="FBAE40"/>
          </p15:clr>
        </p15:guide>
        <p15:guide id="2" pos="6516" userDrawn="1">
          <p15:clr>
            <a:srgbClr val="FBAE40"/>
          </p15:clr>
        </p15:guide>
        <p15:guide id="3" pos="244"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表紙2">
    <p:spTree>
      <p:nvGrpSpPr>
        <p:cNvPr id="1" name=""/>
        <p:cNvGrpSpPr/>
        <p:nvPr/>
      </p:nvGrpSpPr>
      <p:grpSpPr>
        <a:xfrm>
          <a:off x="0" y="0"/>
          <a:ext cx="0" cy="0"/>
          <a:chOff x="0" y="0"/>
          <a:chExt cx="0" cy="0"/>
        </a:xfrm>
      </p:grpSpPr>
      <p:sp>
        <p:nvSpPr>
          <p:cNvPr id="8" name="テキスト プレースホルダー 14">
            <a:extLst>
              <a:ext uri="{FF2B5EF4-FFF2-40B4-BE49-F238E27FC236}">
                <a16:creationId xmlns:a16="http://schemas.microsoft.com/office/drawing/2014/main" id="{61738D56-6561-1C48-AB89-C7F65FB15878}"/>
              </a:ext>
            </a:extLst>
          </p:cNvPr>
          <p:cNvSpPr>
            <a:spLocks noGrp="1"/>
          </p:cNvSpPr>
          <p:nvPr>
            <p:ph type="body" sz="quarter" idx="12"/>
          </p:nvPr>
        </p:nvSpPr>
        <p:spPr>
          <a:xfrm>
            <a:off x="2362200" y="4042661"/>
            <a:ext cx="7534810" cy="370807"/>
          </a:xfrm>
        </p:spPr>
        <p:txBody>
          <a:bodyPr wrap="square" lIns="288000">
            <a:spAutoFit/>
          </a:bodyPr>
          <a:lstStyle>
            <a:lvl1pPr marL="0" indent="0">
              <a:spcAft>
                <a:spcPts val="369"/>
              </a:spcAft>
              <a:buNone/>
              <a:defRPr lang="ja-JP" altLang="en-US" sz="1477" spc="138" smtClean="0">
                <a:solidFill>
                  <a:schemeClr val="tx1"/>
                </a:solidFill>
              </a:defRPr>
            </a:lvl1pPr>
            <a:lvl2pPr marL="211021" indent="0">
              <a:spcAft>
                <a:spcPts val="369"/>
              </a:spcAft>
              <a:buNone/>
              <a:defRPr lang="ja-JP" altLang="en-US" sz="1477" smtClean="0">
                <a:solidFill>
                  <a:schemeClr val="tx1"/>
                </a:solidFill>
                <a:latin typeface="+mn-lt"/>
                <a:ea typeface="+mn-ea"/>
              </a:defRPr>
            </a:lvl2pPr>
            <a:lvl3pPr marL="633062" indent="0">
              <a:spcAft>
                <a:spcPts val="369"/>
              </a:spcAft>
              <a:buNone/>
              <a:defRPr lang="ja-JP" altLang="en-US" sz="1477" smtClean="0">
                <a:solidFill>
                  <a:schemeClr val="tx1"/>
                </a:solidFill>
                <a:latin typeface="+mn-lt"/>
                <a:ea typeface="+mn-ea"/>
              </a:defRPr>
            </a:lvl3pPr>
            <a:lvl4pPr marL="1055103" indent="0">
              <a:spcAft>
                <a:spcPts val="369"/>
              </a:spcAft>
              <a:buNone/>
              <a:defRPr lang="ja-JP" altLang="en-US" sz="1477" smtClean="0">
                <a:solidFill>
                  <a:schemeClr val="tx1"/>
                </a:solidFill>
                <a:latin typeface="+mn-lt"/>
                <a:ea typeface="+mn-ea"/>
              </a:defRPr>
            </a:lvl4pPr>
            <a:lvl5pPr marL="1477145" indent="0">
              <a:spcAft>
                <a:spcPts val="369"/>
              </a:spcAft>
              <a:buNone/>
              <a:defRPr lang="ja-JP" altLang="en-US" sz="1477">
                <a:solidFill>
                  <a:schemeClr val="tx1"/>
                </a:solidFill>
                <a:latin typeface="+mn-lt"/>
                <a:ea typeface="+mn-ea"/>
              </a:defRPr>
            </a:lvl5pPr>
          </a:lstStyle>
          <a:p>
            <a:pPr marL="0" lvl="0" defTabSz="422041"/>
            <a:r>
              <a:rPr kumimoji="1" lang="ja-JP" altLang="en-US"/>
              <a:t>マスター テキストの書式設定</a:t>
            </a:r>
          </a:p>
        </p:txBody>
      </p:sp>
      <p:sp>
        <p:nvSpPr>
          <p:cNvPr id="14" name="Footer Placeholder 2">
            <a:extLst>
              <a:ext uri="{FF2B5EF4-FFF2-40B4-BE49-F238E27FC236}">
                <a16:creationId xmlns:a16="http://schemas.microsoft.com/office/drawing/2014/main" id="{00B915E3-9721-E14D-9069-1E3398AC9B47}"/>
              </a:ext>
            </a:extLst>
          </p:cNvPr>
          <p:cNvSpPr>
            <a:spLocks noGrp="1"/>
          </p:cNvSpPr>
          <p:nvPr>
            <p:ph type="ftr" sz="quarter" idx="11"/>
          </p:nvPr>
        </p:nvSpPr>
        <p:spPr>
          <a:xfrm>
            <a:off x="4450710" y="6379367"/>
            <a:ext cx="3757975" cy="263263"/>
          </a:xfrm>
        </p:spPr>
        <p:txBody>
          <a:bodyPr/>
          <a:lstStyle/>
          <a:p>
            <a:pPr>
              <a:defRPr/>
            </a:pPr>
            <a:r>
              <a:rPr lang="en-AU"/>
              <a:t>Copyright © 272</a:t>
            </a:r>
            <a:r>
              <a:rPr lang="en-US" altLang="ja-JP"/>
              <a:t>2</a:t>
            </a:r>
            <a:r>
              <a:rPr lang="en-AU"/>
              <a:t> Accenture All Rights Reserved.</a:t>
            </a:r>
          </a:p>
        </p:txBody>
      </p:sp>
      <p:sp>
        <p:nvSpPr>
          <p:cNvPr id="15" name="タイトル 17">
            <a:extLst>
              <a:ext uri="{FF2B5EF4-FFF2-40B4-BE49-F238E27FC236}">
                <a16:creationId xmlns:a16="http://schemas.microsoft.com/office/drawing/2014/main" id="{74E58C1A-9531-3C45-9E29-C7A0D7F2876F}"/>
              </a:ext>
            </a:extLst>
          </p:cNvPr>
          <p:cNvSpPr>
            <a:spLocks noGrp="1"/>
          </p:cNvSpPr>
          <p:nvPr>
            <p:ph type="title"/>
          </p:nvPr>
        </p:nvSpPr>
        <p:spPr>
          <a:xfrm>
            <a:off x="2362200" y="1447802"/>
            <a:ext cx="7534810" cy="2304191"/>
          </a:xfrm>
        </p:spPr>
        <p:txBody>
          <a:bodyPr lIns="288000" tIns="180000" rIns="360000" bIns="72000" anchor="b"/>
          <a:lstStyle>
            <a:lvl1pPr>
              <a:defRPr sz="2215">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1099752517"/>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アジェンダ">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5DC67AB3-4EF6-29EA-F9FE-CA7E125529D3}"/>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00" b="1">
                <a:solidFill>
                  <a:srgbClr val="17375E"/>
                </a:solidFill>
                <a:latin typeface="+mj-ea"/>
                <a:ea typeface="+mj-ea"/>
              </a:defRPr>
            </a:lvl1pPr>
          </a:lstStyle>
          <a:p>
            <a:r>
              <a:rPr lang="ja-JP" altLang="en-US"/>
              <a:t>マスター タイトルの書式設定</a:t>
            </a:r>
          </a:p>
        </p:txBody>
      </p:sp>
      <p:sp>
        <p:nvSpPr>
          <p:cNvPr id="12" name="テキスト プレースホルダー 11">
            <a:extLst>
              <a:ext uri="{FF2B5EF4-FFF2-40B4-BE49-F238E27FC236}">
                <a16:creationId xmlns:a16="http://schemas.microsoft.com/office/drawing/2014/main" id="{91B12CBA-77B6-1522-2BEA-9FED5DFB4833}"/>
              </a:ext>
            </a:extLst>
          </p:cNvPr>
          <p:cNvSpPr>
            <a:spLocks noGrp="1"/>
          </p:cNvSpPr>
          <p:nvPr>
            <p:ph type="body" sz="quarter" idx="10"/>
          </p:nvPr>
        </p:nvSpPr>
        <p:spPr>
          <a:xfrm>
            <a:off x="507341" y="774374"/>
            <a:ext cx="8891323" cy="4598842"/>
          </a:xfrm>
          <a:prstGeom prst="rect">
            <a:avLst/>
          </a:prstGeom>
        </p:spPr>
        <p:txBody>
          <a:bodyPr lIns="36000" tIns="36000" rIns="36000" bIns="36000" anchor="ctr">
            <a:noAutofit/>
          </a:bodyPr>
          <a:lstStyle>
            <a:lvl1pPr marL="316531" indent="-316531" algn="l">
              <a:buFont typeface="+mj-lt"/>
              <a:buAutoNum type="arabicPeriod"/>
              <a:defRPr sz="1477"/>
            </a:lvl1pPr>
            <a:lvl2pPr marL="724982" indent="-316531" algn="l">
              <a:buFont typeface="+mj-lt"/>
              <a:buAutoNum type="alphaLcPeriod"/>
              <a:defRPr sz="1477"/>
            </a:lvl2pPr>
            <a:lvl3pPr marL="1183483" indent="-369286" algn="l">
              <a:buFont typeface="+mj-lt"/>
              <a:buAutoNum type="romanLcPeriod"/>
              <a:defRPr sz="1477"/>
            </a:lvl3pPr>
            <a:lvl4pPr algn="l">
              <a:defRPr sz="1477"/>
            </a:lvl4pPr>
            <a:lvl5pPr algn="l">
              <a:defRPr sz="1477"/>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userDrawn="1"/>
        </p:nvCxnSpPr>
        <p:spPr>
          <a:xfrm>
            <a:off x="507000" y="701780"/>
            <a:ext cx="8892000" cy="0"/>
          </a:xfrm>
          <a:prstGeom prst="line">
            <a:avLst/>
          </a:prstGeom>
          <a:noFill/>
          <a:ln w="12700" cap="flat" cmpd="sng" algn="ctr">
            <a:solidFill>
              <a:srgbClr val="008899"/>
            </a:solidFill>
            <a:prstDash val="solid"/>
          </a:ln>
          <a:effectLst/>
        </p:spPr>
      </p:cxnSp>
      <p:sp>
        <p:nvSpPr>
          <p:cNvPr id="20" name="Slide Number Placeholder 5">
            <a:extLst>
              <a:ext uri="{FF2B5EF4-FFF2-40B4-BE49-F238E27FC236}">
                <a16:creationId xmlns:a16="http://schemas.microsoft.com/office/drawing/2014/main" id="{5FAB5873-FF1D-4113-8282-0EA44741E4D1}"/>
              </a:ext>
            </a:extLst>
          </p:cNvPr>
          <p:cNvSpPr txBox="1">
            <a:spLocks/>
          </p:cNvSpPr>
          <p:nvPr userDrawn="1"/>
        </p:nvSpPr>
        <p:spPr>
          <a:xfrm>
            <a:off x="9271620" y="6521052"/>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7917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779173" rtl="0" eaLnBrk="1" fontAlgn="auto" latinLnBrk="0" hangingPunct="1">
                <a:lnSpc>
                  <a:spcPct val="100000"/>
                </a:lnSpc>
                <a:spcBef>
                  <a:spcPts val="0"/>
                </a:spcBef>
                <a:spcAft>
                  <a:spcPts val="0"/>
                </a:spcAft>
                <a:buClrTx/>
                <a:buSzTx/>
                <a:buFontTx/>
                <a:buNone/>
                <a:tabLst/>
                <a:defRPr/>
              </a:pPr>
              <a:t>‹#›</a:t>
            </a:fld>
            <a:endParaRPr kumimoji="0" lang="en-GB" sz="767" b="0" i="0" u="none" strike="noStrike" kern="1200" cap="none" spc="0" normalizeH="0" baseline="0" noProof="0">
              <a:ln>
                <a:noFill/>
              </a:ln>
              <a:solidFill>
                <a:schemeClr val="tx1">
                  <a:alpha val="50000"/>
                </a:schemeClr>
              </a:solidFill>
              <a:effectLst/>
              <a:uLnTx/>
              <a:uFillTx/>
              <a:latin typeface="+mn-ea"/>
              <a:ea typeface="+mn-ea"/>
              <a:cs typeface="+mn-cs"/>
            </a:endParaRPr>
          </a:p>
        </p:txBody>
      </p:sp>
    </p:spTree>
    <p:extLst>
      <p:ext uri="{BB962C8B-B14F-4D97-AF65-F5344CB8AC3E}">
        <p14:creationId xmlns:p14="http://schemas.microsoft.com/office/powerpoint/2010/main" val="1527485040"/>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00"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292">
                <a:latin typeface="+mj-ea"/>
                <a:ea typeface="+mj-ea"/>
              </a:defRPr>
            </a:lvl1pPr>
          </a:lstStyle>
          <a:p>
            <a:pPr marL="0" marR="0" lvl="0" indent="0" algn="l" defTabSz="844083"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cxnSp>
        <p:nvCxnSpPr>
          <p:cNvPr id="2" name="Straight Connector 7">
            <a:extLst>
              <a:ext uri="{FF2B5EF4-FFF2-40B4-BE49-F238E27FC236}">
                <a16:creationId xmlns:a16="http://schemas.microsoft.com/office/drawing/2014/main" id="{7FA05EB4-20AC-B2D1-71C2-E79143DA22D0}"/>
              </a:ext>
            </a:extLst>
          </p:cNvPr>
          <p:cNvCxnSpPr>
            <a:cxnSpLocks/>
          </p:cNvCxnSpPr>
          <p:nvPr userDrawn="1"/>
        </p:nvCxnSpPr>
        <p:spPr>
          <a:xfrm>
            <a:off x="507000" y="701780"/>
            <a:ext cx="8892000" cy="0"/>
          </a:xfrm>
          <a:prstGeom prst="line">
            <a:avLst/>
          </a:prstGeom>
          <a:noFill/>
          <a:ln w="12700" cap="flat" cmpd="sng" algn="ctr">
            <a:solidFill>
              <a:srgbClr val="008899"/>
            </a:solidFill>
            <a:prstDash val="solid"/>
          </a:ln>
          <a:effectLst/>
        </p:spPr>
      </p:cxnSp>
      <p:sp>
        <p:nvSpPr>
          <p:cNvPr id="3" name="Slide Number Placeholder 5">
            <a:extLst>
              <a:ext uri="{FF2B5EF4-FFF2-40B4-BE49-F238E27FC236}">
                <a16:creationId xmlns:a16="http://schemas.microsoft.com/office/drawing/2014/main" id="{135658B0-A9E9-DF8A-17F0-0F7ADD620E31}"/>
              </a:ext>
            </a:extLst>
          </p:cNvPr>
          <p:cNvSpPr txBox="1">
            <a:spLocks/>
          </p:cNvSpPr>
          <p:nvPr userDrawn="1"/>
        </p:nvSpPr>
        <p:spPr>
          <a:xfrm>
            <a:off x="9271620" y="6529844"/>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7917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779173" rtl="0" eaLnBrk="1" fontAlgn="auto" latinLnBrk="0" hangingPunct="1">
                <a:lnSpc>
                  <a:spcPct val="100000"/>
                </a:lnSpc>
                <a:spcBef>
                  <a:spcPts val="0"/>
                </a:spcBef>
                <a:spcAft>
                  <a:spcPts val="0"/>
                </a:spcAft>
                <a:buClrTx/>
                <a:buSzTx/>
                <a:buFontTx/>
                <a:buNone/>
                <a:tabLst/>
                <a:defRPr/>
              </a:pPr>
              <a:t>‹#›</a:t>
            </a:fld>
            <a:endParaRPr kumimoji="0" lang="en-GB" sz="767" b="0" i="0" u="none" strike="noStrike" kern="1200" cap="none" spc="0" normalizeH="0" baseline="0" noProof="0">
              <a:ln>
                <a:noFill/>
              </a:ln>
              <a:solidFill>
                <a:schemeClr val="tx1">
                  <a:alpha val="50000"/>
                </a:schemeClr>
              </a:solidFill>
              <a:effectLst/>
              <a:uLnTx/>
              <a:uFillTx/>
              <a:latin typeface="+mn-ea"/>
              <a:ea typeface="+mn-ea"/>
              <a:cs typeface="+mn-cs"/>
            </a:endParaRPr>
          </a:p>
        </p:txBody>
      </p:sp>
    </p:spTree>
    <p:extLst>
      <p:ext uri="{BB962C8B-B14F-4D97-AF65-F5344CB8AC3E}">
        <p14:creationId xmlns:p14="http://schemas.microsoft.com/office/powerpoint/2010/main" val="333478970"/>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sp>
        <p:nvSpPr>
          <p:cNvPr id="13" name="テキスト プレースホルダー 4">
            <a:extLst>
              <a:ext uri="{FF2B5EF4-FFF2-40B4-BE49-F238E27FC236}">
                <a16:creationId xmlns:a16="http://schemas.microsoft.com/office/drawing/2014/main" id="{860FD802-8011-34AF-495F-555F932B44B9}"/>
              </a:ext>
            </a:extLst>
          </p:cNvPr>
          <p:cNvSpPr>
            <a:spLocks noGrp="1"/>
          </p:cNvSpPr>
          <p:nvPr>
            <p:ph type="body" sz="quarter" idx="4294967295"/>
          </p:nvPr>
        </p:nvSpPr>
        <p:spPr>
          <a:xfrm>
            <a:off x="506506" y="4149080"/>
            <a:ext cx="8892000" cy="720000"/>
          </a:xfrm>
        </p:spPr>
        <p:txBody>
          <a:bodyPr lIns="36000" tIns="36000" rIns="36000" bIns="36000">
            <a:noAutofit/>
          </a:bodyPr>
          <a:lstStyle>
            <a:lvl1pPr>
              <a:defRPr sz="1846"/>
            </a:lvl1pPr>
          </a:lstStyle>
          <a:p>
            <a:endParaRPr lang="ja-JP" altLang="en-US" sz="1662"/>
          </a:p>
        </p:txBody>
      </p:sp>
      <p:sp>
        <p:nvSpPr>
          <p:cNvPr id="16" name="テキスト プレースホルダー 4">
            <a:extLst>
              <a:ext uri="{FF2B5EF4-FFF2-40B4-BE49-F238E27FC236}">
                <a16:creationId xmlns:a16="http://schemas.microsoft.com/office/drawing/2014/main" id="{F2013EBA-49E0-1177-CA6D-448CC398F17A}"/>
              </a:ext>
            </a:extLst>
          </p:cNvPr>
          <p:cNvSpPr>
            <a:spLocks noGrp="1"/>
          </p:cNvSpPr>
          <p:nvPr>
            <p:ph type="body" sz="quarter" idx="4294967295" hasCustomPrompt="1"/>
          </p:nvPr>
        </p:nvSpPr>
        <p:spPr>
          <a:xfrm>
            <a:off x="6201139" y="5373313"/>
            <a:ext cx="3042338" cy="720000"/>
          </a:xfrm>
        </p:spPr>
        <p:txBody>
          <a:bodyPr lIns="36000" tIns="36000" rIns="36000" bIns="36000">
            <a:noAutofit/>
          </a:bodyPr>
          <a:lstStyle>
            <a:lvl1pPr>
              <a:defRPr sz="1846"/>
            </a:lvl1pPr>
          </a:lstStyle>
          <a:p>
            <a:r>
              <a:rPr lang="ja-JP" altLang="en-US" sz="1662"/>
              <a:t>資料作成日付、</a:t>
            </a:r>
            <a:br>
              <a:rPr lang="en-US" altLang="ja-JP" sz="1662"/>
            </a:br>
            <a:r>
              <a:rPr lang="ja-JP" altLang="en-US" sz="1662"/>
              <a:t>会社名を入力</a:t>
            </a:r>
          </a:p>
        </p:txBody>
      </p:sp>
      <p:sp>
        <p:nvSpPr>
          <p:cNvPr id="17" name="テキスト プレースホルダー 11">
            <a:extLst>
              <a:ext uri="{FF2B5EF4-FFF2-40B4-BE49-F238E27FC236}">
                <a16:creationId xmlns:a16="http://schemas.microsoft.com/office/drawing/2014/main" id="{F3428E60-F8EE-59DA-8B2F-81AD5D057A46}"/>
              </a:ext>
            </a:extLst>
          </p:cNvPr>
          <p:cNvSpPr>
            <a:spLocks noGrp="1"/>
          </p:cNvSpPr>
          <p:nvPr>
            <p:ph type="body" sz="quarter" idx="10" hasCustomPrompt="1"/>
          </p:nvPr>
        </p:nvSpPr>
        <p:spPr>
          <a:xfrm>
            <a:off x="507341" y="2708273"/>
            <a:ext cx="8891323" cy="864000"/>
          </a:xfrm>
          <a:prstGeom prst="rect">
            <a:avLst/>
          </a:prstGeom>
        </p:spPr>
        <p:txBody>
          <a:bodyPr lIns="36000" tIns="36000" rIns="36000" bIns="36000">
            <a:noAutofit/>
          </a:bodyPr>
          <a:lstStyle>
            <a:lvl1pPr>
              <a:defRPr sz="2215" b="1">
                <a:latin typeface="+mj-ea"/>
                <a:ea typeface="+mj-ea"/>
              </a:defRPr>
            </a:lvl1pPr>
            <a:lvl2pPr>
              <a:defRPr sz="2215">
                <a:latin typeface="+mj-ea"/>
                <a:ea typeface="+mj-ea"/>
              </a:defRPr>
            </a:lvl2pPr>
            <a:lvl3pPr>
              <a:defRPr sz="2215">
                <a:latin typeface="+mj-ea"/>
                <a:ea typeface="+mj-ea"/>
              </a:defRPr>
            </a:lvl3pPr>
            <a:lvl4pPr>
              <a:defRPr sz="2215">
                <a:latin typeface="+mj-ea"/>
                <a:ea typeface="+mj-ea"/>
              </a:defRPr>
            </a:lvl4pPr>
            <a:lvl5pPr>
              <a:defRPr sz="2215">
                <a:latin typeface="+mj-ea"/>
                <a:ea typeface="+mj-ea"/>
              </a:defRPr>
            </a:lvl5pPr>
          </a:lstStyle>
          <a:p>
            <a:pPr lvl="0"/>
            <a:r>
              <a:rPr kumimoji="1" lang="ja-JP" altLang="en-US"/>
              <a:t>ファイルタイトルを入力</a:t>
            </a:r>
          </a:p>
        </p:txBody>
      </p:sp>
      <p:sp>
        <p:nvSpPr>
          <p:cNvPr id="19" name="フッター プレースホルダー 30">
            <a:extLst>
              <a:ext uri="{FF2B5EF4-FFF2-40B4-BE49-F238E27FC236}">
                <a16:creationId xmlns:a16="http://schemas.microsoft.com/office/drawing/2014/main" id="{B4D97D15-DA45-B1F1-85D3-A756D8DC3E38}"/>
              </a:ext>
            </a:extLst>
          </p:cNvPr>
          <p:cNvSpPr>
            <a:spLocks noGrp="1"/>
          </p:cNvSpPr>
          <p:nvPr>
            <p:ph type="ftr" sz="quarter" idx="3"/>
          </p:nvPr>
        </p:nvSpPr>
        <p:spPr>
          <a:xfrm>
            <a:off x="5889459" y="6309320"/>
            <a:ext cx="3198000" cy="360000"/>
          </a:xfrm>
          <a:prstGeom prst="rect">
            <a:avLst/>
          </a:prstGeom>
        </p:spPr>
        <p:txBody>
          <a:bodyPr vert="horz" lIns="91440" tIns="45720" rIns="91440" bIns="45720" rtlCol="0" anchor="ctr"/>
          <a:lstStyle>
            <a:lvl1pPr algn="ctr">
              <a:defRPr sz="831">
                <a:solidFill>
                  <a:schemeClr val="tx1"/>
                </a:solidFill>
                <a:latin typeface="+mj-ea"/>
                <a:ea typeface="+mj-ea"/>
              </a:defRPr>
            </a:lvl1pPr>
          </a:lstStyle>
          <a:p>
            <a:r>
              <a:rPr lang="en-US" altLang="ja-JP"/>
              <a:t>Copyright © 2723 Accenture All Rights Reserved.</a:t>
            </a:r>
            <a:endParaRPr lang="ja-JP" altLang="en-US"/>
          </a:p>
        </p:txBody>
      </p:sp>
    </p:spTree>
    <p:extLst>
      <p:ext uri="{BB962C8B-B14F-4D97-AF65-F5344CB8AC3E}">
        <p14:creationId xmlns:p14="http://schemas.microsoft.com/office/powerpoint/2010/main" val="6082088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EOL">
    <p:bg>
      <p:bgPr>
        <a:solidFill>
          <a:srgbClr val="CBDDF5"/>
        </a:solidFill>
        <a:effectLst/>
      </p:bgPr>
    </p:bg>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6961E19B-A07D-8306-F59B-FF89AF5CCDF8}"/>
              </a:ext>
            </a:extLst>
          </p:cNvPr>
          <p:cNvSpPr/>
          <p:nvPr/>
        </p:nvSpPr>
        <p:spPr>
          <a:xfrm>
            <a:off x="110151" y="692699"/>
            <a:ext cx="9795849" cy="624689"/>
          </a:xfrm>
          <a:prstGeom prst="rect">
            <a:avLst/>
          </a:prstGeom>
          <a:solidFill>
            <a:srgbClr val="CBDDF5"/>
          </a:solidFill>
        </p:spPr>
        <p:txBody>
          <a:bodyPr wrap="none" lIns="30675" tIns="30675" rIns="30675" bIns="30675" rtlCol="0" anchor="ctr">
            <a:noAutofit/>
          </a:bodyPr>
          <a:lstStyle/>
          <a:p>
            <a:pPr algn="l"/>
            <a:endParaRPr kumimoji="1" lang="ja-JP" altLang="en-US" sz="1534"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3" y="4"/>
            <a:ext cx="10076507" cy="6953061"/>
          </a:xfrm>
          <a:prstGeom prst="rect">
            <a:avLst/>
          </a:prstGeom>
        </p:spPr>
        <p:txBody>
          <a:bodyPr wrap="none" lIns="30675" tIns="30675" rIns="30675" bIns="30675" rtlCol="0" anchor="ctr">
            <a:noAutofit/>
          </a:bodyPr>
          <a:lstStyle/>
          <a:p>
            <a:pPr algn="l"/>
            <a:endParaRPr kumimoji="1" lang="ja-JP" altLang="en-US" sz="1534" i="0">
              <a:latin typeface="+mn-ea"/>
              <a:ea typeface="+mn-ea"/>
              <a:cs typeface="Arial" charset="0"/>
            </a:endParaRPr>
          </a:p>
        </p:txBody>
      </p:sp>
      <p:sp>
        <p:nvSpPr>
          <p:cNvPr id="8" name="テキスト プレースホルダー 11">
            <a:extLst>
              <a:ext uri="{FF2B5EF4-FFF2-40B4-BE49-F238E27FC236}">
                <a16:creationId xmlns:a16="http://schemas.microsoft.com/office/drawing/2014/main" id="{E8A546FC-8BA3-143C-C33F-CA251DE07AA6}"/>
              </a:ext>
            </a:extLst>
          </p:cNvPr>
          <p:cNvSpPr>
            <a:spLocks noGrp="1"/>
          </p:cNvSpPr>
          <p:nvPr>
            <p:ph type="body" sz="quarter" idx="10" hasCustomPrompt="1"/>
          </p:nvPr>
        </p:nvSpPr>
        <p:spPr>
          <a:xfrm>
            <a:off x="507341" y="2708278"/>
            <a:ext cx="8891323" cy="720725"/>
          </a:xfrm>
          <a:prstGeom prst="rect">
            <a:avLst/>
          </a:prstGeom>
        </p:spPr>
        <p:txBody>
          <a:bodyPr lIns="36000" tIns="36000" rIns="36000" bIns="36000" anchor="ctr">
            <a:noAutofit/>
          </a:bodyPr>
          <a:lstStyle>
            <a:lvl1pPr algn="ctr">
              <a:defRPr sz="4431" b="1">
                <a:latin typeface="+mj-ea"/>
                <a:ea typeface="+mj-ea"/>
              </a:defRPr>
            </a:lvl1pPr>
            <a:lvl2pPr>
              <a:defRPr sz="2215">
                <a:latin typeface="+mj-ea"/>
                <a:ea typeface="+mj-ea"/>
              </a:defRPr>
            </a:lvl2pPr>
            <a:lvl3pPr>
              <a:defRPr sz="2215">
                <a:latin typeface="+mj-ea"/>
                <a:ea typeface="+mj-ea"/>
              </a:defRPr>
            </a:lvl3pPr>
            <a:lvl4pPr>
              <a:defRPr sz="2215">
                <a:latin typeface="+mj-ea"/>
                <a:ea typeface="+mj-ea"/>
              </a:defRPr>
            </a:lvl4pPr>
            <a:lvl5pPr>
              <a:defRPr sz="2215">
                <a:latin typeface="+mj-ea"/>
                <a:ea typeface="+mj-ea"/>
              </a:defRPr>
            </a:lvl5pPr>
          </a:lstStyle>
          <a:p>
            <a:pPr lvl="0"/>
            <a:r>
              <a:rPr kumimoji="1" lang="en-US" altLang="ja-JP"/>
              <a:t>EOF</a:t>
            </a:r>
          </a:p>
        </p:txBody>
      </p:sp>
    </p:spTree>
    <p:extLst>
      <p:ext uri="{BB962C8B-B14F-4D97-AF65-F5344CB8AC3E}">
        <p14:creationId xmlns:p14="http://schemas.microsoft.com/office/powerpoint/2010/main" val="1543847423"/>
      </p:ext>
    </p:extLst>
  </p:cSld>
  <p:clrMapOvr>
    <a:masterClrMapping/>
  </p:clrMapOvr>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152098680"/>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311155081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6695483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25500770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9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1962801656"/>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452712869"/>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6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218467872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sp>
        <p:nvSpPr>
          <p:cNvPr id="13" name="テキスト プレースホルダー 4">
            <a:extLst>
              <a:ext uri="{FF2B5EF4-FFF2-40B4-BE49-F238E27FC236}">
                <a16:creationId xmlns:a16="http://schemas.microsoft.com/office/drawing/2014/main" id="{860FD802-8011-34AF-495F-555F932B44B9}"/>
              </a:ext>
            </a:extLst>
          </p:cNvPr>
          <p:cNvSpPr>
            <a:spLocks noGrp="1"/>
          </p:cNvSpPr>
          <p:nvPr>
            <p:ph type="body" sz="quarter" idx="4294967295"/>
          </p:nvPr>
        </p:nvSpPr>
        <p:spPr>
          <a:xfrm>
            <a:off x="506506" y="4149080"/>
            <a:ext cx="8892000" cy="720000"/>
          </a:xfrm>
        </p:spPr>
        <p:txBody>
          <a:bodyPr lIns="36000" tIns="36000" rIns="36000" bIns="36000">
            <a:noAutofit/>
          </a:bodyPr>
          <a:lstStyle>
            <a:lvl1pPr>
              <a:defRPr sz="1625"/>
            </a:lvl1pPr>
          </a:lstStyle>
          <a:p>
            <a:endParaRPr lang="ja-JP" altLang="en-US" sz="1462"/>
          </a:p>
        </p:txBody>
      </p:sp>
      <p:sp>
        <p:nvSpPr>
          <p:cNvPr id="16" name="テキスト プレースホルダー 4">
            <a:extLst>
              <a:ext uri="{FF2B5EF4-FFF2-40B4-BE49-F238E27FC236}">
                <a16:creationId xmlns:a16="http://schemas.microsoft.com/office/drawing/2014/main" id="{F2013EBA-49E0-1177-CA6D-448CC398F17A}"/>
              </a:ext>
            </a:extLst>
          </p:cNvPr>
          <p:cNvSpPr>
            <a:spLocks noGrp="1"/>
          </p:cNvSpPr>
          <p:nvPr>
            <p:ph type="body" sz="quarter" idx="4294967295" hasCustomPrompt="1"/>
          </p:nvPr>
        </p:nvSpPr>
        <p:spPr>
          <a:xfrm>
            <a:off x="6201139" y="5373313"/>
            <a:ext cx="3042338" cy="720000"/>
          </a:xfrm>
        </p:spPr>
        <p:txBody>
          <a:bodyPr lIns="36000" tIns="36000" rIns="36000" bIns="36000">
            <a:noAutofit/>
          </a:bodyPr>
          <a:lstStyle>
            <a:lvl1pPr>
              <a:defRPr sz="1625"/>
            </a:lvl1pPr>
          </a:lstStyle>
          <a:p>
            <a:r>
              <a:rPr lang="ja-JP" altLang="en-US" sz="1462"/>
              <a:t>資料作成日付、</a:t>
            </a:r>
            <a:br>
              <a:rPr lang="en-US" altLang="ja-JP" sz="1462"/>
            </a:br>
            <a:r>
              <a:rPr lang="ja-JP" altLang="en-US" sz="1462"/>
              <a:t>会社名を入力</a:t>
            </a:r>
          </a:p>
        </p:txBody>
      </p:sp>
      <p:sp>
        <p:nvSpPr>
          <p:cNvPr id="17" name="テキスト プレースホルダー 11">
            <a:extLst>
              <a:ext uri="{FF2B5EF4-FFF2-40B4-BE49-F238E27FC236}">
                <a16:creationId xmlns:a16="http://schemas.microsoft.com/office/drawing/2014/main" id="{F3428E60-F8EE-59DA-8B2F-81AD5D057A46}"/>
              </a:ext>
            </a:extLst>
          </p:cNvPr>
          <p:cNvSpPr>
            <a:spLocks noGrp="1"/>
          </p:cNvSpPr>
          <p:nvPr>
            <p:ph type="body" sz="quarter" idx="10" hasCustomPrompt="1"/>
          </p:nvPr>
        </p:nvSpPr>
        <p:spPr>
          <a:xfrm>
            <a:off x="507341" y="2708273"/>
            <a:ext cx="8891323" cy="864000"/>
          </a:xfrm>
          <a:prstGeom prst="rect">
            <a:avLst/>
          </a:prstGeom>
        </p:spPr>
        <p:txBody>
          <a:bodyPr lIns="36000" tIns="36000" rIns="36000" bIns="36000">
            <a:noAutofit/>
          </a:bodyPr>
          <a:lstStyle>
            <a:lvl1pPr>
              <a:defRPr sz="1950" b="1">
                <a:latin typeface="+mj-ea"/>
                <a:ea typeface="+mj-ea"/>
              </a:defRPr>
            </a:lvl1pPr>
            <a:lvl2pPr>
              <a:defRPr sz="1950">
                <a:latin typeface="+mj-ea"/>
                <a:ea typeface="+mj-ea"/>
              </a:defRPr>
            </a:lvl2pPr>
            <a:lvl3pPr>
              <a:defRPr sz="1950">
                <a:latin typeface="+mj-ea"/>
                <a:ea typeface="+mj-ea"/>
              </a:defRPr>
            </a:lvl3pPr>
            <a:lvl4pPr>
              <a:defRPr sz="1950">
                <a:latin typeface="+mj-ea"/>
                <a:ea typeface="+mj-ea"/>
              </a:defRPr>
            </a:lvl4pPr>
            <a:lvl5pPr>
              <a:defRPr sz="1950">
                <a:latin typeface="+mj-ea"/>
                <a:ea typeface="+mj-ea"/>
              </a:defRPr>
            </a:lvl5pPr>
          </a:lstStyle>
          <a:p>
            <a:pPr lvl="0"/>
            <a:r>
              <a:rPr kumimoji="1" lang="ja-JP" altLang="en-US"/>
              <a:t>ファイルタイトルを入力</a:t>
            </a:r>
          </a:p>
        </p:txBody>
      </p:sp>
    </p:spTree>
    <p:extLst>
      <p:ext uri="{BB962C8B-B14F-4D97-AF65-F5344CB8AC3E}">
        <p14:creationId xmlns:p14="http://schemas.microsoft.com/office/powerpoint/2010/main" val="2052261962"/>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1541525239"/>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979330782"/>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2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634213823"/>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1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46"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058373680"/>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9_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br>
              <a:rPr lang="en-US" altLang="ja-JP"/>
            </a:br>
            <a:r>
              <a:rPr lang="ja-JP" altLang="en-US"/>
              <a:t>マスタ タイトルの書式設定</a:t>
            </a:r>
          </a:p>
        </p:txBody>
      </p:sp>
      <p:sp>
        <p:nvSpPr>
          <p:cNvPr id="4" name="Rectangle 26"/>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0" indent="0" algn="l">
              <a:spcBef>
                <a:spcPts val="0"/>
              </a:spcBef>
              <a:buFontTx/>
              <a:buNone/>
              <a:defRPr sz="1400">
                <a:latin typeface="+mj-ea"/>
                <a:ea typeface="+mj-ea"/>
              </a:defRPr>
            </a:lvl1pPr>
            <a:lvl2pPr marL="479338" indent="0">
              <a:buFontTx/>
              <a:buNone/>
              <a:defRPr sz="1400">
                <a:latin typeface="+mn-ea"/>
                <a:ea typeface="+mn-ea"/>
              </a:defRPr>
            </a:lvl2pPr>
            <a:lvl3pPr marL="955503" indent="0">
              <a:buFontTx/>
              <a:buNone/>
              <a:defRPr sz="1400">
                <a:latin typeface="+mn-ea"/>
                <a:ea typeface="+mn-ea"/>
              </a:defRPr>
            </a:lvl3pPr>
          </a:lstStyle>
          <a:p>
            <a:pPr marL="0" marR="0" lvl="0" indent="0" algn="l" defTabSz="914400" rtl="0" eaLnBrk="0" fontAlgn="base" latinLnBrk="0" hangingPunct="0">
              <a:lnSpc>
                <a:spcPct val="100000"/>
              </a:lnSpc>
              <a:spcBef>
                <a:spcPct val="20000"/>
              </a:spcBef>
              <a:spcAft>
                <a:spcPct val="0"/>
              </a:spcAft>
              <a:buClrTx/>
              <a:buSzTx/>
              <a:buFontTx/>
              <a:buNone/>
              <a:tabLst/>
              <a:defRPr/>
            </a:pPr>
            <a:r>
              <a:rPr lang="en-US" altLang="ja-JP"/>
              <a:t>Click to edit Master text styles</a:t>
            </a:r>
          </a:p>
          <a:p>
            <a:pPr lvl="1"/>
            <a:endParaRPr lang="en-US" altLang="ja-JP"/>
          </a:p>
          <a:p>
            <a:pPr marL="0" marR="0" lvl="0" indent="0" algn="l" defTabSz="914400" rtl="0" eaLnBrk="0" fontAlgn="base" latinLnBrk="0" hangingPunct="0">
              <a:lnSpc>
                <a:spcPct val="100000"/>
              </a:lnSpc>
              <a:spcBef>
                <a:spcPts val="0"/>
              </a:spcBef>
              <a:spcAft>
                <a:spcPct val="0"/>
              </a:spcAft>
              <a:buClrTx/>
              <a:buSzTx/>
              <a:buFont typeface="+mj-lt"/>
              <a:buNone/>
              <a:tabLst/>
              <a:defRPr/>
            </a:pP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userDrawn="1"/>
        </p:nvCxnSpPr>
        <p:spPr>
          <a:xfrm>
            <a:off x="493582"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7150" y="6485691"/>
            <a:ext cx="2228850" cy="365125"/>
          </a:xfrm>
          <a:prstGeom prst="rect">
            <a:avLst/>
          </a:prstGeom>
        </p:spPr>
        <p:txBody>
          <a:bodyPr/>
          <a:lstStyle>
            <a:lvl1pPr>
              <a:defRPr sz="900" i="0">
                <a:latin typeface="+mn-ea"/>
                <a:ea typeface="+mn-ea"/>
              </a:defRPr>
            </a:lvl1pPr>
          </a:lstStyle>
          <a:p>
            <a:fld id="{22B2E2AD-30EA-4392-9E57-A05A6E6C41F4}" type="slidenum">
              <a:rPr lang="ja-JP" altLang="en-US" smtClean="0"/>
              <a:pPr/>
              <a:t>‹#›</a:t>
            </a:fld>
            <a:endParaRPr lang="ja-JP" altLang="en-US"/>
          </a:p>
        </p:txBody>
      </p:sp>
      <p:sp>
        <p:nvSpPr>
          <p:cNvPr id="7" name="Rectangle 26">
            <a:extLst>
              <a:ext uri="{FF2B5EF4-FFF2-40B4-BE49-F238E27FC236}">
                <a16:creationId xmlns:a16="http://schemas.microsoft.com/office/drawing/2014/main" id="{B68BBABA-2A80-FE9A-53CE-100FA3347CB2}"/>
              </a:ext>
            </a:extLst>
          </p:cNvPr>
          <p:cNvSpPr>
            <a:spLocks noGrp="1" noChangeArrowheads="1"/>
          </p:cNvSpPr>
          <p:nvPr>
            <p:ph idx="11" hasCustomPrompt="1"/>
          </p:nvPr>
        </p:nvSpPr>
        <p:spPr bwMode="auto">
          <a:xfrm>
            <a:off x="493582" y="1857985"/>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182563" indent="-182563" algn="l">
              <a:spcBef>
                <a:spcPts val="0"/>
              </a:spcBef>
              <a:buFont typeface="+mj-lt"/>
              <a:buAutoNum type="arabicPeriod"/>
              <a:defRPr sz="1000">
                <a:latin typeface="+mj-ea"/>
                <a:ea typeface="+mj-ea"/>
              </a:defRPr>
            </a:lvl1pPr>
            <a:lvl2pPr marL="193675" indent="-193675">
              <a:buFont typeface="Wingdings" panose="05000000000000000000" pitchFamily="2" charset="2"/>
              <a:buChar char="l"/>
              <a:defRPr sz="1000">
                <a:latin typeface="+mn-ea"/>
                <a:ea typeface="+mn-ea"/>
              </a:defRPr>
            </a:lvl2pPr>
            <a:lvl3pPr marL="355600" indent="-112713">
              <a:buFont typeface="Wingdings" panose="05000000000000000000" pitchFamily="2" charset="2"/>
              <a:buChar char="Ø"/>
              <a:tabLst>
                <a:tab pos="355600" algn="l"/>
              </a:tabLst>
              <a:defRPr sz="1000">
                <a:latin typeface="+mn-ea"/>
                <a:ea typeface="+mn-ea"/>
              </a:defRPr>
            </a:lvl3pPr>
          </a:lstStyle>
          <a:p>
            <a:pPr lvl="0"/>
            <a:r>
              <a:rPr lang="en-US" altLang="ja-JP" err="1"/>
              <a:t>Xx</a:t>
            </a:r>
            <a:endParaRPr lang="en-US" altLang="ja-JP"/>
          </a:p>
          <a:p>
            <a:pPr lvl="1"/>
            <a:r>
              <a:rPr lang="en-US" altLang="ja-JP" err="1"/>
              <a:t>Xx</a:t>
            </a:r>
            <a:endParaRPr lang="en-US" altLang="ja-JP"/>
          </a:p>
          <a:p>
            <a:pPr lvl="2"/>
            <a:r>
              <a:rPr lang="en-US" altLang="ja-JP" err="1"/>
              <a:t>Xx</a:t>
            </a:r>
            <a:endParaRPr lang="en-US" altLang="ja-JP"/>
          </a:p>
          <a:p>
            <a:pPr lvl="2"/>
            <a:endParaRPr lang="en-US" altLang="ja-JP"/>
          </a:p>
          <a:p>
            <a:pPr lvl="2"/>
            <a:endParaRPr lang="en-US" altLang="ja-JP"/>
          </a:p>
          <a:p>
            <a:pPr lvl="0"/>
            <a:endParaRPr lang="en-US" altLang="ja-JP"/>
          </a:p>
          <a:p>
            <a:pPr lvl="1"/>
            <a:endParaRPr lang="en-US" altLang="ja-JP"/>
          </a:p>
        </p:txBody>
      </p:sp>
    </p:spTree>
    <p:extLst>
      <p:ext uri="{BB962C8B-B14F-4D97-AF65-F5344CB8AC3E}">
        <p14:creationId xmlns:p14="http://schemas.microsoft.com/office/powerpoint/2010/main" val="4233718565"/>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13.xml"/><Relationship Id="rId7"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tags" Target="../tags/tag2.xml"/><Relationship Id="rId5" Type="http://schemas.openxmlformats.org/officeDocument/2006/relationships/theme" Target="../theme/theme2.xml"/><Relationship Id="rId4"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image" Target="../media/image2.emf"/><Relationship Id="rId2" Type="http://schemas.openxmlformats.org/officeDocument/2006/relationships/slideLayout" Target="../slideLayouts/slideLayout16.xml"/><Relationship Id="rId16" Type="http://schemas.openxmlformats.org/officeDocument/2006/relationships/oleObject" Target="../embeddings/oleObject3.bin"/><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ags" Target="../tags/tag3.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2ABBE49-1137-B4CA-DAA7-AB685E11DF74}"/>
              </a:ext>
            </a:extLst>
          </p:cNvPr>
          <p:cNvGraphicFramePr>
            <a:graphicFrameLocks noChangeAspect="1"/>
          </p:cNvGraphicFramePr>
          <p:nvPr userDrawn="1">
            <p:custDataLst>
              <p:tags r:id="rId12"/>
            </p:custDataLst>
            <p:extLst>
              <p:ext uri="{D42A27DB-BD31-4B8C-83A1-F6EECF244321}">
                <p14:modId xmlns:p14="http://schemas.microsoft.com/office/powerpoint/2010/main" val="1137111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3" imgW="405" imgH="405" progId="TCLayout.ActiveDocument.1">
                  <p:embed/>
                </p:oleObj>
              </mc:Choice>
              <mc:Fallback>
                <p:oleObj name="think-cellスライド" r:id="rId13" imgW="405" imgH="405" progId="TCLayout.ActiveDocument.1">
                  <p:embed/>
                  <p:pic>
                    <p:nvPicPr>
                      <p:cNvPr id="3" name="think-cell data - do not delete" hidden="1">
                        <a:extLst>
                          <a:ext uri="{FF2B5EF4-FFF2-40B4-BE49-F238E27FC236}">
                            <a16:creationId xmlns:a16="http://schemas.microsoft.com/office/drawing/2014/main" id="{92ABBE49-1137-B4CA-DAA7-AB685E11DF74}"/>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574907"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376518"/>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413558" y="-376518"/>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8"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p:nvSpPr>
        <p:spPr>
          <a:xfrm>
            <a:off x="-536528" y="1233656"/>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8" y="1628308"/>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8" y="2022960"/>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8" y="2417612"/>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6" tIns="42203" rIns="84406" bIns="42203" numCol="1" spcCol="0" rtlCol="0" fromWordArt="0" anchor="ctr" anchorCtr="0" forceAA="0" compatLnSpc="1">
            <a:prstTxWarp prst="textNoShape">
              <a:avLst/>
            </a:prstTxWarp>
            <a:noAutofit/>
          </a:bodyPr>
          <a:lstStyle/>
          <a:p>
            <a:pPr defTabSz="843987"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2"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Tree>
    <p:extLst>
      <p:ext uri="{BB962C8B-B14F-4D97-AF65-F5344CB8AC3E}">
        <p14:creationId xmlns:p14="http://schemas.microsoft.com/office/powerpoint/2010/main" val="1712580275"/>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Lst>
  <p:hf hd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10A1041-6996-42AC-1344-887B3FB8239E}"/>
              </a:ext>
            </a:extLst>
          </p:cNvPr>
          <p:cNvGraphicFramePr>
            <a:graphicFrameLocks noChangeAspect="1"/>
          </p:cNvGraphicFramePr>
          <p:nvPr userDrawn="1">
            <p:custDataLst>
              <p:tags r:id="rId6"/>
            </p:custDataLst>
            <p:extLst>
              <p:ext uri="{D42A27DB-BD31-4B8C-83A1-F6EECF244321}">
                <p14:modId xmlns:p14="http://schemas.microsoft.com/office/powerpoint/2010/main" val="17342085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7" imgW="405" imgH="405" progId="TCLayout.ActiveDocument.1">
                  <p:embed/>
                </p:oleObj>
              </mc:Choice>
              <mc:Fallback>
                <p:oleObj name="think-cellスライド" r:id="rId7" imgW="405" imgH="405" progId="TCLayout.ActiveDocument.1">
                  <p:embed/>
                  <p:pic>
                    <p:nvPicPr>
                      <p:cNvPr id="3" name="think-cell data - do not delete" hidden="1">
                        <a:extLst>
                          <a:ext uri="{FF2B5EF4-FFF2-40B4-BE49-F238E27FC236}">
                            <a16:creationId xmlns:a16="http://schemas.microsoft.com/office/drawing/2014/main" id="{F10A1041-6996-42AC-1344-887B3FB8239E}"/>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5" name="TextBox 8">
            <a:extLst>
              <a:ext uri="{FF2B5EF4-FFF2-40B4-BE49-F238E27FC236}">
                <a16:creationId xmlns:a16="http://schemas.microsoft.com/office/drawing/2014/main" id="{9A96C9F6-D9DC-44C1-B0C7-F7614BA17A05}"/>
              </a:ext>
            </a:extLst>
          </p:cNvPr>
          <p:cNvSpPr txBox="1"/>
          <p:nvPr/>
        </p:nvSpPr>
        <p:spPr>
          <a:xfrm>
            <a:off x="4323" y="-447501"/>
            <a:ext cx="579005" cy="328423"/>
          </a:xfrm>
          <a:prstGeom prst="rect">
            <a:avLst/>
          </a:prstGeom>
          <a:noFill/>
        </p:spPr>
        <p:txBody>
          <a:bodyPr wrap="none" rtlCol="0">
            <a:spAutoFit/>
          </a:bodyPr>
          <a:lstStyle/>
          <a:p>
            <a:r>
              <a:rPr kumimoji="1" lang="ja-JP" altLang="en-US" sz="1534"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9" y="-447501"/>
            <a:ext cx="579005" cy="328423"/>
          </a:xfrm>
          <a:prstGeom prst="rect">
            <a:avLst/>
          </a:prstGeom>
          <a:noFill/>
        </p:spPr>
        <p:txBody>
          <a:bodyPr wrap="none" rtlCol="0">
            <a:spAutoFit/>
          </a:bodyPr>
          <a:lstStyle/>
          <a:p>
            <a:r>
              <a:rPr kumimoji="1" lang="ja-JP" altLang="en-US" sz="1534"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a:cxnSpLocks/>
          </p:cNvCxnSpPr>
          <p:nvPr userDrawn="1"/>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a:cxnSpLocks/>
          </p:cNvCxnSpPr>
          <p:nvPr userDrawn="1"/>
        </p:nvCxnSpPr>
        <p:spPr bwMode="auto">
          <a:xfrm>
            <a:off x="9412426"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userDrawn="1"/>
        </p:nvSpPr>
        <p:spPr>
          <a:xfrm>
            <a:off x="4323" y="7012041"/>
            <a:ext cx="579005" cy="328423"/>
          </a:xfrm>
          <a:prstGeom prst="rect">
            <a:avLst/>
          </a:prstGeom>
          <a:noFill/>
        </p:spPr>
        <p:txBody>
          <a:bodyPr wrap="none" rtlCol="0">
            <a:spAutoFit/>
          </a:bodyPr>
          <a:lstStyle/>
          <a:p>
            <a:r>
              <a:rPr kumimoji="1" lang="ja-JP" altLang="en-US" sz="1534"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userDrawn="1"/>
        </p:nvSpPr>
        <p:spPr>
          <a:xfrm>
            <a:off x="9243479" y="7012041"/>
            <a:ext cx="579005" cy="328423"/>
          </a:xfrm>
          <a:prstGeom prst="rect">
            <a:avLst/>
          </a:prstGeom>
          <a:noFill/>
        </p:spPr>
        <p:txBody>
          <a:bodyPr wrap="none" rtlCol="0">
            <a:spAutoFit/>
          </a:bodyPr>
          <a:lstStyle/>
          <a:p>
            <a:r>
              <a:rPr kumimoji="1" lang="ja-JP" altLang="en-US" sz="1534"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a:cxnSpLocks/>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3"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704" i="0" kern="0"/>
          </a:p>
        </p:txBody>
      </p: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0"/>
            <a:ext cx="8892000"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704"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779084" eaLnBrk="1" fontAlgn="auto" latinLnBrk="0" hangingPunct="1">
                <a:lnSpc>
                  <a:spcPct val="100000"/>
                </a:lnSpc>
                <a:spcBef>
                  <a:spcPts val="0"/>
                </a:spcBef>
                <a:spcAft>
                  <a:spcPts val="0"/>
                </a:spcAft>
                <a:buClrTx/>
                <a:buSzTx/>
                <a:buFontTx/>
                <a:buNone/>
                <a:tabLst/>
                <a:defRPr/>
              </a:pPr>
              <a:endParaRPr kumimoji="0" lang="ja-JP" altLang="en-US" sz="1534" i="0" u="none" strike="noStrike" kern="0" cap="none" spc="0" normalizeH="0" baseline="0" noProof="0">
                <a:ln>
                  <a:noFill/>
                </a:ln>
                <a:solidFill>
                  <a:srgbClr val="000000"/>
                </a:solidFill>
                <a:effectLst/>
                <a:uLnTx/>
                <a:uFillTx/>
                <a:latin typeface="Meiryo UI"/>
                <a:ea typeface="Meiryo UI"/>
                <a:cs typeface="+mn-cs"/>
              </a:endParaRPr>
            </a:p>
          </p:txBody>
        </p:sp>
      </p:grpSp>
    </p:spTree>
    <p:extLst>
      <p:ext uri="{BB962C8B-B14F-4D97-AF65-F5344CB8AC3E}">
        <p14:creationId xmlns:p14="http://schemas.microsoft.com/office/powerpoint/2010/main" val="3214990734"/>
      </p:ext>
    </p:extLst>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Lst>
  <p:hf sldNum="0" hdr="0" dt="0"/>
  <p:txStyles>
    <p:titleStyle>
      <a:lvl1pPr algn="ctr" defTabSz="649194" rtl="0" eaLnBrk="1" fontAlgn="base" hangingPunct="1">
        <a:spcBef>
          <a:spcPct val="0"/>
        </a:spcBef>
        <a:spcAft>
          <a:spcPct val="0"/>
        </a:spcAft>
        <a:defRPr kumimoji="1" sz="1363">
          <a:solidFill>
            <a:schemeClr val="bg1"/>
          </a:solidFill>
          <a:latin typeface="+mj-ea"/>
          <a:ea typeface="+mj-ea"/>
          <a:cs typeface="+mj-cs"/>
        </a:defRPr>
      </a:lvl1pPr>
      <a:lvl2pPr algn="ctr" defTabSz="649194" rtl="0" eaLnBrk="1" fontAlgn="base" hangingPunct="1">
        <a:spcBef>
          <a:spcPct val="0"/>
        </a:spcBef>
        <a:spcAft>
          <a:spcPct val="0"/>
        </a:spcAft>
        <a:defRPr kumimoji="1" sz="1363">
          <a:solidFill>
            <a:schemeClr val="bg1"/>
          </a:solidFill>
          <a:latin typeface="Calibri" pitchFamily="34" charset="0"/>
          <a:ea typeface="ＭＳ Ｐゴシック" pitchFamily="50" charset="-128"/>
        </a:defRPr>
      </a:lvl2pPr>
      <a:lvl3pPr algn="ctr" defTabSz="649194" rtl="0" eaLnBrk="1" fontAlgn="base" hangingPunct="1">
        <a:spcBef>
          <a:spcPct val="0"/>
        </a:spcBef>
        <a:spcAft>
          <a:spcPct val="0"/>
        </a:spcAft>
        <a:defRPr kumimoji="1" sz="1363">
          <a:solidFill>
            <a:schemeClr val="bg1"/>
          </a:solidFill>
          <a:latin typeface="Calibri" pitchFamily="34" charset="0"/>
          <a:ea typeface="ＭＳ Ｐゴシック" pitchFamily="50" charset="-128"/>
        </a:defRPr>
      </a:lvl3pPr>
      <a:lvl4pPr algn="ctr" defTabSz="649194" rtl="0" eaLnBrk="1" fontAlgn="base" hangingPunct="1">
        <a:spcBef>
          <a:spcPct val="0"/>
        </a:spcBef>
        <a:spcAft>
          <a:spcPct val="0"/>
        </a:spcAft>
        <a:defRPr kumimoji="1" sz="1363">
          <a:solidFill>
            <a:schemeClr val="bg1"/>
          </a:solidFill>
          <a:latin typeface="Calibri" pitchFamily="34" charset="0"/>
          <a:ea typeface="ＭＳ Ｐゴシック" pitchFamily="50" charset="-128"/>
        </a:defRPr>
      </a:lvl4pPr>
      <a:lvl5pPr algn="ctr" defTabSz="649194" rtl="0" eaLnBrk="1" fontAlgn="base" hangingPunct="1">
        <a:spcBef>
          <a:spcPct val="0"/>
        </a:spcBef>
        <a:spcAft>
          <a:spcPct val="0"/>
        </a:spcAft>
        <a:defRPr kumimoji="1" sz="1363">
          <a:solidFill>
            <a:schemeClr val="bg1"/>
          </a:solidFill>
          <a:latin typeface="Calibri" pitchFamily="34" charset="0"/>
          <a:ea typeface="ＭＳ Ｐゴシック" pitchFamily="50" charset="-128"/>
        </a:defRPr>
      </a:lvl5pPr>
      <a:lvl6pPr marL="389516" algn="ctr" defTabSz="6491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779032" algn="ctr" defTabSz="6491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168549" algn="ctr" defTabSz="6491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558064" algn="ctr" defTabSz="6491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193">
          <a:solidFill>
            <a:schemeClr val="tx1"/>
          </a:solidFill>
          <a:latin typeface="+mj-ea"/>
          <a:ea typeface="+mj-ea"/>
          <a:cs typeface="+mn-cs"/>
        </a:defRPr>
      </a:lvl1pPr>
      <a:lvl2pPr marL="651899" indent="-243448" algn="l" rtl="0" eaLnBrk="1" fontAlgn="base" hangingPunct="1">
        <a:spcBef>
          <a:spcPct val="20000"/>
        </a:spcBef>
        <a:spcAft>
          <a:spcPct val="0"/>
        </a:spcAft>
        <a:buChar char="–"/>
        <a:defRPr kumimoji="1" sz="2386">
          <a:solidFill>
            <a:schemeClr val="tx1"/>
          </a:solidFill>
          <a:latin typeface="Times New Roman" pitchFamily="18" charset="0"/>
          <a:ea typeface="+mn-ea"/>
        </a:defRPr>
      </a:lvl2pPr>
      <a:lvl3pPr marL="1008956" indent="-194758" algn="l" rtl="0" eaLnBrk="1" fontAlgn="base" hangingPunct="1">
        <a:spcBef>
          <a:spcPct val="20000"/>
        </a:spcBef>
        <a:spcAft>
          <a:spcPct val="0"/>
        </a:spcAft>
        <a:buChar char="•"/>
        <a:defRPr kumimoji="1" sz="2045">
          <a:solidFill>
            <a:schemeClr val="tx1"/>
          </a:solidFill>
          <a:latin typeface="Times New Roman" pitchFamily="18" charset="0"/>
          <a:ea typeface="+mn-ea"/>
        </a:defRPr>
      </a:lvl3pPr>
      <a:lvl4pPr marL="1366012"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4pPr>
      <a:lvl5pPr marL="1752822" indent="-196111" algn="l" rtl="0" eaLnBrk="1" fontAlgn="base" hangingPunct="1">
        <a:spcBef>
          <a:spcPct val="20000"/>
        </a:spcBef>
        <a:spcAft>
          <a:spcPct val="0"/>
        </a:spcAft>
        <a:buChar char="»"/>
        <a:defRPr kumimoji="1" sz="1704">
          <a:solidFill>
            <a:schemeClr val="tx1"/>
          </a:solidFill>
          <a:latin typeface="Times New Roman" pitchFamily="18" charset="0"/>
          <a:ea typeface="+mn-ea"/>
        </a:defRPr>
      </a:lvl5pPr>
      <a:lvl6pPr marL="2142339"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6pPr>
      <a:lvl7pPr marL="2531855"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7pPr>
      <a:lvl8pPr marL="2921371"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8pPr>
      <a:lvl9pPr marL="3310886"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9pPr>
    </p:bodyStyle>
    <p:otherStyle>
      <a:defPPr>
        <a:defRPr lang="ja-JP"/>
      </a:defPPr>
      <a:lvl1pPr marL="0" algn="l" defTabSz="779032" rtl="0" eaLnBrk="1" latinLnBrk="0" hangingPunct="1">
        <a:defRPr kumimoji="1" sz="1534" kern="1200">
          <a:solidFill>
            <a:schemeClr val="tx1"/>
          </a:solidFill>
          <a:latin typeface="+mn-lt"/>
          <a:ea typeface="+mn-ea"/>
          <a:cs typeface="+mn-cs"/>
        </a:defRPr>
      </a:lvl1pPr>
      <a:lvl2pPr marL="389516" algn="l" defTabSz="779032" rtl="0" eaLnBrk="1" latinLnBrk="0" hangingPunct="1">
        <a:defRPr kumimoji="1" sz="1534" kern="1200">
          <a:solidFill>
            <a:schemeClr val="tx1"/>
          </a:solidFill>
          <a:latin typeface="+mn-lt"/>
          <a:ea typeface="+mn-ea"/>
          <a:cs typeface="+mn-cs"/>
        </a:defRPr>
      </a:lvl2pPr>
      <a:lvl3pPr marL="779032" algn="l" defTabSz="779032" rtl="0" eaLnBrk="1" latinLnBrk="0" hangingPunct="1">
        <a:defRPr kumimoji="1" sz="1534" kern="1200">
          <a:solidFill>
            <a:schemeClr val="tx1"/>
          </a:solidFill>
          <a:latin typeface="+mn-lt"/>
          <a:ea typeface="+mn-ea"/>
          <a:cs typeface="+mn-cs"/>
        </a:defRPr>
      </a:lvl3pPr>
      <a:lvl4pPr marL="1168549" algn="l" defTabSz="779032" rtl="0" eaLnBrk="1" latinLnBrk="0" hangingPunct="1">
        <a:defRPr kumimoji="1" sz="1534" kern="1200">
          <a:solidFill>
            <a:schemeClr val="tx1"/>
          </a:solidFill>
          <a:latin typeface="+mn-lt"/>
          <a:ea typeface="+mn-ea"/>
          <a:cs typeface="+mn-cs"/>
        </a:defRPr>
      </a:lvl4pPr>
      <a:lvl5pPr marL="1558064" algn="l" defTabSz="779032" rtl="0" eaLnBrk="1" latinLnBrk="0" hangingPunct="1">
        <a:defRPr kumimoji="1" sz="1534" kern="1200">
          <a:solidFill>
            <a:schemeClr val="tx1"/>
          </a:solidFill>
          <a:latin typeface="+mn-lt"/>
          <a:ea typeface="+mn-ea"/>
          <a:cs typeface="+mn-cs"/>
        </a:defRPr>
      </a:lvl5pPr>
      <a:lvl6pPr marL="1947580" algn="l" defTabSz="779032" rtl="0" eaLnBrk="1" latinLnBrk="0" hangingPunct="1">
        <a:defRPr kumimoji="1" sz="1534" kern="1200">
          <a:solidFill>
            <a:schemeClr val="tx1"/>
          </a:solidFill>
          <a:latin typeface="+mn-lt"/>
          <a:ea typeface="+mn-ea"/>
          <a:cs typeface="+mn-cs"/>
        </a:defRPr>
      </a:lvl6pPr>
      <a:lvl7pPr marL="2337096" algn="l" defTabSz="779032" rtl="0" eaLnBrk="1" latinLnBrk="0" hangingPunct="1">
        <a:defRPr kumimoji="1" sz="1534" kern="1200">
          <a:solidFill>
            <a:schemeClr val="tx1"/>
          </a:solidFill>
          <a:latin typeface="+mn-lt"/>
          <a:ea typeface="+mn-ea"/>
          <a:cs typeface="+mn-cs"/>
        </a:defRPr>
      </a:lvl7pPr>
      <a:lvl8pPr marL="2726613" algn="l" defTabSz="779032" rtl="0" eaLnBrk="1" latinLnBrk="0" hangingPunct="1">
        <a:defRPr kumimoji="1" sz="1534" kern="1200">
          <a:solidFill>
            <a:schemeClr val="tx1"/>
          </a:solidFill>
          <a:latin typeface="+mn-lt"/>
          <a:ea typeface="+mn-ea"/>
          <a:cs typeface="+mn-cs"/>
        </a:defRPr>
      </a:lvl8pPr>
      <a:lvl9pPr marL="3116128" algn="l" defTabSz="779032" rtl="0" eaLnBrk="1" latinLnBrk="0" hangingPunct="1">
        <a:defRPr kumimoji="1" sz="1534"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D37800-827B-46F8-DF58-F3EAC1F7B0AA}"/>
              </a:ext>
            </a:extLst>
          </p:cNvPr>
          <p:cNvGraphicFramePr>
            <a:graphicFrameLocks noChangeAspect="1"/>
          </p:cNvGraphicFramePr>
          <p:nvPr userDrawn="1">
            <p:custDataLst>
              <p:tags r:id="rId15"/>
            </p:custDataLst>
            <p:extLst>
              <p:ext uri="{D42A27DB-BD31-4B8C-83A1-F6EECF244321}">
                <p14:modId xmlns:p14="http://schemas.microsoft.com/office/powerpoint/2010/main" val="1457617614"/>
              </p:ext>
            </p:ext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スライド" r:id="rId16" imgW="360" imgH="360" progId="TCLayout.ActiveDocument.1">
                  <p:embed/>
                </p:oleObj>
              </mc:Choice>
              <mc:Fallback>
                <p:oleObj name="think-cellスライド" r:id="rId16" imgW="360" imgH="360" progId="TCLayout.ActiveDocument.1">
                  <p:embed/>
                  <p:pic>
                    <p:nvPicPr>
                      <p:cNvPr id="3" name="think-cell data - do not delete" hidden="1">
                        <a:extLst>
                          <a:ext uri="{FF2B5EF4-FFF2-40B4-BE49-F238E27FC236}">
                            <a16:creationId xmlns:a16="http://schemas.microsoft.com/office/drawing/2014/main" id="{58D37800-827B-46F8-DF58-F3EAC1F7B0AA}"/>
                          </a:ext>
                        </a:extLst>
                      </p:cNvPr>
                      <p:cNvPicPr/>
                      <p:nvPr/>
                    </p:nvPicPr>
                    <p:blipFill>
                      <a:blip r:embed="rId17"/>
                      <a:stretch>
                        <a:fillRect/>
                      </a:stretch>
                    </p:blipFill>
                    <p:spPr>
                      <a:xfrm>
                        <a:off x="1588" y="1589"/>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009450" y="6453376"/>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796" rtl="0" eaLnBrk="1" fontAlgn="auto" latinLnBrk="0" hangingPunct="1">
              <a:lnSpc>
                <a:spcPct val="100000"/>
              </a:lnSpc>
              <a:spcBef>
                <a:spcPts val="0"/>
              </a:spcBef>
              <a:spcAft>
                <a:spcPts val="0"/>
              </a:spcAft>
              <a:buClrTx/>
              <a:buSzTx/>
              <a:buFontTx/>
              <a:buNone/>
              <a:tabLst/>
              <a:defRPr/>
            </a:pPr>
            <a:fld id="{EF2F7A32-C1EA-4F7E-B0A2-7FCB5BFE90DE}" type="slidenum">
              <a:rPr kumimoji="0" lang="en-GB" sz="7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685796" rtl="0" eaLnBrk="1" fontAlgn="auto" latinLnBrk="0" hangingPunct="1">
                <a:lnSpc>
                  <a:spcPct val="100000"/>
                </a:lnSpc>
                <a:spcBef>
                  <a:spcPts val="0"/>
                </a:spcBef>
                <a:spcAft>
                  <a:spcPts val="0"/>
                </a:spcAft>
                <a:buClrTx/>
                <a:buSzTx/>
                <a:buFontTx/>
                <a:buNone/>
                <a:tabLst/>
                <a:defRPr/>
              </a:pPr>
              <a:t>‹#›</a:t>
            </a:fld>
            <a:endParaRPr kumimoji="0" lang="en-GB" sz="675" b="0" i="0" u="none" strike="noStrike" kern="1200" cap="none" spc="0" normalizeH="0" baseline="0" noProof="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3" y="-447501"/>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8" y="-447501"/>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3" y="7012040"/>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9" y="7012040"/>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3" y="266705"/>
            <a:ext cx="8915399"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1"/>
            <a:ext cx="8892000"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grpSp>
    </p:spTree>
    <p:extLst>
      <p:ext uri="{BB962C8B-B14F-4D97-AF65-F5344CB8AC3E}">
        <p14:creationId xmlns:p14="http://schemas.microsoft.com/office/powerpoint/2010/main" val="3711548367"/>
      </p:ext>
    </p:extLst>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1" r:id="rId12"/>
    <p:sldLayoutId id="2147483882" r:id="rId13"/>
  </p:sldLayoutIdLst>
  <p:hf sldNum="0" hdr="0" dt="0"/>
  <p:txStyles>
    <p:titleStyle>
      <a:lvl1pPr algn="ctr" defTabSz="571394" rtl="0" eaLnBrk="1" fontAlgn="base" hangingPunct="1">
        <a:spcBef>
          <a:spcPct val="0"/>
        </a:spcBef>
        <a:spcAft>
          <a:spcPct val="0"/>
        </a:spcAft>
        <a:defRPr kumimoji="1" sz="1200">
          <a:solidFill>
            <a:schemeClr val="bg1"/>
          </a:solidFill>
          <a:latin typeface="+mj-ea"/>
          <a:ea typeface="+mj-ea"/>
          <a:cs typeface="+mj-cs"/>
        </a:defRPr>
      </a:lvl1pPr>
      <a:lvl2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2pPr>
      <a:lvl3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3pPr>
      <a:lvl4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4pPr>
      <a:lvl5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5pPr>
      <a:lvl6pPr marL="342836"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685673"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028509"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371345"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050">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p:bodyStyle>
    <p:otherStyle>
      <a:defPPr>
        <a:defRPr lang="ja-JP"/>
      </a:defPPr>
      <a:lvl1pPr marL="0" algn="l" defTabSz="685673" rtl="0" eaLnBrk="1" latinLnBrk="0" hangingPunct="1">
        <a:defRPr kumimoji="1" sz="1351" kern="1200">
          <a:solidFill>
            <a:schemeClr val="tx1"/>
          </a:solidFill>
          <a:latin typeface="+mn-lt"/>
          <a:ea typeface="+mn-ea"/>
          <a:cs typeface="+mn-cs"/>
        </a:defRPr>
      </a:lvl1pPr>
      <a:lvl2pPr marL="342836" algn="l" defTabSz="685673" rtl="0" eaLnBrk="1" latinLnBrk="0" hangingPunct="1">
        <a:defRPr kumimoji="1" sz="1351" kern="1200">
          <a:solidFill>
            <a:schemeClr val="tx1"/>
          </a:solidFill>
          <a:latin typeface="+mn-lt"/>
          <a:ea typeface="+mn-ea"/>
          <a:cs typeface="+mn-cs"/>
        </a:defRPr>
      </a:lvl2pPr>
      <a:lvl3pPr marL="685673" algn="l" defTabSz="685673" rtl="0" eaLnBrk="1" latinLnBrk="0" hangingPunct="1">
        <a:defRPr kumimoji="1" sz="1351" kern="1200">
          <a:solidFill>
            <a:schemeClr val="tx1"/>
          </a:solidFill>
          <a:latin typeface="+mn-lt"/>
          <a:ea typeface="+mn-ea"/>
          <a:cs typeface="+mn-cs"/>
        </a:defRPr>
      </a:lvl3pPr>
      <a:lvl4pPr marL="1028509" algn="l" defTabSz="685673" rtl="0" eaLnBrk="1" latinLnBrk="0" hangingPunct="1">
        <a:defRPr kumimoji="1" sz="1351" kern="1200">
          <a:solidFill>
            <a:schemeClr val="tx1"/>
          </a:solidFill>
          <a:latin typeface="+mn-lt"/>
          <a:ea typeface="+mn-ea"/>
          <a:cs typeface="+mn-cs"/>
        </a:defRPr>
      </a:lvl4pPr>
      <a:lvl5pPr marL="1371345" algn="l" defTabSz="685673" rtl="0" eaLnBrk="1" latinLnBrk="0" hangingPunct="1">
        <a:defRPr kumimoji="1" sz="1351" kern="1200">
          <a:solidFill>
            <a:schemeClr val="tx1"/>
          </a:solidFill>
          <a:latin typeface="+mn-lt"/>
          <a:ea typeface="+mn-ea"/>
          <a:cs typeface="+mn-cs"/>
        </a:defRPr>
      </a:lvl5pPr>
      <a:lvl6pPr marL="1714181" algn="l" defTabSz="685673" rtl="0" eaLnBrk="1" latinLnBrk="0" hangingPunct="1">
        <a:defRPr kumimoji="1" sz="1351" kern="1200">
          <a:solidFill>
            <a:schemeClr val="tx1"/>
          </a:solidFill>
          <a:latin typeface="+mn-lt"/>
          <a:ea typeface="+mn-ea"/>
          <a:cs typeface="+mn-cs"/>
        </a:defRPr>
      </a:lvl6pPr>
      <a:lvl7pPr marL="2057017" algn="l" defTabSz="685673" rtl="0" eaLnBrk="1" latinLnBrk="0" hangingPunct="1">
        <a:defRPr kumimoji="1" sz="1351" kern="1200">
          <a:solidFill>
            <a:schemeClr val="tx1"/>
          </a:solidFill>
          <a:latin typeface="+mn-lt"/>
          <a:ea typeface="+mn-ea"/>
          <a:cs typeface="+mn-cs"/>
        </a:defRPr>
      </a:lvl7pPr>
      <a:lvl8pPr marL="2399854" algn="l" defTabSz="685673" rtl="0" eaLnBrk="1" latinLnBrk="0" hangingPunct="1">
        <a:defRPr kumimoji="1" sz="1351" kern="1200">
          <a:solidFill>
            <a:schemeClr val="tx1"/>
          </a:solidFill>
          <a:latin typeface="+mn-lt"/>
          <a:ea typeface="+mn-ea"/>
          <a:cs typeface="+mn-cs"/>
        </a:defRPr>
      </a:lvl8pPr>
      <a:lvl9pPr marL="2742689" algn="l" defTabSz="685673" rtl="0" eaLnBrk="1" latinLnBrk="0" hangingPunct="1">
        <a:defRPr kumimoji="1"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12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コンテンツ プレースホルダー 2">
            <a:extLst>
              <a:ext uri="{FF2B5EF4-FFF2-40B4-BE49-F238E27FC236}">
                <a16:creationId xmlns:a16="http://schemas.microsoft.com/office/drawing/2014/main" id="{AD677E75-6A49-8AC0-4496-FB48E74539AB}"/>
              </a:ext>
            </a:extLst>
          </p:cNvPr>
          <p:cNvSpPr>
            <a:spLocks noGrp="1"/>
          </p:cNvSpPr>
          <p:nvPr>
            <p:ph idx="1"/>
          </p:nvPr>
        </p:nvSpPr>
        <p:spPr>
          <a:xfrm>
            <a:off x="1818437" y="3424069"/>
            <a:ext cx="6269126" cy="569252"/>
          </a:xfrm>
        </p:spPr>
        <p:txBody>
          <a:bodyPr anchor="ctr"/>
          <a:lstStyle/>
          <a:p>
            <a:pPr algn="ctr"/>
            <a:r>
              <a:rPr lang="ja-JP" altLang="en-US" sz="4000" b="1"/>
              <a:t>開発進捗連絡会議</a:t>
            </a:r>
            <a:endParaRPr kumimoji="1" lang="ja-JP" altLang="en-US" sz="4000" b="1"/>
          </a:p>
        </p:txBody>
      </p:sp>
      <p:sp>
        <p:nvSpPr>
          <p:cNvPr id="5" name="コンテンツ プレースホルダー 1">
            <a:extLst>
              <a:ext uri="{FF2B5EF4-FFF2-40B4-BE49-F238E27FC236}">
                <a16:creationId xmlns:a16="http://schemas.microsoft.com/office/drawing/2014/main" id="{CD05009A-3FB8-16F1-0577-1CC7D2593033}"/>
              </a:ext>
            </a:extLst>
          </p:cNvPr>
          <p:cNvSpPr txBox="1">
            <a:spLocks/>
          </p:cNvSpPr>
          <p:nvPr/>
        </p:nvSpPr>
        <p:spPr bwMode="auto">
          <a:xfrm>
            <a:off x="2625187" y="4673448"/>
            <a:ext cx="4597696" cy="417786"/>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marL="0" indent="0" algn="l" rtl="0" eaLnBrk="1" fontAlgn="base" hangingPunct="1">
              <a:spcBef>
                <a:spcPts val="0"/>
              </a:spcBef>
              <a:spcAft>
                <a:spcPct val="0"/>
              </a:spcAft>
              <a:defRPr kumimoji="1" sz="1400">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a:lstStyle>
          <a:p>
            <a:pPr marL="0" marR="0" lvl="0" indent="0" algn="ctr" defTabSz="914400" rtl="0" eaLnBrk="1" fontAlgn="base" latinLnBrk="0" hangingPunct="1">
              <a:lnSpc>
                <a:spcPct val="100000"/>
              </a:lnSpc>
              <a:spcBef>
                <a:spcPts val="0"/>
              </a:spcBef>
              <a:spcAft>
                <a:spcPct val="0"/>
              </a:spcAft>
              <a:buClrTx/>
              <a:buSzTx/>
              <a:buFontTx/>
              <a:buNone/>
              <a:tabLst/>
              <a:defRPr/>
            </a:pPr>
            <a:r>
              <a:rPr lang="en-US" altLang="ja-JP" sz="1800" kern="0">
                <a:solidFill>
                  <a:prstClr val="black"/>
                </a:solidFill>
                <a:latin typeface="Meiryo UI"/>
                <a:ea typeface="Meiryo UI"/>
              </a:rPr>
              <a:t>2026/10/13</a:t>
            </a:r>
            <a:r>
              <a:rPr lang="ja-JP" altLang="en-US" sz="1800" kern="0">
                <a:solidFill>
                  <a:prstClr val="black"/>
                </a:solidFill>
                <a:latin typeface="Meiryo UI"/>
                <a:ea typeface="Meiryo UI"/>
              </a:rPr>
              <a:t> </a:t>
            </a:r>
            <a:r>
              <a:rPr lang="en-US" altLang="ja-JP" sz="1800" kern="0">
                <a:solidFill>
                  <a:prstClr val="black"/>
                </a:solidFill>
                <a:latin typeface="Meiryo UI"/>
                <a:ea typeface="Meiryo UI"/>
              </a:rPr>
              <a:t>13:30</a:t>
            </a:r>
            <a:r>
              <a:rPr lang="ja-JP" altLang="en-US" sz="1800" kern="0">
                <a:solidFill>
                  <a:prstClr val="black"/>
                </a:solidFill>
                <a:latin typeface="Meiryo UI"/>
                <a:ea typeface="Meiryo UI"/>
              </a:rPr>
              <a:t>～</a:t>
            </a:r>
            <a:r>
              <a:rPr lang="en-US" altLang="ja-JP" sz="1800" kern="0">
                <a:solidFill>
                  <a:prstClr val="black"/>
                </a:solidFill>
                <a:latin typeface="Meiryo UI"/>
                <a:ea typeface="Meiryo UI"/>
              </a:rPr>
              <a:t>13:45</a:t>
            </a:r>
          </a:p>
        </p:txBody>
      </p:sp>
      <p:sp>
        <p:nvSpPr>
          <p:cNvPr id="7" name="テキスト ボックス 6">
            <a:extLst>
              <a:ext uri="{FF2B5EF4-FFF2-40B4-BE49-F238E27FC236}">
                <a16:creationId xmlns:a16="http://schemas.microsoft.com/office/drawing/2014/main" id="{834D19CB-9F0D-3387-6098-F9B2810203EB}"/>
              </a:ext>
            </a:extLst>
          </p:cNvPr>
          <p:cNvSpPr txBox="1"/>
          <p:nvPr/>
        </p:nvSpPr>
        <p:spPr>
          <a:xfrm>
            <a:off x="2305235" y="2930072"/>
            <a:ext cx="5295530" cy="400110"/>
          </a:xfrm>
          <a:prstGeom prst="rect">
            <a:avLst/>
          </a:prstGeom>
          <a:noFill/>
        </p:spPr>
        <p:txBody>
          <a:bodyPr wrap="square">
            <a:spAutoFit/>
          </a:bodyPr>
          <a:lstStyle/>
          <a:p>
            <a:pPr algn="ctr"/>
            <a:r>
              <a:rPr lang="ja-JP" altLang="en-US" sz="2000"/>
              <a:t>電子カルテ情報共有サービス</a:t>
            </a:r>
          </a:p>
        </p:txBody>
      </p:sp>
      <p:sp>
        <p:nvSpPr>
          <p:cNvPr id="8" name="正方形/長方形 7">
            <a:extLst>
              <a:ext uri="{FF2B5EF4-FFF2-40B4-BE49-F238E27FC236}">
                <a16:creationId xmlns:a16="http://schemas.microsoft.com/office/drawing/2014/main" id="{135FA330-905B-2B0D-ED9E-C9E63F7299E9}"/>
              </a:ext>
            </a:extLst>
          </p:cNvPr>
          <p:cNvSpPr/>
          <p:nvPr/>
        </p:nvSpPr>
        <p:spPr>
          <a:xfrm>
            <a:off x="7543800" y="110359"/>
            <a:ext cx="1915510" cy="748862"/>
          </a:xfrm>
          <a:prstGeom prst="rect">
            <a:avLst/>
          </a:prstGeom>
          <a:solidFill>
            <a:schemeClr val="accent6">
              <a:lumMod val="20000"/>
              <a:lumOff val="80000"/>
            </a:schemeClr>
          </a:solidFill>
          <a:ln>
            <a:solidFill>
              <a:schemeClr val="tx1"/>
            </a:solidFill>
          </a:ln>
        </p:spPr>
        <p:txBody>
          <a:bodyPr rtlCol="0" anchor="ctr"/>
          <a:lstStyle/>
          <a:p>
            <a:pPr algn="ctr" fontAlgn="base">
              <a:spcBef>
                <a:spcPct val="20000"/>
              </a:spcBef>
              <a:spcAft>
                <a:spcPct val="0"/>
              </a:spcAft>
            </a:pPr>
            <a:r>
              <a:rPr kumimoji="1" lang="ja-JP" altLang="en-US" sz="2000">
                <a:latin typeface="+mj-ea"/>
                <a:ea typeface="+mj-ea"/>
              </a:rPr>
              <a:t>議事要旨</a:t>
            </a:r>
          </a:p>
        </p:txBody>
      </p:sp>
    </p:spTree>
    <p:extLst>
      <p:ext uri="{BB962C8B-B14F-4D97-AF65-F5344CB8AC3E}">
        <p14:creationId xmlns:p14="http://schemas.microsoft.com/office/powerpoint/2010/main" val="71378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ABD40-A67E-A9BD-2DCE-0A332B31AA8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B04099F-1D4B-62EB-9F5E-E2E44756BD2F}"/>
              </a:ext>
            </a:extLst>
          </p:cNvPr>
          <p:cNvSpPr>
            <a:spLocks noGrp="1"/>
          </p:cNvSpPr>
          <p:nvPr>
            <p:ph type="title"/>
          </p:nvPr>
        </p:nvSpPr>
        <p:spPr/>
        <p:txBody>
          <a:bodyPr vert="horz"/>
          <a:lstStyle/>
          <a:p>
            <a:r>
              <a:rPr lang="ja-JP" altLang="en-US" sz="2000"/>
              <a:t>開発進捗連絡会議 アジェンダ</a:t>
            </a:r>
          </a:p>
        </p:txBody>
      </p:sp>
      <p:graphicFrame>
        <p:nvGraphicFramePr>
          <p:cNvPr id="4" name="表 3">
            <a:extLst>
              <a:ext uri="{FF2B5EF4-FFF2-40B4-BE49-F238E27FC236}">
                <a16:creationId xmlns:a16="http://schemas.microsoft.com/office/drawing/2014/main" id="{64D732FE-D668-D271-5E4C-532FE24FF5D3}"/>
              </a:ext>
            </a:extLst>
          </p:cNvPr>
          <p:cNvGraphicFramePr>
            <a:graphicFrameLocks noGrp="1"/>
          </p:cNvGraphicFramePr>
          <p:nvPr>
            <p:extLst>
              <p:ext uri="{D42A27DB-BD31-4B8C-83A1-F6EECF244321}">
                <p14:modId xmlns:p14="http://schemas.microsoft.com/office/powerpoint/2010/main" val="2242163993"/>
              </p:ext>
            </p:extLst>
          </p:nvPr>
        </p:nvGraphicFramePr>
        <p:xfrm>
          <a:off x="604655" y="1341373"/>
          <a:ext cx="8815667" cy="904796"/>
        </p:xfrm>
        <a:graphic>
          <a:graphicData uri="http://schemas.openxmlformats.org/drawingml/2006/table">
            <a:tbl>
              <a:tblPr/>
              <a:tblGrid>
                <a:gridCol w="540000">
                  <a:extLst>
                    <a:ext uri="{9D8B030D-6E8A-4147-A177-3AD203B41FA5}">
                      <a16:colId xmlns:a16="http://schemas.microsoft.com/office/drawing/2014/main" val="3484704196"/>
                    </a:ext>
                  </a:extLst>
                </a:gridCol>
                <a:gridCol w="6133914">
                  <a:extLst>
                    <a:ext uri="{9D8B030D-6E8A-4147-A177-3AD203B41FA5}">
                      <a16:colId xmlns:a16="http://schemas.microsoft.com/office/drawing/2014/main" val="3863879091"/>
                    </a:ext>
                  </a:extLst>
                </a:gridCol>
                <a:gridCol w="1061753">
                  <a:extLst>
                    <a:ext uri="{9D8B030D-6E8A-4147-A177-3AD203B41FA5}">
                      <a16:colId xmlns:a16="http://schemas.microsoft.com/office/drawing/2014/main" val="1880882567"/>
                    </a:ext>
                  </a:extLst>
                </a:gridCol>
                <a:gridCol w="1080000">
                  <a:extLst>
                    <a:ext uri="{9D8B030D-6E8A-4147-A177-3AD203B41FA5}">
                      <a16:colId xmlns:a16="http://schemas.microsoft.com/office/drawing/2014/main" val="2058983492"/>
                    </a:ext>
                  </a:extLst>
                </a:gridCol>
              </a:tblGrid>
              <a:tr h="295652">
                <a:tc>
                  <a:txBody>
                    <a:bodyPr/>
                    <a:lstStyle/>
                    <a:p>
                      <a:pPr algn="ctr" fontAlgn="base">
                        <a:lnSpc>
                          <a:spcPts val="1200"/>
                        </a:lnSpc>
                      </a:pPr>
                      <a:r>
                        <a:rPr lang="en-US" sz="1050" b="0" i="0">
                          <a:solidFill>
                            <a:srgbClr val="000000"/>
                          </a:solidFill>
                          <a:effectLst/>
                          <a:latin typeface="+mn-ea"/>
                          <a:ea typeface="+mn-ea"/>
                        </a:rPr>
                        <a:t>No.</a:t>
                      </a:r>
                    </a:p>
                  </a:txBody>
                  <a:tcPr marL="84299" marR="84299"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ase">
                        <a:lnSpc>
                          <a:spcPts val="1200"/>
                        </a:lnSpc>
                      </a:pPr>
                      <a:r>
                        <a:rPr lang="ja-JP" altLang="en-US" sz="1050" b="0" i="0" strike="noStrike">
                          <a:solidFill>
                            <a:srgbClr val="000000"/>
                          </a:solidFill>
                          <a:effectLst/>
                          <a:latin typeface="+mn-ea"/>
                          <a:ea typeface="+mn-ea"/>
                        </a:rPr>
                        <a:t>アジェンダ</a:t>
                      </a:r>
                    </a:p>
                  </a:txBody>
                  <a:tcPr marL="84299" marR="84299"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ase">
                        <a:lnSpc>
                          <a:spcPts val="1200"/>
                        </a:lnSpc>
                      </a:pPr>
                      <a:r>
                        <a:rPr lang="ja-JP" altLang="en-US" sz="1050" b="0" i="0" strike="noStrike">
                          <a:solidFill>
                            <a:srgbClr val="000000"/>
                          </a:solidFill>
                          <a:effectLst/>
                          <a:latin typeface="+mn-ea"/>
                          <a:ea typeface="+mn-ea"/>
                        </a:rPr>
                        <a:t>時間</a:t>
                      </a:r>
                      <a:endParaRPr lang="en-US" altLang="ja-JP" sz="1050" b="0" i="0" strike="noStrike">
                        <a:solidFill>
                          <a:srgbClr val="000000"/>
                        </a:solidFill>
                        <a:effectLst/>
                        <a:latin typeface="+mn-ea"/>
                        <a:ea typeface="+mn-ea"/>
                      </a:endParaRPr>
                    </a:p>
                  </a:txBody>
                  <a:tcPr marL="84299" marR="84299"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ase">
                        <a:lnSpc>
                          <a:spcPts val="1200"/>
                        </a:lnSpc>
                      </a:pPr>
                      <a:r>
                        <a:rPr lang="ja-JP" altLang="en-US" sz="1050" b="0" i="0" strike="noStrike">
                          <a:solidFill>
                            <a:srgbClr val="000000"/>
                          </a:solidFill>
                          <a:effectLst/>
                          <a:latin typeface="+mn-ea"/>
                          <a:ea typeface="+mn-ea"/>
                        </a:rPr>
                        <a:t>担当者</a:t>
                      </a:r>
                      <a:endParaRPr lang="en-US" altLang="ja-JP" sz="1050" b="0" i="0" strike="noStrike">
                        <a:solidFill>
                          <a:srgbClr val="000000"/>
                        </a:solidFill>
                        <a:effectLst/>
                        <a:latin typeface="+mn-ea"/>
                        <a:ea typeface="+mn-ea"/>
                      </a:endParaRPr>
                    </a:p>
                  </a:txBody>
                  <a:tcPr marL="84299" marR="84299"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746781126"/>
                  </a:ext>
                </a:extLst>
              </a:tr>
              <a:tr h="304572">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en-US" sz="1050" b="0" i="0" kern="1200">
                          <a:solidFill>
                            <a:srgbClr val="000000"/>
                          </a:solidFill>
                          <a:effectLst/>
                          <a:latin typeface="+mn-ea"/>
                          <a:ea typeface="+mn-ea"/>
                          <a:cs typeface="+mn-cs"/>
                        </a:rPr>
                        <a:t>1</a:t>
                      </a: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auto" latinLnBrk="0" hangingPunct="1">
                        <a:lnSpc>
                          <a:spcPts val="1200"/>
                        </a:lnSpc>
                        <a:spcBef>
                          <a:spcPts val="0"/>
                        </a:spcBef>
                        <a:spcAft>
                          <a:spcPts val="0"/>
                        </a:spcAft>
                        <a:buClrTx/>
                        <a:buSzTx/>
                        <a:buFontTx/>
                        <a:buNone/>
                        <a:tabLst/>
                        <a:defRPr/>
                      </a:pPr>
                      <a:r>
                        <a:rPr lang="ja-JP" altLang="en-US" sz="1050"/>
                        <a:t>全国的な運用開始に向けたポータルサイトの蓋開けに係る調整について</a:t>
                      </a: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base" latinLnBrk="0" hangingPunct="1">
                        <a:lnSpc>
                          <a:spcPts val="1200"/>
                        </a:lnSpc>
                        <a:spcBef>
                          <a:spcPts val="0"/>
                        </a:spcBef>
                        <a:spcAft>
                          <a:spcPts val="0"/>
                        </a:spcAft>
                        <a:buClrTx/>
                        <a:buSzTx/>
                        <a:buFontTx/>
                        <a:buNone/>
                        <a:tabLst/>
                        <a:defRPr/>
                      </a:pPr>
                      <a:r>
                        <a:rPr kumimoji="1" lang="en-US" altLang="ja-JP" sz="1050" b="0" i="0" kern="1200" noProof="0">
                          <a:solidFill>
                            <a:srgbClr val="000000"/>
                          </a:solidFill>
                          <a:effectLst/>
                          <a:latin typeface="+mn-ea"/>
                          <a:ea typeface="+mn-ea"/>
                          <a:cs typeface="+mn-cs"/>
                        </a:rPr>
                        <a:t>10</a:t>
                      </a:r>
                      <a:r>
                        <a:rPr kumimoji="1" lang="ja-JP" altLang="en-US" sz="1050" b="0" i="0" kern="1200" noProof="0">
                          <a:solidFill>
                            <a:srgbClr val="000000"/>
                          </a:solidFill>
                          <a:effectLst/>
                          <a:latin typeface="+mn-ea"/>
                          <a:ea typeface="+mn-ea"/>
                          <a:cs typeface="+mn-cs"/>
                        </a:rPr>
                        <a:t>分</a:t>
                      </a:r>
                      <a:endParaRPr kumimoji="1" lang="en-US" altLang="ja-JP" sz="1050" b="0" i="0" kern="1200" noProof="0">
                        <a:solidFill>
                          <a:srgbClr val="000000"/>
                        </a:solidFill>
                        <a:effectLst/>
                        <a:latin typeface="+mn-ea"/>
                        <a:ea typeface="+mn-ea"/>
                        <a:cs typeface="+mn-cs"/>
                      </a:endParaRPr>
                    </a:p>
                  </a:txBody>
                  <a:tcPr marL="84299" marR="84299"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685673" rtl="0" eaLnBrk="1" fontAlgn="base" latinLnBrk="0" hangingPunct="1">
                        <a:lnSpc>
                          <a:spcPts val="1200"/>
                        </a:lnSpc>
                        <a:spcBef>
                          <a:spcPts val="0"/>
                        </a:spcBef>
                        <a:spcAft>
                          <a:spcPts val="0"/>
                        </a:spcAft>
                        <a:buClrTx/>
                        <a:buSzTx/>
                        <a:buFont typeface="Wingdings" panose="05000000000000000000" pitchFamily="2" charset="2"/>
                        <a:buNone/>
                        <a:tabLst/>
                        <a:defRPr/>
                      </a:pPr>
                      <a:r>
                        <a:rPr kumimoji="1" lang="en-US" altLang="ja-JP" sz="1050" b="0" i="0" u="none" strike="noStrike" kern="1200" cap="none" spc="0" normalizeH="0" baseline="0" noProof="0">
                          <a:ln>
                            <a:noFill/>
                          </a:ln>
                          <a:solidFill>
                            <a:schemeClr val="tx1"/>
                          </a:solidFill>
                          <a:effectLst/>
                          <a:uLnTx/>
                          <a:uFillTx/>
                          <a:latin typeface="Meiryo UI"/>
                          <a:ea typeface="+mn-ea"/>
                          <a:cs typeface="+mn-cs"/>
                        </a:rPr>
                        <a:t>DX</a:t>
                      </a:r>
                      <a:r>
                        <a:rPr kumimoji="1" lang="ja-JP" altLang="en-US" sz="1050" b="0" i="0" u="none" strike="noStrike" kern="1200" cap="none" spc="0" normalizeH="0" baseline="0" noProof="0">
                          <a:ln>
                            <a:noFill/>
                          </a:ln>
                          <a:solidFill>
                            <a:schemeClr val="tx1"/>
                          </a:solidFill>
                          <a:effectLst/>
                          <a:uLnTx/>
                          <a:uFillTx/>
                          <a:latin typeface="Meiryo UI"/>
                          <a:ea typeface="+mn-ea"/>
                          <a:cs typeface="+mn-cs"/>
                        </a:rPr>
                        <a:t>機構</a:t>
                      </a:r>
                      <a:endParaRPr kumimoji="1" lang="en-US" altLang="ja-JP" sz="1050" b="0" i="0" u="none" strike="noStrike" kern="1200" cap="none" spc="0" normalizeH="0" baseline="0" noProof="0">
                        <a:ln>
                          <a:noFill/>
                        </a:ln>
                        <a:solidFill>
                          <a:schemeClr val="tx1"/>
                        </a:solidFill>
                        <a:effectLst/>
                        <a:uLnTx/>
                        <a:uFillTx/>
                        <a:latin typeface="Meiryo UI"/>
                        <a:ea typeface="+mn-ea"/>
                        <a:cs typeface="+mn-cs"/>
                      </a:endParaRPr>
                    </a:p>
                  </a:txBody>
                  <a:tcPr marL="84299" marR="84299"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0224219"/>
                  </a:ext>
                </a:extLst>
              </a:tr>
              <a:tr h="304572">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1050" b="0" i="0" kern="1200">
                          <a:solidFill>
                            <a:srgbClr val="000000"/>
                          </a:solidFill>
                          <a:effectLst/>
                          <a:latin typeface="+mn-ea"/>
                          <a:ea typeface="+mn-ea"/>
                          <a:cs typeface="+mn-cs"/>
                        </a:rPr>
                        <a:t>ー</a:t>
                      </a:r>
                      <a:endParaRPr kumimoji="1" lang="en-US" sz="1050" b="0" i="0" kern="1200">
                        <a:solidFill>
                          <a:srgbClr val="000000"/>
                        </a:solidFill>
                        <a:effectLst/>
                        <a:latin typeface="+mn-ea"/>
                        <a:ea typeface="+mn-ea"/>
                        <a:cs typeface="+mn-cs"/>
                      </a:endParaRP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1050" b="0" i="0" kern="1200">
                          <a:solidFill>
                            <a:srgbClr val="000000"/>
                          </a:solidFill>
                          <a:effectLst/>
                          <a:latin typeface="+mn-ea"/>
                          <a:ea typeface="+mn-ea"/>
                          <a:cs typeface="+mn-cs"/>
                        </a:rPr>
                        <a:t>ラップアップ</a:t>
                      </a: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base" latinLnBrk="0" hangingPunct="1">
                        <a:lnSpc>
                          <a:spcPts val="1200"/>
                        </a:lnSpc>
                        <a:spcBef>
                          <a:spcPts val="0"/>
                        </a:spcBef>
                        <a:spcAft>
                          <a:spcPts val="0"/>
                        </a:spcAft>
                        <a:buClrTx/>
                        <a:buSzTx/>
                        <a:buFontTx/>
                        <a:buNone/>
                        <a:tabLst/>
                        <a:defRPr/>
                      </a:pPr>
                      <a:r>
                        <a:rPr kumimoji="1" lang="en-US" altLang="ja-JP" sz="1050" b="0" i="0" kern="1200" noProof="0">
                          <a:solidFill>
                            <a:srgbClr val="000000"/>
                          </a:solidFill>
                          <a:effectLst/>
                          <a:latin typeface="+mn-ea"/>
                          <a:ea typeface="+mn-ea"/>
                          <a:cs typeface="+mn-cs"/>
                        </a:rPr>
                        <a:t>5</a:t>
                      </a:r>
                      <a:r>
                        <a:rPr kumimoji="1" lang="ja-JP" altLang="en-US" sz="1050" b="0" i="0" kern="1200" noProof="0">
                          <a:solidFill>
                            <a:srgbClr val="000000"/>
                          </a:solidFill>
                          <a:effectLst/>
                          <a:latin typeface="+mn-ea"/>
                          <a:ea typeface="+mn-ea"/>
                          <a:cs typeface="+mn-cs"/>
                        </a:rPr>
                        <a:t>分</a:t>
                      </a:r>
                      <a:endParaRPr kumimoji="1" lang="en-US" altLang="ja-JP" sz="1050" b="0" i="0" kern="1200" noProof="0">
                        <a:solidFill>
                          <a:srgbClr val="000000"/>
                        </a:solidFill>
                        <a:effectLst/>
                        <a:latin typeface="+mn-ea"/>
                        <a:ea typeface="+mn-ea"/>
                        <a:cs typeface="+mn-cs"/>
                      </a:endParaRPr>
                    </a:p>
                  </a:txBody>
                  <a:tcPr marL="84299" marR="84299"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base" latinLnBrk="0" hangingPunct="1">
                        <a:lnSpc>
                          <a:spcPts val="1200"/>
                        </a:lnSpc>
                        <a:spcBef>
                          <a:spcPts val="0"/>
                        </a:spcBef>
                        <a:spcAft>
                          <a:spcPts val="0"/>
                        </a:spcAft>
                        <a:buClrTx/>
                        <a:buSzTx/>
                        <a:buFontTx/>
                        <a:buNone/>
                        <a:tabLst/>
                        <a:defRPr/>
                      </a:pPr>
                      <a:r>
                        <a:rPr kumimoji="1" lang="en-US" altLang="ja-JP" sz="1050" b="0" i="0" kern="1200" noProof="0" dirty="0">
                          <a:solidFill>
                            <a:srgbClr val="000000"/>
                          </a:solidFill>
                          <a:effectLst/>
                          <a:latin typeface="+mn-ea"/>
                          <a:ea typeface="+mn-ea"/>
                          <a:cs typeface="+mn-cs"/>
                        </a:rPr>
                        <a:t>DX</a:t>
                      </a:r>
                      <a:r>
                        <a:rPr kumimoji="1" lang="ja-JP" altLang="en-US" sz="1050" b="0" i="0" kern="1200" noProof="0" dirty="0">
                          <a:solidFill>
                            <a:srgbClr val="000000"/>
                          </a:solidFill>
                          <a:effectLst/>
                          <a:latin typeface="+mn-ea"/>
                          <a:ea typeface="+mn-ea"/>
                          <a:cs typeface="+mn-cs"/>
                        </a:rPr>
                        <a:t>機構</a:t>
                      </a:r>
                      <a:r>
                        <a:rPr kumimoji="1" lang="en-US" altLang="ja-JP" sz="1050" b="0" i="0" kern="1200" noProof="0" dirty="0">
                          <a:solidFill>
                            <a:srgbClr val="000000"/>
                          </a:solidFill>
                          <a:effectLst/>
                          <a:latin typeface="+mn-ea"/>
                          <a:ea typeface="+mn-ea"/>
                          <a:cs typeface="+mn-cs"/>
                        </a:rPr>
                        <a:t>・ACN</a:t>
                      </a:r>
                    </a:p>
                  </a:txBody>
                  <a:tcPr marL="84299" marR="84299"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3592874"/>
                  </a:ext>
                </a:extLst>
              </a:tr>
            </a:tbl>
          </a:graphicData>
        </a:graphic>
      </p:graphicFrame>
      <p:graphicFrame>
        <p:nvGraphicFramePr>
          <p:cNvPr id="3" name="表 2">
            <a:extLst>
              <a:ext uri="{FF2B5EF4-FFF2-40B4-BE49-F238E27FC236}">
                <a16:creationId xmlns:a16="http://schemas.microsoft.com/office/drawing/2014/main" id="{C0BA6B4E-EE6F-E83D-4223-1CC20645488F}"/>
              </a:ext>
            </a:extLst>
          </p:cNvPr>
          <p:cNvGraphicFramePr>
            <a:graphicFrameLocks noGrp="1"/>
          </p:cNvGraphicFramePr>
          <p:nvPr>
            <p:extLst>
              <p:ext uri="{D42A27DB-BD31-4B8C-83A1-F6EECF244321}">
                <p14:modId xmlns:p14="http://schemas.microsoft.com/office/powerpoint/2010/main" val="2542528904"/>
              </p:ext>
            </p:extLst>
          </p:nvPr>
        </p:nvGraphicFramePr>
        <p:xfrm>
          <a:off x="604654" y="3487980"/>
          <a:ext cx="8815667" cy="1625997"/>
        </p:xfrm>
        <a:graphic>
          <a:graphicData uri="http://schemas.openxmlformats.org/drawingml/2006/table">
            <a:tbl>
              <a:tblPr/>
              <a:tblGrid>
                <a:gridCol w="542387">
                  <a:extLst>
                    <a:ext uri="{9D8B030D-6E8A-4147-A177-3AD203B41FA5}">
                      <a16:colId xmlns:a16="http://schemas.microsoft.com/office/drawing/2014/main" val="3484704196"/>
                    </a:ext>
                  </a:extLst>
                </a:gridCol>
                <a:gridCol w="7174620">
                  <a:extLst>
                    <a:ext uri="{9D8B030D-6E8A-4147-A177-3AD203B41FA5}">
                      <a16:colId xmlns:a16="http://schemas.microsoft.com/office/drawing/2014/main" val="3863879091"/>
                    </a:ext>
                  </a:extLst>
                </a:gridCol>
                <a:gridCol w="1098660">
                  <a:extLst>
                    <a:ext uri="{9D8B030D-6E8A-4147-A177-3AD203B41FA5}">
                      <a16:colId xmlns:a16="http://schemas.microsoft.com/office/drawing/2014/main" val="2058983492"/>
                    </a:ext>
                  </a:extLst>
                </a:gridCol>
              </a:tblGrid>
              <a:tr h="274125">
                <a:tc>
                  <a:txBody>
                    <a:bodyPr/>
                    <a:lstStyle/>
                    <a:p>
                      <a:pPr algn="ctr" fontAlgn="base">
                        <a:lnSpc>
                          <a:spcPts val="1200"/>
                        </a:lnSpc>
                      </a:pPr>
                      <a:r>
                        <a:rPr lang="en-US" sz="1050" b="0" i="0">
                          <a:solidFill>
                            <a:srgbClr val="000000"/>
                          </a:solidFill>
                          <a:effectLst/>
                          <a:latin typeface="+mn-ea"/>
                          <a:ea typeface="+mn-ea"/>
                        </a:rPr>
                        <a:t>No.</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ase">
                        <a:lnSpc>
                          <a:spcPts val="1200"/>
                        </a:lnSpc>
                      </a:pPr>
                      <a:r>
                        <a:rPr lang="ja-JP" altLang="en-US" sz="1050" b="0" i="0" strike="noStrike">
                          <a:solidFill>
                            <a:srgbClr val="000000"/>
                          </a:solidFill>
                          <a:effectLst/>
                          <a:latin typeface="+mn-ea"/>
                          <a:ea typeface="+mn-ea"/>
                        </a:rPr>
                        <a:t>アジェンダ</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base">
                        <a:lnSpc>
                          <a:spcPts val="1200"/>
                        </a:lnSpc>
                      </a:pPr>
                      <a:r>
                        <a:rPr lang="ja-JP" altLang="en-US" sz="1050" b="0" i="0" strike="noStrike">
                          <a:solidFill>
                            <a:srgbClr val="000000"/>
                          </a:solidFill>
                          <a:effectLst/>
                          <a:latin typeface="+mn-ea"/>
                          <a:ea typeface="+mn-ea"/>
                        </a:rPr>
                        <a:t>担当者</a:t>
                      </a:r>
                      <a:endParaRPr lang="en-US" altLang="ja-JP" sz="1050" b="0" i="0" strike="noStrike">
                        <a:solidFill>
                          <a:srgbClr val="000000"/>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746781126"/>
                  </a:ext>
                </a:extLst>
              </a:tr>
              <a:tr h="450624">
                <a:tc>
                  <a:txBody>
                    <a:bodyPr/>
                    <a:lstStyle/>
                    <a:p>
                      <a:pPr marL="0" algn="l" defTabSz="843930" rtl="0" eaLnBrk="1" fontAlgn="base" latinLnBrk="0" hangingPunct="1">
                        <a:lnSpc>
                          <a:spcPts val="1200"/>
                        </a:lnSpc>
                      </a:pPr>
                      <a:r>
                        <a:rPr kumimoji="1" lang="ja-JP" altLang="en-US" sz="1050" b="0" i="0" kern="1200">
                          <a:solidFill>
                            <a:srgbClr val="000000"/>
                          </a:solidFill>
                          <a:effectLst/>
                          <a:latin typeface="+mn-ea"/>
                          <a:ea typeface="+mn-ea"/>
                          <a:cs typeface="+mn-cs"/>
                        </a:rPr>
                        <a:t>ー</a:t>
                      </a:r>
                      <a:endParaRPr kumimoji="1" lang="en-US" sz="1050" b="0" i="0" kern="1200">
                        <a:solidFill>
                          <a:srgbClr val="000000"/>
                        </a:solidFill>
                        <a:effectLst/>
                        <a:latin typeface="+mn-ea"/>
                        <a:ea typeface="+mn-ea"/>
                        <a:cs typeface="+mn-cs"/>
                      </a:endParaRP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algn="l" defTabSz="843930" rtl="0" eaLnBrk="1" fontAlgn="base" latinLnBrk="0" hangingPunct="1">
                        <a:lnSpc>
                          <a:spcPts val="1200"/>
                        </a:lnSpc>
                      </a:pPr>
                      <a:r>
                        <a:rPr kumimoji="1" lang="ja-JP" altLang="en-US" sz="1050" b="0" i="0" kern="1200">
                          <a:solidFill>
                            <a:srgbClr val="000000"/>
                          </a:solidFill>
                          <a:effectLst/>
                          <a:latin typeface="+mn-ea"/>
                          <a:ea typeface="+mn-ea"/>
                          <a:cs typeface="+mn-cs"/>
                        </a:rPr>
                        <a:t>開発進捗報告</a:t>
                      </a:r>
                      <a:r>
                        <a:rPr kumimoji="1" lang="en-US" altLang="ja-JP" sz="1050" b="0" i="0" kern="1200">
                          <a:solidFill>
                            <a:srgbClr val="000000"/>
                          </a:solidFill>
                          <a:effectLst/>
                          <a:latin typeface="+mn-ea"/>
                          <a:ea typeface="+mn-ea"/>
                          <a:cs typeface="+mn-cs"/>
                        </a:rPr>
                        <a:t>（</a:t>
                      </a:r>
                      <a:r>
                        <a:rPr kumimoji="1" lang="ja-JP" altLang="en-US" sz="1050" b="0" i="0" kern="1200">
                          <a:solidFill>
                            <a:srgbClr val="000000"/>
                          </a:solidFill>
                          <a:effectLst/>
                          <a:latin typeface="+mn-ea"/>
                          <a:ea typeface="+mn-ea"/>
                          <a:cs typeface="+mn-cs"/>
                        </a:rPr>
                        <a:t>書面</a:t>
                      </a:r>
                      <a:r>
                        <a:rPr kumimoji="1" lang="en-US" altLang="ja-JP" sz="1050" b="0" i="0" kern="1200">
                          <a:solidFill>
                            <a:srgbClr val="000000"/>
                          </a:solidFill>
                          <a:effectLst/>
                          <a:latin typeface="+mn-ea"/>
                          <a:ea typeface="+mn-ea"/>
                          <a:cs typeface="+mn-cs"/>
                        </a:rPr>
                        <a:t>）</a:t>
                      </a:r>
                      <a:endParaRPr kumimoji="1" lang="ja-JP" altLang="en-US" sz="1050" b="0" i="0" kern="1200">
                        <a:solidFill>
                          <a:srgbClr val="000000"/>
                        </a:solidFill>
                        <a:effectLst/>
                        <a:latin typeface="+mn-ea"/>
                        <a:ea typeface="+mn-ea"/>
                        <a:cs typeface="+mn-cs"/>
                      </a:endParaRP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base" latinLnBrk="0" hangingPunct="1">
                        <a:lnSpc>
                          <a:spcPts val="1200"/>
                        </a:lnSpc>
                        <a:spcBef>
                          <a:spcPts val="0"/>
                        </a:spcBef>
                        <a:spcAft>
                          <a:spcPts val="0"/>
                        </a:spcAft>
                        <a:buClrTx/>
                        <a:buSzTx/>
                        <a:buFont typeface="Wingdings" panose="05000000000000000000" pitchFamily="2" charset="2"/>
                        <a:buNone/>
                        <a:tabLst/>
                        <a:defRPr/>
                      </a:pPr>
                      <a:r>
                        <a:rPr kumimoji="1" lang="en-US" altLang="ja-JP" sz="1050" b="0" i="0" u="none" strike="noStrike" kern="1200" cap="none" spc="0" normalizeH="0" baseline="0" noProof="0">
                          <a:ln>
                            <a:noFill/>
                          </a:ln>
                          <a:solidFill>
                            <a:prstClr val="black"/>
                          </a:solidFill>
                          <a:effectLst/>
                          <a:uLnTx/>
                          <a:uFillTx/>
                          <a:latin typeface="+mn-ea"/>
                          <a:ea typeface="+mn-ea"/>
                          <a:cs typeface="+mn-cs"/>
                        </a:rPr>
                        <a:t>NTTD</a:t>
                      </a:r>
                      <a:r>
                        <a:rPr kumimoji="1" lang="ja-JP" altLang="en-US" sz="1050" b="0" i="0" u="none" strike="noStrike" kern="1200" cap="none" spc="0" normalizeH="0" baseline="0" noProof="0">
                          <a:ln>
                            <a:noFill/>
                          </a:ln>
                          <a:solidFill>
                            <a:prstClr val="black"/>
                          </a:solidFill>
                          <a:effectLst/>
                          <a:uLnTx/>
                          <a:uFillTx/>
                          <a:latin typeface="+mn-ea"/>
                          <a:ea typeface="+mn-ea"/>
                          <a:cs typeface="+mn-cs"/>
                        </a:rPr>
                        <a:t>・富士通</a:t>
                      </a:r>
                      <a:endParaRPr kumimoji="1" lang="en-US" altLang="ja-JP" sz="1050" b="0" i="0" u="none" strike="noStrike" kern="1200" cap="none" spc="0" normalizeH="0" baseline="0" noProof="0">
                        <a:ln>
                          <a:noFill/>
                        </a:ln>
                        <a:solidFill>
                          <a:prstClr val="black"/>
                        </a:solidFill>
                        <a:effectLst/>
                        <a:uLnTx/>
                        <a:uFillTx/>
                        <a:latin typeface="+mn-ea"/>
                        <a:ea typeface="+mn-ea"/>
                        <a:cs typeface="+mn-cs"/>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67993250"/>
                  </a:ext>
                </a:extLst>
              </a:tr>
              <a:tr h="450624">
                <a:tc>
                  <a:txBody>
                    <a:bodyPr/>
                    <a:lstStyle/>
                    <a:p>
                      <a:pPr marL="0" algn="l" defTabSz="843930" rtl="0" eaLnBrk="1" fontAlgn="base" latinLnBrk="0" hangingPunct="1">
                        <a:lnSpc>
                          <a:spcPts val="1200"/>
                        </a:lnSpc>
                      </a:pPr>
                      <a:r>
                        <a:rPr kumimoji="1" lang="ja-JP" altLang="en-US" sz="1050" b="0" i="0" kern="1200">
                          <a:solidFill>
                            <a:srgbClr val="000000"/>
                          </a:solidFill>
                          <a:effectLst/>
                          <a:latin typeface="+mn-ea"/>
                          <a:ea typeface="+mn-ea"/>
                          <a:cs typeface="+mn-cs"/>
                        </a:rPr>
                        <a:t>ー</a:t>
                      </a:r>
                      <a:endParaRPr kumimoji="1" lang="en-US" sz="1050" b="0" i="0" kern="1200">
                        <a:solidFill>
                          <a:srgbClr val="000000"/>
                        </a:solidFill>
                        <a:effectLst/>
                        <a:latin typeface="+mn-ea"/>
                        <a:ea typeface="+mn-ea"/>
                        <a:cs typeface="+mn-cs"/>
                      </a:endParaRP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1050" b="0" i="0" kern="1200">
                          <a:solidFill>
                            <a:srgbClr val="000000"/>
                          </a:solidFill>
                          <a:effectLst/>
                          <a:latin typeface="+mn-ea"/>
                          <a:ea typeface="+mn-ea"/>
                          <a:cs typeface="+mn-cs"/>
                        </a:rPr>
                        <a:t>テスト実施・運用実施概要</a:t>
                      </a:r>
                      <a:r>
                        <a:rPr kumimoji="1" lang="en-US" altLang="ja-JP" sz="1050" b="0" i="0" kern="1200">
                          <a:solidFill>
                            <a:srgbClr val="000000"/>
                          </a:solidFill>
                          <a:effectLst/>
                          <a:latin typeface="+mn-ea"/>
                          <a:ea typeface="+mn-ea"/>
                          <a:cs typeface="+mn-cs"/>
                        </a:rPr>
                        <a:t>（</a:t>
                      </a:r>
                      <a:r>
                        <a:rPr kumimoji="1" lang="ja-JP" altLang="en-US" sz="1050" b="0" i="0" kern="1200">
                          <a:solidFill>
                            <a:srgbClr val="000000"/>
                          </a:solidFill>
                          <a:effectLst/>
                          <a:latin typeface="+mn-ea"/>
                          <a:ea typeface="+mn-ea"/>
                          <a:cs typeface="+mn-cs"/>
                        </a:rPr>
                        <a:t>書面</a:t>
                      </a:r>
                      <a:r>
                        <a:rPr kumimoji="1" lang="en-US" altLang="ja-JP" sz="1050" b="0" i="0" kern="1200">
                          <a:solidFill>
                            <a:srgbClr val="000000"/>
                          </a:solidFill>
                          <a:effectLst/>
                          <a:latin typeface="+mn-ea"/>
                          <a:ea typeface="+mn-ea"/>
                          <a:cs typeface="+mn-cs"/>
                        </a:rPr>
                        <a:t>）</a:t>
                      </a:r>
                      <a:endParaRPr kumimoji="1" lang="ja-JP" altLang="en-US" sz="1050" b="0" i="0" kern="1200">
                        <a:solidFill>
                          <a:srgbClr val="000000"/>
                        </a:solidFill>
                        <a:effectLst/>
                        <a:latin typeface="+mn-ea"/>
                        <a:ea typeface="+mn-ea"/>
                        <a:cs typeface="+mn-cs"/>
                      </a:endParaRP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base" latinLnBrk="0" hangingPunct="1">
                        <a:lnSpc>
                          <a:spcPts val="1200"/>
                        </a:lnSpc>
                        <a:spcBef>
                          <a:spcPts val="0"/>
                        </a:spcBef>
                        <a:spcAft>
                          <a:spcPts val="0"/>
                        </a:spcAft>
                        <a:buClrTx/>
                        <a:buSzTx/>
                        <a:buFont typeface="Wingdings" panose="05000000000000000000" pitchFamily="2" charset="2"/>
                        <a:buNone/>
                        <a:tabLst/>
                        <a:defRPr/>
                      </a:pPr>
                      <a:r>
                        <a:rPr kumimoji="1" lang="en-US" altLang="ja-JP" sz="1050" b="0" i="0" u="none" strike="noStrike" kern="1200" cap="none" spc="0" normalizeH="0" baseline="0" noProof="0">
                          <a:ln>
                            <a:noFill/>
                          </a:ln>
                          <a:solidFill>
                            <a:prstClr val="black"/>
                          </a:solidFill>
                          <a:effectLst/>
                          <a:uLnTx/>
                          <a:uFillTx/>
                          <a:latin typeface="+mn-ea"/>
                          <a:ea typeface="+mn-ea"/>
                          <a:cs typeface="+mn-cs"/>
                        </a:rPr>
                        <a:t>DX</a:t>
                      </a:r>
                      <a:r>
                        <a:rPr kumimoji="1" lang="ja-JP" altLang="en-US" sz="1050" b="0" i="0" u="none" strike="noStrike" kern="1200" cap="none" spc="0" normalizeH="0" baseline="0" noProof="0">
                          <a:ln>
                            <a:noFill/>
                          </a:ln>
                          <a:solidFill>
                            <a:prstClr val="black"/>
                          </a:solidFill>
                          <a:effectLst/>
                          <a:uLnTx/>
                          <a:uFillTx/>
                          <a:latin typeface="+mn-ea"/>
                          <a:ea typeface="+mn-ea"/>
                          <a:cs typeface="+mn-cs"/>
                        </a:rPr>
                        <a:t>機構</a:t>
                      </a:r>
                      <a:r>
                        <a:rPr kumimoji="1" lang="en-US" altLang="ja-JP" sz="1050" b="0" i="0" u="none" strike="noStrike" kern="1200" cap="none" spc="0" normalizeH="0" baseline="0" noProof="0">
                          <a:ln>
                            <a:noFill/>
                          </a:ln>
                          <a:solidFill>
                            <a:prstClr val="black"/>
                          </a:solidFill>
                          <a:effectLst/>
                          <a:uLnTx/>
                          <a:uFillTx/>
                          <a:latin typeface="+mn-ea"/>
                          <a:ea typeface="+mn-ea"/>
                          <a:cs typeface="+mn-cs"/>
                        </a:rPr>
                        <a:t>・ACN</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95063995"/>
                  </a:ext>
                </a:extLst>
              </a:tr>
              <a:tr h="450624">
                <a:tc>
                  <a:txBody>
                    <a:bodyPr/>
                    <a:lstStyle/>
                    <a:p>
                      <a:pPr marL="0" lvl="0" algn="l" defTabSz="843930" rtl="0">
                        <a:lnSpc>
                          <a:spcPts val="1200"/>
                        </a:lnSpc>
                        <a:buNone/>
                      </a:pPr>
                      <a:r>
                        <a:rPr lang="ja-JP" altLang="en-US" sz="1050" b="0" i="0" kern="1200">
                          <a:solidFill>
                            <a:srgbClr val="000000"/>
                          </a:solidFill>
                          <a:effectLst/>
                          <a:latin typeface="+mn-ea"/>
                          <a:ea typeface="+mn-ea"/>
                          <a:cs typeface="+mn-cs"/>
                        </a:rPr>
                        <a:t>ー</a:t>
                      </a:r>
                      <a:endParaRPr kumimoji="1" lang="en-US" altLang="ja-JP" sz="1050" b="0" i="0" kern="1200">
                        <a:solidFill>
                          <a:srgbClr val="000000"/>
                        </a:solidFill>
                        <a:effectLst/>
                        <a:latin typeface="+mn-ea"/>
                        <a:ea typeface="+mn-ea"/>
                        <a:cs typeface="+mn-cs"/>
                      </a:endParaRP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a:lnSpc>
                          <a:spcPts val="1200"/>
                        </a:lnSpc>
                        <a:spcBef>
                          <a:spcPts val="0"/>
                        </a:spcBef>
                        <a:spcAft>
                          <a:spcPts val="0"/>
                        </a:spcAft>
                        <a:buClrTx/>
                        <a:buSzTx/>
                        <a:buFontTx/>
                        <a:buNone/>
                        <a:tabLst/>
                        <a:defRPr/>
                      </a:pPr>
                      <a:r>
                        <a:rPr lang="en-US" altLang="ja-JP" sz="1050" b="0" i="0" kern="1200">
                          <a:solidFill>
                            <a:srgbClr val="000000"/>
                          </a:solidFill>
                          <a:effectLst/>
                          <a:latin typeface="+mn-ea"/>
                          <a:ea typeface="+mn-ea"/>
                          <a:cs typeface="+mn-cs"/>
                        </a:rPr>
                        <a:t>標準マスタの直近3か月の更新予定の共有（書面）</a:t>
                      </a:r>
                      <a:endParaRPr kumimoji="1" lang="en-US" altLang="ja-JP" sz="1050" b="0" i="0" kern="1200">
                        <a:solidFill>
                          <a:srgbClr val="000000"/>
                        </a:solidFill>
                        <a:effectLst/>
                        <a:latin typeface="+mn-ea"/>
                        <a:ea typeface="+mn-ea"/>
                        <a:cs typeface="+mn-cs"/>
                      </a:endParaRP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lvl="0" indent="0" algn="ctr" defTabSz="843930">
                        <a:lnSpc>
                          <a:spcPts val="1200"/>
                        </a:lnSpc>
                        <a:spcBef>
                          <a:spcPts val="0"/>
                        </a:spcBef>
                        <a:spcAft>
                          <a:spcPts val="0"/>
                        </a:spcAft>
                        <a:buNone/>
                        <a:tabLst/>
                        <a:defRPr/>
                      </a:pPr>
                      <a:r>
                        <a:rPr lang="en-US" altLang="ja-JP" sz="1050" b="0" i="0" u="none" strike="noStrike" kern="1200" cap="none" spc="0" normalizeH="0" baseline="0" noProof="0" dirty="0" err="1">
                          <a:ln>
                            <a:noFill/>
                          </a:ln>
                          <a:solidFill>
                            <a:prstClr val="black"/>
                          </a:solidFill>
                          <a:effectLst/>
                          <a:uLnTx/>
                          <a:uFillTx/>
                          <a:latin typeface="+mn-ea"/>
                          <a:ea typeface="+mn-ea"/>
                          <a:cs typeface="+mn-cs"/>
                        </a:rPr>
                        <a:t>厚労省</a:t>
                      </a:r>
                      <a:endParaRPr kumimoji="1" lang="en-US" altLang="ja-JP" sz="1050" b="0" i="0" u="none" strike="noStrike" kern="1200" cap="none" spc="0" normalizeH="0" baseline="0" noProof="0" dirty="0">
                        <a:ln>
                          <a:noFill/>
                        </a:ln>
                        <a:solidFill>
                          <a:prstClr val="black"/>
                        </a:solidFill>
                        <a:effectLst/>
                        <a:uLnTx/>
                        <a:uFillTx/>
                        <a:latin typeface="+mn-ea"/>
                        <a:ea typeface="+mn-ea"/>
                        <a:cs typeface="+mn-cs"/>
                      </a:endParaRPr>
                    </a:p>
                  </a:txBody>
                  <a:tcPr marL="84297" marR="84297" marT="42149" marB="42149" anchor="ctr">
                    <a:lnL w="10658">
                      <a:solidFill>
                        <a:srgbClr val="000000"/>
                      </a:solidFill>
                    </a:lnL>
                    <a:lnR w="10658">
                      <a:solidFill>
                        <a:srgbClr val="000000"/>
                      </a:solidFill>
                    </a:lnR>
                    <a:lnT w="10658">
                      <a:solidFill>
                        <a:srgbClr val="000000"/>
                      </a:solidFill>
                    </a:lnT>
                    <a:lnB w="10658">
                      <a:solidFill>
                        <a:srgbClr val="000000"/>
                      </a:solidFill>
                    </a:lnB>
                    <a:noFill/>
                  </a:tcPr>
                </a:tc>
                <a:extLst>
                  <a:ext uri="{0D108BD9-81ED-4DB2-BD59-A6C34878D82A}">
                    <a16:rowId xmlns:a16="http://schemas.microsoft.com/office/drawing/2014/main" val="4262732598"/>
                  </a:ext>
                </a:extLst>
              </a:tr>
            </a:tbl>
          </a:graphicData>
        </a:graphic>
      </p:graphicFrame>
      <p:sp>
        <p:nvSpPr>
          <p:cNvPr id="6" name="正方形/長方形 5">
            <a:extLst>
              <a:ext uri="{FF2B5EF4-FFF2-40B4-BE49-F238E27FC236}">
                <a16:creationId xmlns:a16="http://schemas.microsoft.com/office/drawing/2014/main" id="{50E3162F-65C6-5044-22F8-260C3DCE98BC}"/>
              </a:ext>
            </a:extLst>
          </p:cNvPr>
          <p:cNvSpPr/>
          <p:nvPr/>
        </p:nvSpPr>
        <p:spPr>
          <a:xfrm>
            <a:off x="506999" y="949682"/>
            <a:ext cx="2771460" cy="296026"/>
          </a:xfrm>
          <a:prstGeom prst="rect">
            <a:avLst/>
          </a:prstGeom>
          <a:solidFill>
            <a:schemeClr val="bg1"/>
          </a:solidFill>
          <a:ln>
            <a:noFill/>
          </a:ln>
        </p:spPr>
        <p:txBody>
          <a:bodyPr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■会議内で取り扱う議題</a:t>
            </a:r>
          </a:p>
        </p:txBody>
      </p:sp>
      <p:sp>
        <p:nvSpPr>
          <p:cNvPr id="7" name="正方形/長方形 6">
            <a:extLst>
              <a:ext uri="{FF2B5EF4-FFF2-40B4-BE49-F238E27FC236}">
                <a16:creationId xmlns:a16="http://schemas.microsoft.com/office/drawing/2014/main" id="{988E7AB4-7FD8-5EF9-2CD8-C360FEA0D8E2}"/>
              </a:ext>
            </a:extLst>
          </p:cNvPr>
          <p:cNvSpPr/>
          <p:nvPr/>
        </p:nvSpPr>
        <p:spPr>
          <a:xfrm>
            <a:off x="506999" y="3125561"/>
            <a:ext cx="2902026" cy="296026"/>
          </a:xfrm>
          <a:prstGeom prst="rect">
            <a:avLst/>
          </a:prstGeom>
          <a:solidFill>
            <a:schemeClr val="bg1"/>
          </a:solidFill>
          <a:ln>
            <a:noFill/>
          </a:ln>
        </p:spPr>
        <p:txBody>
          <a:bodyPr lIns="91440" tIns="45720" rIns="91440" bIns="45720"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ja-JP" altLang="en-US" sz="1400" b="0" i="0" u="none" strike="noStrike" kern="1200" cap="none" spc="0" normalizeH="0" baseline="0" noProof="0">
                <a:ln>
                  <a:noFill/>
                </a:ln>
                <a:solidFill>
                  <a:prstClr val="white">
                    <a:lumMod val="49000"/>
                  </a:prstClr>
                </a:solidFill>
                <a:effectLst/>
                <a:uLnTx/>
                <a:uFillTx/>
                <a:latin typeface="Meiryo UI"/>
                <a:ea typeface="Meiryo UI"/>
                <a:cs typeface="+mn-cs"/>
              </a:rPr>
              <a:t>■書面開催の対象となる議題</a:t>
            </a:r>
          </a:p>
        </p:txBody>
      </p:sp>
      <p:sp>
        <p:nvSpPr>
          <p:cNvPr id="8" name="正方形/長方形 7">
            <a:extLst>
              <a:ext uri="{FF2B5EF4-FFF2-40B4-BE49-F238E27FC236}">
                <a16:creationId xmlns:a16="http://schemas.microsoft.com/office/drawing/2014/main" id="{02C28D97-5090-94DE-4F4D-F17287F39FBE}"/>
              </a:ext>
            </a:extLst>
          </p:cNvPr>
          <p:cNvSpPr/>
          <p:nvPr/>
        </p:nvSpPr>
        <p:spPr>
          <a:xfrm>
            <a:off x="604654" y="2278825"/>
            <a:ext cx="3577891" cy="508700"/>
          </a:xfrm>
          <a:prstGeom prst="rect">
            <a:avLst/>
          </a:prstGeom>
          <a:solidFill>
            <a:schemeClr val="bg1"/>
          </a:solidFill>
          <a:ln>
            <a:noFill/>
          </a:ln>
        </p:spPr>
        <p:txBody>
          <a:bodyPr lIns="91440" tIns="45720" rIns="91440" bIns="45720"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eiryo UI"/>
                <a:ea typeface="Meiryo UI"/>
                <a:cs typeface="+mn-cs"/>
              </a:rPr>
              <a:t>&lt;参加者&gt;</a:t>
            </a:r>
            <a:endParaRPr kumimoji="1" lang="en-US" altLang="ja-JP" sz="1200" b="0" i="0" u="none" strike="noStrike" kern="1200" cap="none" spc="0" normalizeH="0" baseline="0" noProof="0">
              <a:ln>
                <a:noFill/>
              </a:ln>
              <a:solidFill>
                <a:prstClr val="black"/>
              </a:solidFill>
              <a:effectLst/>
              <a:uLnTx/>
              <a:uFillTx/>
              <a:latin typeface="Meiryo UI"/>
              <a:ea typeface="Meiryo UI"/>
              <a:cs typeface="+mn-cs"/>
            </a:endParaRPr>
          </a:p>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厚労省、</a:t>
            </a:r>
            <a:r>
              <a:rPr lang="en-US" altLang="ja-JP" sz="1100">
                <a:solidFill>
                  <a:prstClr val="black"/>
                </a:solidFill>
                <a:latin typeface="Meiryo UI"/>
                <a:ea typeface="Meiryo UI"/>
              </a:rPr>
              <a:t>DX</a:t>
            </a:r>
            <a:r>
              <a:rPr lang="ja-JP" altLang="en-US" sz="1100">
                <a:solidFill>
                  <a:prstClr val="black"/>
                </a:solidFill>
                <a:latin typeface="Meiryo UI"/>
                <a:ea typeface="Meiryo UI"/>
              </a:rPr>
              <a:t>機構</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1100" b="0" i="0" u="none" strike="noStrike" kern="1200" cap="none" spc="0" normalizeH="0" baseline="0" noProof="0">
                <a:ln>
                  <a:noFill/>
                </a:ln>
                <a:solidFill>
                  <a:prstClr val="black"/>
                </a:solidFill>
                <a:effectLst/>
                <a:uLnTx/>
                <a:uFillTx/>
                <a:latin typeface="Meiryo UI"/>
                <a:ea typeface="Meiryo UI"/>
                <a:cs typeface="+mn-cs"/>
              </a:rPr>
              <a:t>NTTD</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1100" b="0" i="0" u="none" strike="noStrike" kern="1200" cap="none" spc="0" normalizeH="0" baseline="0" noProof="0">
                <a:ln>
                  <a:noFill/>
                </a:ln>
                <a:solidFill>
                  <a:prstClr val="black"/>
                </a:solidFill>
                <a:effectLst/>
                <a:uLnTx/>
                <a:uFillTx/>
                <a:latin typeface="Meiryo UI"/>
                <a:ea typeface="Meiryo UI"/>
                <a:cs typeface="+mn-cs"/>
              </a:rPr>
              <a:t>ACN</a:t>
            </a:r>
          </a:p>
        </p:txBody>
      </p:sp>
    </p:spTree>
    <p:extLst>
      <p:ext uri="{BB962C8B-B14F-4D97-AF65-F5344CB8AC3E}">
        <p14:creationId xmlns:p14="http://schemas.microsoft.com/office/powerpoint/2010/main" val="3003619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30EED-2022-CFAB-1DC8-F9D64EE19ED2}"/>
            </a:ext>
          </a:extLst>
        </p:cNvPr>
        <p:cNvGrpSpPr/>
        <p:nvPr/>
      </p:nvGrpSpPr>
      <p:grpSpPr>
        <a:xfrm>
          <a:off x="0" y="0"/>
          <a:ext cx="0" cy="0"/>
          <a:chOff x="0" y="0"/>
          <a:chExt cx="0" cy="0"/>
        </a:xfrm>
      </p:grpSpPr>
      <p:sp>
        <p:nvSpPr>
          <p:cNvPr id="6" name="正方形/長方形 5">
            <a:extLst>
              <a:ext uri="{FF2B5EF4-FFF2-40B4-BE49-F238E27FC236}">
                <a16:creationId xmlns:a16="http://schemas.microsoft.com/office/drawing/2014/main" id="{58D21743-AEBA-9E2D-6042-4457494743FF}"/>
              </a:ext>
            </a:extLst>
          </p:cNvPr>
          <p:cNvSpPr/>
          <p:nvPr/>
        </p:nvSpPr>
        <p:spPr>
          <a:xfrm>
            <a:off x="230818" y="696662"/>
            <a:ext cx="3436693" cy="361339"/>
          </a:xfrm>
          <a:prstGeom prst="rect">
            <a:avLst/>
          </a:prstGeom>
          <a:noFill/>
          <a:ln>
            <a:noFill/>
          </a:ln>
        </p:spPr>
        <p:txBody>
          <a:bodyPr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■会議内で取り扱った議題</a:t>
            </a:r>
          </a:p>
        </p:txBody>
      </p:sp>
      <p:sp>
        <p:nvSpPr>
          <p:cNvPr id="9" name="タイトル 1">
            <a:extLst>
              <a:ext uri="{FF2B5EF4-FFF2-40B4-BE49-F238E27FC236}">
                <a16:creationId xmlns:a16="http://schemas.microsoft.com/office/drawing/2014/main" id="{D52515F8-D7B8-3A4D-B928-0E17F5A1FD92}"/>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開発進捗連絡会議の共有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a:t>
            </a:r>
            <a:endParaRPr lang="ja-JP" altLang="en-US" sz="1800">
              <a:solidFill>
                <a:schemeClr val="tx2">
                  <a:lumMod val="75000"/>
                </a:schemeClr>
              </a:solidFill>
            </a:endParaRPr>
          </a:p>
        </p:txBody>
      </p:sp>
      <p:graphicFrame>
        <p:nvGraphicFramePr>
          <p:cNvPr id="2" name="表 1">
            <a:extLst>
              <a:ext uri="{FF2B5EF4-FFF2-40B4-BE49-F238E27FC236}">
                <a16:creationId xmlns:a16="http://schemas.microsoft.com/office/drawing/2014/main" id="{95D1A597-C9BB-29ED-37A6-4598253000F3}"/>
              </a:ext>
            </a:extLst>
          </p:cNvPr>
          <p:cNvGraphicFramePr>
            <a:graphicFrameLocks noGrp="1"/>
          </p:cNvGraphicFramePr>
          <p:nvPr>
            <p:extLst>
              <p:ext uri="{D42A27DB-BD31-4B8C-83A1-F6EECF244321}">
                <p14:modId xmlns:p14="http://schemas.microsoft.com/office/powerpoint/2010/main" val="1234341914"/>
              </p:ext>
            </p:extLst>
          </p:nvPr>
        </p:nvGraphicFramePr>
        <p:xfrm>
          <a:off x="230819" y="1058001"/>
          <a:ext cx="9400014" cy="5650252"/>
        </p:xfrm>
        <a:graphic>
          <a:graphicData uri="http://schemas.openxmlformats.org/drawingml/2006/table">
            <a:tbl>
              <a:tblPr/>
              <a:tblGrid>
                <a:gridCol w="403907">
                  <a:extLst>
                    <a:ext uri="{9D8B030D-6E8A-4147-A177-3AD203B41FA5}">
                      <a16:colId xmlns:a16="http://schemas.microsoft.com/office/drawing/2014/main" val="3484704196"/>
                    </a:ext>
                  </a:extLst>
                </a:gridCol>
                <a:gridCol w="1310180">
                  <a:extLst>
                    <a:ext uri="{9D8B030D-6E8A-4147-A177-3AD203B41FA5}">
                      <a16:colId xmlns:a16="http://schemas.microsoft.com/office/drawing/2014/main" val="3863879091"/>
                    </a:ext>
                  </a:extLst>
                </a:gridCol>
                <a:gridCol w="705970">
                  <a:extLst>
                    <a:ext uri="{9D8B030D-6E8A-4147-A177-3AD203B41FA5}">
                      <a16:colId xmlns:a16="http://schemas.microsoft.com/office/drawing/2014/main" val="3528419117"/>
                    </a:ext>
                  </a:extLst>
                </a:gridCol>
                <a:gridCol w="2413685">
                  <a:extLst>
                    <a:ext uri="{9D8B030D-6E8A-4147-A177-3AD203B41FA5}">
                      <a16:colId xmlns:a16="http://schemas.microsoft.com/office/drawing/2014/main" val="1880882567"/>
                    </a:ext>
                  </a:extLst>
                </a:gridCol>
                <a:gridCol w="4566272">
                  <a:extLst>
                    <a:ext uri="{9D8B030D-6E8A-4147-A177-3AD203B41FA5}">
                      <a16:colId xmlns:a16="http://schemas.microsoft.com/office/drawing/2014/main" val="2058983492"/>
                    </a:ext>
                  </a:extLst>
                </a:gridCol>
              </a:tblGrid>
              <a:tr h="262624">
                <a:tc>
                  <a:txBody>
                    <a:bodyPr/>
                    <a:lstStyle/>
                    <a:p>
                      <a:pPr algn="ctr" fontAlgn="base">
                        <a:lnSpc>
                          <a:spcPts val="1200"/>
                        </a:lnSpc>
                      </a:pPr>
                      <a:r>
                        <a:rPr lang="en-US" sz="900" b="0" i="0">
                          <a:solidFill>
                            <a:schemeClr val="tx1"/>
                          </a:solidFill>
                          <a:effectLst/>
                          <a:latin typeface="+mn-ea"/>
                          <a:ea typeface="+mn-ea"/>
                        </a:rPr>
                        <a:t>No.</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ase">
                        <a:lnSpc>
                          <a:spcPts val="1200"/>
                        </a:lnSpc>
                      </a:pPr>
                      <a:r>
                        <a:rPr lang="ja-JP" altLang="en-US" sz="900" b="0" i="0" strike="noStrike">
                          <a:solidFill>
                            <a:schemeClr val="tx1"/>
                          </a:solidFill>
                          <a:effectLst/>
                          <a:latin typeface="+mn-ea"/>
                          <a:ea typeface="+mn-ea"/>
                        </a:rPr>
                        <a:t>アジェンダ</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ase">
                        <a:lnSpc>
                          <a:spcPts val="1200"/>
                        </a:lnSpc>
                      </a:pPr>
                      <a:r>
                        <a:rPr lang="ja-JP" altLang="en-US" sz="900" b="0" i="0" strike="noStrike">
                          <a:solidFill>
                            <a:schemeClr val="tx1"/>
                          </a:solidFill>
                          <a:effectLst/>
                          <a:latin typeface="+mn-ea"/>
                          <a:ea typeface="+mn-ea"/>
                        </a:rPr>
                        <a:t>担当者</a:t>
                      </a:r>
                      <a:endParaRPr lang="en-US" altLang="ja-JP" sz="900" b="0" i="0" strike="noStrike">
                        <a:solidFill>
                          <a:schemeClr val="tx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ase">
                        <a:lnSpc>
                          <a:spcPts val="1200"/>
                        </a:lnSpc>
                      </a:pPr>
                      <a:r>
                        <a:rPr lang="ja-JP" altLang="en-US" sz="900" b="0" i="0" strike="noStrike">
                          <a:solidFill>
                            <a:schemeClr val="tx1"/>
                          </a:solidFill>
                          <a:effectLst/>
                          <a:latin typeface="+mn-ea"/>
                          <a:ea typeface="+mn-ea"/>
                        </a:rPr>
                        <a:t>合意形成事項</a:t>
                      </a:r>
                      <a:endParaRPr lang="en-US" altLang="ja-JP" sz="900" b="0" i="0" strike="noStrike">
                        <a:solidFill>
                          <a:schemeClr val="tx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3">
                        <a:lumMod val="60000"/>
                        <a:lumOff val="40000"/>
                      </a:schemeClr>
                    </a:solidFill>
                  </a:tcPr>
                </a:tc>
                <a:tc>
                  <a:txBody>
                    <a:bodyPr/>
                    <a:lstStyle/>
                    <a:p>
                      <a:pPr algn="ctr" fontAlgn="base">
                        <a:lnSpc>
                          <a:spcPts val="1200"/>
                        </a:lnSpc>
                      </a:pPr>
                      <a:r>
                        <a:rPr lang="en-US" altLang="ja-JP" sz="900" b="0" i="0" strike="noStrike">
                          <a:solidFill>
                            <a:schemeClr val="tx1"/>
                          </a:solidFill>
                          <a:effectLst/>
                          <a:latin typeface="+mn-ea"/>
                          <a:ea typeface="+mn-ea"/>
                        </a:rPr>
                        <a:t>ToDo</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746781126"/>
                  </a:ext>
                </a:extLst>
              </a:tr>
              <a:tr h="748727">
                <a:tc>
                  <a:txBody>
                    <a:bodyPr/>
                    <a:lstStyle/>
                    <a:p>
                      <a:pPr marL="0" algn="l" defTabSz="843930" rtl="0" eaLnBrk="1" fontAlgn="base" latinLnBrk="0" hangingPunct="1">
                        <a:lnSpc>
                          <a:spcPts val="1200"/>
                        </a:lnSpc>
                      </a:pPr>
                      <a:r>
                        <a:rPr kumimoji="1" lang="en-US" sz="900" b="0" i="0" strike="noStrike" kern="1200">
                          <a:solidFill>
                            <a:schemeClr val="tx1"/>
                          </a:solidFill>
                          <a:effectLst/>
                          <a:latin typeface="+mn-ea"/>
                          <a:ea typeface="+mn-ea"/>
                          <a:cs typeface="+mn-cs"/>
                        </a:rPr>
                        <a:t>1</a:t>
                      </a: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lang="ja-JP" altLang="en-US" sz="900">
                          <a:effectLst/>
                        </a:rPr>
                        <a:t>全国的な運用開始に向けたポータルサイトの蓋開けに係る調整について</a:t>
                      </a: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685673" rtl="0" eaLnBrk="1" fontAlgn="base" latinLnBrk="0" hangingPunct="1">
                        <a:lnSpc>
                          <a:spcPts val="1200"/>
                        </a:lnSpc>
                        <a:spcBef>
                          <a:spcPts val="0"/>
                        </a:spcBef>
                        <a:spcAft>
                          <a:spcPts val="0"/>
                        </a:spcAft>
                        <a:buClrTx/>
                        <a:buSzTx/>
                        <a:buFont typeface="Wingdings" panose="05000000000000000000" pitchFamily="2" charset="2"/>
                        <a:buNone/>
                        <a:tabLst/>
                        <a:defRPr/>
                      </a:pPr>
                      <a:r>
                        <a:rPr kumimoji="1" lang="en-US" altLang="ja-JP" sz="900" b="0" i="0" u="none" strike="noStrike" kern="1200" cap="none" spc="0" normalizeH="0" baseline="0" noProof="0">
                          <a:ln>
                            <a:noFill/>
                          </a:ln>
                          <a:solidFill>
                            <a:schemeClr val="tx1"/>
                          </a:solidFill>
                          <a:effectLst/>
                          <a:uLnTx/>
                          <a:uFillTx/>
                          <a:latin typeface="Meiryo UI"/>
                          <a:ea typeface="Meiryo UI"/>
                          <a:cs typeface="+mn-cs"/>
                        </a:rPr>
                        <a:t>DX</a:t>
                      </a:r>
                      <a:r>
                        <a:rPr kumimoji="1" lang="ja-JP" altLang="en-US" sz="900" b="0" i="0" u="none" strike="noStrike" kern="1200" cap="none" spc="0" normalizeH="0" baseline="0" noProof="0">
                          <a:ln>
                            <a:noFill/>
                          </a:ln>
                          <a:solidFill>
                            <a:schemeClr val="tx1"/>
                          </a:solidFill>
                          <a:effectLst/>
                          <a:uLnTx/>
                          <a:uFillTx/>
                          <a:latin typeface="Meiryo UI"/>
                          <a:ea typeface="Meiryo UI"/>
                          <a:cs typeface="+mn-cs"/>
                        </a:rPr>
                        <a:t>機構</a:t>
                      </a:r>
                      <a:endParaRPr kumimoji="1" lang="en-US" altLang="ja-JP" sz="900" b="0" i="0" u="none" strike="noStrike" kern="1200" cap="none" spc="0" normalizeH="0" baseline="0" noProof="0">
                        <a:ln>
                          <a:noFill/>
                        </a:ln>
                        <a:solidFill>
                          <a:schemeClr val="tx1"/>
                        </a:solidFill>
                        <a:effectLst/>
                        <a:uLnTx/>
                        <a:uFillTx/>
                        <a:latin typeface="Meiryo UI"/>
                        <a:ea typeface="Meiryo UI"/>
                        <a:cs typeface="+mn-cs"/>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1" indent="0" algn="l">
                        <a:lnSpc>
                          <a:spcPct val="100000"/>
                        </a:lnSpc>
                        <a:spcBef>
                          <a:spcPts val="0"/>
                        </a:spcBef>
                        <a:spcAft>
                          <a:spcPts val="0"/>
                        </a:spcAft>
                        <a:buFont typeface="Wingdings" panose="05000000000000000000" pitchFamily="2" charset="2"/>
                        <a:buNone/>
                      </a:pPr>
                      <a:r>
                        <a:rPr lang="en-US" altLang="ja-JP" sz="900" b="1" i="0" u="sng" strike="noStrike" kern="1200" cap="none" spc="0" normalizeH="0" baseline="0" noProof="0">
                          <a:ln>
                            <a:noFill/>
                          </a:ln>
                          <a:solidFill>
                            <a:schemeClr val="tx1"/>
                          </a:solidFill>
                          <a:effectLst/>
                          <a:uLnTx/>
                          <a:uFillTx/>
                        </a:rPr>
                        <a:t>1</a:t>
                      </a:r>
                      <a:r>
                        <a:rPr lang="ja-JP" altLang="en-US" sz="900" b="1" i="0" u="sng" strike="noStrike" kern="1200" cap="none" spc="0" normalizeH="0" baseline="0" noProof="0">
                          <a:ln>
                            <a:noFill/>
                          </a:ln>
                          <a:solidFill>
                            <a:schemeClr val="tx1"/>
                          </a:solidFill>
                          <a:effectLst/>
                          <a:uLnTx/>
                          <a:uFillTx/>
                        </a:rPr>
                        <a:t>．全国的な運用開始に向けた医療機関等向け総合ポータルサイトの蓋開けに係る</a:t>
                      </a:r>
                      <a:r>
                        <a:rPr lang="en-US" altLang="ja-JP" sz="900" b="1" i="0" u="sng" strike="noStrike" kern="1200" cap="none" spc="0" normalizeH="0" baseline="0" noProof="0">
                          <a:ln>
                            <a:noFill/>
                          </a:ln>
                          <a:solidFill>
                            <a:schemeClr val="tx1"/>
                          </a:solidFill>
                          <a:effectLst/>
                          <a:uLnTx/>
                          <a:uFillTx/>
                        </a:rPr>
                        <a:t>Todo</a:t>
                      </a:r>
                      <a:r>
                        <a:rPr lang="ja-JP" altLang="en-US" sz="900" b="1" i="0" u="sng" strike="noStrike" kern="1200" cap="none" spc="0" normalizeH="0" baseline="0" noProof="0">
                          <a:ln>
                            <a:noFill/>
                          </a:ln>
                          <a:solidFill>
                            <a:schemeClr val="tx1"/>
                          </a:solidFill>
                          <a:effectLst/>
                          <a:uLnTx/>
                          <a:uFillTx/>
                        </a:rPr>
                        <a:t>管理方法について</a:t>
                      </a:r>
                      <a:endParaRPr lang="en-US" altLang="ja-JP" sz="900" b="1" i="0" u="sng" strike="noStrike" kern="1200" cap="none" spc="0" normalizeH="0" baseline="0" noProof="0">
                        <a:ln>
                          <a:noFill/>
                        </a:ln>
                        <a:solidFill>
                          <a:schemeClr val="tx1"/>
                        </a:solidFill>
                        <a:effectLst/>
                        <a:uLnTx/>
                        <a:uFillTx/>
                      </a:endParaRPr>
                    </a:p>
                    <a:p>
                      <a:pPr marL="171450" marR="0" lvl="1" indent="-171450" algn="l">
                        <a:lnSpc>
                          <a:spcPct val="100000"/>
                        </a:lnSpc>
                        <a:spcBef>
                          <a:spcPts val="0"/>
                        </a:spcBef>
                        <a:spcAft>
                          <a:spcPts val="0"/>
                        </a:spcAft>
                        <a:buFont typeface="Wingdings" panose="05000000000000000000" pitchFamily="2" charset="2"/>
                        <a:buChar char="ü"/>
                      </a:pPr>
                      <a:r>
                        <a:rPr lang="ja-JP" altLang="en-US" sz="900" b="0" i="0" u="none" strike="noStrike" kern="1200" cap="none" spc="0" normalizeH="0" baseline="0" noProof="0">
                          <a:ln>
                            <a:noFill/>
                          </a:ln>
                          <a:solidFill>
                            <a:schemeClr val="tx1"/>
                          </a:solidFill>
                          <a:effectLst/>
                          <a:uLnTx/>
                          <a:uFillTx/>
                        </a:rPr>
                        <a:t>医療機関等向け総合ポータルサイトの蓋開けに係る</a:t>
                      </a:r>
                      <a:r>
                        <a:rPr lang="en-US" altLang="ja-JP" sz="900" b="0" i="0" u="none" strike="noStrike" kern="1200" cap="none" spc="0" normalizeH="0" baseline="0" noProof="0">
                          <a:ln>
                            <a:noFill/>
                          </a:ln>
                          <a:solidFill>
                            <a:schemeClr val="tx1"/>
                          </a:solidFill>
                          <a:effectLst/>
                          <a:uLnTx/>
                          <a:uFillTx/>
                        </a:rPr>
                        <a:t>Todo</a:t>
                      </a:r>
                      <a:r>
                        <a:rPr lang="ja-JP" altLang="en-US" sz="900" b="0" i="0" u="none" strike="noStrike" kern="1200" cap="none" spc="0" normalizeH="0" baseline="0" noProof="0">
                          <a:ln>
                            <a:noFill/>
                          </a:ln>
                          <a:solidFill>
                            <a:schemeClr val="tx1"/>
                          </a:solidFill>
                          <a:effectLst/>
                          <a:uLnTx/>
                          <a:uFillTx/>
                        </a:rPr>
                        <a:t>は</a:t>
                      </a:r>
                      <a:r>
                        <a:rPr lang="en-US" altLang="ja-JP" sz="900" b="0" i="0" u="none" strike="noStrike" kern="1200" cap="none" spc="0" normalizeH="0" baseline="0" noProof="0">
                          <a:ln>
                            <a:noFill/>
                          </a:ln>
                          <a:solidFill>
                            <a:schemeClr val="tx1"/>
                          </a:solidFill>
                          <a:effectLst/>
                          <a:uLnTx/>
                          <a:uFillTx/>
                        </a:rPr>
                        <a:t>Teams</a:t>
                      </a:r>
                      <a:r>
                        <a:rPr lang="ja-JP" altLang="en-US" sz="900" b="0" i="0" u="none" strike="noStrike" kern="1200" cap="none" spc="0" normalizeH="0" baseline="0" noProof="0">
                          <a:ln>
                            <a:noFill/>
                          </a:ln>
                          <a:solidFill>
                            <a:schemeClr val="tx1"/>
                          </a:solidFill>
                          <a:effectLst/>
                          <a:uLnTx/>
                          <a:uFillTx/>
                        </a:rPr>
                        <a:t>のスレッドを用いて管理する。</a:t>
                      </a:r>
                      <a:endParaRPr lang="en-US" altLang="ja-JP" sz="900" b="0" i="0" u="none" strike="noStrike" kern="1200" cap="none" spc="0" normalizeH="0" baseline="0" noProof="0">
                        <a:ln>
                          <a:noFill/>
                        </a:ln>
                        <a:solidFill>
                          <a:schemeClr val="tx1"/>
                        </a:solidFill>
                        <a:effectLst/>
                        <a:uLnTx/>
                        <a:uFillTx/>
                      </a:endParaRP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7800" marR="0" lvl="1" indent="-177800" algn="l">
                        <a:lnSpc>
                          <a:spcPct val="100000"/>
                        </a:lnSpc>
                        <a:spcBef>
                          <a:spcPts val="0"/>
                        </a:spcBef>
                        <a:spcAft>
                          <a:spcPts val="0"/>
                        </a:spcAft>
                        <a:buFont typeface="Wingdings"/>
                        <a:buChar char="ü"/>
                      </a:pPr>
                      <a:r>
                        <a:rPr lang="en-US" altLang="ja-JP" sz="900" dirty="0">
                          <a:effectLst/>
                          <a:latin typeface="+mj-ea"/>
                          <a:ea typeface="+mj-ea"/>
                        </a:rPr>
                        <a:t>2-1</a:t>
                      </a:r>
                      <a:r>
                        <a:rPr lang="ja-JP" altLang="en-US" sz="900" dirty="0">
                          <a:effectLst/>
                          <a:latin typeface="+mj-ea"/>
                          <a:ea typeface="+mj-ea"/>
                        </a:rPr>
                        <a:t>：医療機関等向け総合ポータルサイトにおける「運用開始日」の名称の変更案を</a:t>
                      </a:r>
                      <a:r>
                        <a:rPr lang="en-US" altLang="ja-JP" sz="900" dirty="0">
                          <a:effectLst/>
                          <a:latin typeface="+mj-ea"/>
                          <a:ea typeface="+mj-ea"/>
                        </a:rPr>
                        <a:t>Teams</a:t>
                      </a:r>
                      <a:r>
                        <a:rPr lang="ja-JP" altLang="en-US" sz="900" dirty="0">
                          <a:effectLst/>
                          <a:latin typeface="+mj-ea"/>
                          <a:ea typeface="+mj-ea"/>
                        </a:rPr>
                        <a:t>のスレッドで機構に連携する。</a:t>
                      </a:r>
                      <a:r>
                        <a:rPr lang="en-US" altLang="ja-JP" sz="900" dirty="0">
                          <a:effectLst/>
                          <a:latin typeface="+mj-ea"/>
                          <a:ea typeface="+mj-ea"/>
                        </a:rPr>
                        <a:t>【</a:t>
                      </a:r>
                      <a:r>
                        <a:rPr lang="ja-JP" altLang="en-US" sz="900" dirty="0">
                          <a:effectLst/>
                          <a:latin typeface="+mj-ea"/>
                          <a:ea typeface="+mj-ea"/>
                        </a:rPr>
                        <a:t>厚労省 </a:t>
                      </a:r>
                      <a:r>
                        <a:rPr lang="en-US" altLang="ja-JP" sz="900" dirty="0">
                          <a:effectLst/>
                          <a:latin typeface="+mj-ea"/>
                          <a:ea typeface="+mj-ea"/>
                        </a:rPr>
                        <a:t>10/19】</a:t>
                      </a:r>
                    </a:p>
                    <a:p>
                      <a:pPr marL="177800" marR="0" lvl="1" indent="-177800" algn="l">
                        <a:lnSpc>
                          <a:spcPct val="100000"/>
                        </a:lnSpc>
                        <a:spcBef>
                          <a:spcPts val="0"/>
                        </a:spcBef>
                        <a:spcAft>
                          <a:spcPts val="0"/>
                        </a:spcAft>
                        <a:buFont typeface="Wingdings"/>
                        <a:buChar char="ü"/>
                      </a:pPr>
                      <a:r>
                        <a:rPr lang="en-US" altLang="ja-JP" sz="900" dirty="0">
                          <a:effectLst/>
                          <a:latin typeface="+mj-ea"/>
                          <a:ea typeface="+mj-ea"/>
                        </a:rPr>
                        <a:t>2-2</a:t>
                      </a:r>
                      <a:r>
                        <a:rPr lang="ja-JP" altLang="en-US" sz="900" dirty="0">
                          <a:effectLst/>
                          <a:latin typeface="+mj-ea"/>
                          <a:ea typeface="+mj-ea"/>
                        </a:rPr>
                        <a:t>：</a:t>
                      </a:r>
                      <a:r>
                        <a:rPr kumimoji="1" lang="ja-JP" altLang="en-US" sz="900" kern="1200" dirty="0">
                          <a:solidFill>
                            <a:schemeClr val="tx1"/>
                          </a:solidFill>
                          <a:effectLst/>
                          <a:latin typeface="+mj-ea"/>
                          <a:ea typeface="+mn-ea"/>
                          <a:cs typeface="+mn-cs"/>
                        </a:rPr>
                        <a:t>医療機関等向け総合ポータルサイトにおける</a:t>
                      </a:r>
                      <a:r>
                        <a:rPr lang="ja-JP" altLang="en-US" sz="900" dirty="0">
                          <a:effectLst/>
                          <a:latin typeface="+mj-ea"/>
                          <a:ea typeface="+mj-ea"/>
                        </a:rPr>
                        <a:t>運用開始日のチェック仕様について、資料の赤字部分</a:t>
                      </a:r>
                      <a:r>
                        <a:rPr lang="en-US" altLang="ja-JP" sz="900" baseline="30000" dirty="0">
                          <a:effectLst/>
                          <a:latin typeface="+mj-ea"/>
                          <a:ea typeface="+mj-ea"/>
                        </a:rPr>
                        <a:t>※</a:t>
                      </a:r>
                      <a:r>
                        <a:rPr lang="ja-JP" altLang="en-US" sz="900" dirty="0">
                          <a:effectLst/>
                          <a:latin typeface="+mj-ea"/>
                          <a:ea typeface="+mj-ea"/>
                        </a:rPr>
                        <a:t>を確認し、確認結果を</a:t>
                      </a:r>
                      <a:r>
                        <a:rPr lang="en-US" altLang="ja-JP" sz="900" dirty="0">
                          <a:effectLst/>
                          <a:latin typeface="+mj-ea"/>
                          <a:ea typeface="+mj-ea"/>
                        </a:rPr>
                        <a:t>DX</a:t>
                      </a:r>
                      <a:r>
                        <a:rPr lang="ja-JP" altLang="en-US" sz="900" dirty="0">
                          <a:effectLst/>
                          <a:latin typeface="+mj-ea"/>
                          <a:ea typeface="+mj-ea"/>
                        </a:rPr>
                        <a:t>機構に連携する。</a:t>
                      </a:r>
                      <a:r>
                        <a:rPr lang="en-US" altLang="ja-JP" sz="900" dirty="0">
                          <a:effectLst/>
                          <a:latin typeface="+mj-ea"/>
                          <a:ea typeface="+mj-ea"/>
                        </a:rPr>
                        <a:t>【</a:t>
                      </a:r>
                      <a:r>
                        <a:rPr lang="ja-JP" altLang="en-US" sz="900" dirty="0">
                          <a:effectLst/>
                          <a:latin typeface="+mj-ea"/>
                          <a:ea typeface="+mj-ea"/>
                        </a:rPr>
                        <a:t>厚労省 </a:t>
                      </a:r>
                      <a:r>
                        <a:rPr lang="en-US" altLang="ja-JP" sz="900" dirty="0">
                          <a:effectLst/>
                          <a:latin typeface="+mj-ea"/>
                          <a:ea typeface="+mj-ea"/>
                        </a:rPr>
                        <a:t>10/19】</a:t>
                      </a:r>
                      <a:br>
                        <a:rPr lang="en-US" altLang="ja-JP" sz="900" dirty="0">
                          <a:effectLst/>
                          <a:latin typeface="+mj-ea"/>
                          <a:ea typeface="+mj-ea"/>
                        </a:rPr>
                      </a:br>
                      <a:r>
                        <a:rPr lang="en-US" altLang="ja-JP" sz="900" b="0" i="0" u="none" strike="noStrike" kern="1200" cap="none" spc="0" normalizeH="0" baseline="0" noProof="0" dirty="0">
                          <a:ln>
                            <a:noFill/>
                          </a:ln>
                          <a:solidFill>
                            <a:srgbClr val="000000"/>
                          </a:solidFill>
                          <a:effectLst/>
                          <a:uLnTx/>
                          <a:uFillTx/>
                          <a:latin typeface="+mj-ea"/>
                          <a:ea typeface="+mj-ea"/>
                          <a:cs typeface="Arial"/>
                        </a:rPr>
                        <a:t>※</a:t>
                      </a:r>
                      <a:r>
                        <a:rPr lang="ja-JP" altLang="en-US" sz="900" b="0" i="0" u="none" strike="noStrike" kern="1200" cap="none" spc="0" normalizeH="0" baseline="0" noProof="0" dirty="0">
                          <a:ln>
                            <a:noFill/>
                          </a:ln>
                          <a:solidFill>
                            <a:srgbClr val="000000"/>
                          </a:solidFill>
                          <a:effectLst/>
                          <a:uLnTx/>
                          <a:uFillTx/>
                          <a:latin typeface="+mj-ea"/>
                          <a:ea typeface="+mj-ea"/>
                          <a:cs typeface="Arial"/>
                        </a:rPr>
                        <a:t>「</a:t>
                      </a:r>
                      <a:r>
                        <a:rPr lang="en-US" altLang="ja-JP" sz="900" b="0" i="0" u="none" strike="noStrike" kern="1200" cap="none" spc="0" normalizeH="0" baseline="0" noProof="0" dirty="0">
                          <a:ln>
                            <a:noFill/>
                          </a:ln>
                          <a:solidFill>
                            <a:srgbClr val="000000"/>
                          </a:solidFill>
                          <a:effectLst/>
                          <a:uLnTx/>
                          <a:uFillTx/>
                          <a:latin typeface="+mj-ea"/>
                          <a:ea typeface="+mj-ea"/>
                          <a:cs typeface="Arial"/>
                        </a:rPr>
                        <a:t>20261013_全国的な運用開始に向けたポータルサイトの蓋開けに係る調整について.pptx</a:t>
                      </a:r>
                      <a:r>
                        <a:rPr lang="ja-JP" altLang="en-US" sz="900" b="0" i="0" u="none" strike="noStrike" kern="1200" cap="none" spc="0" normalizeH="0" baseline="0" noProof="0" dirty="0">
                          <a:ln>
                            <a:noFill/>
                          </a:ln>
                          <a:solidFill>
                            <a:srgbClr val="000000"/>
                          </a:solidFill>
                          <a:effectLst/>
                          <a:uLnTx/>
                          <a:uFillTx/>
                          <a:latin typeface="+mj-ea"/>
                          <a:ea typeface="+mj-ea"/>
                          <a:cs typeface="Arial"/>
                        </a:rPr>
                        <a:t>」の</a:t>
                      </a:r>
                      <a:r>
                        <a:rPr lang="en-US" altLang="ja-JP" sz="900" b="0" i="0" u="none" strike="noStrike" kern="1200" cap="none" spc="0" normalizeH="0" baseline="0" noProof="0" dirty="0">
                          <a:ln>
                            <a:noFill/>
                          </a:ln>
                          <a:solidFill>
                            <a:srgbClr val="000000"/>
                          </a:solidFill>
                          <a:effectLst/>
                          <a:uLnTx/>
                          <a:uFillTx/>
                          <a:latin typeface="+mj-ea"/>
                          <a:ea typeface="+mj-ea"/>
                          <a:cs typeface="Arial"/>
                        </a:rPr>
                        <a:t>P5</a:t>
                      </a:r>
                    </a:p>
                    <a:p>
                      <a:pPr marL="177800" marR="0" lvl="1" indent="-177800" algn="l">
                        <a:lnSpc>
                          <a:spcPct val="100000"/>
                        </a:lnSpc>
                        <a:spcBef>
                          <a:spcPts val="0"/>
                        </a:spcBef>
                        <a:spcAft>
                          <a:spcPts val="0"/>
                        </a:spcAft>
                        <a:buFont typeface="Wingdings"/>
                        <a:buChar char="ü"/>
                      </a:pPr>
                      <a:r>
                        <a:rPr lang="en-US" altLang="ja-JP" sz="900" b="0" i="0" u="none" strike="noStrike" kern="1200" cap="none" spc="0" normalizeH="0" baseline="0" noProof="0" dirty="0">
                          <a:ln>
                            <a:noFill/>
                          </a:ln>
                          <a:solidFill>
                            <a:srgbClr val="000000"/>
                          </a:solidFill>
                          <a:effectLst/>
                          <a:uLnTx/>
                          <a:uFillTx/>
                          <a:latin typeface="+mj-ea"/>
                          <a:ea typeface="+mj-ea"/>
                          <a:cs typeface="Arial"/>
                        </a:rPr>
                        <a:t>2-2</a:t>
                      </a:r>
                      <a:r>
                        <a:rPr lang="ja-JP" altLang="en-US" sz="900" b="0" i="0" u="none" strike="noStrike" kern="1200" cap="none" spc="0" normalizeH="0" baseline="0" noProof="0" dirty="0">
                          <a:ln>
                            <a:noFill/>
                          </a:ln>
                          <a:solidFill>
                            <a:srgbClr val="000000"/>
                          </a:solidFill>
                          <a:effectLst/>
                          <a:uLnTx/>
                          <a:uFillTx/>
                          <a:latin typeface="+mj-ea"/>
                          <a:ea typeface="+mj-ea"/>
                          <a:cs typeface="Arial"/>
                        </a:rPr>
                        <a:t>：資料</a:t>
                      </a:r>
                      <a:r>
                        <a:rPr lang="en-US" altLang="ja-JP" sz="900" b="0" i="0" u="none" strike="noStrike" kern="1200" cap="none" spc="0" normalizeH="0" baseline="30000" noProof="0" dirty="0">
                          <a:ln>
                            <a:noFill/>
                          </a:ln>
                          <a:solidFill>
                            <a:srgbClr val="000000"/>
                          </a:solidFill>
                          <a:effectLst/>
                          <a:uLnTx/>
                          <a:uFillTx/>
                          <a:latin typeface="+mj-ea"/>
                          <a:ea typeface="+mj-ea"/>
                          <a:cs typeface="Arial"/>
                        </a:rPr>
                        <a:t>※</a:t>
                      </a:r>
                      <a:r>
                        <a:rPr lang="ja-JP" altLang="en-US" sz="900" b="0" i="0" u="none" strike="noStrike" kern="1200" cap="none" spc="0" normalizeH="0" baseline="0" noProof="0" dirty="0">
                          <a:ln>
                            <a:noFill/>
                          </a:ln>
                          <a:solidFill>
                            <a:srgbClr val="000000"/>
                          </a:solidFill>
                          <a:effectLst/>
                          <a:uLnTx/>
                          <a:uFillTx/>
                          <a:latin typeface="+mj-ea"/>
                          <a:ea typeface="+mj-ea"/>
                          <a:cs typeface="Arial"/>
                        </a:rPr>
                        <a:t>の運用開始入力範囲のエラー条件の記載について、「</a:t>
                      </a:r>
                      <a:r>
                        <a:rPr lang="en-US" altLang="ja-JP" sz="900" b="0" i="0" u="none" strike="noStrike" kern="1200" cap="none" spc="0" normalizeH="0" baseline="0" noProof="0" dirty="0">
                          <a:ln>
                            <a:noFill/>
                          </a:ln>
                          <a:solidFill>
                            <a:srgbClr val="000000"/>
                          </a:solidFill>
                          <a:effectLst/>
                          <a:uLnTx/>
                          <a:uFillTx/>
                          <a:latin typeface="+mj-ea"/>
                          <a:ea typeface="+mj-ea"/>
                          <a:cs typeface="Arial"/>
                        </a:rPr>
                        <a:t>2027/01/24</a:t>
                      </a:r>
                      <a:r>
                        <a:rPr lang="ja-JP" altLang="en-US" sz="900" b="0" i="0" u="none" strike="noStrike" kern="1200" cap="none" spc="0" normalizeH="0" baseline="0" noProof="0" dirty="0">
                          <a:ln>
                            <a:noFill/>
                          </a:ln>
                          <a:solidFill>
                            <a:srgbClr val="000000"/>
                          </a:solidFill>
                          <a:effectLst/>
                          <a:uLnTx/>
                          <a:uFillTx/>
                          <a:latin typeface="+mj-ea"/>
                          <a:ea typeface="+mj-ea"/>
                          <a:cs typeface="Arial"/>
                        </a:rPr>
                        <a:t>よりも前」を「</a:t>
                      </a:r>
                      <a:r>
                        <a:rPr lang="en-US" altLang="ja-JP" sz="900" b="0" i="0" u="none" strike="noStrike" kern="1200" cap="none" spc="0" normalizeH="0" baseline="0" noProof="0" dirty="0">
                          <a:ln>
                            <a:noFill/>
                          </a:ln>
                          <a:solidFill>
                            <a:srgbClr val="000000"/>
                          </a:solidFill>
                          <a:effectLst/>
                          <a:uLnTx/>
                          <a:uFillTx/>
                          <a:latin typeface="+mj-ea"/>
                          <a:ea typeface="+mj-ea"/>
                          <a:cs typeface="Arial"/>
                        </a:rPr>
                        <a:t>2027/01/24</a:t>
                      </a:r>
                      <a:r>
                        <a:rPr lang="ja-JP" altLang="en-US" sz="900" b="0" i="0" u="none" strike="noStrike" kern="1200" cap="none" spc="0" normalizeH="0" baseline="0" noProof="0" dirty="0">
                          <a:ln>
                            <a:noFill/>
                          </a:ln>
                          <a:solidFill>
                            <a:srgbClr val="000000"/>
                          </a:solidFill>
                          <a:effectLst/>
                          <a:uLnTx/>
                          <a:uFillTx/>
                          <a:latin typeface="+mj-ea"/>
                          <a:ea typeface="+mj-ea"/>
                          <a:cs typeface="Arial"/>
                        </a:rPr>
                        <a:t>以前」に修正する。</a:t>
                      </a:r>
                      <a:r>
                        <a:rPr lang="en-US" altLang="ja-JP" sz="900" b="0" i="0" u="none" strike="noStrike" kern="1200" cap="none" spc="0" normalizeH="0" baseline="0" noProof="0" dirty="0">
                          <a:ln>
                            <a:noFill/>
                          </a:ln>
                          <a:solidFill>
                            <a:srgbClr val="000000"/>
                          </a:solidFill>
                          <a:effectLst/>
                          <a:uLnTx/>
                          <a:uFillTx/>
                          <a:latin typeface="+mj-ea"/>
                          <a:ea typeface="+mj-ea"/>
                          <a:cs typeface="Arial"/>
                        </a:rPr>
                        <a:t>【DX</a:t>
                      </a:r>
                      <a:r>
                        <a:rPr lang="ja-JP" altLang="en-US" sz="900" b="0" i="0" u="none" strike="noStrike" kern="1200" cap="none" spc="0" normalizeH="0" baseline="0" noProof="0" dirty="0">
                          <a:ln>
                            <a:noFill/>
                          </a:ln>
                          <a:solidFill>
                            <a:srgbClr val="000000"/>
                          </a:solidFill>
                          <a:effectLst/>
                          <a:uLnTx/>
                          <a:uFillTx/>
                          <a:latin typeface="+mj-ea"/>
                          <a:ea typeface="+mj-ea"/>
                          <a:cs typeface="Arial"/>
                        </a:rPr>
                        <a:t>機構　</a:t>
                      </a:r>
                      <a:r>
                        <a:rPr lang="en-US" altLang="ja-JP" sz="900" b="0" i="0" u="none" strike="noStrike" kern="1200" cap="none" spc="0" normalizeH="0" baseline="0" noProof="0" dirty="0">
                          <a:ln>
                            <a:noFill/>
                          </a:ln>
                          <a:solidFill>
                            <a:srgbClr val="000000"/>
                          </a:solidFill>
                          <a:effectLst/>
                          <a:uLnTx/>
                          <a:uFillTx/>
                          <a:latin typeface="+mj-ea"/>
                          <a:ea typeface="+mj-ea"/>
                          <a:cs typeface="Arial"/>
                        </a:rPr>
                        <a:t>10/19】</a:t>
                      </a:r>
                      <a:br>
                        <a:rPr lang="en-US" altLang="ja-JP" sz="900" b="0" i="0" u="none" strike="noStrike" kern="1200" cap="none" spc="0" normalizeH="0" baseline="0" noProof="0" dirty="0">
                          <a:ln>
                            <a:noFill/>
                          </a:ln>
                          <a:solidFill>
                            <a:srgbClr val="000000"/>
                          </a:solidFill>
                          <a:effectLst/>
                          <a:uLnTx/>
                          <a:uFillTx/>
                          <a:latin typeface="+mj-ea"/>
                          <a:ea typeface="+mj-ea"/>
                          <a:cs typeface="Arial"/>
                        </a:rPr>
                      </a:br>
                      <a:r>
                        <a:rPr kumimoji="1" lang="en-US" altLang="ja-JP" sz="900" b="0" i="0" u="none" strike="noStrike" kern="1200" cap="none" spc="0" normalizeH="0" baseline="0" noProof="0" dirty="0">
                          <a:ln>
                            <a:noFill/>
                          </a:ln>
                          <a:solidFill>
                            <a:srgbClr val="000000"/>
                          </a:solidFill>
                          <a:effectLst/>
                          <a:uLnTx/>
                          <a:uFillTx/>
                          <a:latin typeface="+mj-ea"/>
                          <a:ea typeface="+mn-ea"/>
                          <a:cs typeface="Arial"/>
                        </a:rPr>
                        <a:t>※</a:t>
                      </a:r>
                      <a:r>
                        <a:rPr kumimoji="1" lang="ja-JP" altLang="en-US" sz="900" b="0" i="0" u="none" strike="noStrike" kern="1200" cap="none" spc="0" normalizeH="0" baseline="0" noProof="0" dirty="0">
                          <a:ln>
                            <a:noFill/>
                          </a:ln>
                          <a:solidFill>
                            <a:srgbClr val="000000"/>
                          </a:solidFill>
                          <a:effectLst/>
                          <a:uLnTx/>
                          <a:uFillTx/>
                          <a:latin typeface="+mj-ea"/>
                          <a:ea typeface="+mn-ea"/>
                          <a:cs typeface="Arial"/>
                        </a:rPr>
                        <a:t>「</a:t>
                      </a:r>
                      <a:r>
                        <a:rPr kumimoji="1" lang="en-US" altLang="ja-JP" sz="900" b="0" i="0" u="none" strike="noStrike" kern="1200" cap="none" spc="0" normalizeH="0" baseline="0" noProof="0" dirty="0">
                          <a:ln>
                            <a:noFill/>
                          </a:ln>
                          <a:solidFill>
                            <a:srgbClr val="000000"/>
                          </a:solidFill>
                          <a:effectLst/>
                          <a:uLnTx/>
                          <a:uFillTx/>
                          <a:latin typeface="+mj-ea"/>
                          <a:ea typeface="+mn-ea"/>
                          <a:cs typeface="Arial"/>
                        </a:rPr>
                        <a:t>20261013_全国的な運用開始に向けたポータルサイトの蓋開けに係る調整について.pptx</a:t>
                      </a:r>
                      <a:r>
                        <a:rPr kumimoji="1" lang="ja-JP" altLang="en-US" sz="900" b="0" i="0" u="none" strike="noStrike" kern="1200" cap="none" spc="0" normalizeH="0" baseline="0" noProof="0" dirty="0">
                          <a:ln>
                            <a:noFill/>
                          </a:ln>
                          <a:solidFill>
                            <a:srgbClr val="000000"/>
                          </a:solidFill>
                          <a:effectLst/>
                          <a:uLnTx/>
                          <a:uFillTx/>
                          <a:latin typeface="+mj-ea"/>
                          <a:ea typeface="+mn-ea"/>
                          <a:cs typeface="Arial"/>
                        </a:rPr>
                        <a:t>」の</a:t>
                      </a:r>
                      <a:r>
                        <a:rPr kumimoji="1" lang="en-US" altLang="ja-JP" sz="900" b="0" i="0" u="none" strike="noStrike" kern="1200" cap="none" spc="0" normalizeH="0" baseline="0" noProof="0" dirty="0">
                          <a:ln>
                            <a:noFill/>
                          </a:ln>
                          <a:solidFill>
                            <a:srgbClr val="000000"/>
                          </a:solidFill>
                          <a:effectLst/>
                          <a:uLnTx/>
                          <a:uFillTx/>
                          <a:latin typeface="+mj-ea"/>
                          <a:ea typeface="+mn-ea"/>
                          <a:cs typeface="Arial"/>
                        </a:rPr>
                        <a:t>P5</a:t>
                      </a:r>
                      <a:endParaRPr lang="en-US" altLang="ja-JP" sz="900" dirty="0">
                        <a:effectLst/>
                        <a:latin typeface="+mj-ea"/>
                        <a:ea typeface="+mj-ea"/>
                      </a:endParaRPr>
                    </a:p>
                    <a:p>
                      <a:pPr marL="177800" marR="0" lvl="1" indent="-177800" algn="l">
                        <a:lnSpc>
                          <a:spcPct val="100000"/>
                        </a:lnSpc>
                        <a:spcBef>
                          <a:spcPts val="0"/>
                        </a:spcBef>
                        <a:spcAft>
                          <a:spcPts val="0"/>
                        </a:spcAft>
                        <a:buFont typeface="Wingdings"/>
                        <a:buChar char="ü"/>
                      </a:pPr>
                      <a:r>
                        <a:rPr lang="en-US" altLang="ja-JP" sz="900" dirty="0">
                          <a:effectLst/>
                          <a:latin typeface="+mj-ea"/>
                          <a:ea typeface="+mj-ea"/>
                        </a:rPr>
                        <a:t>2-3</a:t>
                      </a:r>
                      <a:r>
                        <a:rPr lang="ja-JP" altLang="en-US" sz="900" dirty="0">
                          <a:effectLst/>
                          <a:latin typeface="+mj-ea"/>
                          <a:ea typeface="+mj-ea"/>
                        </a:rPr>
                        <a:t>：医療機関等向け総合ポータルサイトにおける申請機能の閉塞中の挙動およびポップアップメッセージについて資料</a:t>
                      </a:r>
                      <a:r>
                        <a:rPr lang="en-US" altLang="ja-JP" sz="900" baseline="30000" dirty="0">
                          <a:effectLst/>
                          <a:latin typeface="+mj-ea"/>
                          <a:ea typeface="+mj-ea"/>
                        </a:rPr>
                        <a:t>※</a:t>
                      </a:r>
                      <a:r>
                        <a:rPr lang="ja-JP" altLang="en-US" sz="900" dirty="0">
                          <a:effectLst/>
                          <a:latin typeface="+mj-ea"/>
                          <a:ea typeface="+mj-ea"/>
                        </a:rPr>
                        <a:t>を確認し、確認結果を</a:t>
                      </a:r>
                      <a:r>
                        <a:rPr lang="en-US" altLang="ja-JP" sz="900" dirty="0">
                          <a:effectLst/>
                          <a:latin typeface="+mj-ea"/>
                          <a:ea typeface="+mj-ea"/>
                        </a:rPr>
                        <a:t>DX</a:t>
                      </a:r>
                      <a:r>
                        <a:rPr lang="ja-JP" altLang="en-US" sz="900" dirty="0">
                          <a:effectLst/>
                          <a:latin typeface="+mj-ea"/>
                          <a:ea typeface="+mj-ea"/>
                        </a:rPr>
                        <a:t>機構に連携する。</a:t>
                      </a:r>
                      <a:r>
                        <a:rPr lang="en-US" altLang="ja-JP" sz="900" dirty="0">
                          <a:effectLst/>
                          <a:latin typeface="+mj-ea"/>
                          <a:ea typeface="+mj-ea"/>
                        </a:rPr>
                        <a:t>【</a:t>
                      </a:r>
                      <a:r>
                        <a:rPr lang="ja-JP" altLang="en-US" sz="900" dirty="0">
                          <a:effectLst/>
                          <a:latin typeface="+mj-ea"/>
                          <a:ea typeface="+mj-ea"/>
                        </a:rPr>
                        <a:t>厚労省 </a:t>
                      </a:r>
                      <a:r>
                        <a:rPr lang="en-US" altLang="ja-JP" sz="900" dirty="0">
                          <a:effectLst/>
                          <a:latin typeface="+mj-ea"/>
                          <a:ea typeface="+mj-ea"/>
                        </a:rPr>
                        <a:t>10/19】</a:t>
                      </a:r>
                      <a:br>
                        <a:rPr lang="en-US" altLang="ja-JP" sz="900" dirty="0">
                          <a:effectLst/>
                          <a:latin typeface="+mj-ea"/>
                          <a:ea typeface="+mj-ea"/>
                        </a:rPr>
                      </a:br>
                      <a:r>
                        <a:rPr lang="en-US" altLang="ja-JP" sz="900" b="0" i="0" u="none" strike="noStrike" kern="1200" cap="none" spc="0" normalizeH="0" baseline="0" noProof="0" dirty="0">
                          <a:ln>
                            <a:noFill/>
                          </a:ln>
                          <a:solidFill>
                            <a:srgbClr val="000000"/>
                          </a:solidFill>
                          <a:effectLst/>
                          <a:uLnTx/>
                          <a:uFillTx/>
                          <a:latin typeface="+mj-ea"/>
                          <a:ea typeface="+mj-ea"/>
                          <a:cs typeface="Arial"/>
                        </a:rPr>
                        <a:t>※</a:t>
                      </a:r>
                      <a:r>
                        <a:rPr lang="ja-JP" altLang="en-US" sz="900" b="0" i="0" u="none" strike="noStrike" kern="1200" cap="none" spc="0" normalizeH="0" baseline="0" noProof="0" dirty="0">
                          <a:ln>
                            <a:noFill/>
                          </a:ln>
                          <a:solidFill>
                            <a:srgbClr val="000000"/>
                          </a:solidFill>
                          <a:effectLst/>
                          <a:uLnTx/>
                          <a:uFillTx/>
                          <a:latin typeface="+mj-ea"/>
                          <a:ea typeface="+mj-ea"/>
                          <a:cs typeface="Arial"/>
                        </a:rPr>
                        <a:t>「</a:t>
                      </a:r>
                      <a:r>
                        <a:rPr lang="en-US" altLang="ja-JP" sz="900" b="0" i="0" u="none" strike="noStrike" kern="1200" cap="none" spc="0" normalizeH="0" baseline="0" noProof="0" dirty="0">
                          <a:ln>
                            <a:noFill/>
                          </a:ln>
                          <a:solidFill>
                            <a:srgbClr val="000000"/>
                          </a:solidFill>
                          <a:effectLst/>
                          <a:uLnTx/>
                          <a:uFillTx/>
                          <a:latin typeface="+mj-ea"/>
                          <a:ea typeface="+mj-ea"/>
                          <a:cs typeface="Arial"/>
                        </a:rPr>
                        <a:t>20261013_全国的な運用開始に向けたポータルサイトの蓋開けに係る調整について.pptx</a:t>
                      </a:r>
                      <a:r>
                        <a:rPr lang="ja-JP" altLang="en-US" sz="900" b="0" i="0" u="none" strike="noStrike" kern="1200" cap="none" spc="0" normalizeH="0" baseline="0" noProof="0" dirty="0">
                          <a:ln>
                            <a:noFill/>
                          </a:ln>
                          <a:solidFill>
                            <a:srgbClr val="000000"/>
                          </a:solidFill>
                          <a:effectLst/>
                          <a:uLnTx/>
                          <a:uFillTx/>
                          <a:latin typeface="+mj-ea"/>
                          <a:ea typeface="+mj-ea"/>
                          <a:cs typeface="Arial"/>
                        </a:rPr>
                        <a:t>」の</a:t>
                      </a:r>
                      <a:r>
                        <a:rPr lang="en-US" altLang="ja-JP" sz="900" b="0" i="0" u="none" strike="noStrike" kern="1200" cap="none" spc="0" normalizeH="0" baseline="0" noProof="0" dirty="0">
                          <a:ln>
                            <a:noFill/>
                          </a:ln>
                          <a:solidFill>
                            <a:srgbClr val="000000"/>
                          </a:solidFill>
                          <a:effectLst/>
                          <a:uLnTx/>
                          <a:uFillTx/>
                          <a:latin typeface="+mj-ea"/>
                          <a:ea typeface="+mj-ea"/>
                          <a:cs typeface="Arial"/>
                        </a:rPr>
                        <a:t>P6</a:t>
                      </a:r>
                    </a:p>
                    <a:p>
                      <a:pPr marL="177800" marR="0" lvl="1" indent="-177800" algn="l" defTabSz="685673" rtl="0" eaLnBrk="1" fontAlgn="auto" latinLnBrk="0" hangingPunct="1">
                        <a:lnSpc>
                          <a:spcPct val="100000"/>
                        </a:lnSpc>
                        <a:spcBef>
                          <a:spcPts val="0"/>
                        </a:spcBef>
                        <a:spcAft>
                          <a:spcPts val="0"/>
                        </a:spcAft>
                        <a:buClrTx/>
                        <a:buSzTx/>
                        <a:buFont typeface="Wingdings"/>
                        <a:buChar char="ü"/>
                        <a:tabLst/>
                        <a:defRPr/>
                      </a:pPr>
                      <a:r>
                        <a:rPr lang="en-US" altLang="ja-JP" sz="900" dirty="0">
                          <a:effectLst/>
                          <a:latin typeface="+mj-ea"/>
                          <a:ea typeface="+mj-ea"/>
                        </a:rPr>
                        <a:t>2-4</a:t>
                      </a:r>
                      <a:r>
                        <a:rPr lang="ja-JP" altLang="en-US" sz="900" dirty="0">
                          <a:effectLst/>
                          <a:latin typeface="+mj-ea"/>
                          <a:ea typeface="+mj-ea"/>
                        </a:rPr>
                        <a:t>：医療機関等向け総合ポータルサイトにおける歯科調剤の申請機能の閉塞中の挙動およびポップアップメッセージについて、資料</a:t>
                      </a:r>
                      <a:r>
                        <a:rPr lang="en-US" altLang="ja-JP" sz="900" baseline="30000" dirty="0">
                          <a:effectLst/>
                          <a:latin typeface="+mj-ea"/>
                          <a:ea typeface="+mj-ea"/>
                        </a:rPr>
                        <a:t>※</a:t>
                      </a:r>
                      <a:r>
                        <a:rPr lang="ja-JP" altLang="en-US" sz="900" dirty="0">
                          <a:effectLst/>
                          <a:latin typeface="+mj-ea"/>
                          <a:ea typeface="+mj-ea"/>
                        </a:rPr>
                        <a:t>を確認し、確認結果を</a:t>
                      </a:r>
                      <a:r>
                        <a:rPr lang="en-US" altLang="ja-JP" sz="900" dirty="0">
                          <a:effectLst/>
                          <a:latin typeface="+mj-ea"/>
                          <a:ea typeface="+mj-ea"/>
                        </a:rPr>
                        <a:t>DX</a:t>
                      </a:r>
                      <a:r>
                        <a:rPr lang="ja-JP" altLang="en-US" sz="900" dirty="0">
                          <a:effectLst/>
                          <a:latin typeface="+mj-ea"/>
                          <a:ea typeface="+mj-ea"/>
                        </a:rPr>
                        <a:t>機構に連携する。</a:t>
                      </a:r>
                      <a:r>
                        <a:rPr lang="en-US" altLang="ja-JP" sz="900" dirty="0">
                          <a:effectLst/>
                          <a:latin typeface="+mj-ea"/>
                          <a:ea typeface="+mj-ea"/>
                        </a:rPr>
                        <a:t>【</a:t>
                      </a:r>
                      <a:r>
                        <a:rPr lang="ja-JP" altLang="en-US" sz="900" dirty="0">
                          <a:effectLst/>
                          <a:latin typeface="+mj-ea"/>
                          <a:ea typeface="+mj-ea"/>
                        </a:rPr>
                        <a:t>厚労省 </a:t>
                      </a:r>
                      <a:r>
                        <a:rPr lang="en-US" altLang="ja-JP" sz="900" dirty="0">
                          <a:effectLst/>
                          <a:latin typeface="+mj-ea"/>
                          <a:ea typeface="+mj-ea"/>
                        </a:rPr>
                        <a:t>10/19】</a:t>
                      </a:r>
                      <a:br>
                        <a:rPr lang="en-US" altLang="ja-JP" sz="900" dirty="0">
                          <a:effectLst/>
                          <a:latin typeface="+mj-ea"/>
                          <a:ea typeface="+mj-ea"/>
                        </a:rPr>
                      </a:br>
                      <a:r>
                        <a:rPr lang="en-US" altLang="ja-JP" sz="900" b="0" i="0" u="none" strike="noStrike" kern="1200" cap="none" spc="0" normalizeH="0" baseline="0" noProof="0" dirty="0">
                          <a:ln>
                            <a:noFill/>
                          </a:ln>
                          <a:solidFill>
                            <a:srgbClr val="000000"/>
                          </a:solidFill>
                          <a:effectLst/>
                          <a:uLnTx/>
                          <a:uFillTx/>
                          <a:latin typeface="+mj-ea"/>
                          <a:ea typeface="+mj-ea"/>
                          <a:cs typeface="Arial"/>
                        </a:rPr>
                        <a:t>※</a:t>
                      </a:r>
                      <a:r>
                        <a:rPr lang="ja-JP" altLang="en-US" sz="900" b="0" i="0" u="none" strike="noStrike" kern="1200" cap="none" spc="0" normalizeH="0" baseline="0" noProof="0" dirty="0">
                          <a:ln>
                            <a:noFill/>
                          </a:ln>
                          <a:solidFill>
                            <a:srgbClr val="000000"/>
                          </a:solidFill>
                          <a:effectLst/>
                          <a:uLnTx/>
                          <a:uFillTx/>
                          <a:latin typeface="+mj-ea"/>
                          <a:ea typeface="+mj-ea"/>
                          <a:cs typeface="Arial"/>
                        </a:rPr>
                        <a:t>「</a:t>
                      </a:r>
                      <a:r>
                        <a:rPr lang="en-US" altLang="ja-JP" sz="900" b="0" i="0" u="none" strike="noStrike" kern="1200" cap="none" spc="0" normalizeH="0" baseline="0" noProof="0" dirty="0">
                          <a:ln>
                            <a:noFill/>
                          </a:ln>
                          <a:solidFill>
                            <a:srgbClr val="000000"/>
                          </a:solidFill>
                          <a:effectLst/>
                          <a:uLnTx/>
                          <a:uFillTx/>
                          <a:latin typeface="+mj-ea"/>
                          <a:ea typeface="+mj-ea"/>
                          <a:cs typeface="Arial"/>
                        </a:rPr>
                        <a:t>20261013_全国的な運用開始に向けたポータルサイトの蓋開けに係る調整について.pptx</a:t>
                      </a:r>
                      <a:r>
                        <a:rPr lang="ja-JP" altLang="en-US" sz="900" b="0" i="0" u="none" strike="noStrike" kern="1200" cap="none" spc="0" normalizeH="0" baseline="0" noProof="0" dirty="0">
                          <a:ln>
                            <a:noFill/>
                          </a:ln>
                          <a:solidFill>
                            <a:srgbClr val="000000"/>
                          </a:solidFill>
                          <a:effectLst/>
                          <a:uLnTx/>
                          <a:uFillTx/>
                          <a:latin typeface="+mj-ea"/>
                          <a:ea typeface="+mj-ea"/>
                          <a:cs typeface="Arial"/>
                        </a:rPr>
                        <a:t>」の</a:t>
                      </a:r>
                      <a:r>
                        <a:rPr lang="en-US" altLang="ja-JP" sz="900" b="0" i="0" u="none" strike="noStrike" kern="1200" cap="none" spc="0" normalizeH="0" baseline="0" noProof="0" dirty="0">
                          <a:ln>
                            <a:noFill/>
                          </a:ln>
                          <a:solidFill>
                            <a:srgbClr val="000000"/>
                          </a:solidFill>
                          <a:effectLst/>
                          <a:uLnTx/>
                          <a:uFillTx/>
                          <a:latin typeface="+mj-ea"/>
                          <a:ea typeface="+mj-ea"/>
                          <a:cs typeface="Arial"/>
                        </a:rPr>
                        <a:t>P7</a:t>
                      </a:r>
                    </a:p>
                    <a:p>
                      <a:pPr marL="177800" marR="0" lvl="1" indent="-177800" algn="l" defTabSz="685673" rtl="0" eaLnBrk="1" fontAlgn="auto" latinLnBrk="0" hangingPunct="1">
                        <a:lnSpc>
                          <a:spcPct val="100000"/>
                        </a:lnSpc>
                        <a:spcBef>
                          <a:spcPts val="0"/>
                        </a:spcBef>
                        <a:spcAft>
                          <a:spcPts val="0"/>
                        </a:spcAft>
                        <a:buClrTx/>
                        <a:buSzTx/>
                        <a:buFont typeface="Wingdings"/>
                        <a:buChar char="ü"/>
                        <a:tabLst/>
                        <a:defRPr/>
                      </a:pPr>
                      <a:r>
                        <a:rPr lang="en-US" altLang="ja-JP" sz="900" dirty="0">
                          <a:effectLst/>
                          <a:latin typeface="+mj-ea"/>
                          <a:ea typeface="+mj-ea"/>
                        </a:rPr>
                        <a:t>3-1</a:t>
                      </a:r>
                      <a:r>
                        <a:rPr lang="ja-JP" altLang="en-US" sz="900" dirty="0">
                          <a:effectLst/>
                          <a:latin typeface="+mj-ea"/>
                          <a:ea typeface="+mj-ea"/>
                        </a:rPr>
                        <a:t>：医療機関等向け総合ポータルサイトのからの利用開始申請及び運用開始日登録後の返却メールの送付先について、資料</a:t>
                      </a:r>
                      <a:r>
                        <a:rPr lang="en-US" altLang="ja-JP" sz="900" baseline="30000" dirty="0">
                          <a:effectLst/>
                          <a:latin typeface="+mj-ea"/>
                          <a:ea typeface="+mj-ea"/>
                        </a:rPr>
                        <a:t>※</a:t>
                      </a:r>
                      <a:r>
                        <a:rPr lang="ja-JP" altLang="en-US" sz="900" dirty="0">
                          <a:effectLst/>
                          <a:latin typeface="+mj-ea"/>
                          <a:ea typeface="+mj-ea"/>
                        </a:rPr>
                        <a:t>を確認し、確認結果を</a:t>
                      </a:r>
                      <a:r>
                        <a:rPr lang="en-US" altLang="ja-JP" sz="900" dirty="0">
                          <a:effectLst/>
                          <a:latin typeface="+mj-ea"/>
                          <a:ea typeface="+mj-ea"/>
                        </a:rPr>
                        <a:t>DX</a:t>
                      </a:r>
                      <a:r>
                        <a:rPr lang="ja-JP" altLang="en-US" sz="900" dirty="0">
                          <a:effectLst/>
                          <a:latin typeface="+mj-ea"/>
                          <a:ea typeface="+mj-ea"/>
                        </a:rPr>
                        <a:t>機構に連携する。</a:t>
                      </a:r>
                      <a:r>
                        <a:rPr lang="en-US" altLang="ja-JP" sz="900" dirty="0">
                          <a:effectLst/>
                          <a:latin typeface="+mj-ea"/>
                          <a:ea typeface="+mj-ea"/>
                        </a:rPr>
                        <a:t>【</a:t>
                      </a:r>
                      <a:r>
                        <a:rPr lang="ja-JP" altLang="en-US" sz="900" dirty="0">
                          <a:effectLst/>
                          <a:latin typeface="+mj-ea"/>
                          <a:ea typeface="+mj-ea"/>
                        </a:rPr>
                        <a:t>厚労省 </a:t>
                      </a:r>
                      <a:r>
                        <a:rPr lang="en-US" altLang="ja-JP" sz="900" dirty="0">
                          <a:effectLst/>
                          <a:latin typeface="+mj-ea"/>
                          <a:ea typeface="+mj-ea"/>
                        </a:rPr>
                        <a:t>10/19】</a:t>
                      </a:r>
                      <a:br>
                        <a:rPr lang="en-US" altLang="ja-JP" sz="900" dirty="0">
                          <a:effectLst/>
                          <a:latin typeface="+mj-ea"/>
                          <a:ea typeface="+mj-ea"/>
                        </a:rPr>
                      </a:br>
                      <a:r>
                        <a:rPr lang="en-US" altLang="ja-JP" sz="900" b="0" i="0" u="none" strike="noStrike" kern="1200" cap="none" spc="0" normalizeH="0" baseline="0" noProof="0" dirty="0">
                          <a:ln>
                            <a:noFill/>
                          </a:ln>
                          <a:solidFill>
                            <a:srgbClr val="000000"/>
                          </a:solidFill>
                          <a:effectLst/>
                          <a:uLnTx/>
                          <a:uFillTx/>
                          <a:latin typeface="+mj-ea"/>
                          <a:ea typeface="+mj-ea"/>
                          <a:cs typeface="Arial"/>
                        </a:rPr>
                        <a:t>※</a:t>
                      </a:r>
                      <a:r>
                        <a:rPr lang="ja-JP" altLang="en-US" sz="900" b="0" i="0" u="none" strike="noStrike" kern="1200" cap="none" spc="0" normalizeH="0" baseline="0" noProof="0" dirty="0">
                          <a:ln>
                            <a:noFill/>
                          </a:ln>
                          <a:solidFill>
                            <a:srgbClr val="000000"/>
                          </a:solidFill>
                          <a:effectLst/>
                          <a:uLnTx/>
                          <a:uFillTx/>
                          <a:latin typeface="+mj-ea"/>
                          <a:ea typeface="+mj-ea"/>
                          <a:cs typeface="Arial"/>
                        </a:rPr>
                        <a:t>「</a:t>
                      </a:r>
                      <a:r>
                        <a:rPr lang="en-US" altLang="ja-JP" sz="900" b="0" i="0" u="none" strike="noStrike" kern="1200" cap="none" spc="0" normalizeH="0" baseline="0" noProof="0" dirty="0">
                          <a:ln>
                            <a:noFill/>
                          </a:ln>
                          <a:solidFill>
                            <a:srgbClr val="000000"/>
                          </a:solidFill>
                          <a:effectLst/>
                          <a:uLnTx/>
                          <a:uFillTx/>
                          <a:latin typeface="+mj-ea"/>
                          <a:ea typeface="+mj-ea"/>
                          <a:cs typeface="Arial"/>
                        </a:rPr>
                        <a:t>20261013_全国的な運用開始に向けたポータルサイトの蓋開けに係る調整について.pptx</a:t>
                      </a:r>
                      <a:r>
                        <a:rPr lang="ja-JP" altLang="en-US" sz="900" b="0" i="0" u="none" strike="noStrike" kern="1200" cap="none" spc="0" normalizeH="0" baseline="0" noProof="0" dirty="0">
                          <a:ln>
                            <a:noFill/>
                          </a:ln>
                          <a:solidFill>
                            <a:srgbClr val="000000"/>
                          </a:solidFill>
                          <a:effectLst/>
                          <a:uLnTx/>
                          <a:uFillTx/>
                          <a:latin typeface="+mj-ea"/>
                          <a:ea typeface="+mj-ea"/>
                          <a:cs typeface="Arial"/>
                        </a:rPr>
                        <a:t>」の</a:t>
                      </a:r>
                      <a:r>
                        <a:rPr lang="en-US" altLang="ja-JP" sz="900" b="0" i="0" u="none" strike="noStrike" kern="1200" cap="none" spc="0" normalizeH="0" baseline="0" noProof="0" dirty="0">
                          <a:ln>
                            <a:noFill/>
                          </a:ln>
                          <a:solidFill>
                            <a:srgbClr val="000000"/>
                          </a:solidFill>
                          <a:effectLst/>
                          <a:uLnTx/>
                          <a:uFillTx/>
                          <a:latin typeface="+mj-ea"/>
                          <a:ea typeface="+mj-ea"/>
                          <a:cs typeface="Arial"/>
                        </a:rPr>
                        <a:t>P8</a:t>
                      </a:r>
                    </a:p>
                    <a:p>
                      <a:pPr marL="177800" marR="0" lvl="1" indent="-177800" algn="l" defTabSz="685673" rtl="0" eaLnBrk="1" fontAlgn="auto" latinLnBrk="0" hangingPunct="1">
                        <a:lnSpc>
                          <a:spcPct val="100000"/>
                        </a:lnSpc>
                        <a:spcBef>
                          <a:spcPts val="0"/>
                        </a:spcBef>
                        <a:spcAft>
                          <a:spcPts val="0"/>
                        </a:spcAft>
                        <a:buClrTx/>
                        <a:buSzTx/>
                        <a:buFont typeface="Wingdings"/>
                        <a:buChar char="ü"/>
                        <a:tabLst/>
                        <a:defRPr/>
                      </a:pPr>
                      <a:r>
                        <a:rPr kumimoji="1" lang="en-US" altLang="ja-JP" sz="900" kern="1200" dirty="0">
                          <a:solidFill>
                            <a:schemeClr val="tx1"/>
                          </a:solidFill>
                          <a:effectLst/>
                          <a:latin typeface="+mj-ea"/>
                          <a:ea typeface="+mn-ea"/>
                          <a:cs typeface="+mn-cs"/>
                        </a:rPr>
                        <a:t>3-1</a:t>
                      </a:r>
                      <a:r>
                        <a:rPr kumimoji="1" lang="ja-JP" altLang="en-US" sz="900" kern="1200" dirty="0">
                          <a:solidFill>
                            <a:schemeClr val="tx1"/>
                          </a:solidFill>
                          <a:effectLst/>
                          <a:latin typeface="+mj-ea"/>
                          <a:ea typeface="+mn-ea"/>
                          <a:cs typeface="+mn-cs"/>
                        </a:rPr>
                        <a:t>：医療機関等向け総合ポータルサイトのからの利用申請及び運用開始日登録後の返却メールの内容を厚労省に連携する。</a:t>
                      </a:r>
                      <a:r>
                        <a:rPr kumimoji="1" lang="en-US" altLang="ja-JP" sz="900" kern="1200" dirty="0">
                          <a:solidFill>
                            <a:schemeClr val="tx1"/>
                          </a:solidFill>
                          <a:effectLst/>
                          <a:latin typeface="+mj-ea"/>
                          <a:ea typeface="+mn-ea"/>
                          <a:cs typeface="+mn-cs"/>
                        </a:rPr>
                        <a:t>【DX</a:t>
                      </a:r>
                      <a:r>
                        <a:rPr kumimoji="1" lang="ja-JP" altLang="en-US" sz="900" kern="1200" dirty="0">
                          <a:solidFill>
                            <a:schemeClr val="tx1"/>
                          </a:solidFill>
                          <a:effectLst/>
                          <a:latin typeface="+mj-ea"/>
                          <a:ea typeface="+mn-ea"/>
                          <a:cs typeface="+mn-cs"/>
                        </a:rPr>
                        <a:t>機構 </a:t>
                      </a:r>
                      <a:r>
                        <a:rPr kumimoji="1" lang="en-US" altLang="ja-JP" sz="900" kern="1200" dirty="0">
                          <a:solidFill>
                            <a:schemeClr val="tx1"/>
                          </a:solidFill>
                          <a:effectLst/>
                          <a:latin typeface="+mj-ea"/>
                          <a:ea typeface="+mn-ea"/>
                          <a:cs typeface="+mn-cs"/>
                        </a:rPr>
                        <a:t>10/15】</a:t>
                      </a:r>
                      <a:endParaRPr lang="en-US" altLang="ja-JP" sz="900" b="0" i="0" u="none" strike="noStrike" kern="1200" cap="none" spc="0" normalizeH="0" baseline="0" noProof="0" dirty="0">
                        <a:ln>
                          <a:noFill/>
                        </a:ln>
                        <a:solidFill>
                          <a:srgbClr val="000000"/>
                        </a:solidFill>
                        <a:effectLst/>
                        <a:uLnTx/>
                        <a:uFillTx/>
                        <a:latin typeface="+mj-ea"/>
                        <a:ea typeface="+mj-ea"/>
                        <a:cs typeface="Arial"/>
                      </a:endParaRPr>
                    </a:p>
                    <a:p>
                      <a:pPr marL="177800" marR="0" lvl="1" indent="-177800" algn="l" defTabSz="685673" rtl="0" eaLnBrk="1" fontAlgn="auto" latinLnBrk="0" hangingPunct="1">
                        <a:lnSpc>
                          <a:spcPct val="100000"/>
                        </a:lnSpc>
                        <a:spcBef>
                          <a:spcPts val="0"/>
                        </a:spcBef>
                        <a:spcAft>
                          <a:spcPts val="0"/>
                        </a:spcAft>
                        <a:buClrTx/>
                        <a:buSzTx/>
                        <a:buFont typeface="Wingdings"/>
                        <a:buChar char="ü"/>
                        <a:tabLst/>
                        <a:defRPr/>
                      </a:pPr>
                      <a:r>
                        <a:rPr lang="en-US" altLang="ja-JP" sz="900" dirty="0">
                          <a:effectLst/>
                          <a:latin typeface="+mj-ea"/>
                          <a:ea typeface="+mj-ea"/>
                        </a:rPr>
                        <a:t>3-1</a:t>
                      </a:r>
                      <a:r>
                        <a:rPr lang="ja-JP" altLang="en-US" sz="900" dirty="0">
                          <a:effectLst/>
                          <a:latin typeface="+mj-ea"/>
                          <a:ea typeface="+mj-ea"/>
                        </a:rPr>
                        <a:t>：医療機関等向け総合ポータルサイトのからの</a:t>
                      </a:r>
                      <a:r>
                        <a:rPr kumimoji="1" lang="ja-JP" altLang="en-US" sz="900" kern="1200" dirty="0">
                          <a:solidFill>
                            <a:schemeClr val="tx1"/>
                          </a:solidFill>
                          <a:effectLst/>
                          <a:latin typeface="+mj-ea"/>
                          <a:ea typeface="+mn-ea"/>
                          <a:cs typeface="+mn-cs"/>
                        </a:rPr>
                        <a:t>利用申請及び運用開始日登録後の返却メール</a:t>
                      </a:r>
                      <a:r>
                        <a:rPr kumimoji="1" lang="ja-JP" altLang="en-US" sz="900" kern="1200" dirty="0">
                          <a:solidFill>
                            <a:schemeClr val="tx1"/>
                          </a:solidFill>
                          <a:effectLst/>
                          <a:latin typeface="+mj-ea"/>
                          <a:ea typeface="+mj-ea"/>
                          <a:cs typeface="+mn-cs"/>
                        </a:rPr>
                        <a:t>について、</a:t>
                      </a:r>
                      <a:r>
                        <a:rPr lang="en-US" altLang="ja-JP" sz="900" dirty="0">
                          <a:effectLst/>
                          <a:latin typeface="+mj-ea"/>
                          <a:ea typeface="+mj-ea"/>
                        </a:rPr>
                        <a:t>DX</a:t>
                      </a:r>
                      <a:r>
                        <a:rPr lang="ja-JP" altLang="en-US" sz="900" dirty="0">
                          <a:effectLst/>
                          <a:latin typeface="+mj-ea"/>
                          <a:ea typeface="+mj-ea"/>
                        </a:rPr>
                        <a:t>機構より連携されるメールの内容を確認し、確認結果を</a:t>
                      </a:r>
                      <a:r>
                        <a:rPr lang="en-US" altLang="ja-JP" sz="900" dirty="0">
                          <a:effectLst/>
                          <a:latin typeface="+mj-ea"/>
                          <a:ea typeface="+mj-ea"/>
                        </a:rPr>
                        <a:t>DX</a:t>
                      </a:r>
                      <a:r>
                        <a:rPr lang="ja-JP" altLang="en-US" sz="900" dirty="0">
                          <a:effectLst/>
                          <a:latin typeface="+mj-ea"/>
                          <a:ea typeface="+mj-ea"/>
                        </a:rPr>
                        <a:t>機構に連携する。</a:t>
                      </a:r>
                      <a:r>
                        <a:rPr lang="en-US" altLang="ja-JP" sz="900" dirty="0">
                          <a:effectLst/>
                          <a:latin typeface="+mj-ea"/>
                          <a:ea typeface="+mj-ea"/>
                        </a:rPr>
                        <a:t>【</a:t>
                      </a:r>
                      <a:r>
                        <a:rPr lang="ja-JP" altLang="en-US" sz="900" dirty="0">
                          <a:effectLst/>
                          <a:latin typeface="+mj-ea"/>
                          <a:ea typeface="+mj-ea"/>
                        </a:rPr>
                        <a:t>厚労省 </a:t>
                      </a:r>
                      <a:r>
                        <a:rPr lang="en-US" altLang="ja-JP" sz="900" dirty="0">
                          <a:effectLst/>
                          <a:latin typeface="+mj-ea"/>
                          <a:ea typeface="+mj-ea"/>
                        </a:rPr>
                        <a:t>10/19】</a:t>
                      </a:r>
                    </a:p>
                    <a:p>
                      <a:pPr marL="177800" marR="0" lvl="1" indent="-177800" algn="l" defTabSz="685673" rtl="0" eaLnBrk="1" fontAlgn="auto" latinLnBrk="0" hangingPunct="1">
                        <a:lnSpc>
                          <a:spcPct val="100000"/>
                        </a:lnSpc>
                        <a:spcBef>
                          <a:spcPts val="0"/>
                        </a:spcBef>
                        <a:spcAft>
                          <a:spcPts val="0"/>
                        </a:spcAft>
                        <a:buClrTx/>
                        <a:buSzTx/>
                        <a:buFont typeface="Wingdings"/>
                        <a:buChar char="ü"/>
                        <a:tabLst/>
                        <a:defRPr/>
                      </a:pPr>
                      <a:r>
                        <a:rPr lang="en-US" altLang="ja-JP" sz="900" dirty="0">
                          <a:effectLst/>
                          <a:latin typeface="+mj-ea"/>
                          <a:ea typeface="+mj-ea"/>
                        </a:rPr>
                        <a:t>4-1</a:t>
                      </a:r>
                      <a:r>
                        <a:rPr lang="ja-JP" altLang="en-US" sz="900" dirty="0">
                          <a:effectLst/>
                          <a:latin typeface="+mj-ea"/>
                          <a:ea typeface="+mj-ea"/>
                        </a:rPr>
                        <a:t>：「準備作業手引き」のファイルを</a:t>
                      </a:r>
                      <a:r>
                        <a:rPr lang="en-US" altLang="ja-JP" sz="900" dirty="0">
                          <a:effectLst/>
                          <a:latin typeface="+mj-ea"/>
                          <a:ea typeface="+mj-ea"/>
                        </a:rPr>
                        <a:t>DX</a:t>
                      </a:r>
                      <a:r>
                        <a:rPr lang="ja-JP" altLang="en-US" sz="900" dirty="0">
                          <a:effectLst/>
                          <a:latin typeface="+mj-ea"/>
                          <a:ea typeface="+mj-ea"/>
                        </a:rPr>
                        <a:t>機構に連携する。</a:t>
                      </a:r>
                      <a:r>
                        <a:rPr lang="en-US" altLang="ja-JP" sz="900" dirty="0">
                          <a:effectLst/>
                          <a:latin typeface="+mj-ea"/>
                          <a:ea typeface="+mj-ea"/>
                        </a:rPr>
                        <a:t>【</a:t>
                      </a:r>
                      <a:r>
                        <a:rPr lang="ja-JP" altLang="en-US" sz="900" dirty="0">
                          <a:effectLst/>
                          <a:latin typeface="+mj-ea"/>
                          <a:ea typeface="+mj-ea"/>
                        </a:rPr>
                        <a:t>厚労省 </a:t>
                      </a:r>
                      <a:r>
                        <a:rPr lang="en-US" altLang="ja-JP" sz="900" dirty="0">
                          <a:effectLst/>
                          <a:latin typeface="+mj-ea"/>
                          <a:ea typeface="+mj-ea"/>
                        </a:rPr>
                        <a:t>12/14】</a:t>
                      </a:r>
                    </a:p>
                    <a:p>
                      <a:pPr marL="177800" marR="0" lvl="1" indent="-177800" algn="l" defTabSz="685673" rtl="0" eaLnBrk="1" fontAlgn="auto" latinLnBrk="0" hangingPunct="1">
                        <a:lnSpc>
                          <a:spcPct val="100000"/>
                        </a:lnSpc>
                        <a:spcBef>
                          <a:spcPts val="0"/>
                        </a:spcBef>
                        <a:spcAft>
                          <a:spcPts val="0"/>
                        </a:spcAft>
                        <a:buClrTx/>
                        <a:buSzTx/>
                        <a:buFont typeface="Wingdings"/>
                        <a:buChar char="ü"/>
                        <a:tabLst/>
                        <a:defRPr/>
                      </a:pPr>
                      <a:r>
                        <a:rPr lang="en-US" altLang="ja-JP" sz="900" b="0" i="0" u="none" strike="noStrike" kern="1200" cap="none" spc="0" normalizeH="0" baseline="0" noProof="0" dirty="0">
                          <a:ln>
                            <a:noFill/>
                          </a:ln>
                          <a:solidFill>
                            <a:srgbClr val="000000"/>
                          </a:solidFill>
                          <a:effectLst/>
                          <a:uLnTx/>
                          <a:uFillTx/>
                          <a:latin typeface="+mj-ea"/>
                          <a:ea typeface="+mj-ea"/>
                          <a:cs typeface="Arial"/>
                        </a:rPr>
                        <a:t>4-2</a:t>
                      </a:r>
                      <a:r>
                        <a:rPr lang="ja-JP" altLang="en-US" sz="900" b="0" i="0" u="none" strike="noStrike" kern="1200" cap="none" spc="0" normalizeH="0" baseline="0" noProof="0" dirty="0">
                          <a:ln>
                            <a:noFill/>
                          </a:ln>
                          <a:solidFill>
                            <a:srgbClr val="000000"/>
                          </a:solidFill>
                          <a:effectLst/>
                          <a:uLnTx/>
                          <a:uFillTx/>
                          <a:latin typeface="+mj-ea"/>
                          <a:ea typeface="+mj-ea"/>
                          <a:cs typeface="Arial"/>
                        </a:rPr>
                        <a:t>：厚労省</a:t>
                      </a:r>
                      <a:r>
                        <a:rPr lang="en-US" altLang="ja-JP" sz="900" b="0" i="0" u="none" strike="noStrike" kern="1200" cap="none" spc="0" normalizeH="0" baseline="0" noProof="0" dirty="0">
                          <a:ln>
                            <a:noFill/>
                          </a:ln>
                          <a:solidFill>
                            <a:srgbClr val="000000"/>
                          </a:solidFill>
                          <a:effectLst/>
                          <a:uLnTx/>
                          <a:uFillTx/>
                          <a:latin typeface="+mj-ea"/>
                          <a:ea typeface="+mj-ea"/>
                          <a:cs typeface="Arial"/>
                        </a:rPr>
                        <a:t>HP</a:t>
                      </a:r>
                      <a:r>
                        <a:rPr lang="ja-JP" altLang="en-US" sz="900" b="0" i="0" u="none" strike="noStrike" kern="1200" cap="none" spc="0" normalizeH="0" baseline="0" noProof="0" dirty="0">
                          <a:ln>
                            <a:noFill/>
                          </a:ln>
                          <a:solidFill>
                            <a:srgbClr val="000000"/>
                          </a:solidFill>
                          <a:effectLst/>
                          <a:uLnTx/>
                          <a:uFillTx/>
                          <a:latin typeface="+mj-ea"/>
                          <a:ea typeface="+mj-ea"/>
                          <a:cs typeface="Arial"/>
                        </a:rPr>
                        <a:t>に掲載する</a:t>
                      </a:r>
                      <a:r>
                        <a:rPr kumimoji="1" lang="ja-JP" altLang="en-US" sz="900" b="0" i="0" u="none" strike="noStrike" kern="1200" cap="none" spc="0" normalizeH="0" baseline="0" noProof="0" dirty="0">
                          <a:ln>
                            <a:noFill/>
                          </a:ln>
                          <a:solidFill>
                            <a:srgbClr val="000000"/>
                          </a:solidFill>
                          <a:effectLst/>
                          <a:uLnTx/>
                          <a:uFillTx/>
                          <a:latin typeface="+mj-ea"/>
                          <a:ea typeface="+mn-ea"/>
                          <a:cs typeface="Arial"/>
                        </a:rPr>
                        <a:t>電カル共有単独の</a:t>
                      </a:r>
                      <a:r>
                        <a:rPr lang="ja-JP" altLang="en-US" sz="900" b="0" i="0" u="none" strike="noStrike" kern="1200" cap="none" spc="0" normalizeH="0" baseline="0" noProof="0" dirty="0">
                          <a:ln>
                            <a:noFill/>
                          </a:ln>
                          <a:solidFill>
                            <a:srgbClr val="000000"/>
                          </a:solidFill>
                          <a:effectLst/>
                          <a:uLnTx/>
                          <a:uFillTx/>
                          <a:latin typeface="+mj-ea"/>
                          <a:ea typeface="+mj-ea"/>
                          <a:cs typeface="Arial"/>
                        </a:rPr>
                        <a:t>参加医療機関リストの掲載先の</a:t>
                      </a:r>
                      <a:r>
                        <a:rPr lang="en-US" altLang="ja-JP" sz="900" b="0" i="0" u="none" strike="noStrike" kern="1200" cap="none" spc="0" normalizeH="0" baseline="0" noProof="0" dirty="0">
                          <a:ln>
                            <a:noFill/>
                          </a:ln>
                          <a:solidFill>
                            <a:srgbClr val="000000"/>
                          </a:solidFill>
                          <a:effectLst/>
                          <a:uLnTx/>
                          <a:uFillTx/>
                          <a:latin typeface="+mj-ea"/>
                          <a:ea typeface="+mj-ea"/>
                          <a:cs typeface="Arial"/>
                        </a:rPr>
                        <a:t>URL</a:t>
                      </a:r>
                      <a:r>
                        <a:rPr lang="ja-JP" altLang="en-US" sz="900" b="0" i="0" u="none" strike="noStrike" kern="1200" cap="none" spc="0" normalizeH="0" baseline="0" noProof="0" dirty="0">
                          <a:ln>
                            <a:noFill/>
                          </a:ln>
                          <a:solidFill>
                            <a:srgbClr val="000000"/>
                          </a:solidFill>
                          <a:effectLst/>
                          <a:uLnTx/>
                          <a:uFillTx/>
                          <a:latin typeface="+mj-ea"/>
                          <a:ea typeface="+mj-ea"/>
                          <a:cs typeface="Arial"/>
                        </a:rPr>
                        <a:t>を</a:t>
                      </a:r>
                      <a:r>
                        <a:rPr lang="en-US" altLang="ja-JP" sz="900" b="0" i="0" u="none" strike="noStrike" kern="1200" cap="none" spc="0" normalizeH="0" baseline="0" noProof="0" dirty="0">
                          <a:ln>
                            <a:noFill/>
                          </a:ln>
                          <a:solidFill>
                            <a:srgbClr val="000000"/>
                          </a:solidFill>
                          <a:effectLst/>
                          <a:uLnTx/>
                          <a:uFillTx/>
                          <a:latin typeface="+mj-ea"/>
                          <a:ea typeface="+mj-ea"/>
                          <a:cs typeface="Arial"/>
                        </a:rPr>
                        <a:t>DX</a:t>
                      </a:r>
                      <a:r>
                        <a:rPr lang="ja-JP" altLang="en-US" sz="900" b="0" i="0" u="none" strike="noStrike" kern="1200" cap="none" spc="0" normalizeH="0" baseline="0" noProof="0" dirty="0">
                          <a:ln>
                            <a:noFill/>
                          </a:ln>
                          <a:solidFill>
                            <a:srgbClr val="000000"/>
                          </a:solidFill>
                          <a:effectLst/>
                          <a:uLnTx/>
                          <a:uFillTx/>
                          <a:latin typeface="+mj-ea"/>
                          <a:ea typeface="+mj-ea"/>
                          <a:cs typeface="Arial"/>
                        </a:rPr>
                        <a:t>機構に連携する。</a:t>
                      </a:r>
                      <a:r>
                        <a:rPr lang="en-US" altLang="ja-JP" sz="900" b="0" i="0" u="none" strike="noStrike" kern="1200" cap="none" spc="0" normalizeH="0" baseline="0" noProof="0" dirty="0">
                          <a:ln>
                            <a:noFill/>
                          </a:ln>
                          <a:solidFill>
                            <a:srgbClr val="000000"/>
                          </a:solidFill>
                          <a:effectLst/>
                          <a:uLnTx/>
                          <a:uFillTx/>
                          <a:latin typeface="+mj-ea"/>
                          <a:ea typeface="+mj-ea"/>
                          <a:cs typeface="Arial"/>
                        </a:rPr>
                        <a:t>【</a:t>
                      </a:r>
                      <a:r>
                        <a:rPr lang="ja-JP" altLang="en-US" sz="900" b="0" i="0" u="none" strike="noStrike" kern="1200" cap="none" spc="0" normalizeH="0" baseline="0" noProof="0" dirty="0">
                          <a:ln>
                            <a:noFill/>
                          </a:ln>
                          <a:solidFill>
                            <a:srgbClr val="000000"/>
                          </a:solidFill>
                          <a:effectLst/>
                          <a:uLnTx/>
                          <a:uFillTx/>
                          <a:latin typeface="+mj-ea"/>
                          <a:ea typeface="+mj-ea"/>
                          <a:cs typeface="Arial"/>
                        </a:rPr>
                        <a:t>厚労省 </a:t>
                      </a:r>
                      <a:r>
                        <a:rPr lang="en-US" altLang="ja-JP" sz="900" b="0" i="0" u="none" strike="noStrike" kern="1200" cap="none" spc="0" normalizeH="0" baseline="0" noProof="0" dirty="0">
                          <a:ln>
                            <a:noFill/>
                          </a:ln>
                          <a:solidFill>
                            <a:srgbClr val="000000"/>
                          </a:solidFill>
                          <a:effectLst/>
                          <a:uLnTx/>
                          <a:uFillTx/>
                          <a:latin typeface="+mj-ea"/>
                          <a:ea typeface="+mj-ea"/>
                          <a:cs typeface="Arial"/>
                        </a:rPr>
                        <a:t>12/14】</a:t>
                      </a:r>
                    </a:p>
                    <a:p>
                      <a:pPr marL="177800" marR="0" lvl="1" indent="-177800" algn="l" defTabSz="685673" rtl="0" eaLnBrk="1" fontAlgn="auto" latinLnBrk="0" hangingPunct="1">
                        <a:lnSpc>
                          <a:spcPct val="100000"/>
                        </a:lnSpc>
                        <a:spcBef>
                          <a:spcPts val="0"/>
                        </a:spcBef>
                        <a:spcAft>
                          <a:spcPts val="0"/>
                        </a:spcAft>
                        <a:buClrTx/>
                        <a:buSzTx/>
                        <a:buFont typeface="Wingdings"/>
                        <a:buChar char="ü"/>
                        <a:tabLst/>
                        <a:defRPr/>
                      </a:pPr>
                      <a:r>
                        <a:rPr lang="en-US" altLang="ja-JP" sz="900" b="0" i="0" u="none" strike="noStrike" kern="1200" cap="none" spc="0" normalizeH="0" baseline="0" noProof="0" dirty="0">
                          <a:ln>
                            <a:noFill/>
                          </a:ln>
                          <a:solidFill>
                            <a:srgbClr val="000000"/>
                          </a:solidFill>
                          <a:effectLst/>
                          <a:uLnTx/>
                          <a:uFillTx/>
                          <a:latin typeface="+mj-ea"/>
                          <a:ea typeface="+mj-ea"/>
                          <a:cs typeface="Arial"/>
                        </a:rPr>
                        <a:t>5</a:t>
                      </a:r>
                      <a:r>
                        <a:rPr lang="ja-JP" altLang="en-US" sz="900" b="0" i="0" u="none" strike="noStrike" kern="1200" cap="none" spc="0" normalizeH="0" baseline="0" noProof="0" dirty="0">
                          <a:ln>
                            <a:noFill/>
                          </a:ln>
                          <a:solidFill>
                            <a:srgbClr val="000000"/>
                          </a:solidFill>
                          <a:effectLst/>
                          <a:uLnTx/>
                          <a:uFillTx/>
                          <a:latin typeface="+mj-ea"/>
                          <a:ea typeface="+mj-ea"/>
                          <a:cs typeface="Arial"/>
                        </a:rPr>
                        <a:t>：</a:t>
                      </a:r>
                      <a:r>
                        <a:rPr kumimoji="1" lang="ja-JP" altLang="en-US" sz="900" b="0" i="0" u="none" strike="noStrike" kern="1200" cap="none" spc="0" normalizeH="0" baseline="0" noProof="0" dirty="0">
                          <a:ln>
                            <a:noFill/>
                          </a:ln>
                          <a:solidFill>
                            <a:srgbClr val="000000"/>
                          </a:solidFill>
                          <a:effectLst/>
                          <a:uLnTx/>
                          <a:uFillTx/>
                          <a:latin typeface="+mj-ea"/>
                          <a:ea typeface="+mn-ea"/>
                          <a:cs typeface="Arial"/>
                        </a:rPr>
                        <a:t>オン資・電処・電カル共有の</a:t>
                      </a:r>
                      <a:r>
                        <a:rPr lang="ja-JP" altLang="en-US" sz="900" b="0" i="0" u="none" strike="noStrike" kern="1200" cap="none" spc="0" normalizeH="0" baseline="0" noProof="0" dirty="0">
                          <a:ln>
                            <a:noFill/>
                          </a:ln>
                          <a:solidFill>
                            <a:srgbClr val="000000"/>
                          </a:solidFill>
                          <a:effectLst/>
                          <a:uLnTx/>
                          <a:uFillTx/>
                          <a:latin typeface="+mj-ea"/>
                          <a:ea typeface="+mj-ea"/>
                          <a:cs typeface="Arial"/>
                        </a:rPr>
                        <a:t>参加医療機関リスト、および、電カル共有単独の参加医療機関リストそれぞれについて、</a:t>
                      </a:r>
                      <a:r>
                        <a:rPr lang="en-US" altLang="ja-JP" sz="900" b="0" i="0" u="none" strike="noStrike" kern="1200" cap="none" spc="0" normalizeH="0" baseline="0" noProof="0" dirty="0">
                          <a:ln>
                            <a:noFill/>
                          </a:ln>
                          <a:solidFill>
                            <a:srgbClr val="000000"/>
                          </a:solidFill>
                          <a:effectLst/>
                          <a:uLnTx/>
                          <a:uFillTx/>
                          <a:latin typeface="+mj-ea"/>
                          <a:ea typeface="+mj-ea"/>
                          <a:cs typeface="Arial"/>
                        </a:rPr>
                        <a:t>Excel</a:t>
                      </a:r>
                      <a:r>
                        <a:rPr lang="ja-JP" altLang="en-US" sz="900" b="0" i="0" u="none" strike="noStrike" kern="1200" cap="none" spc="0" normalizeH="0" baseline="0" noProof="0" dirty="0">
                          <a:ln>
                            <a:noFill/>
                          </a:ln>
                          <a:solidFill>
                            <a:srgbClr val="000000"/>
                          </a:solidFill>
                          <a:effectLst/>
                          <a:uLnTx/>
                          <a:uFillTx/>
                          <a:latin typeface="+mj-ea"/>
                          <a:ea typeface="+mj-ea"/>
                          <a:cs typeface="Arial"/>
                        </a:rPr>
                        <a:t>のレイアウト案</a:t>
                      </a:r>
                      <a:r>
                        <a:rPr lang="en-US" altLang="ja-JP" sz="900" b="0" i="0" u="none" strike="noStrike" kern="1200" cap="none" spc="0" normalizeH="0" baseline="30000" noProof="0" dirty="0">
                          <a:ln>
                            <a:noFill/>
                          </a:ln>
                          <a:solidFill>
                            <a:srgbClr val="000000"/>
                          </a:solidFill>
                          <a:effectLst/>
                          <a:uLnTx/>
                          <a:uFillTx/>
                          <a:latin typeface="+mj-ea"/>
                          <a:ea typeface="+mj-ea"/>
                          <a:cs typeface="Arial"/>
                        </a:rPr>
                        <a:t>※</a:t>
                      </a:r>
                      <a:r>
                        <a:rPr lang="ja-JP" altLang="en-US" sz="900" b="0" i="0" u="none" strike="noStrike" kern="1200" cap="none" spc="0" normalizeH="0" baseline="0" noProof="0" dirty="0">
                          <a:ln>
                            <a:noFill/>
                          </a:ln>
                          <a:solidFill>
                            <a:srgbClr val="000000"/>
                          </a:solidFill>
                          <a:effectLst/>
                          <a:uLnTx/>
                          <a:uFillTx/>
                          <a:latin typeface="+mj-ea"/>
                          <a:ea typeface="+mj-ea"/>
                          <a:cs typeface="Arial"/>
                        </a:rPr>
                        <a:t>を確認し、確認結果を機構に連携する。</a:t>
                      </a:r>
                      <a:r>
                        <a:rPr lang="en-US" altLang="ja-JP" sz="900" dirty="0">
                          <a:effectLst/>
                          <a:latin typeface="+mj-ea"/>
                          <a:ea typeface="+mj-ea"/>
                        </a:rPr>
                        <a:t>【</a:t>
                      </a:r>
                      <a:r>
                        <a:rPr lang="ja-JP" altLang="en-US" sz="900" dirty="0">
                          <a:effectLst/>
                          <a:latin typeface="+mj-ea"/>
                          <a:ea typeface="+mj-ea"/>
                        </a:rPr>
                        <a:t>厚労省 </a:t>
                      </a:r>
                      <a:r>
                        <a:rPr lang="en-US" altLang="ja-JP" sz="900" dirty="0">
                          <a:effectLst/>
                          <a:latin typeface="+mj-ea"/>
                          <a:ea typeface="+mj-ea"/>
                        </a:rPr>
                        <a:t>10/19】</a:t>
                      </a:r>
                      <a:br>
                        <a:rPr lang="en-US" altLang="ja-JP" sz="900" dirty="0">
                          <a:effectLst/>
                          <a:latin typeface="+mj-ea"/>
                          <a:ea typeface="+mj-ea"/>
                        </a:rPr>
                      </a:br>
                      <a:r>
                        <a:rPr lang="en-US" altLang="ja-JP" sz="900" b="0" i="0" u="none" strike="noStrike" kern="1200" cap="none" spc="0" normalizeH="0" baseline="0" noProof="0" dirty="0">
                          <a:ln>
                            <a:noFill/>
                          </a:ln>
                          <a:solidFill>
                            <a:srgbClr val="000000"/>
                          </a:solidFill>
                          <a:effectLst/>
                          <a:uLnTx/>
                          <a:uFillTx/>
                          <a:latin typeface="+mj-ea"/>
                          <a:ea typeface="+mj-ea"/>
                          <a:cs typeface="Arial"/>
                        </a:rPr>
                        <a:t>※</a:t>
                      </a:r>
                      <a:r>
                        <a:rPr lang="ja-JP" altLang="en-US" sz="900" b="0" i="0" u="none" strike="noStrike" kern="1200" cap="none" spc="0" normalizeH="0" baseline="0" noProof="0" dirty="0">
                          <a:ln>
                            <a:noFill/>
                          </a:ln>
                          <a:solidFill>
                            <a:srgbClr val="000000"/>
                          </a:solidFill>
                          <a:effectLst/>
                          <a:uLnTx/>
                          <a:uFillTx/>
                          <a:latin typeface="+mj-ea"/>
                          <a:ea typeface="+mj-ea"/>
                          <a:cs typeface="Arial"/>
                        </a:rPr>
                        <a:t>「</a:t>
                      </a:r>
                      <a:r>
                        <a:rPr lang="en-US" altLang="ja-JP" sz="900" b="0" i="0" u="none" strike="noStrike" kern="1200" cap="none" spc="0" normalizeH="0" baseline="0" noProof="0" dirty="0">
                          <a:ln>
                            <a:noFill/>
                          </a:ln>
                          <a:solidFill>
                            <a:srgbClr val="000000"/>
                          </a:solidFill>
                          <a:effectLst/>
                          <a:uLnTx/>
                          <a:uFillTx/>
                          <a:latin typeface="+mj-ea"/>
                          <a:ea typeface="+mj-ea"/>
                          <a:cs typeface="Arial"/>
                        </a:rPr>
                        <a:t>20261013_全国的な運用開始に向けたポータルサイトの蓋開けに係る調整について.pptx</a:t>
                      </a:r>
                      <a:r>
                        <a:rPr lang="ja-JP" altLang="en-US" sz="900" b="0" i="0" u="none" strike="noStrike" kern="1200" cap="none" spc="0" normalizeH="0" baseline="0" noProof="0" dirty="0">
                          <a:ln>
                            <a:noFill/>
                          </a:ln>
                          <a:solidFill>
                            <a:srgbClr val="000000"/>
                          </a:solidFill>
                          <a:effectLst/>
                          <a:uLnTx/>
                          <a:uFillTx/>
                          <a:latin typeface="+mj-ea"/>
                          <a:ea typeface="+mj-ea"/>
                          <a:cs typeface="Arial"/>
                        </a:rPr>
                        <a:t>」の</a:t>
                      </a:r>
                      <a:r>
                        <a:rPr lang="en-US" altLang="ja-JP" sz="900" b="0" i="0" u="none" strike="noStrike" kern="1200" cap="none" spc="0" normalizeH="0" baseline="0" noProof="0" dirty="0">
                          <a:ln>
                            <a:noFill/>
                          </a:ln>
                          <a:solidFill>
                            <a:srgbClr val="000000"/>
                          </a:solidFill>
                          <a:effectLst/>
                          <a:uLnTx/>
                          <a:uFillTx/>
                          <a:latin typeface="+mj-ea"/>
                          <a:ea typeface="+mj-ea"/>
                          <a:cs typeface="Arial"/>
                        </a:rPr>
                        <a:t>P10</a:t>
                      </a:r>
                      <a:r>
                        <a:rPr lang="ja-JP" altLang="en-US" sz="900" b="0" i="0" u="none" strike="noStrike" kern="1200" cap="none" spc="0" normalizeH="0" baseline="0" noProof="0" dirty="0">
                          <a:ln>
                            <a:noFill/>
                          </a:ln>
                          <a:solidFill>
                            <a:srgbClr val="000000"/>
                          </a:solidFill>
                          <a:effectLst/>
                          <a:uLnTx/>
                          <a:uFillTx/>
                          <a:latin typeface="+mj-ea"/>
                          <a:ea typeface="+mj-ea"/>
                          <a:cs typeface="Arial"/>
                        </a:rPr>
                        <a:t>～</a:t>
                      </a:r>
                      <a:r>
                        <a:rPr lang="en-US" altLang="ja-JP" sz="900" b="0" i="0" u="none" strike="noStrike" kern="1200" cap="none" spc="0" normalizeH="0" baseline="0" noProof="0" dirty="0">
                          <a:ln>
                            <a:noFill/>
                          </a:ln>
                          <a:solidFill>
                            <a:srgbClr val="000000"/>
                          </a:solidFill>
                          <a:effectLst/>
                          <a:uLnTx/>
                          <a:uFillTx/>
                          <a:latin typeface="+mj-ea"/>
                          <a:ea typeface="+mj-ea"/>
                          <a:cs typeface="Arial"/>
                        </a:rPr>
                        <a:t>p11</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88111704"/>
                  </a:ext>
                </a:extLst>
              </a:tr>
              <a:tr h="0">
                <a:tc>
                  <a:txBody>
                    <a:bodyPr/>
                    <a:lstStyle/>
                    <a:p>
                      <a:pPr marL="0" algn="l" defTabSz="843930" rtl="0" eaLnBrk="1" fontAlgn="base" latinLnBrk="0" hangingPunct="1">
                        <a:lnSpc>
                          <a:spcPts val="1200"/>
                        </a:lnSpc>
                      </a:pPr>
                      <a:r>
                        <a:rPr kumimoji="1" lang="ja-JP" altLang="en-US" sz="900" b="0" i="0" kern="1200">
                          <a:solidFill>
                            <a:schemeClr val="tx1"/>
                          </a:solidFill>
                          <a:effectLst/>
                          <a:latin typeface="+mn-ea"/>
                          <a:ea typeface="+mn-ea"/>
                          <a:cs typeface="+mn-cs"/>
                        </a:rPr>
                        <a:t>ー</a:t>
                      </a:r>
                      <a:endParaRPr kumimoji="1" lang="en-US" sz="900" b="0" i="0" kern="1200">
                        <a:solidFill>
                          <a:schemeClr val="tx1"/>
                        </a:solidFill>
                        <a:effectLst/>
                        <a:latin typeface="+mn-ea"/>
                        <a:ea typeface="+mn-ea"/>
                        <a:cs typeface="+mn-cs"/>
                      </a:endParaRP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i="0" kern="1200">
                          <a:solidFill>
                            <a:schemeClr val="tx1"/>
                          </a:solidFill>
                          <a:effectLst/>
                          <a:latin typeface="+mn-ea"/>
                          <a:ea typeface="+mn-ea"/>
                          <a:cs typeface="+mn-cs"/>
                        </a:rPr>
                        <a:t>ラップアップ</a:t>
                      </a: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 typeface="Wingdings" panose="05000000000000000000" pitchFamily="2" charset="2"/>
                        <a:buNone/>
                        <a:tabLst/>
                        <a:defRPr/>
                      </a:pPr>
                      <a:r>
                        <a:rPr kumimoji="1" lang="ja-JP" altLang="en-US" sz="900" b="0" i="0" u="none" strike="noStrike" kern="1200" cap="none" spc="0" normalizeH="0" baseline="0" noProof="0">
                          <a:ln>
                            <a:noFill/>
                          </a:ln>
                          <a:solidFill>
                            <a:schemeClr val="tx1"/>
                          </a:solidFill>
                          <a:effectLst/>
                          <a:uLnTx/>
                          <a:uFillTx/>
                          <a:latin typeface="Meiryo UI"/>
                          <a:ea typeface="Meiryo UI"/>
                          <a:cs typeface="+mn-cs"/>
                        </a:rPr>
                        <a:t>ー</a:t>
                      </a:r>
                      <a:endParaRPr kumimoji="1" lang="en-US" altLang="ja-JP" sz="900" b="0" i="0" u="none" strike="noStrike" kern="1200" cap="none" spc="0" normalizeH="0" baseline="0" noProof="0">
                        <a:ln>
                          <a:noFill/>
                        </a:ln>
                        <a:solidFill>
                          <a:schemeClr val="tx1"/>
                        </a:solidFill>
                        <a:effectLst/>
                        <a:uLnTx/>
                        <a:uFillTx/>
                        <a:latin typeface="Meiryo UI"/>
                        <a:ea typeface="Meiryo UI"/>
                        <a:cs typeface="+mn-cs"/>
                      </a:endParaRP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base" latinLnBrk="0" hangingPunct="1">
                        <a:lnSpc>
                          <a:spcPts val="1200"/>
                        </a:lnSpc>
                        <a:spcBef>
                          <a:spcPts val="0"/>
                        </a:spcBef>
                        <a:spcAft>
                          <a:spcPts val="0"/>
                        </a:spcAft>
                        <a:buClrTx/>
                        <a:buSzTx/>
                        <a:buFont typeface="Wingdings" panose="05000000000000000000" pitchFamily="2" charset="2"/>
                        <a:buChar char="ü"/>
                        <a:tabLst/>
                        <a:defRPr/>
                      </a:pPr>
                      <a:r>
                        <a:rPr kumimoji="1" lang="ja-JP" altLang="en-US" sz="900" b="0" i="0" u="none" strike="noStrike" kern="1200" cap="none" spc="0" normalizeH="0" baseline="0" noProof="0">
                          <a:ln>
                            <a:noFill/>
                          </a:ln>
                          <a:solidFill>
                            <a:schemeClr val="tx1"/>
                          </a:solidFill>
                          <a:effectLst/>
                          <a:uLnTx/>
                          <a:uFillTx/>
                          <a:latin typeface="+mn-ea"/>
                          <a:ea typeface="+mn-ea"/>
                          <a:cs typeface="+mn-cs"/>
                        </a:rPr>
                        <a:t>特になし</a:t>
                      </a:r>
                      <a:endParaRPr kumimoji="1" lang="en-US" altLang="ja-JP" sz="900" b="0" i="0" u="none" strike="noStrike" kern="1200" cap="none" spc="0" normalizeH="0" baseline="0" noProof="0">
                        <a:ln>
                          <a:noFill/>
                        </a:ln>
                        <a:solidFill>
                          <a:schemeClr val="tx1"/>
                        </a:solidFill>
                        <a:effectLst/>
                        <a:uLnTx/>
                        <a:uFillTx/>
                        <a:latin typeface="Meiryo UI"/>
                        <a:ea typeface="Meiryo UI"/>
                        <a:cs typeface="+mn-cs"/>
                      </a:endParaRP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base" latinLnBrk="0" hangingPunct="1">
                        <a:lnSpc>
                          <a:spcPts val="1200"/>
                        </a:lnSpc>
                        <a:spcBef>
                          <a:spcPts val="0"/>
                        </a:spcBef>
                        <a:spcAft>
                          <a:spcPts val="0"/>
                        </a:spcAft>
                        <a:buClrTx/>
                        <a:buSzTx/>
                        <a:buFont typeface="Wingdings" panose="05000000000000000000" pitchFamily="2" charset="2"/>
                        <a:buChar char="ü"/>
                        <a:tabLst/>
                        <a:defRPr/>
                      </a:pPr>
                      <a:r>
                        <a:rPr kumimoji="1" lang="ja-JP" altLang="en-US" sz="900" b="0" i="0" u="none" strike="noStrike" kern="1200" cap="none" spc="0" normalizeH="0" baseline="0" noProof="0" dirty="0">
                          <a:ln>
                            <a:noFill/>
                          </a:ln>
                          <a:solidFill>
                            <a:schemeClr val="tx1"/>
                          </a:solidFill>
                          <a:effectLst/>
                          <a:uLnTx/>
                          <a:uFillTx/>
                          <a:latin typeface="Meiryo UI"/>
                          <a:ea typeface="+mn-ea"/>
                          <a:cs typeface="+mn-cs"/>
                        </a:rPr>
                        <a:t>特になし</a:t>
                      </a:r>
                      <a:endParaRPr kumimoji="1" lang="en-US" altLang="ja-JP" sz="900" b="0" i="0" u="none" strike="noStrike" kern="1200" cap="none" spc="0" normalizeH="0" baseline="0" noProof="0" dirty="0">
                        <a:ln>
                          <a:noFill/>
                        </a:ln>
                        <a:solidFill>
                          <a:schemeClr val="tx1"/>
                        </a:solidFill>
                        <a:effectLst/>
                        <a:uLnTx/>
                        <a:uFillTx/>
                        <a:latin typeface="Meiryo UI"/>
                        <a:ea typeface="+mn-ea"/>
                        <a:cs typeface="+mn-cs"/>
                      </a:endParaRP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6924032"/>
                  </a:ext>
                </a:extLst>
              </a:tr>
            </a:tbl>
          </a:graphicData>
        </a:graphic>
      </p:graphicFrame>
    </p:spTree>
    <p:extLst>
      <p:ext uri="{BB962C8B-B14F-4D97-AF65-F5344CB8AC3E}">
        <p14:creationId xmlns:p14="http://schemas.microsoft.com/office/powerpoint/2010/main" val="41049519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rgbClr val="FF0000"/>
          </a:solidFill>
          <a:prstDash val="solid"/>
        </a:ln>
        <a:effectLst/>
      </a:spPr>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defPPr algn="ctr" eaLnBrk="0" hangingPunct="0">
          <a:lnSpc>
            <a:spcPct val="100000"/>
          </a:lnSpc>
          <a:defRPr kumimoji="0" sz="800" i="0" ker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2.xml><?xml version="1.0" encoding="utf-8"?>
<a:theme xmlns:a="http://schemas.openxmlformats.org/drawingml/2006/main" name="2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9933FF">
            <a:alpha val="34118"/>
          </a:srgbClr>
        </a:solidFill>
        <a:ln w="9525" cap="flat" cmpd="sng" algn="ctr">
          <a:solidFill>
            <a:srgbClr val="9933FF"/>
          </a:solidFill>
          <a:prstDash val="solid"/>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l" eaLnBrk="0" hangingPunct="0">
          <a:lnSpc>
            <a:spcPct val="100000"/>
          </a:lnSpc>
          <a:defRPr kumimoji="0" sz="1200" kern="0" dirty="0" smtClea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3.xml><?xml version="1.0" encoding="utf-8"?>
<a:theme xmlns:a="http://schemas.openxmlformats.org/drawingml/2006/main" name="8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a:noFill/>
        </a:ln>
      </a:spPr>
      <a:bodyPr rtlCol="0" anchor="ctr"/>
      <a:lstStyle>
        <a:defPPr algn="l" fontAlgn="base">
          <a:spcBef>
            <a:spcPct val="20000"/>
          </a:spcBef>
          <a:spcAft>
            <a:spcPct val="0"/>
          </a:spcAft>
          <a:defRPr sz="1400" dirty="0" err="1" smtClean="0">
            <a:latin typeface="+mj-ea"/>
            <a:ea typeface="+mj-ea"/>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AD26169CDAAF6B41B8B557D8EAD22A36" ma:contentTypeVersion="11" ma:contentTypeDescription="新しいドキュメントを作成します。" ma:contentTypeScope="" ma:versionID="a52047099d1dd8de6e74bf87a4a73917">
  <xsd:schema xmlns:xsd="http://www.w3.org/2001/XMLSchema" xmlns:xs="http://www.w3.org/2001/XMLSchema" xmlns:p="http://schemas.microsoft.com/office/2006/metadata/properties" xmlns:ns2="e356ba7c-6f75-4160-892e-139003efe231" targetNamespace="http://schemas.microsoft.com/office/2006/metadata/properties" ma:root="true" ma:fieldsID="429bb204e7b0455599c34819c2da32be" ns2:_="">
    <xsd:import namespace="e356ba7c-6f75-4160-892e-139003efe23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56ba7c-6f75-4160-892e-139003efe2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5" nillable="true" ma:displayName="MediaServiceBillingMetadata" ma:hidden="true" ma:internalName="MediaServiceBillingMetadata" ma:readOnly="true">
      <xsd:simpleType>
        <xsd:restriction base="dms:Note"/>
      </xsd:simpleType>
    </xsd:element>
    <xsd:element name="lcf76f155ced4ddcb4097134ff3c332f" ma:index="17" nillable="true" ma:taxonomy="true" ma:internalName="lcf76f155ced4ddcb4097134ff3c332f" ma:taxonomyFieldName="MediaServiceImageTags" ma:displayName="画像タグ" ma:readOnly="false" ma:fieldId="{5cf76f15-5ced-4ddc-b409-7134ff3c332f}" ma:taxonomyMulti="true" ma:sspId="0347f584-7be2-4218-8e94-402d99aedf0b"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356ba7c-6f75-4160-892e-139003efe23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EF5906E-92F1-4047-A3C6-942F8A2C80DE}"/>
</file>

<file path=customXml/itemProps2.xml><?xml version="1.0" encoding="utf-8"?>
<ds:datastoreItem xmlns:ds="http://schemas.openxmlformats.org/officeDocument/2006/customXml" ds:itemID="{B978B852-6164-4632-B368-230EBD9FA6CC}"/>
</file>

<file path=customXml/itemProps3.xml><?xml version="1.0" encoding="utf-8"?>
<ds:datastoreItem xmlns:ds="http://schemas.openxmlformats.org/officeDocument/2006/customXml" ds:itemID="{45AD57B4-1925-4482-BE34-77206B15E3AD}"/>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
  <TotalTime>0</TotalTime>
  <Words>697</Words>
  <Application>Microsoft Office PowerPoint</Application>
  <PresentationFormat>A4 210 x 297 mm</PresentationFormat>
  <Paragraphs>63</Paragraphs>
  <Slides>3</Slides>
  <Notes>2</Notes>
  <HiddenSlides>0</HiddenSlides>
  <MMClips>0</MMClips>
  <ScaleCrop>false</ScaleCrop>
  <HeadingPairs>
    <vt:vector size="8" baseType="variant">
      <vt:variant>
        <vt:lpstr>使用されているフォント</vt:lpstr>
      </vt:variant>
      <vt:variant>
        <vt:i4>7</vt:i4>
      </vt:variant>
      <vt:variant>
        <vt:lpstr>テーマ</vt:lpstr>
      </vt:variant>
      <vt:variant>
        <vt:i4>3</vt:i4>
      </vt:variant>
      <vt:variant>
        <vt:lpstr>埋め込まれた OLE サーバー</vt:lpstr>
      </vt:variant>
      <vt:variant>
        <vt:i4>1</vt:i4>
      </vt:variant>
      <vt:variant>
        <vt:lpstr>スライド タイトル</vt:lpstr>
      </vt:variant>
      <vt:variant>
        <vt:i4>3</vt:i4>
      </vt:variant>
    </vt:vector>
  </HeadingPairs>
  <TitlesOfParts>
    <vt:vector size="14" baseType="lpstr">
      <vt:lpstr>Meiryo UI</vt:lpstr>
      <vt:lpstr>ＭＳ Ｐゴシック</vt:lpstr>
      <vt:lpstr>游ゴシック</vt:lpstr>
      <vt:lpstr>Arial</vt:lpstr>
      <vt:lpstr>Calibri</vt:lpstr>
      <vt:lpstr>Times New Roman</vt:lpstr>
      <vt:lpstr>Wingdings</vt:lpstr>
      <vt:lpstr>テーマ２（ACN用）</vt:lpstr>
      <vt:lpstr>2_テーマ２（ACN用）</vt:lpstr>
      <vt:lpstr>8_テーマ２（ACN用）</vt:lpstr>
      <vt:lpstr>think-cellスライド</vt:lpstr>
      <vt:lpstr>PowerPoint プレゼンテーション</vt:lpstr>
      <vt:lpstr>開発進捗連絡会議 アジェンダ</vt:lpstr>
      <vt:lpstr>開発進捗連絡会議の共有 議事要旨（案）</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2026-10-14T01:53:16Z</dcterms:created>
  <dcterms:modified xsi:type="dcterms:W3CDTF">2026-10-14T01:53:37Z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0x010100AD26169CDAAF6B41B8B557D8EAD22A36</vt:lpwstr>
  </property>
</Properties>
</file>