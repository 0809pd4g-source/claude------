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718" r:id="rId1"/>
    <p:sldMasterId id="2147483858" r:id="rId2"/>
    <p:sldMasterId id="2147483868" r:id="rId3"/>
  </p:sldMasterIdLst>
  <p:notesMasterIdLst>
    <p:notesMasterId r:id="rId7"/>
  </p:notesMasterIdLst>
  <p:sldIdLst>
    <p:sldId id="2147483639" r:id="rId4"/>
    <p:sldId id="2147483474" r:id="rId5"/>
    <p:sldId id="2147483645" r:id="rId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B9ED6F1-69FF-4FF5-88D9-4436D6088C09}">
          <p14:sldIdLst>
            <p14:sldId id="2147483639"/>
            <p14:sldId id="2147483474"/>
            <p14:sldId id="2147483645"/>
          </p14:sldIdLst>
        </p14:section>
      </p14:sectionLst>
    </p:ext>
    <p:ext uri="{EFAFB233-063F-42B5-8137-9DF3F51BA10A}">
      <p15:sldGuideLst xmlns:p15="http://schemas.microsoft.com/office/powerpoint/2012/main">
        <p15:guide id="1" orient="horz" pos="2160" userDrawn="1">
          <p15:clr>
            <a:srgbClr val="A4A3A4"/>
          </p15:clr>
        </p15:guide>
        <p15:guide id="2" pos="2871" userDrawn="1">
          <p15:clr>
            <a:srgbClr val="A4A3A4"/>
          </p15:clr>
        </p15:guide>
        <p15:guide id="3" pos="1548" userDrawn="1">
          <p15:clr>
            <a:srgbClr val="A4A3A4"/>
          </p15:clr>
        </p15:guide>
        <p15:guide id="4" pos="5798"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作成者"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C0C1C1"/>
    <a:srgbClr val="DCE6F2"/>
    <a:srgbClr val="FCD5B5"/>
    <a:srgbClr val="FFFFCC"/>
    <a:srgbClr val="BFBFC0"/>
    <a:srgbClr val="0070C0"/>
    <a:srgbClr val="FFFF00"/>
    <a:srgbClr val="C9DEF3"/>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5" dt="2026-10-14T00:09:43.792"/>
    <p1510:client id="{26FF32AB-B0BA-496F-BB19-72C2487DA6A0}" v="375" dt="2026-10-14T01:14:18.290"/>
    <p1510:client id="{6FA4B50F-2E33-423D-9A3D-E3E20477EE24}" v="17" dt="2026-10-14T01:53:16.687"/>
    <p1510:client id="{AC36E28C-F199-482B-9F6E-FB50B8379D1D}" v="2788" dt="2026-10-14T01:03:37.903"/>
    <p1510:client id="{F2A2B6E2-6415-4A13-B125-A9013DA31FB5}" v="1" dt="2026-10-13T10:18:39.19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616" y="48"/>
      </p:cViewPr>
      <p:guideLst>
        <p:guide orient="horz" pos="2160"/>
        <p:guide pos="2871"/>
        <p:guide pos="1548"/>
        <p:guide pos="5798"/>
        <p:guide pos="228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notesMaster" Target="notesMasters/notesMaster1.xml"/><Relationship Id="rId8" Type="http://schemas.openxmlformats.org/officeDocument/2006/relationships/commentAuthors" Target="commentAuthors.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5/10/relationships/revisionInfo" Target="revisionInfo.xml"/><Relationship Id="rId14" Type="http://schemas.microsoft.com/office/2018/10/relationships/authors" Target="authors.xml"/><Relationship Id="rId15" Type="http://schemas.openxmlformats.org/officeDocument/2006/relationships/customXml" Target="../customXml/item1.xml"/><Relationship Id="rId16" Type="http://schemas.openxmlformats.org/officeDocument/2006/relationships/customXml" Target="../customXml/item2.xml"/><Relationship Id="rId1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2026/10/14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DEC1B-2992-589F-281A-F8D421CF61C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D3BB78-DB63-3B9D-177B-A2EBCC05056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91BFDF4-7C86-F39D-2769-70EF969C62D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292869B-C933-9957-9A1C-C8547356DC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51893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EF610-462A-96CE-B0F2-ABA274AF56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F2E25A-DDE6-148F-409C-531EC8EDF5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BB412C-0E7C-800C-14F8-6574B67CE74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5FC7256-AC82-F366-5D19-D1B46AA2795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489091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2037372111"/>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991080517"/>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6516" userDrawn="1">
          <p15:clr>
            <a:srgbClr val="FBAE40"/>
          </p15:clr>
        </p15:guide>
        <p15:guide id="3" pos="2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557948855"/>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6515" userDrawn="1">
          <p15:clr>
            <a:srgbClr val="FBAE40"/>
          </p15:clr>
        </p15:guide>
        <p15:guide id="3" pos="24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69767805"/>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416700677"/>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46" userDrawn="1">
          <p15:clr>
            <a:srgbClr val="FBAE40"/>
          </p15:clr>
        </p15:guide>
        <p15:guide id="3" pos="651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916583156"/>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46" userDrawn="1">
          <p15:clr>
            <a:srgbClr val="FBAE40"/>
          </p15:clr>
        </p15:guide>
        <p15:guide id="3" pos="651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854568662"/>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604074224"/>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154468410"/>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6516" userDrawn="1">
          <p15:clr>
            <a:srgbClr val="FBAE40"/>
          </p15:clr>
        </p15:guide>
        <p15:guide id="3" pos="24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272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109975251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アジェンダ">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DC67AB3-4EF6-29EA-F9FE-CA7E125529D3}"/>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r>
              <a:rPr lang="ja-JP" altLang="en-US"/>
              <a:t>マスター タイトルの書式設定</a:t>
            </a:r>
          </a:p>
        </p:txBody>
      </p:sp>
      <p:sp>
        <p:nvSpPr>
          <p:cNvPr id="12" name="テキスト プレースホルダー 11">
            <a:extLst>
              <a:ext uri="{FF2B5EF4-FFF2-40B4-BE49-F238E27FC236}">
                <a16:creationId xmlns:a16="http://schemas.microsoft.com/office/drawing/2014/main" id="{91B12CBA-77B6-1522-2BEA-9FED5DFB4833}"/>
              </a:ext>
            </a:extLst>
          </p:cNvPr>
          <p:cNvSpPr>
            <a:spLocks noGrp="1"/>
          </p:cNvSpPr>
          <p:nvPr>
            <p:ph type="body" sz="quarter" idx="10"/>
          </p:nvPr>
        </p:nvSpPr>
        <p:spPr>
          <a:xfrm>
            <a:off x="507341" y="774374"/>
            <a:ext cx="8891323" cy="4598842"/>
          </a:xfrm>
          <a:prstGeom prst="rect">
            <a:avLst/>
          </a:prstGeom>
        </p:spPr>
        <p:txBody>
          <a:bodyPr lIns="36000" tIns="36000" rIns="36000" bIns="36000" anchor="ctr">
            <a:noAutofit/>
          </a:bodyPr>
          <a:lstStyle>
            <a:lvl1pPr marL="316531" indent="-316531" algn="l">
              <a:buFont typeface="+mj-lt"/>
              <a:buAutoNum type="arabicPeriod"/>
              <a:defRPr sz="1477"/>
            </a:lvl1pPr>
            <a:lvl2pPr marL="724982" indent="-316531" algn="l">
              <a:buFont typeface="+mj-lt"/>
              <a:buAutoNum type="alphaLcPeriod"/>
              <a:defRPr sz="1477"/>
            </a:lvl2pPr>
            <a:lvl3pPr marL="1183483" indent="-369286" algn="l">
              <a:buFont typeface="+mj-lt"/>
              <a:buAutoNum type="romanLcPeriod"/>
              <a:defRPr sz="1477"/>
            </a:lvl3pPr>
            <a:lvl4pPr algn="l">
              <a:defRPr sz="1477"/>
            </a:lvl4pPr>
            <a:lvl5pPr algn="l">
              <a:defRPr sz="1477"/>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271620" y="6521052"/>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152748504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33347897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1846"/>
            </a:lvl1pPr>
          </a:lstStyle>
          <a:p>
            <a:endParaRPr lang="ja-JP" altLang="en-US" sz="1662"/>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1846"/>
            </a:lvl1pPr>
          </a:lstStyle>
          <a:p>
            <a:r>
              <a:rPr lang="ja-JP" altLang="en-US" sz="1662"/>
              <a:t>資料作成日付、</a:t>
            </a:r>
            <a:br>
              <a:rPr lang="en-US" altLang="ja-JP" sz="1662"/>
            </a:br>
            <a:r>
              <a:rPr lang="ja-JP" altLang="en-US" sz="1662"/>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1" y="2708273"/>
            <a:ext cx="8891323" cy="864000"/>
          </a:xfrm>
          <a:prstGeom prst="rect">
            <a:avLst/>
          </a:prstGeom>
        </p:spPr>
        <p:txBody>
          <a:bodyPr lIns="36000" tIns="36000" rIns="36000" bIns="36000">
            <a:noAutofit/>
          </a:bodyPr>
          <a:lstStyle>
            <a:lvl1pPr>
              <a:defRPr sz="2215" b="1">
                <a:latin typeface="+mj-ea"/>
                <a:ea typeface="+mj-ea"/>
              </a:defRPr>
            </a:lvl1pPr>
            <a:lvl2pPr>
              <a:defRPr sz="2215">
                <a:latin typeface="+mj-ea"/>
                <a:ea typeface="+mj-ea"/>
              </a:defRPr>
            </a:lvl2pPr>
            <a:lvl3pPr>
              <a:defRPr sz="2215">
                <a:latin typeface="+mj-ea"/>
                <a:ea typeface="+mj-ea"/>
              </a:defRPr>
            </a:lvl3pPr>
            <a:lvl4pPr>
              <a:defRPr sz="2215">
                <a:latin typeface="+mj-ea"/>
                <a:ea typeface="+mj-ea"/>
              </a:defRPr>
            </a:lvl4pPr>
            <a:lvl5pPr>
              <a:defRPr sz="2215">
                <a:latin typeface="+mj-ea"/>
                <a:ea typeface="+mj-ea"/>
              </a:defRPr>
            </a:lvl5pPr>
          </a:lstStyle>
          <a:p>
            <a:pPr lvl="0"/>
            <a:r>
              <a:rPr kumimoji="1" lang="ja-JP" altLang="en-US"/>
              <a:t>ファイルタイトルを入力</a:t>
            </a:r>
          </a:p>
        </p:txBody>
      </p:sp>
      <p:sp>
        <p:nvSpPr>
          <p:cNvPr id="19" name="フッター プレースホルダー 30">
            <a:extLst>
              <a:ext uri="{FF2B5EF4-FFF2-40B4-BE49-F238E27FC236}">
                <a16:creationId xmlns:a16="http://schemas.microsoft.com/office/drawing/2014/main" id="{B4D97D15-DA45-B1F1-85D3-A756D8DC3E38}"/>
              </a:ext>
            </a:extLst>
          </p:cNvPr>
          <p:cNvSpPr>
            <a:spLocks noGrp="1"/>
          </p:cNvSpPr>
          <p:nvPr>
            <p:ph type="ftr" sz="quarter" idx="3"/>
          </p:nvPr>
        </p:nvSpPr>
        <p:spPr>
          <a:xfrm>
            <a:off x="5889459" y="6309320"/>
            <a:ext cx="3198000" cy="360000"/>
          </a:xfrm>
          <a:prstGeom prst="rect">
            <a:avLst/>
          </a:prstGeom>
        </p:spPr>
        <p:txBody>
          <a:bodyPr vert="horz" lIns="91440" tIns="45720" rIns="91440" bIns="45720" rtlCol="0" anchor="ctr"/>
          <a:lstStyle>
            <a:lvl1pPr algn="ctr">
              <a:defRPr sz="831">
                <a:solidFill>
                  <a:schemeClr val="tx1"/>
                </a:solidFill>
                <a:latin typeface="+mj-ea"/>
                <a:ea typeface="+mj-ea"/>
              </a:defRPr>
            </a:lvl1pPr>
          </a:lstStyle>
          <a:p>
            <a:r>
              <a:rPr lang="en-US" altLang="ja-JP"/>
              <a:t>Copyright © 2723 Accenture All Rights Reserved.</a:t>
            </a:r>
            <a:endParaRPr lang="ja-JP" altLang="en-US"/>
          </a:p>
        </p:txBody>
      </p:sp>
    </p:spTree>
    <p:extLst>
      <p:ext uri="{BB962C8B-B14F-4D97-AF65-F5344CB8AC3E}">
        <p14:creationId xmlns:p14="http://schemas.microsoft.com/office/powerpoint/2010/main" val="608208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EOL">
    <p:bg>
      <p:bgPr>
        <a:solidFill>
          <a:srgbClr val="CBDDF5"/>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961E19B-A07D-8306-F59B-FF89AF5CCDF8}"/>
              </a:ext>
            </a:extLst>
          </p:cNvPr>
          <p:cNvSpPr/>
          <p:nvPr/>
        </p:nvSpPr>
        <p:spPr>
          <a:xfrm>
            <a:off x="110151" y="692699"/>
            <a:ext cx="9795849" cy="624689"/>
          </a:xfrm>
          <a:prstGeom prst="rect">
            <a:avLst/>
          </a:prstGeom>
          <a:solidFill>
            <a:srgbClr val="CBDDF5"/>
          </a:solidFill>
        </p:spPr>
        <p:txBody>
          <a:bodyPr wrap="none" lIns="30675" tIns="30675" rIns="30675" bIns="30675" rtlCol="0" anchor="ctr">
            <a:noAutofit/>
          </a:bodyPr>
          <a:lstStyle/>
          <a:p>
            <a:pPr algn="l"/>
            <a:endParaRPr kumimoji="1" lang="ja-JP" altLang="en-US" sz="1534"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3" y="4"/>
            <a:ext cx="10076507" cy="6953061"/>
          </a:xfrm>
          <a:prstGeom prst="rect">
            <a:avLst/>
          </a:prstGeom>
        </p:spPr>
        <p:txBody>
          <a:bodyPr wrap="none" lIns="30675" tIns="30675" rIns="30675" bIns="30675" rtlCol="0" anchor="ctr">
            <a:noAutofit/>
          </a:bodyPr>
          <a:lstStyle/>
          <a:p>
            <a:pPr algn="l"/>
            <a:endParaRPr kumimoji="1" lang="ja-JP" altLang="en-US" sz="1534" i="0">
              <a:latin typeface="+mn-ea"/>
              <a:ea typeface="+mn-ea"/>
              <a:cs typeface="Arial" charset="0"/>
            </a:endParaRPr>
          </a:p>
        </p:txBody>
      </p:sp>
      <p:sp>
        <p:nvSpPr>
          <p:cNvPr id="8" name="テキスト プレースホルダー 11">
            <a:extLst>
              <a:ext uri="{FF2B5EF4-FFF2-40B4-BE49-F238E27FC236}">
                <a16:creationId xmlns:a16="http://schemas.microsoft.com/office/drawing/2014/main" id="{E8A546FC-8BA3-143C-C33F-CA251DE07AA6}"/>
              </a:ext>
            </a:extLst>
          </p:cNvPr>
          <p:cNvSpPr>
            <a:spLocks noGrp="1"/>
          </p:cNvSpPr>
          <p:nvPr>
            <p:ph type="body" sz="quarter" idx="10" hasCustomPrompt="1"/>
          </p:nvPr>
        </p:nvSpPr>
        <p:spPr>
          <a:xfrm>
            <a:off x="507341" y="2708278"/>
            <a:ext cx="8891323" cy="720725"/>
          </a:xfrm>
          <a:prstGeom prst="rect">
            <a:avLst/>
          </a:prstGeom>
        </p:spPr>
        <p:txBody>
          <a:bodyPr lIns="36000" tIns="36000" rIns="36000" bIns="36000" anchor="ctr">
            <a:noAutofit/>
          </a:bodyPr>
          <a:lstStyle>
            <a:lvl1pPr algn="ctr">
              <a:defRPr sz="4431" b="1">
                <a:latin typeface="+mj-ea"/>
                <a:ea typeface="+mj-ea"/>
              </a:defRPr>
            </a:lvl1pPr>
            <a:lvl2pPr>
              <a:defRPr sz="2215">
                <a:latin typeface="+mj-ea"/>
                <a:ea typeface="+mj-ea"/>
              </a:defRPr>
            </a:lvl2pPr>
            <a:lvl3pPr>
              <a:defRPr sz="2215">
                <a:latin typeface="+mj-ea"/>
                <a:ea typeface="+mj-ea"/>
              </a:defRPr>
            </a:lvl3pPr>
            <a:lvl4pPr>
              <a:defRPr sz="2215">
                <a:latin typeface="+mj-ea"/>
                <a:ea typeface="+mj-ea"/>
              </a:defRPr>
            </a:lvl4pPr>
            <a:lvl5pPr>
              <a:defRPr sz="2215">
                <a:latin typeface="+mj-ea"/>
                <a:ea typeface="+mj-ea"/>
              </a:defRPr>
            </a:lvl5pPr>
          </a:lstStyle>
          <a:p>
            <a:pPr lvl="0"/>
            <a:r>
              <a:rPr kumimoji="1" lang="en-US" altLang="ja-JP"/>
              <a:t>EOF</a:t>
            </a:r>
          </a:p>
        </p:txBody>
      </p:sp>
    </p:spTree>
    <p:extLst>
      <p:ext uri="{BB962C8B-B14F-4D97-AF65-F5344CB8AC3E}">
        <p14:creationId xmlns:p14="http://schemas.microsoft.com/office/powerpoint/2010/main" val="1543847423"/>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15209868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11155081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6695483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25500770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196280165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452712869"/>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218467872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1625"/>
            </a:lvl1pPr>
          </a:lstStyle>
          <a:p>
            <a:endParaRPr lang="ja-JP" altLang="en-US" sz="1462"/>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1625"/>
            </a:lvl1pPr>
          </a:lstStyle>
          <a:p>
            <a:r>
              <a:rPr lang="ja-JP" altLang="en-US" sz="1462"/>
              <a:t>資料作成日付、</a:t>
            </a:r>
            <a:br>
              <a:rPr lang="en-US" altLang="ja-JP" sz="1462"/>
            </a:br>
            <a:r>
              <a:rPr lang="ja-JP" altLang="en-US" sz="1462"/>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1" y="2708273"/>
            <a:ext cx="8891323" cy="864000"/>
          </a:xfrm>
          <a:prstGeom prst="rect">
            <a:avLst/>
          </a:prstGeom>
        </p:spPr>
        <p:txBody>
          <a:bodyPr lIns="36000" tIns="36000" rIns="36000" bIns="36000">
            <a:noAutofit/>
          </a:bodyPr>
          <a:lstStyle>
            <a:lvl1pPr>
              <a:defRPr sz="1950" b="1">
                <a:latin typeface="+mj-ea"/>
                <a:ea typeface="+mj-ea"/>
              </a:defRPr>
            </a:lvl1pPr>
            <a:lvl2pPr>
              <a:defRPr sz="1950">
                <a:latin typeface="+mj-ea"/>
                <a:ea typeface="+mj-ea"/>
              </a:defRPr>
            </a:lvl2pPr>
            <a:lvl3pPr>
              <a:defRPr sz="1950">
                <a:latin typeface="+mj-ea"/>
                <a:ea typeface="+mj-ea"/>
              </a:defRPr>
            </a:lvl3pPr>
            <a:lvl4pPr>
              <a:defRPr sz="1950">
                <a:latin typeface="+mj-ea"/>
                <a:ea typeface="+mj-ea"/>
              </a:defRPr>
            </a:lvl4pPr>
            <a:lvl5pPr>
              <a:defRPr sz="1950">
                <a:latin typeface="+mj-ea"/>
                <a:ea typeface="+mj-ea"/>
              </a:defRPr>
            </a:lvl5pPr>
          </a:lstStyle>
          <a:p>
            <a:pPr lvl="0"/>
            <a:r>
              <a:rPr kumimoji="1" lang="ja-JP" altLang="en-US"/>
              <a:t>ファイルタイトルを入力</a:t>
            </a:r>
          </a:p>
        </p:txBody>
      </p:sp>
    </p:spTree>
    <p:extLst>
      <p:ext uri="{BB962C8B-B14F-4D97-AF65-F5344CB8AC3E}">
        <p14:creationId xmlns:p14="http://schemas.microsoft.com/office/powerpoint/2010/main" val="2052261962"/>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1541525239"/>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7933078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2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634213823"/>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05837368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9_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br>
              <a:rPr lang="en-US" altLang="ja-JP"/>
            </a:br>
            <a:r>
              <a:rPr lang="ja-JP" altLang="en-US"/>
              <a:t>マスタ タイトルの書式設定</a:t>
            </a:r>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a:spcBef>
                <a:spcPts val="0"/>
              </a:spcBef>
              <a:buFontTx/>
              <a:buNone/>
              <a:defRPr sz="1400">
                <a:latin typeface="+mj-ea"/>
                <a:ea typeface="+mj-ea"/>
              </a:defRPr>
            </a:lvl1pPr>
            <a:lvl2pPr marL="479338" indent="0">
              <a:buFontTx/>
              <a:buNone/>
              <a:defRPr sz="1400">
                <a:latin typeface="+mn-ea"/>
                <a:ea typeface="+mn-ea"/>
              </a:defRPr>
            </a:lvl2pPr>
            <a:lvl3pPr marL="955503" indent="0">
              <a:buFontTx/>
              <a:buNone/>
              <a:defRPr sz="1400">
                <a:latin typeface="+mn-ea"/>
                <a:ea typeface="+mn-ea"/>
              </a:defRPr>
            </a:lvl3pPr>
          </a:lstStyle>
          <a:p>
            <a:pPr marL="0" marR="0" lvl="0" indent="0" algn="l" defTabSz="914400" rtl="0" eaLnBrk="0" fontAlgn="base" latinLnBrk="0" hangingPunct="0">
              <a:lnSpc>
                <a:spcPct val="100000"/>
              </a:lnSpc>
              <a:spcBef>
                <a:spcPct val="20000"/>
              </a:spcBef>
              <a:spcAft>
                <a:spcPct val="0"/>
              </a:spcAft>
              <a:buClrTx/>
              <a:buSzTx/>
              <a:buFontTx/>
              <a:buNone/>
              <a:tabLst/>
              <a:defRPr/>
            </a:pPr>
            <a:r>
              <a:rPr lang="en-US" altLang="ja-JP"/>
              <a:t>Click to edit Master text styles</a:t>
            </a:r>
          </a:p>
          <a:p>
            <a:pPr lvl="1"/>
            <a:endParaRPr lang="en-US" altLang="ja-JP"/>
          </a:p>
          <a:p>
            <a:pPr marL="0" marR="0" lvl="0" indent="0" algn="l" defTabSz="91440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7150" y="6485691"/>
            <a:ext cx="2228850" cy="365125"/>
          </a:xfrm>
          <a:prstGeom prst="rect">
            <a:avLst/>
          </a:prstGeom>
        </p:spPr>
        <p:txBody>
          <a:bodyPr/>
          <a:lstStyle>
            <a:lvl1pPr>
              <a:defRPr sz="900" i="0">
                <a:latin typeface="+mn-ea"/>
                <a:ea typeface="+mn-ea"/>
              </a:defRPr>
            </a:lvl1pPr>
          </a:lstStyle>
          <a:p>
            <a:fld id="{22B2E2AD-30EA-4392-9E57-A05A6E6C41F4}" type="slidenum">
              <a:rPr lang="ja-JP" altLang="en-US" smtClean="0"/>
              <a:pPr/>
              <a:t>‹#›</a:t>
            </a:fld>
            <a:endParaRPr lang="ja-JP" altLang="en-US"/>
          </a:p>
        </p:txBody>
      </p:sp>
      <p:sp>
        <p:nvSpPr>
          <p:cNvPr id="7" name="Rectangle 26">
            <a:extLst>
              <a:ext uri="{FF2B5EF4-FFF2-40B4-BE49-F238E27FC236}">
                <a16:creationId xmlns:a16="http://schemas.microsoft.com/office/drawing/2014/main" id="{B68BBABA-2A80-FE9A-53CE-100FA3347CB2}"/>
              </a:ext>
            </a:extLst>
          </p:cNvPr>
          <p:cNvSpPr>
            <a:spLocks noGrp="1" noChangeArrowheads="1"/>
          </p:cNvSpPr>
          <p:nvPr>
            <p:ph idx="11" hasCustomPrompt="1"/>
          </p:nvPr>
        </p:nvSpPr>
        <p:spPr bwMode="auto">
          <a:xfrm>
            <a:off x="493582" y="1857985"/>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182563" indent="-182563" algn="l">
              <a:spcBef>
                <a:spcPts val="0"/>
              </a:spcBef>
              <a:buFont typeface="+mj-lt"/>
              <a:buAutoNum type="arabicPeriod"/>
              <a:defRPr sz="1000">
                <a:latin typeface="+mj-ea"/>
                <a:ea typeface="+mj-ea"/>
              </a:defRPr>
            </a:lvl1pPr>
            <a:lvl2pPr marL="193675" indent="-193675">
              <a:buFont typeface="Wingdings" panose="05000000000000000000" pitchFamily="2" charset="2"/>
              <a:buChar char="l"/>
              <a:defRPr sz="1000">
                <a:latin typeface="+mn-ea"/>
                <a:ea typeface="+mn-ea"/>
              </a:defRPr>
            </a:lvl2pPr>
            <a:lvl3pPr marL="355600" indent="-112713">
              <a:buFont typeface="Wingdings" panose="05000000000000000000" pitchFamily="2" charset="2"/>
              <a:buChar char="Ø"/>
              <a:tabLst>
                <a:tab pos="355600" algn="l"/>
              </a:tabLst>
              <a:defRPr sz="1000">
                <a:latin typeface="+mn-ea"/>
                <a:ea typeface="+mn-ea"/>
              </a:defRPr>
            </a:lvl3pPr>
          </a:lstStyle>
          <a:p>
            <a:pPr lvl="0"/>
            <a:r>
              <a:rPr lang="en-US" altLang="ja-JP" err="1"/>
              <a:t>Xx</a:t>
            </a:r>
            <a:endParaRPr lang="en-US" altLang="ja-JP"/>
          </a:p>
          <a:p>
            <a:pPr lvl="1"/>
            <a:r>
              <a:rPr lang="en-US" altLang="ja-JP" err="1"/>
              <a:t>Xx</a:t>
            </a:r>
            <a:endParaRPr lang="en-US" altLang="ja-JP"/>
          </a:p>
          <a:p>
            <a:pPr lvl="2"/>
            <a:r>
              <a:rPr lang="en-US" altLang="ja-JP" err="1"/>
              <a:t>Xx</a:t>
            </a:r>
            <a:endParaRPr lang="en-US" altLang="ja-JP"/>
          </a:p>
          <a:p>
            <a:pPr lvl="2"/>
            <a:endParaRPr lang="en-US" altLang="ja-JP"/>
          </a:p>
          <a:p>
            <a:pPr lvl="2"/>
            <a:endParaRPr lang="en-US" altLang="ja-JP"/>
          </a:p>
          <a:p>
            <a:pPr lvl="0"/>
            <a:endParaRPr lang="en-US" altLang="ja-JP"/>
          </a:p>
          <a:p>
            <a:pPr lvl="1"/>
            <a:endParaRPr lang="en-US" altLang="ja-JP"/>
          </a:p>
        </p:txBody>
      </p:sp>
    </p:spTree>
    <p:extLst>
      <p:ext uri="{BB962C8B-B14F-4D97-AF65-F5344CB8AC3E}">
        <p14:creationId xmlns:p14="http://schemas.microsoft.com/office/powerpoint/2010/main" val="4233718565"/>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tags" Target="../tags/tag1.xml"/><Relationship Id="rId13" Type="http://schemas.openxmlformats.org/officeDocument/2006/relationships/oleObject" Target="../embeddings/oleObject1.bin"/><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theme" Target="../theme/theme2.xml"/><Relationship Id="rId6" Type="http://schemas.openxmlformats.org/officeDocument/2006/relationships/tags" Target="../tags/tag2.xml"/><Relationship Id="rId7" Type="http://schemas.openxmlformats.org/officeDocument/2006/relationships/oleObject" Target="../embeddings/oleObject2.bin"/><Relationship Id="rId8"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theme" Target="../theme/theme3.xml"/><Relationship Id="rId15" Type="http://schemas.openxmlformats.org/officeDocument/2006/relationships/tags" Target="../tags/tag3.xml"/><Relationship Id="rId16" Type="http://schemas.openxmlformats.org/officeDocument/2006/relationships/oleObject" Target="../embeddings/oleObject3.bin"/><Relationship Id="rId17"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2ABBE49-1137-B4CA-DAA7-AB685E11DF74}"/>
              </a:ext>
            </a:extLst>
          </p:cNvPr>
          <p:cNvGraphicFramePr>
            <a:graphicFrameLocks noChangeAspect="1"/>
          </p:cNvGraphicFramePr>
          <p:nvPr userDrawn="1">
            <p:custDataLst>
              <p:tags r:id="rId12"/>
            </p:custDataLst>
            <p:extLst>
              <p:ext uri="{D42A27DB-BD31-4B8C-83A1-F6EECF244321}">
                <p14:modId xmlns:p14="http://schemas.microsoft.com/office/powerpoint/2010/main" val="1137111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3" imgW="405" imgH="405" progId="TCLayout.ActiveDocument.1">
                  <p:embed/>
                </p:oleObj>
              </mc:Choice>
              <mc:Fallback>
                <p:oleObj name="think-cellスライド" r:id="rId13" imgW="405" imgH="405" progId="TCLayout.ActiveDocument.1">
                  <p:embed/>
                  <p:pic>
                    <p:nvPicPr>
                      <p:cNvPr id="3" name="think-cell data - do not delete" hidden="1">
                        <a:extLst>
                          <a:ext uri="{FF2B5EF4-FFF2-40B4-BE49-F238E27FC236}">
                            <a16:creationId xmlns:a16="http://schemas.microsoft.com/office/drawing/2014/main" id="{92ABBE49-1137-B4CA-DAA7-AB685E11DF7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712580275"/>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10A1041-6996-42AC-1344-887B3FB8239E}"/>
              </a:ext>
            </a:extLst>
          </p:cNvPr>
          <p:cNvGraphicFramePr>
            <a:graphicFrameLocks noChangeAspect="1"/>
          </p:cNvGraphicFramePr>
          <p:nvPr userDrawn="1">
            <p:custDataLst>
              <p:tags r:id="rId6"/>
            </p:custDataLst>
            <p:extLst>
              <p:ext uri="{D42A27DB-BD31-4B8C-83A1-F6EECF244321}">
                <p14:modId xmlns:p14="http://schemas.microsoft.com/office/powerpoint/2010/main" val="17342085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7" imgW="405" imgH="405" progId="TCLayout.ActiveDocument.1">
                  <p:embed/>
                </p:oleObj>
              </mc:Choice>
              <mc:Fallback>
                <p:oleObj name="think-cellスライド" r:id="rId7" imgW="405" imgH="405" progId="TCLayout.ActiveDocument.1">
                  <p:embed/>
                  <p:pic>
                    <p:nvPicPr>
                      <p:cNvPr id="3" name="think-cell data - do not delete" hidden="1">
                        <a:extLst>
                          <a:ext uri="{FF2B5EF4-FFF2-40B4-BE49-F238E27FC236}">
                            <a16:creationId xmlns:a16="http://schemas.microsoft.com/office/drawing/2014/main" id="{F10A1041-6996-42AC-1344-887B3FB8239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TextBox 8">
            <a:extLst>
              <a:ext uri="{FF2B5EF4-FFF2-40B4-BE49-F238E27FC236}">
                <a16:creationId xmlns:a16="http://schemas.microsoft.com/office/drawing/2014/main" id="{9A96C9F6-D9DC-44C1-B0C7-F7614BA17A05}"/>
              </a:ext>
            </a:extLst>
          </p:cNvPr>
          <p:cNvSpPr txBox="1"/>
          <p:nvPr/>
        </p:nvSpPr>
        <p:spPr>
          <a:xfrm>
            <a:off x="4323" y="-447501"/>
            <a:ext cx="579005" cy="328423"/>
          </a:xfrm>
          <a:prstGeom prst="rect">
            <a:avLst/>
          </a:prstGeom>
          <a:noFill/>
        </p:spPr>
        <p:txBody>
          <a:bodyPr wrap="none" rtlCol="0">
            <a:spAutoFit/>
          </a:bodyPr>
          <a:lstStyle/>
          <a:p>
            <a:r>
              <a:rPr kumimoji="1" lang="ja-JP" altLang="en-US" sz="1534"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9" y="-447501"/>
            <a:ext cx="579005" cy="328423"/>
          </a:xfrm>
          <a:prstGeom prst="rect">
            <a:avLst/>
          </a:prstGeom>
          <a:noFill/>
        </p:spPr>
        <p:txBody>
          <a:bodyPr wrap="none" rtlCol="0">
            <a:spAutoFit/>
          </a:bodyPr>
          <a:lstStyle/>
          <a:p>
            <a:r>
              <a:rPr kumimoji="1" lang="ja-JP" altLang="en-US" sz="1534"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a:cxnSpLocks/>
          </p:cNvCxnSpPr>
          <p:nvPr userDrawn="1"/>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a:cxnSpLocks/>
          </p:cNvCxnSpPr>
          <p:nvPr userDrawn="1"/>
        </p:nvCxnSpPr>
        <p:spPr bwMode="auto">
          <a:xfrm>
            <a:off x="9412426"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3" y="7012041"/>
            <a:ext cx="579005" cy="328423"/>
          </a:xfrm>
          <a:prstGeom prst="rect">
            <a:avLst/>
          </a:prstGeom>
          <a:noFill/>
        </p:spPr>
        <p:txBody>
          <a:bodyPr wrap="none" rtlCol="0">
            <a:spAutoFit/>
          </a:bodyPr>
          <a:lstStyle/>
          <a:p>
            <a:r>
              <a:rPr kumimoji="1" lang="ja-JP" altLang="en-US" sz="1534"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243479" y="7012041"/>
            <a:ext cx="579005" cy="328423"/>
          </a:xfrm>
          <a:prstGeom prst="rect">
            <a:avLst/>
          </a:prstGeom>
          <a:noFill/>
        </p:spPr>
        <p:txBody>
          <a:bodyPr wrap="none" rtlCol="0">
            <a:spAutoFit/>
          </a:bodyPr>
          <a:lstStyle/>
          <a:p>
            <a:r>
              <a:rPr kumimoji="1" lang="ja-JP" altLang="en-US" sz="1534"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a:cxnSpLocks/>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704" i="0" kern="0"/>
          </a:p>
        </p:txBody>
      </p: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0"/>
            <a:ext cx="8892000"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704"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3214990734"/>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Lst>
  <p:hf sldNum="0" hdr="0" dt="0"/>
  <p:txStyles>
    <p:titleStyle>
      <a:lvl1pPr algn="ctr" defTabSz="649194" rtl="0" eaLnBrk="1" fontAlgn="base" hangingPunct="1">
        <a:spcBef>
          <a:spcPct val="0"/>
        </a:spcBef>
        <a:spcAft>
          <a:spcPct val="0"/>
        </a:spcAft>
        <a:defRPr kumimoji="1" sz="1363">
          <a:solidFill>
            <a:schemeClr val="bg1"/>
          </a:solidFill>
          <a:latin typeface="+mj-ea"/>
          <a:ea typeface="+mj-ea"/>
          <a:cs typeface="+mj-cs"/>
        </a:defRPr>
      </a:lvl1pPr>
      <a:lvl2pPr algn="ctr" defTabSz="649194" rtl="0" eaLnBrk="1" fontAlgn="base" hangingPunct="1">
        <a:spcBef>
          <a:spcPct val="0"/>
        </a:spcBef>
        <a:spcAft>
          <a:spcPct val="0"/>
        </a:spcAft>
        <a:defRPr kumimoji="1" sz="1363">
          <a:solidFill>
            <a:schemeClr val="bg1"/>
          </a:solidFill>
          <a:latin typeface="Calibri" pitchFamily="34" charset="0"/>
          <a:ea typeface="ＭＳ Ｐゴシック" pitchFamily="50" charset="-128"/>
        </a:defRPr>
      </a:lvl2pPr>
      <a:lvl3pPr algn="ctr" defTabSz="649194" rtl="0" eaLnBrk="1" fontAlgn="base" hangingPunct="1">
        <a:spcBef>
          <a:spcPct val="0"/>
        </a:spcBef>
        <a:spcAft>
          <a:spcPct val="0"/>
        </a:spcAft>
        <a:defRPr kumimoji="1" sz="1363">
          <a:solidFill>
            <a:schemeClr val="bg1"/>
          </a:solidFill>
          <a:latin typeface="Calibri" pitchFamily="34" charset="0"/>
          <a:ea typeface="ＭＳ Ｐゴシック" pitchFamily="50" charset="-128"/>
        </a:defRPr>
      </a:lvl3pPr>
      <a:lvl4pPr algn="ctr" defTabSz="649194" rtl="0" eaLnBrk="1" fontAlgn="base" hangingPunct="1">
        <a:spcBef>
          <a:spcPct val="0"/>
        </a:spcBef>
        <a:spcAft>
          <a:spcPct val="0"/>
        </a:spcAft>
        <a:defRPr kumimoji="1" sz="1363">
          <a:solidFill>
            <a:schemeClr val="bg1"/>
          </a:solidFill>
          <a:latin typeface="Calibri" pitchFamily="34" charset="0"/>
          <a:ea typeface="ＭＳ Ｐゴシック" pitchFamily="50" charset="-128"/>
        </a:defRPr>
      </a:lvl4pPr>
      <a:lvl5pPr algn="ctr" defTabSz="649194" rtl="0" eaLnBrk="1" fontAlgn="base" hangingPunct="1">
        <a:spcBef>
          <a:spcPct val="0"/>
        </a:spcBef>
        <a:spcAft>
          <a:spcPct val="0"/>
        </a:spcAft>
        <a:defRPr kumimoji="1" sz="1363">
          <a:solidFill>
            <a:schemeClr val="bg1"/>
          </a:solidFill>
          <a:latin typeface="Calibri" pitchFamily="34" charset="0"/>
          <a:ea typeface="ＭＳ Ｐゴシック" pitchFamily="50" charset="-128"/>
        </a:defRPr>
      </a:lvl5pPr>
      <a:lvl6pPr marL="389516" algn="ctr" defTabSz="6491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779032" algn="ctr" defTabSz="6491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168549" algn="ctr" defTabSz="6491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558064" algn="ctr" defTabSz="6491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193">
          <a:solidFill>
            <a:schemeClr val="tx1"/>
          </a:solidFill>
          <a:latin typeface="+mj-ea"/>
          <a:ea typeface="+mj-ea"/>
          <a:cs typeface="+mn-cs"/>
        </a:defRPr>
      </a:lvl1pPr>
      <a:lvl2pPr marL="651899" indent="-243448" algn="l" rtl="0" eaLnBrk="1" fontAlgn="base" hangingPunct="1">
        <a:spcBef>
          <a:spcPct val="20000"/>
        </a:spcBef>
        <a:spcAft>
          <a:spcPct val="0"/>
        </a:spcAft>
        <a:buChar char="–"/>
        <a:defRPr kumimoji="1" sz="2386">
          <a:solidFill>
            <a:schemeClr val="tx1"/>
          </a:solidFill>
          <a:latin typeface="Times New Roman" pitchFamily="18" charset="0"/>
          <a:ea typeface="+mn-ea"/>
        </a:defRPr>
      </a:lvl2pPr>
      <a:lvl3pPr marL="1008956" indent="-194758" algn="l" rtl="0" eaLnBrk="1" fontAlgn="base" hangingPunct="1">
        <a:spcBef>
          <a:spcPct val="20000"/>
        </a:spcBef>
        <a:spcAft>
          <a:spcPct val="0"/>
        </a:spcAft>
        <a:buChar char="•"/>
        <a:defRPr kumimoji="1" sz="2045">
          <a:solidFill>
            <a:schemeClr val="tx1"/>
          </a:solidFill>
          <a:latin typeface="Times New Roman" pitchFamily="18" charset="0"/>
          <a:ea typeface="+mn-ea"/>
        </a:defRPr>
      </a:lvl3pPr>
      <a:lvl4pPr marL="1366012"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4pPr>
      <a:lvl5pPr marL="1752822" indent="-196111" algn="l" rtl="0" eaLnBrk="1" fontAlgn="base" hangingPunct="1">
        <a:spcBef>
          <a:spcPct val="20000"/>
        </a:spcBef>
        <a:spcAft>
          <a:spcPct val="0"/>
        </a:spcAft>
        <a:buChar char="»"/>
        <a:defRPr kumimoji="1" sz="1704">
          <a:solidFill>
            <a:schemeClr val="tx1"/>
          </a:solidFill>
          <a:latin typeface="Times New Roman" pitchFamily="18" charset="0"/>
          <a:ea typeface="+mn-ea"/>
        </a:defRPr>
      </a:lvl5pPr>
      <a:lvl6pPr marL="2142339"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6pPr>
      <a:lvl7pPr marL="2531855"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7pPr>
      <a:lvl8pPr marL="2921371"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8pPr>
      <a:lvl9pPr marL="3310886"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9pPr>
    </p:bodyStyle>
    <p:otherStyle>
      <a:defPPr>
        <a:defRPr lang="ja-JP"/>
      </a:defPPr>
      <a:lvl1pPr marL="0" algn="l" defTabSz="779032" rtl="0" eaLnBrk="1" latinLnBrk="0" hangingPunct="1">
        <a:defRPr kumimoji="1" sz="1534" kern="1200">
          <a:solidFill>
            <a:schemeClr val="tx1"/>
          </a:solidFill>
          <a:latin typeface="+mn-lt"/>
          <a:ea typeface="+mn-ea"/>
          <a:cs typeface="+mn-cs"/>
        </a:defRPr>
      </a:lvl1pPr>
      <a:lvl2pPr marL="389516" algn="l" defTabSz="779032" rtl="0" eaLnBrk="1" latinLnBrk="0" hangingPunct="1">
        <a:defRPr kumimoji="1" sz="1534" kern="1200">
          <a:solidFill>
            <a:schemeClr val="tx1"/>
          </a:solidFill>
          <a:latin typeface="+mn-lt"/>
          <a:ea typeface="+mn-ea"/>
          <a:cs typeface="+mn-cs"/>
        </a:defRPr>
      </a:lvl2pPr>
      <a:lvl3pPr marL="779032" algn="l" defTabSz="779032" rtl="0" eaLnBrk="1" latinLnBrk="0" hangingPunct="1">
        <a:defRPr kumimoji="1" sz="1534" kern="1200">
          <a:solidFill>
            <a:schemeClr val="tx1"/>
          </a:solidFill>
          <a:latin typeface="+mn-lt"/>
          <a:ea typeface="+mn-ea"/>
          <a:cs typeface="+mn-cs"/>
        </a:defRPr>
      </a:lvl3pPr>
      <a:lvl4pPr marL="1168549" algn="l" defTabSz="779032" rtl="0" eaLnBrk="1" latinLnBrk="0" hangingPunct="1">
        <a:defRPr kumimoji="1" sz="1534" kern="1200">
          <a:solidFill>
            <a:schemeClr val="tx1"/>
          </a:solidFill>
          <a:latin typeface="+mn-lt"/>
          <a:ea typeface="+mn-ea"/>
          <a:cs typeface="+mn-cs"/>
        </a:defRPr>
      </a:lvl4pPr>
      <a:lvl5pPr marL="1558064" algn="l" defTabSz="779032" rtl="0" eaLnBrk="1" latinLnBrk="0" hangingPunct="1">
        <a:defRPr kumimoji="1" sz="1534" kern="1200">
          <a:solidFill>
            <a:schemeClr val="tx1"/>
          </a:solidFill>
          <a:latin typeface="+mn-lt"/>
          <a:ea typeface="+mn-ea"/>
          <a:cs typeface="+mn-cs"/>
        </a:defRPr>
      </a:lvl5pPr>
      <a:lvl6pPr marL="1947580" algn="l" defTabSz="779032" rtl="0" eaLnBrk="1" latinLnBrk="0" hangingPunct="1">
        <a:defRPr kumimoji="1" sz="1534" kern="1200">
          <a:solidFill>
            <a:schemeClr val="tx1"/>
          </a:solidFill>
          <a:latin typeface="+mn-lt"/>
          <a:ea typeface="+mn-ea"/>
          <a:cs typeface="+mn-cs"/>
        </a:defRPr>
      </a:lvl6pPr>
      <a:lvl7pPr marL="2337096" algn="l" defTabSz="779032" rtl="0" eaLnBrk="1" latinLnBrk="0" hangingPunct="1">
        <a:defRPr kumimoji="1" sz="1534" kern="1200">
          <a:solidFill>
            <a:schemeClr val="tx1"/>
          </a:solidFill>
          <a:latin typeface="+mn-lt"/>
          <a:ea typeface="+mn-ea"/>
          <a:cs typeface="+mn-cs"/>
        </a:defRPr>
      </a:lvl7pPr>
      <a:lvl8pPr marL="2726613" algn="l" defTabSz="779032" rtl="0" eaLnBrk="1" latinLnBrk="0" hangingPunct="1">
        <a:defRPr kumimoji="1" sz="1534" kern="1200">
          <a:solidFill>
            <a:schemeClr val="tx1"/>
          </a:solidFill>
          <a:latin typeface="+mn-lt"/>
          <a:ea typeface="+mn-ea"/>
          <a:cs typeface="+mn-cs"/>
        </a:defRPr>
      </a:lvl8pPr>
      <a:lvl9pPr marL="3116128" algn="l" defTabSz="779032" rtl="0" eaLnBrk="1" latinLnBrk="0" hangingPunct="1">
        <a:defRPr kumimoji="1" sz="153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15"/>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6" imgW="360" imgH="360" progId="TCLayout.ActiveDocument.1">
                  <p:embed/>
                </p:oleObj>
              </mc:Choice>
              <mc:Fallback>
                <p:oleObj name="think-cellスライド" r:id="rId16"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7"/>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3711548367"/>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1" r:id="rId12"/>
    <p:sldLayoutId id="2147483882" r:id="rId13"/>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2">
            <a:extLst>
              <a:ext uri="{FF2B5EF4-FFF2-40B4-BE49-F238E27FC236}">
                <a16:creationId xmlns:a16="http://schemas.microsoft.com/office/drawing/2014/main" id="{AD677E75-6A49-8AC0-4496-FB48E74539AB}"/>
              </a:ext>
            </a:extLst>
          </p:cNvPr>
          <p:cNvSpPr>
            <a:spLocks noGrp="1"/>
          </p:cNvSpPr>
          <p:nvPr>
            <p:ph idx="1"/>
          </p:nvPr>
        </p:nvSpPr>
        <p:spPr>
          <a:xfrm>
            <a:off x="1818437" y="3424069"/>
            <a:ext cx="6269126" cy="569252"/>
          </a:xfrm>
        </p:spPr>
        <p:txBody>
          <a:bodyPr anchor="ctr"/>
          <a:lstStyle/>
          <a:p>
            <a:pPr algn="ctr"/>
            <a:r>
              <a:rPr lang="ja-JP" altLang="en-US" sz="4000" b="1"/>
              <a:t>開発進捗連絡会議</a:t>
            </a:r>
            <a:endParaRPr kumimoji="1" lang="ja-JP" altLang="en-US" sz="4000" b="1"/>
          </a:p>
        </p:txBody>
      </p:sp>
      <p:sp>
        <p:nvSpPr>
          <p:cNvPr id="5" name="コンテンツ プレースホルダー 1">
            <a:extLst>
              <a:ext uri="{FF2B5EF4-FFF2-40B4-BE49-F238E27FC236}">
                <a16:creationId xmlns:a16="http://schemas.microsoft.com/office/drawing/2014/main" id="{CD05009A-3FB8-16F1-0577-1CC7D2593033}"/>
              </a:ext>
            </a:extLst>
          </p:cNvPr>
          <p:cNvSpPr txBox="1">
            <a:spLocks/>
          </p:cNvSpPr>
          <p:nvPr/>
        </p:nvSpPr>
        <p:spPr bwMode="auto">
          <a:xfrm>
            <a:off x="2625187" y="4673448"/>
            <a:ext cx="4597696" cy="417786"/>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400">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lang="en-US" altLang="ja-JP" sz="1800" kern="0">
                <a:solidFill>
                  <a:prstClr val="black"/>
                </a:solidFill>
                <a:latin typeface="Meiryo UI"/>
                <a:ea typeface="Meiryo UI"/>
              </a:rPr>
              <a:t>2026/10/13</a:t>
            </a:r>
            <a:r>
              <a:rPr lang="ja-JP" altLang="en-US" sz="1800" kern="0">
                <a:solidFill>
                  <a:prstClr val="black"/>
                </a:solidFill>
                <a:latin typeface="Meiryo UI"/>
                <a:ea typeface="Meiryo UI"/>
              </a:rPr>
              <a:t> </a:t>
            </a:r>
            <a:r>
              <a:rPr lang="en-US" altLang="ja-JP" sz="1800" kern="0">
                <a:solidFill>
                  <a:prstClr val="black"/>
                </a:solidFill>
                <a:latin typeface="Meiryo UI"/>
                <a:ea typeface="Meiryo UI"/>
              </a:rPr>
              <a:t>13:30</a:t>
            </a:r>
            <a:r>
              <a:rPr lang="ja-JP" altLang="en-US" sz="1800" kern="0">
                <a:solidFill>
                  <a:prstClr val="black"/>
                </a:solidFill>
                <a:latin typeface="Meiryo UI"/>
                <a:ea typeface="Meiryo UI"/>
              </a:rPr>
              <a:t>～</a:t>
            </a:r>
            <a:r>
              <a:rPr lang="en-US" altLang="ja-JP" sz="1800" kern="0">
                <a:solidFill>
                  <a:prstClr val="black"/>
                </a:solidFill>
                <a:latin typeface="Meiryo UI"/>
                <a:ea typeface="Meiryo UI"/>
              </a:rPr>
              <a:t>13:45</a:t>
            </a:r>
          </a:p>
        </p:txBody>
      </p:sp>
      <p:sp>
        <p:nvSpPr>
          <p:cNvPr id="7" name="テキスト ボックス 6">
            <a:extLst>
              <a:ext uri="{FF2B5EF4-FFF2-40B4-BE49-F238E27FC236}">
                <a16:creationId xmlns:a16="http://schemas.microsoft.com/office/drawing/2014/main" id="{834D19CB-9F0D-3387-6098-F9B2810203EB}"/>
              </a:ext>
            </a:extLst>
          </p:cNvPr>
          <p:cNvSpPr txBox="1"/>
          <p:nvPr/>
        </p:nvSpPr>
        <p:spPr>
          <a:xfrm>
            <a:off x="2305235" y="2930072"/>
            <a:ext cx="5295530" cy="400110"/>
          </a:xfrm>
          <a:prstGeom prst="rect">
            <a:avLst/>
          </a:prstGeom>
          <a:noFill/>
        </p:spPr>
        <p:txBody>
          <a:bodyPr wrap="square">
            <a:spAutoFit/>
          </a:bodyPr>
          <a:lstStyle/>
          <a:p>
            <a:pPr algn="ctr"/>
            <a:r>
              <a:rPr lang="ja-JP" altLang="en-US" sz="2000"/>
              <a:t>電子カルテ情報共有サービス</a:t>
            </a:r>
          </a:p>
        </p:txBody>
      </p:sp>
      <p:sp>
        <p:nvSpPr>
          <p:cNvPr id="8" name="正方形/長方形 7">
            <a:extLst>
              <a:ext uri="{FF2B5EF4-FFF2-40B4-BE49-F238E27FC236}">
                <a16:creationId xmlns:a16="http://schemas.microsoft.com/office/drawing/2014/main" id="{135FA330-905B-2B0D-ED9E-C9E63F7299E9}"/>
              </a:ext>
            </a:extLst>
          </p:cNvPr>
          <p:cNvSpPr/>
          <p:nvPr/>
        </p:nvSpPr>
        <p:spPr>
          <a:xfrm>
            <a:off x="7543800" y="110359"/>
            <a:ext cx="1915510" cy="748862"/>
          </a:xfrm>
          <a:prstGeom prst="rect">
            <a:avLst/>
          </a:prstGeom>
          <a:solidFill>
            <a:schemeClr val="accent6">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2000">
                <a:latin typeface="+mj-ea"/>
                <a:ea typeface="+mj-ea"/>
              </a:rPr>
              <a:t>議事要旨</a:t>
            </a:r>
          </a:p>
        </p:txBody>
      </p:sp>
    </p:spTree>
    <p:extLst>
      <p:ext uri="{BB962C8B-B14F-4D97-AF65-F5344CB8AC3E}">
        <p14:creationId xmlns:p14="http://schemas.microsoft.com/office/powerpoint/2010/main" val="71378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ABD40-A67E-A9BD-2DCE-0A332B31AA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04099F-1D4B-62EB-9F5E-E2E44756BD2F}"/>
              </a:ext>
            </a:extLst>
          </p:cNvPr>
          <p:cNvSpPr>
            <a:spLocks noGrp="1"/>
          </p:cNvSpPr>
          <p:nvPr>
            <p:ph type="title"/>
          </p:nvPr>
        </p:nvSpPr>
        <p:spPr/>
        <p:txBody>
          <a:bodyPr vert="horz"/>
          <a:lstStyle/>
          <a:p>
            <a:r>
              <a:rPr lang="ja-JP" altLang="en-US" sz="2000"/>
              <a:t>開発進捗連絡会議 アジェンダ</a:t>
            </a:r>
          </a:p>
        </p:txBody>
      </p:sp>
      <p:graphicFrame>
        <p:nvGraphicFramePr>
          <p:cNvPr id="4" name="表 3">
            <a:extLst>
              <a:ext uri="{FF2B5EF4-FFF2-40B4-BE49-F238E27FC236}">
                <a16:creationId xmlns:a16="http://schemas.microsoft.com/office/drawing/2014/main" id="{64D732FE-D668-D271-5E4C-532FE24FF5D3}"/>
              </a:ext>
            </a:extLst>
          </p:cNvPr>
          <p:cNvGraphicFramePr>
            <a:graphicFrameLocks noGrp="1"/>
          </p:cNvGraphicFramePr>
          <p:nvPr>
            <p:extLst>
              <p:ext uri="{D42A27DB-BD31-4B8C-83A1-F6EECF244321}">
                <p14:modId xmlns:p14="http://schemas.microsoft.com/office/powerpoint/2010/main" val="2242163993"/>
              </p:ext>
            </p:extLst>
          </p:nvPr>
        </p:nvGraphicFramePr>
        <p:xfrm>
          <a:off x="604655" y="1341373"/>
          <a:ext cx="8815667" cy="904796"/>
        </p:xfrm>
        <a:graphic>
          <a:graphicData uri="http://schemas.openxmlformats.org/drawingml/2006/table">
            <a:tbl>
              <a:tblPr/>
              <a:tblGrid>
                <a:gridCol w="540000">
                  <a:extLst>
                    <a:ext uri="{9D8B030D-6E8A-4147-A177-3AD203B41FA5}">
                      <a16:colId xmlns:a16="http://schemas.microsoft.com/office/drawing/2014/main" val="3484704196"/>
                    </a:ext>
                  </a:extLst>
                </a:gridCol>
                <a:gridCol w="6133914">
                  <a:extLst>
                    <a:ext uri="{9D8B030D-6E8A-4147-A177-3AD203B41FA5}">
                      <a16:colId xmlns:a16="http://schemas.microsoft.com/office/drawing/2014/main" val="3863879091"/>
                    </a:ext>
                  </a:extLst>
                </a:gridCol>
                <a:gridCol w="1061753">
                  <a:extLst>
                    <a:ext uri="{9D8B030D-6E8A-4147-A177-3AD203B41FA5}">
                      <a16:colId xmlns:a16="http://schemas.microsoft.com/office/drawing/2014/main" val="1880882567"/>
                    </a:ext>
                  </a:extLst>
                </a:gridCol>
                <a:gridCol w="1080000">
                  <a:extLst>
                    <a:ext uri="{9D8B030D-6E8A-4147-A177-3AD203B41FA5}">
                      <a16:colId xmlns:a16="http://schemas.microsoft.com/office/drawing/2014/main" val="2058983492"/>
                    </a:ext>
                  </a:extLst>
                </a:gridCol>
              </a:tblGrid>
              <a:tr h="295652">
                <a:tc>
                  <a:txBody>
                    <a:bodyPr/>
                    <a:lstStyle/>
                    <a:p>
                      <a:pPr algn="ctr" fontAlgn="base">
                        <a:lnSpc>
                          <a:spcPts val="1200"/>
                        </a:lnSpc>
                      </a:pPr>
                      <a:r>
                        <a:rPr lang="en-US" sz="1050" b="0" i="0">
                          <a:solidFill>
                            <a:srgbClr val="000000"/>
                          </a:solidFill>
                          <a:effectLst/>
                          <a:latin typeface="+mn-ea"/>
                          <a:ea typeface="+mn-ea"/>
                        </a:rPr>
                        <a:t>No.</a:t>
                      </a:r>
                    </a:p>
                  </a:txBody>
                  <a:tcPr marL="84299" marR="84299"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ja-JP" altLang="en-US" sz="1050" b="0" i="0" strike="noStrike">
                          <a:solidFill>
                            <a:srgbClr val="000000"/>
                          </a:solidFill>
                          <a:effectLst/>
                          <a:latin typeface="+mn-ea"/>
                          <a:ea typeface="+mn-ea"/>
                        </a:rPr>
                        <a:t>アジェンダ</a:t>
                      </a:r>
                    </a:p>
                  </a:txBody>
                  <a:tcPr marL="84299" marR="84299"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ja-JP" altLang="en-US" sz="1050" b="0" i="0" strike="noStrike">
                          <a:solidFill>
                            <a:srgbClr val="000000"/>
                          </a:solidFill>
                          <a:effectLst/>
                          <a:latin typeface="+mn-ea"/>
                          <a:ea typeface="+mn-ea"/>
                        </a:rPr>
                        <a:t>時間</a:t>
                      </a:r>
                      <a:endParaRPr lang="en-US" altLang="ja-JP" sz="1050" b="0" i="0" strike="noStrike">
                        <a:solidFill>
                          <a:srgbClr val="000000"/>
                        </a:solidFill>
                        <a:effectLst/>
                        <a:latin typeface="+mn-ea"/>
                        <a:ea typeface="+mn-ea"/>
                      </a:endParaRPr>
                    </a:p>
                  </a:txBody>
                  <a:tcPr marL="84299" marR="84299"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ja-JP" altLang="en-US" sz="1050" b="0" i="0" strike="noStrike">
                          <a:solidFill>
                            <a:srgbClr val="000000"/>
                          </a:solidFill>
                          <a:effectLst/>
                          <a:latin typeface="+mn-ea"/>
                          <a:ea typeface="+mn-ea"/>
                        </a:rPr>
                        <a:t>担当者</a:t>
                      </a:r>
                      <a:endParaRPr lang="en-US" altLang="ja-JP" sz="1050" b="0" i="0" strike="noStrike">
                        <a:solidFill>
                          <a:srgbClr val="000000"/>
                        </a:solidFill>
                        <a:effectLst/>
                        <a:latin typeface="+mn-ea"/>
                        <a:ea typeface="+mn-ea"/>
                      </a:endParaRPr>
                    </a:p>
                  </a:txBody>
                  <a:tcPr marL="84299" marR="84299"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746781126"/>
                  </a:ext>
                </a:extLst>
              </a:tr>
              <a:tr h="304572">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en-US" sz="1050" b="0" i="0" kern="1200">
                          <a:solidFill>
                            <a:srgbClr val="000000"/>
                          </a:solidFill>
                          <a:effectLst/>
                          <a:latin typeface="+mn-ea"/>
                          <a:ea typeface="+mn-ea"/>
                          <a:cs typeface="+mn-cs"/>
                        </a:rPr>
                        <a:t>1</a:t>
                      </a: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auto" latinLnBrk="0" hangingPunct="1">
                        <a:lnSpc>
                          <a:spcPts val="1200"/>
                        </a:lnSpc>
                        <a:spcBef>
                          <a:spcPts val="0"/>
                        </a:spcBef>
                        <a:spcAft>
                          <a:spcPts val="0"/>
                        </a:spcAft>
                        <a:buClrTx/>
                        <a:buSzTx/>
                        <a:buFontTx/>
                        <a:buNone/>
                        <a:tabLst/>
                        <a:defRPr/>
                      </a:pPr>
                      <a:r>
                        <a:rPr lang="ja-JP" altLang="en-US" sz="1050"/>
                        <a:t>全国的な運用開始に向けたポータルサイトの蓋開けに係る調整について</a:t>
                      </a: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en-US" altLang="ja-JP" sz="1050" b="0" i="0" kern="1200" noProof="0">
                          <a:solidFill>
                            <a:srgbClr val="000000"/>
                          </a:solidFill>
                          <a:effectLst/>
                          <a:latin typeface="+mn-ea"/>
                          <a:ea typeface="+mn-ea"/>
                          <a:cs typeface="+mn-cs"/>
                        </a:rPr>
                        <a:t>10</a:t>
                      </a:r>
                      <a:r>
                        <a:rPr kumimoji="1" lang="ja-JP" altLang="en-US" sz="1050" b="0" i="0" kern="1200" noProof="0">
                          <a:solidFill>
                            <a:srgbClr val="000000"/>
                          </a:solidFill>
                          <a:effectLst/>
                          <a:latin typeface="+mn-ea"/>
                          <a:ea typeface="+mn-ea"/>
                          <a:cs typeface="+mn-cs"/>
                        </a:rPr>
                        <a:t>分</a:t>
                      </a:r>
                      <a:endParaRPr kumimoji="1" lang="en-US" altLang="ja-JP" sz="1050" b="0" i="0" kern="1200" noProof="0">
                        <a:solidFill>
                          <a:srgbClr val="000000"/>
                        </a:solidFill>
                        <a:effectLst/>
                        <a:latin typeface="+mn-ea"/>
                        <a:ea typeface="+mn-ea"/>
                        <a:cs typeface="+mn-cs"/>
                      </a:endParaRPr>
                    </a:p>
                  </a:txBody>
                  <a:tcPr marL="84299" marR="84299"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685673" rtl="0" eaLnBrk="1" fontAlgn="base" latinLnBrk="0" hangingPunct="1">
                        <a:lnSpc>
                          <a:spcPts val="1200"/>
                        </a:lnSpc>
                        <a:spcBef>
                          <a:spcPts val="0"/>
                        </a:spcBef>
                        <a:spcAft>
                          <a:spcPts val="0"/>
                        </a:spcAft>
                        <a:buClrTx/>
                        <a:buSzTx/>
                        <a:buFont typeface="Wingdings" panose="05000000000000000000" pitchFamily="2" charset="2"/>
                        <a:buNone/>
                        <a:tabLst/>
                        <a:defRPr/>
                      </a:pPr>
                      <a:r>
                        <a:rPr kumimoji="1" lang="en-US" altLang="ja-JP" sz="1050" b="0" i="0" u="none" strike="noStrike" kern="1200" cap="none" spc="0" normalizeH="0" baseline="0" noProof="0">
                          <a:ln>
                            <a:noFill/>
                          </a:ln>
                          <a:solidFill>
                            <a:schemeClr val="tx1"/>
                          </a:solidFill>
                          <a:effectLst/>
                          <a:uLnTx/>
                          <a:uFillTx/>
                          <a:latin typeface="Meiryo UI"/>
                          <a:ea typeface="+mn-ea"/>
                          <a:cs typeface="+mn-cs"/>
                        </a:rPr>
                        <a:t>DX</a:t>
                      </a:r>
                      <a:r>
                        <a:rPr kumimoji="1" lang="ja-JP" altLang="en-US" sz="1050" b="0" i="0" u="none" strike="noStrike" kern="1200" cap="none" spc="0" normalizeH="0" baseline="0" noProof="0">
                          <a:ln>
                            <a:noFill/>
                          </a:ln>
                          <a:solidFill>
                            <a:schemeClr val="tx1"/>
                          </a:solidFill>
                          <a:effectLst/>
                          <a:uLnTx/>
                          <a:uFillTx/>
                          <a:latin typeface="Meiryo UI"/>
                          <a:ea typeface="+mn-ea"/>
                          <a:cs typeface="+mn-cs"/>
                        </a:rPr>
                        <a:t>機構</a:t>
                      </a:r>
                      <a:endParaRPr kumimoji="1" lang="en-US" altLang="ja-JP" sz="1050" b="0" i="0" u="none" strike="noStrike" kern="1200" cap="none" spc="0" normalizeH="0" baseline="0" noProof="0">
                        <a:ln>
                          <a:noFill/>
                        </a:ln>
                        <a:solidFill>
                          <a:schemeClr val="tx1"/>
                        </a:solidFill>
                        <a:effectLst/>
                        <a:uLnTx/>
                        <a:uFillTx/>
                        <a:latin typeface="Meiryo UI"/>
                        <a:ea typeface="+mn-ea"/>
                        <a:cs typeface="+mn-cs"/>
                      </a:endParaRPr>
                    </a:p>
                  </a:txBody>
                  <a:tcPr marL="84299" marR="84299"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0224219"/>
                  </a:ext>
                </a:extLst>
              </a:tr>
              <a:tr h="304572">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1050" b="0" i="0" kern="1200">
                          <a:solidFill>
                            <a:srgbClr val="000000"/>
                          </a:solidFill>
                          <a:effectLst/>
                          <a:latin typeface="+mn-ea"/>
                          <a:ea typeface="+mn-ea"/>
                          <a:cs typeface="+mn-cs"/>
                        </a:rPr>
                        <a:t>ー</a:t>
                      </a:r>
                      <a:endParaRPr kumimoji="1" lang="en-US"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1050" b="0" i="0" kern="1200">
                          <a:solidFill>
                            <a:srgbClr val="000000"/>
                          </a:solidFill>
                          <a:effectLst/>
                          <a:latin typeface="+mn-ea"/>
                          <a:ea typeface="+mn-ea"/>
                          <a:cs typeface="+mn-cs"/>
                        </a:rPr>
                        <a:t>ラップアップ</a:t>
                      </a: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en-US" altLang="ja-JP" sz="1050" b="0" i="0" kern="1200" noProof="0">
                          <a:solidFill>
                            <a:srgbClr val="000000"/>
                          </a:solidFill>
                          <a:effectLst/>
                          <a:latin typeface="+mn-ea"/>
                          <a:ea typeface="+mn-ea"/>
                          <a:cs typeface="+mn-cs"/>
                        </a:rPr>
                        <a:t>5</a:t>
                      </a:r>
                      <a:r>
                        <a:rPr kumimoji="1" lang="ja-JP" altLang="en-US" sz="1050" b="0" i="0" kern="1200" noProof="0">
                          <a:solidFill>
                            <a:srgbClr val="000000"/>
                          </a:solidFill>
                          <a:effectLst/>
                          <a:latin typeface="+mn-ea"/>
                          <a:ea typeface="+mn-ea"/>
                          <a:cs typeface="+mn-cs"/>
                        </a:rPr>
                        <a:t>分</a:t>
                      </a:r>
                      <a:endParaRPr kumimoji="1" lang="en-US" altLang="ja-JP" sz="1050" b="0" i="0" kern="1200" noProof="0">
                        <a:solidFill>
                          <a:srgbClr val="000000"/>
                        </a:solidFill>
                        <a:effectLst/>
                        <a:latin typeface="+mn-ea"/>
                        <a:ea typeface="+mn-ea"/>
                        <a:cs typeface="+mn-cs"/>
                      </a:endParaRPr>
                    </a:p>
                  </a:txBody>
                  <a:tcPr marL="84299" marR="84299"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en-US" altLang="ja-JP" sz="1050" b="0" i="0" kern="1200" noProof="0" dirty="0">
                          <a:solidFill>
                            <a:srgbClr val="000000"/>
                          </a:solidFill>
                          <a:effectLst/>
                          <a:latin typeface="+mn-ea"/>
                          <a:ea typeface="+mn-ea"/>
                          <a:cs typeface="+mn-cs"/>
                        </a:rPr>
                        <a:t>DX</a:t>
                      </a:r>
                      <a:r>
                        <a:rPr kumimoji="1" lang="ja-JP" altLang="en-US" sz="1050" b="0" i="0" kern="1200" noProof="0" dirty="0">
                          <a:solidFill>
                            <a:srgbClr val="000000"/>
                          </a:solidFill>
                          <a:effectLst/>
                          <a:latin typeface="+mn-ea"/>
                          <a:ea typeface="+mn-ea"/>
                          <a:cs typeface="+mn-cs"/>
                        </a:rPr>
                        <a:t>機構</a:t>
                      </a:r>
                      <a:r>
                        <a:rPr kumimoji="1" lang="en-US" altLang="ja-JP" sz="1050" b="0" i="0" kern="1200" noProof="0" dirty="0">
                          <a:solidFill>
                            <a:srgbClr val="000000"/>
                          </a:solidFill>
                          <a:effectLst/>
                          <a:latin typeface="+mn-ea"/>
                          <a:ea typeface="+mn-ea"/>
                          <a:cs typeface="+mn-cs"/>
                        </a:rPr>
                        <a:t>・ACN</a:t>
                      </a:r>
                    </a:p>
                  </a:txBody>
                  <a:tcPr marL="84299" marR="84299"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3592874"/>
                  </a:ext>
                </a:extLst>
              </a:tr>
            </a:tbl>
          </a:graphicData>
        </a:graphic>
      </p:graphicFrame>
      <p:graphicFrame>
        <p:nvGraphicFramePr>
          <p:cNvPr id="3" name="表 2">
            <a:extLst>
              <a:ext uri="{FF2B5EF4-FFF2-40B4-BE49-F238E27FC236}">
                <a16:creationId xmlns:a16="http://schemas.microsoft.com/office/drawing/2014/main" id="{C0BA6B4E-EE6F-E83D-4223-1CC20645488F}"/>
              </a:ext>
            </a:extLst>
          </p:cNvPr>
          <p:cNvGraphicFramePr>
            <a:graphicFrameLocks noGrp="1"/>
          </p:cNvGraphicFramePr>
          <p:nvPr>
            <p:extLst>
              <p:ext uri="{D42A27DB-BD31-4B8C-83A1-F6EECF244321}">
                <p14:modId xmlns:p14="http://schemas.microsoft.com/office/powerpoint/2010/main" val="2542528904"/>
              </p:ext>
            </p:extLst>
          </p:nvPr>
        </p:nvGraphicFramePr>
        <p:xfrm>
          <a:off x="604654" y="3487980"/>
          <a:ext cx="8815667" cy="1625997"/>
        </p:xfrm>
        <a:graphic>
          <a:graphicData uri="http://schemas.openxmlformats.org/drawingml/2006/table">
            <a:tbl>
              <a:tblPr/>
              <a:tblGrid>
                <a:gridCol w="542387">
                  <a:extLst>
                    <a:ext uri="{9D8B030D-6E8A-4147-A177-3AD203B41FA5}">
                      <a16:colId xmlns:a16="http://schemas.microsoft.com/office/drawing/2014/main" val="3484704196"/>
                    </a:ext>
                  </a:extLst>
                </a:gridCol>
                <a:gridCol w="7174620">
                  <a:extLst>
                    <a:ext uri="{9D8B030D-6E8A-4147-A177-3AD203B41FA5}">
                      <a16:colId xmlns:a16="http://schemas.microsoft.com/office/drawing/2014/main" val="3863879091"/>
                    </a:ext>
                  </a:extLst>
                </a:gridCol>
                <a:gridCol w="1098660">
                  <a:extLst>
                    <a:ext uri="{9D8B030D-6E8A-4147-A177-3AD203B41FA5}">
                      <a16:colId xmlns:a16="http://schemas.microsoft.com/office/drawing/2014/main" val="2058983492"/>
                    </a:ext>
                  </a:extLst>
                </a:gridCol>
              </a:tblGrid>
              <a:tr h="274125">
                <a:tc>
                  <a:txBody>
                    <a:bodyPr/>
                    <a:lstStyle/>
                    <a:p>
                      <a:pPr algn="ctr" fontAlgn="base">
                        <a:lnSpc>
                          <a:spcPts val="1200"/>
                        </a:lnSpc>
                      </a:pPr>
                      <a:r>
                        <a:rPr lang="en-US" sz="1050" b="0" i="0">
                          <a:solidFill>
                            <a:srgbClr val="000000"/>
                          </a:solidFill>
                          <a:effectLst/>
                          <a:latin typeface="+mn-ea"/>
                          <a:ea typeface="+mn-ea"/>
                        </a:rPr>
                        <a:t>No.</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ase">
                        <a:lnSpc>
                          <a:spcPts val="1200"/>
                        </a:lnSpc>
                      </a:pPr>
                      <a:r>
                        <a:rPr lang="ja-JP" altLang="en-US" sz="1050" b="0" i="0" strike="noStrike">
                          <a:solidFill>
                            <a:srgbClr val="000000"/>
                          </a:solidFill>
                          <a:effectLst/>
                          <a:latin typeface="+mn-ea"/>
                          <a:ea typeface="+mn-ea"/>
                        </a:rPr>
                        <a:t>アジェンダ</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ase">
                        <a:lnSpc>
                          <a:spcPts val="1200"/>
                        </a:lnSpc>
                      </a:pPr>
                      <a:r>
                        <a:rPr lang="ja-JP" altLang="en-US" sz="1050" b="0" i="0" strike="noStrike">
                          <a:solidFill>
                            <a:srgbClr val="000000"/>
                          </a:solidFill>
                          <a:effectLst/>
                          <a:latin typeface="+mn-ea"/>
                          <a:ea typeface="+mn-ea"/>
                        </a:rPr>
                        <a:t>担当者</a:t>
                      </a:r>
                      <a:endParaRPr lang="en-US" altLang="ja-JP" sz="1050" b="0" i="0" strike="noStrike">
                        <a:solidFill>
                          <a:srgbClr val="000000"/>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46781126"/>
                  </a:ext>
                </a:extLst>
              </a:tr>
              <a:tr h="450624">
                <a:tc>
                  <a:txBody>
                    <a:bodyPr/>
                    <a:lstStyle/>
                    <a:p>
                      <a:pPr marL="0" algn="l" defTabSz="843930" rtl="0" eaLnBrk="1" fontAlgn="base" latinLnBrk="0" hangingPunct="1">
                        <a:lnSpc>
                          <a:spcPts val="1200"/>
                        </a:lnSpc>
                      </a:pPr>
                      <a:r>
                        <a:rPr kumimoji="1" lang="ja-JP" altLang="en-US" sz="1050" b="0" i="0" kern="1200">
                          <a:solidFill>
                            <a:srgbClr val="000000"/>
                          </a:solidFill>
                          <a:effectLst/>
                          <a:latin typeface="+mn-ea"/>
                          <a:ea typeface="+mn-ea"/>
                          <a:cs typeface="+mn-cs"/>
                        </a:rPr>
                        <a:t>ー</a:t>
                      </a:r>
                      <a:endParaRPr kumimoji="1" lang="en-US"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1050" b="0" i="0" kern="1200">
                          <a:solidFill>
                            <a:srgbClr val="000000"/>
                          </a:solidFill>
                          <a:effectLst/>
                          <a:latin typeface="+mn-ea"/>
                          <a:ea typeface="+mn-ea"/>
                          <a:cs typeface="+mn-cs"/>
                        </a:rPr>
                        <a:t>開発進捗報告</a:t>
                      </a:r>
                      <a:r>
                        <a:rPr kumimoji="1" lang="en-US" altLang="ja-JP" sz="1050" b="0" i="0" kern="1200">
                          <a:solidFill>
                            <a:srgbClr val="000000"/>
                          </a:solidFill>
                          <a:effectLst/>
                          <a:latin typeface="+mn-ea"/>
                          <a:ea typeface="+mn-ea"/>
                          <a:cs typeface="+mn-cs"/>
                        </a:rPr>
                        <a:t>（</a:t>
                      </a:r>
                      <a:r>
                        <a:rPr kumimoji="1" lang="ja-JP" altLang="en-US" sz="1050" b="0" i="0" kern="1200">
                          <a:solidFill>
                            <a:srgbClr val="000000"/>
                          </a:solidFill>
                          <a:effectLst/>
                          <a:latin typeface="+mn-ea"/>
                          <a:ea typeface="+mn-ea"/>
                          <a:cs typeface="+mn-cs"/>
                        </a:rPr>
                        <a:t>書面</a:t>
                      </a:r>
                      <a:r>
                        <a:rPr kumimoji="1" lang="en-US" altLang="ja-JP" sz="1050" b="0" i="0" kern="1200">
                          <a:solidFill>
                            <a:srgbClr val="000000"/>
                          </a:solidFill>
                          <a:effectLst/>
                          <a:latin typeface="+mn-ea"/>
                          <a:ea typeface="+mn-ea"/>
                          <a:cs typeface="+mn-cs"/>
                        </a:rPr>
                        <a:t>）</a:t>
                      </a:r>
                      <a:endParaRPr kumimoji="1" lang="ja-JP" altLang="en-US"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 typeface="Wingdings" panose="05000000000000000000" pitchFamily="2" charset="2"/>
                        <a:buNone/>
                        <a:tabLst/>
                        <a:defRPr/>
                      </a:pPr>
                      <a:r>
                        <a:rPr kumimoji="1" lang="en-US" altLang="ja-JP" sz="1050" b="0" i="0" u="none" strike="noStrike" kern="1200" cap="none" spc="0" normalizeH="0" baseline="0" noProof="0">
                          <a:ln>
                            <a:noFill/>
                          </a:ln>
                          <a:solidFill>
                            <a:prstClr val="black"/>
                          </a:solidFill>
                          <a:effectLst/>
                          <a:uLnTx/>
                          <a:uFillTx/>
                          <a:latin typeface="+mn-ea"/>
                          <a:ea typeface="+mn-ea"/>
                          <a:cs typeface="+mn-cs"/>
                        </a:rPr>
                        <a:t>NTTD</a:t>
                      </a:r>
                      <a:r>
                        <a:rPr kumimoji="1" lang="ja-JP" altLang="en-US" sz="1050" b="0" i="0" u="none" strike="noStrike" kern="1200" cap="none" spc="0" normalizeH="0" baseline="0" noProof="0">
                          <a:ln>
                            <a:noFill/>
                          </a:ln>
                          <a:solidFill>
                            <a:prstClr val="black"/>
                          </a:solidFill>
                          <a:effectLst/>
                          <a:uLnTx/>
                          <a:uFillTx/>
                          <a:latin typeface="+mn-ea"/>
                          <a:ea typeface="+mn-ea"/>
                          <a:cs typeface="+mn-cs"/>
                        </a:rPr>
                        <a:t>・富士通</a:t>
                      </a:r>
                      <a:endParaRPr kumimoji="1" lang="en-US" altLang="ja-JP" sz="1050" b="0" i="0" u="none" strike="noStrike" kern="1200" cap="none" spc="0" normalizeH="0" baseline="0" noProof="0">
                        <a:ln>
                          <a:noFill/>
                        </a:ln>
                        <a:solidFill>
                          <a:prstClr val="black"/>
                        </a:solidFill>
                        <a:effectLst/>
                        <a:uLnTx/>
                        <a:uFillTx/>
                        <a:latin typeface="+mn-ea"/>
                        <a:ea typeface="+mn-ea"/>
                        <a:cs typeface="+mn-cs"/>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7993250"/>
                  </a:ext>
                </a:extLst>
              </a:tr>
              <a:tr h="450624">
                <a:tc>
                  <a:txBody>
                    <a:bodyPr/>
                    <a:lstStyle/>
                    <a:p>
                      <a:pPr marL="0" algn="l" defTabSz="843930" rtl="0" eaLnBrk="1" fontAlgn="base" latinLnBrk="0" hangingPunct="1">
                        <a:lnSpc>
                          <a:spcPts val="1200"/>
                        </a:lnSpc>
                      </a:pPr>
                      <a:r>
                        <a:rPr kumimoji="1" lang="ja-JP" altLang="en-US" sz="1050" b="0" i="0" kern="1200">
                          <a:solidFill>
                            <a:srgbClr val="000000"/>
                          </a:solidFill>
                          <a:effectLst/>
                          <a:latin typeface="+mn-ea"/>
                          <a:ea typeface="+mn-ea"/>
                          <a:cs typeface="+mn-cs"/>
                        </a:rPr>
                        <a:t>ー</a:t>
                      </a:r>
                      <a:endParaRPr kumimoji="1" lang="en-US"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1050" b="0" i="0" kern="1200">
                          <a:solidFill>
                            <a:srgbClr val="000000"/>
                          </a:solidFill>
                          <a:effectLst/>
                          <a:latin typeface="+mn-ea"/>
                          <a:ea typeface="+mn-ea"/>
                          <a:cs typeface="+mn-cs"/>
                        </a:rPr>
                        <a:t>テスト実施・運用実施概要</a:t>
                      </a:r>
                      <a:r>
                        <a:rPr kumimoji="1" lang="en-US" altLang="ja-JP" sz="1050" b="0" i="0" kern="1200">
                          <a:solidFill>
                            <a:srgbClr val="000000"/>
                          </a:solidFill>
                          <a:effectLst/>
                          <a:latin typeface="+mn-ea"/>
                          <a:ea typeface="+mn-ea"/>
                          <a:cs typeface="+mn-cs"/>
                        </a:rPr>
                        <a:t>（</a:t>
                      </a:r>
                      <a:r>
                        <a:rPr kumimoji="1" lang="ja-JP" altLang="en-US" sz="1050" b="0" i="0" kern="1200">
                          <a:solidFill>
                            <a:srgbClr val="000000"/>
                          </a:solidFill>
                          <a:effectLst/>
                          <a:latin typeface="+mn-ea"/>
                          <a:ea typeface="+mn-ea"/>
                          <a:cs typeface="+mn-cs"/>
                        </a:rPr>
                        <a:t>書面</a:t>
                      </a:r>
                      <a:r>
                        <a:rPr kumimoji="1" lang="en-US" altLang="ja-JP" sz="1050" b="0" i="0" kern="1200">
                          <a:solidFill>
                            <a:srgbClr val="000000"/>
                          </a:solidFill>
                          <a:effectLst/>
                          <a:latin typeface="+mn-ea"/>
                          <a:ea typeface="+mn-ea"/>
                          <a:cs typeface="+mn-cs"/>
                        </a:rPr>
                        <a:t>）</a:t>
                      </a:r>
                      <a:endParaRPr kumimoji="1" lang="ja-JP" altLang="en-US"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 typeface="Wingdings" panose="05000000000000000000" pitchFamily="2" charset="2"/>
                        <a:buNone/>
                        <a:tabLst/>
                        <a:defRPr/>
                      </a:pPr>
                      <a:r>
                        <a:rPr kumimoji="1" lang="en-US" altLang="ja-JP" sz="1050" b="0" i="0" u="none" strike="noStrike" kern="1200" cap="none" spc="0" normalizeH="0" baseline="0" noProof="0">
                          <a:ln>
                            <a:noFill/>
                          </a:ln>
                          <a:solidFill>
                            <a:prstClr val="black"/>
                          </a:solidFill>
                          <a:effectLst/>
                          <a:uLnTx/>
                          <a:uFillTx/>
                          <a:latin typeface="+mn-ea"/>
                          <a:ea typeface="+mn-ea"/>
                          <a:cs typeface="+mn-cs"/>
                        </a:rPr>
                        <a:t>DX</a:t>
                      </a:r>
                      <a:r>
                        <a:rPr kumimoji="1" lang="ja-JP" altLang="en-US" sz="1050" b="0" i="0" u="none" strike="noStrike" kern="1200" cap="none" spc="0" normalizeH="0" baseline="0" noProof="0">
                          <a:ln>
                            <a:noFill/>
                          </a:ln>
                          <a:solidFill>
                            <a:prstClr val="black"/>
                          </a:solidFill>
                          <a:effectLst/>
                          <a:uLnTx/>
                          <a:uFillTx/>
                          <a:latin typeface="+mn-ea"/>
                          <a:ea typeface="+mn-ea"/>
                          <a:cs typeface="+mn-cs"/>
                        </a:rPr>
                        <a:t>機構</a:t>
                      </a:r>
                      <a:r>
                        <a:rPr kumimoji="1" lang="en-US" altLang="ja-JP" sz="1050" b="0" i="0" u="none" strike="noStrike" kern="1200" cap="none" spc="0" normalizeH="0" baseline="0" noProof="0">
                          <a:ln>
                            <a:noFill/>
                          </a:ln>
                          <a:solidFill>
                            <a:prstClr val="black"/>
                          </a:solidFill>
                          <a:effectLst/>
                          <a:uLnTx/>
                          <a:uFillTx/>
                          <a:latin typeface="+mn-ea"/>
                          <a:ea typeface="+mn-ea"/>
                          <a:cs typeface="+mn-cs"/>
                        </a:rPr>
                        <a:t>・ACN</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5063995"/>
                  </a:ext>
                </a:extLst>
              </a:tr>
              <a:tr h="450624">
                <a:tc>
                  <a:txBody>
                    <a:bodyPr/>
                    <a:lstStyle/>
                    <a:p>
                      <a:pPr marL="0" lvl="0" algn="l" defTabSz="843930" rtl="0">
                        <a:lnSpc>
                          <a:spcPts val="1200"/>
                        </a:lnSpc>
                        <a:buNone/>
                      </a:pPr>
                      <a:r>
                        <a:rPr lang="ja-JP" altLang="en-US" sz="1050" b="0" i="0" kern="1200">
                          <a:solidFill>
                            <a:srgbClr val="000000"/>
                          </a:solidFill>
                          <a:effectLst/>
                          <a:latin typeface="+mn-ea"/>
                          <a:ea typeface="+mn-ea"/>
                          <a:cs typeface="+mn-cs"/>
                        </a:rPr>
                        <a:t>ー</a:t>
                      </a:r>
                      <a:endParaRPr kumimoji="1" lang="en-US" altLang="ja-JP"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a:lnSpc>
                          <a:spcPts val="1200"/>
                        </a:lnSpc>
                        <a:spcBef>
                          <a:spcPts val="0"/>
                        </a:spcBef>
                        <a:spcAft>
                          <a:spcPts val="0"/>
                        </a:spcAft>
                        <a:buClrTx/>
                        <a:buSzTx/>
                        <a:buFontTx/>
                        <a:buNone/>
                        <a:tabLst/>
                        <a:defRPr/>
                      </a:pPr>
                      <a:r>
                        <a:rPr lang="en-US" altLang="ja-JP" sz="1050" b="0" i="0" kern="1200">
                          <a:solidFill>
                            <a:srgbClr val="000000"/>
                          </a:solidFill>
                          <a:effectLst/>
                          <a:latin typeface="+mn-ea"/>
                          <a:ea typeface="+mn-ea"/>
                          <a:cs typeface="+mn-cs"/>
                        </a:rPr>
                        <a:t>標準マスタの直近3か月の更新予定の共有（書面）</a:t>
                      </a:r>
                      <a:endParaRPr kumimoji="1" lang="en-US" altLang="ja-JP"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lvl="0" indent="0" algn="ctr" defTabSz="843930">
                        <a:lnSpc>
                          <a:spcPts val="1200"/>
                        </a:lnSpc>
                        <a:spcBef>
                          <a:spcPts val="0"/>
                        </a:spcBef>
                        <a:spcAft>
                          <a:spcPts val="0"/>
                        </a:spcAft>
                        <a:buNone/>
                        <a:tabLst/>
                        <a:defRPr/>
                      </a:pPr>
                      <a:r>
                        <a:rPr lang="en-US" altLang="ja-JP" sz="1050" b="0" i="0" u="none" strike="noStrike" kern="1200" cap="none" spc="0" normalizeH="0" baseline="0" noProof="0" dirty="0" err="1">
                          <a:ln>
                            <a:noFill/>
                          </a:ln>
                          <a:solidFill>
                            <a:prstClr val="black"/>
                          </a:solidFill>
                          <a:effectLst/>
                          <a:uLnTx/>
                          <a:uFillTx/>
                          <a:latin typeface="+mn-ea"/>
                          <a:ea typeface="+mn-ea"/>
                          <a:cs typeface="+mn-cs"/>
                        </a:rPr>
                        <a:t>厚労省</a:t>
                      </a:r>
                      <a:endParaRPr kumimoji="1" lang="en-US" altLang="ja-JP" sz="1050" b="0" i="0" u="none" strike="noStrike" kern="1200" cap="none" spc="0" normalizeH="0" baseline="0" noProof="0" dirty="0">
                        <a:ln>
                          <a:noFill/>
                        </a:ln>
                        <a:solidFill>
                          <a:prstClr val="black"/>
                        </a:solidFill>
                        <a:effectLst/>
                        <a:uLnTx/>
                        <a:uFillTx/>
                        <a:latin typeface="+mn-ea"/>
                        <a:ea typeface="+mn-ea"/>
                        <a:cs typeface="+mn-cs"/>
                      </a:endParaRPr>
                    </a:p>
                  </a:txBody>
                  <a:tcPr marL="84297" marR="84297" marT="42149" marB="42149" anchor="ctr">
                    <a:lnL w="10658">
                      <a:solidFill>
                        <a:srgbClr val="000000"/>
                      </a:solidFill>
                    </a:lnL>
                    <a:lnR w="10658">
                      <a:solidFill>
                        <a:srgbClr val="000000"/>
                      </a:solidFill>
                    </a:lnR>
                    <a:lnT w="10658">
                      <a:solidFill>
                        <a:srgbClr val="000000"/>
                      </a:solidFill>
                    </a:lnT>
                    <a:lnB w="10658">
                      <a:solidFill>
                        <a:srgbClr val="000000"/>
                      </a:solidFill>
                    </a:lnB>
                    <a:noFill/>
                  </a:tcPr>
                </a:tc>
                <a:extLst>
                  <a:ext uri="{0D108BD9-81ED-4DB2-BD59-A6C34878D82A}">
                    <a16:rowId xmlns:a16="http://schemas.microsoft.com/office/drawing/2014/main" val="4262732598"/>
                  </a:ext>
                </a:extLst>
              </a:tr>
            </a:tbl>
          </a:graphicData>
        </a:graphic>
      </p:graphicFrame>
      <p:sp>
        <p:nvSpPr>
          <p:cNvPr id="6" name="正方形/長方形 5">
            <a:extLst>
              <a:ext uri="{FF2B5EF4-FFF2-40B4-BE49-F238E27FC236}">
                <a16:creationId xmlns:a16="http://schemas.microsoft.com/office/drawing/2014/main" id="{50E3162F-65C6-5044-22F8-260C3DCE98BC}"/>
              </a:ext>
            </a:extLst>
          </p:cNvPr>
          <p:cNvSpPr/>
          <p:nvPr/>
        </p:nvSpPr>
        <p:spPr>
          <a:xfrm>
            <a:off x="506999" y="949682"/>
            <a:ext cx="2771460" cy="296026"/>
          </a:xfrm>
          <a:prstGeom prst="rect">
            <a:avLst/>
          </a:prstGeom>
          <a:solidFill>
            <a:schemeClr val="bg1"/>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■会議内で取り扱う議題</a:t>
            </a:r>
          </a:p>
        </p:txBody>
      </p:sp>
      <p:sp>
        <p:nvSpPr>
          <p:cNvPr id="7" name="正方形/長方形 6">
            <a:extLst>
              <a:ext uri="{FF2B5EF4-FFF2-40B4-BE49-F238E27FC236}">
                <a16:creationId xmlns:a16="http://schemas.microsoft.com/office/drawing/2014/main" id="{988E7AB4-7FD8-5EF9-2CD8-C360FEA0D8E2}"/>
              </a:ext>
            </a:extLst>
          </p:cNvPr>
          <p:cNvSpPr/>
          <p:nvPr/>
        </p:nvSpPr>
        <p:spPr>
          <a:xfrm>
            <a:off x="506999" y="3125561"/>
            <a:ext cx="2902026" cy="296026"/>
          </a:xfrm>
          <a:prstGeom prst="rect">
            <a:avLst/>
          </a:prstGeom>
          <a:solidFill>
            <a:schemeClr val="bg1"/>
          </a:solidFill>
          <a:ln>
            <a:noFill/>
          </a:ln>
        </p:spPr>
        <p:txBody>
          <a:bodyPr lIns="91440" tIns="45720" rIns="91440" bIns="45720"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white">
                    <a:lumMod val="49000"/>
                  </a:prstClr>
                </a:solidFill>
                <a:effectLst/>
                <a:uLnTx/>
                <a:uFillTx/>
                <a:latin typeface="Meiryo UI"/>
                <a:ea typeface="Meiryo UI"/>
                <a:cs typeface="+mn-cs"/>
              </a:rPr>
              <a:t>■書面開催の対象となる議題</a:t>
            </a:r>
          </a:p>
        </p:txBody>
      </p:sp>
      <p:sp>
        <p:nvSpPr>
          <p:cNvPr id="8" name="正方形/長方形 7">
            <a:extLst>
              <a:ext uri="{FF2B5EF4-FFF2-40B4-BE49-F238E27FC236}">
                <a16:creationId xmlns:a16="http://schemas.microsoft.com/office/drawing/2014/main" id="{02C28D97-5090-94DE-4F4D-F17287F39FBE}"/>
              </a:ext>
            </a:extLst>
          </p:cNvPr>
          <p:cNvSpPr/>
          <p:nvPr/>
        </p:nvSpPr>
        <p:spPr>
          <a:xfrm>
            <a:off x="604654" y="2278825"/>
            <a:ext cx="3577891" cy="508700"/>
          </a:xfrm>
          <a:prstGeom prst="rect">
            <a:avLst/>
          </a:prstGeom>
          <a:solidFill>
            <a:schemeClr val="bg1"/>
          </a:solidFill>
          <a:ln>
            <a:noFill/>
          </a:ln>
        </p:spPr>
        <p:txBody>
          <a:bodyPr lIns="91440" tIns="45720" rIns="91440" bIns="45720"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&lt;参加者&gt;</a:t>
            </a:r>
            <a:endParaRPr kumimoji="1" lang="en-US" altLang="ja-JP" sz="12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厚労省、</a:t>
            </a:r>
            <a:r>
              <a:rPr lang="en-US" altLang="ja-JP" sz="1100">
                <a:solidFill>
                  <a:prstClr val="black"/>
                </a:solidFill>
                <a:latin typeface="Meiryo UI"/>
                <a:ea typeface="Meiryo UI"/>
              </a:rPr>
              <a:t>DX</a:t>
            </a:r>
            <a:r>
              <a:rPr lang="ja-JP" altLang="en-US" sz="1100">
                <a:solidFill>
                  <a:prstClr val="black"/>
                </a:solidFill>
                <a:latin typeface="Meiryo UI"/>
                <a:ea typeface="Meiryo UI"/>
              </a:rPr>
              <a:t>機構</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NTTD</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ACN</a:t>
            </a:r>
          </a:p>
        </p:txBody>
      </p:sp>
    </p:spTree>
    <p:extLst>
      <p:ext uri="{BB962C8B-B14F-4D97-AF65-F5344CB8AC3E}">
        <p14:creationId xmlns:p14="http://schemas.microsoft.com/office/powerpoint/2010/main" val="3003619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30EED-2022-CFAB-1DC8-F9D64EE19ED2}"/>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58D21743-AEBA-9E2D-6042-4457494743FF}"/>
              </a:ext>
            </a:extLst>
          </p:cNvPr>
          <p:cNvSpPr/>
          <p:nvPr/>
        </p:nvSpPr>
        <p:spPr>
          <a:xfrm>
            <a:off x="230818" y="696662"/>
            <a:ext cx="3436693" cy="361339"/>
          </a:xfrm>
          <a:prstGeom prst="rect">
            <a:avLst/>
          </a:prstGeom>
          <a:no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■会議内で取り扱った議題</a:t>
            </a:r>
          </a:p>
        </p:txBody>
      </p:sp>
      <p:sp>
        <p:nvSpPr>
          <p:cNvPr id="9" name="タイトル 1">
            <a:extLst>
              <a:ext uri="{FF2B5EF4-FFF2-40B4-BE49-F238E27FC236}">
                <a16:creationId xmlns:a16="http://schemas.microsoft.com/office/drawing/2014/main" id="{D52515F8-D7B8-3A4D-B928-0E17F5A1FD92}"/>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開発進捗連絡会議の共有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a:t>
            </a:r>
            <a:endParaRPr lang="ja-JP" altLang="en-US" sz="1800">
              <a:solidFill>
                <a:schemeClr val="tx2">
                  <a:lumMod val="75000"/>
                </a:schemeClr>
              </a:solidFill>
            </a:endParaRPr>
          </a:p>
        </p:txBody>
      </p:sp>
      <p:graphicFrame>
        <p:nvGraphicFramePr>
          <p:cNvPr id="2" name="表 1">
            <a:extLst>
              <a:ext uri="{FF2B5EF4-FFF2-40B4-BE49-F238E27FC236}">
                <a16:creationId xmlns:a16="http://schemas.microsoft.com/office/drawing/2014/main" id="{95D1A597-C9BB-29ED-37A6-4598253000F3}"/>
              </a:ext>
            </a:extLst>
          </p:cNvPr>
          <p:cNvGraphicFramePr>
            <a:graphicFrameLocks noGrp="1"/>
          </p:cNvGraphicFramePr>
          <p:nvPr>
            <p:extLst>
              <p:ext uri="{D42A27DB-BD31-4B8C-83A1-F6EECF244321}">
                <p14:modId xmlns:p14="http://schemas.microsoft.com/office/powerpoint/2010/main" val="1234341914"/>
              </p:ext>
            </p:extLst>
          </p:nvPr>
        </p:nvGraphicFramePr>
        <p:xfrm>
          <a:off x="230819" y="1058001"/>
          <a:ext cx="9400014" cy="5650252"/>
        </p:xfrm>
        <a:graphic>
          <a:graphicData uri="http://schemas.openxmlformats.org/drawingml/2006/table">
            <a:tbl>
              <a:tblPr/>
              <a:tblGrid>
                <a:gridCol w="403907">
                  <a:extLst>
                    <a:ext uri="{9D8B030D-6E8A-4147-A177-3AD203B41FA5}">
                      <a16:colId xmlns:a16="http://schemas.microsoft.com/office/drawing/2014/main" val="3484704196"/>
                    </a:ext>
                  </a:extLst>
                </a:gridCol>
                <a:gridCol w="1310180">
                  <a:extLst>
                    <a:ext uri="{9D8B030D-6E8A-4147-A177-3AD203B41FA5}">
                      <a16:colId xmlns:a16="http://schemas.microsoft.com/office/drawing/2014/main" val="3863879091"/>
                    </a:ext>
                  </a:extLst>
                </a:gridCol>
                <a:gridCol w="705970">
                  <a:extLst>
                    <a:ext uri="{9D8B030D-6E8A-4147-A177-3AD203B41FA5}">
                      <a16:colId xmlns:a16="http://schemas.microsoft.com/office/drawing/2014/main" val="3528419117"/>
                    </a:ext>
                  </a:extLst>
                </a:gridCol>
                <a:gridCol w="2413685">
                  <a:extLst>
                    <a:ext uri="{9D8B030D-6E8A-4147-A177-3AD203B41FA5}">
                      <a16:colId xmlns:a16="http://schemas.microsoft.com/office/drawing/2014/main" val="1880882567"/>
                    </a:ext>
                  </a:extLst>
                </a:gridCol>
                <a:gridCol w="4566272">
                  <a:extLst>
                    <a:ext uri="{9D8B030D-6E8A-4147-A177-3AD203B41FA5}">
                      <a16:colId xmlns:a16="http://schemas.microsoft.com/office/drawing/2014/main" val="2058983492"/>
                    </a:ext>
                  </a:extLst>
                </a:gridCol>
              </a:tblGrid>
              <a:tr h="262624">
                <a:tc>
                  <a:txBody>
                    <a:bodyPr/>
                    <a:lstStyle/>
                    <a:p>
                      <a:pPr algn="ctr" fontAlgn="base">
                        <a:lnSpc>
                          <a:spcPts val="1200"/>
                        </a:lnSpc>
                      </a:pPr>
                      <a:r>
                        <a:rPr lang="en-US" sz="900" b="0" i="0">
                          <a:solidFill>
                            <a:schemeClr val="tx1"/>
                          </a:solidFill>
                          <a:effectLst/>
                          <a:latin typeface="+mn-ea"/>
                          <a:ea typeface="+mn-ea"/>
                        </a:rPr>
                        <a:t>No.</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ja-JP" altLang="en-US" sz="900" b="0" i="0" strike="noStrike">
                          <a:solidFill>
                            <a:schemeClr val="tx1"/>
                          </a:solidFill>
                          <a:effectLst/>
                          <a:latin typeface="+mn-ea"/>
                          <a:ea typeface="+mn-ea"/>
                        </a:rPr>
                        <a:t>アジェンダ</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ja-JP" altLang="en-US" sz="900" b="0" i="0" strike="noStrike">
                          <a:solidFill>
                            <a:schemeClr val="tx1"/>
                          </a:solidFill>
                          <a:effectLst/>
                          <a:latin typeface="+mn-ea"/>
                          <a:ea typeface="+mn-ea"/>
                        </a:rPr>
                        <a:t>担当者</a:t>
                      </a:r>
                      <a:endParaRPr lang="en-US" altLang="ja-JP" sz="900" b="0" i="0" strike="noStrike">
                        <a:solidFill>
                          <a:schemeClr val="tx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ja-JP" altLang="en-US" sz="900" b="0" i="0" strike="noStrike">
                          <a:solidFill>
                            <a:schemeClr val="tx1"/>
                          </a:solidFill>
                          <a:effectLst/>
                          <a:latin typeface="+mn-ea"/>
                          <a:ea typeface="+mn-ea"/>
                        </a:rPr>
                        <a:t>合意形成事項</a:t>
                      </a:r>
                      <a:endParaRPr lang="en-US" altLang="ja-JP" sz="900" b="0" i="0" strike="noStrike">
                        <a:solidFill>
                          <a:schemeClr val="tx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en-US" altLang="ja-JP" sz="900" b="0" i="0" strike="noStrike">
                          <a:solidFill>
                            <a:schemeClr val="tx1"/>
                          </a:solidFill>
                          <a:effectLst/>
                          <a:latin typeface="+mn-ea"/>
                          <a:ea typeface="+mn-ea"/>
                        </a:rPr>
                        <a:t>ToDo</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746781126"/>
                  </a:ext>
                </a:extLst>
              </a:tr>
              <a:tr h="748727">
                <a:tc>
                  <a:txBody>
                    <a:bodyPr/>
                    <a:lstStyle/>
                    <a:p>
                      <a:pPr marL="0" algn="l" defTabSz="843930" rtl="0" eaLnBrk="1" fontAlgn="base" latinLnBrk="0" hangingPunct="1">
                        <a:lnSpc>
                          <a:spcPts val="1200"/>
                        </a:lnSpc>
                      </a:pPr>
                      <a:r>
                        <a:rPr kumimoji="1" lang="en-US" sz="900" b="0" i="0" strike="noStrike" kern="1200">
                          <a:solidFill>
                            <a:schemeClr val="tx1"/>
                          </a:solidFill>
                          <a:effectLst/>
                          <a:latin typeface="+mn-ea"/>
                          <a:ea typeface="+mn-ea"/>
                          <a:cs typeface="+mn-cs"/>
                        </a:rPr>
                        <a:t>1</a:t>
                      </a: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lang="ja-JP" altLang="en-US" sz="900">
                          <a:effectLst/>
                        </a:rPr>
                        <a:t>全国的な運用開始に向けたポータルサイトの蓋開けに係る調整について</a:t>
                      </a: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685673" rtl="0" eaLnBrk="1" fontAlgn="base" latinLnBrk="0" hangingPunct="1">
                        <a:lnSpc>
                          <a:spcPts val="1200"/>
                        </a:lnSpc>
                        <a:spcBef>
                          <a:spcPts val="0"/>
                        </a:spcBef>
                        <a:spcAft>
                          <a:spcPts val="0"/>
                        </a:spcAft>
                        <a:buClrTx/>
                        <a:buSzTx/>
                        <a:buFont typeface="Wingdings" panose="05000000000000000000" pitchFamily="2" charset="2"/>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DX</a:t>
                      </a:r>
                      <a:r>
                        <a:rPr kumimoji="1" lang="ja-JP" altLang="en-US" sz="900" b="0" i="0" u="none" strike="noStrike" kern="1200" cap="none" spc="0" normalizeH="0" baseline="0" noProof="0">
                          <a:ln>
                            <a:noFill/>
                          </a:ln>
                          <a:solidFill>
                            <a:schemeClr val="tx1"/>
                          </a:solidFill>
                          <a:effectLst/>
                          <a:uLnTx/>
                          <a:uFillTx/>
                          <a:latin typeface="Meiryo UI"/>
                          <a:ea typeface="Meiryo UI"/>
                          <a:cs typeface="+mn-cs"/>
                        </a:rPr>
                        <a:t>機構</a:t>
                      </a:r>
                      <a:endParaRPr kumimoji="1" lang="en-US" altLang="ja-JP" sz="900" b="0" i="0" u="none" strike="noStrike" kern="1200" cap="none" spc="0" normalizeH="0" baseline="0" noProof="0">
                        <a:ln>
                          <a:noFill/>
                        </a:ln>
                        <a:solidFill>
                          <a:schemeClr val="tx1"/>
                        </a:solidFill>
                        <a:effectLst/>
                        <a:uLnTx/>
                        <a:uFillTx/>
                        <a:latin typeface="Meiryo UI"/>
                        <a:ea typeface="Meiryo UI"/>
                        <a:cs typeface="+mn-cs"/>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1" indent="0" algn="l">
                        <a:lnSpc>
                          <a:spcPct val="100000"/>
                        </a:lnSpc>
                        <a:spcBef>
                          <a:spcPts val="0"/>
                        </a:spcBef>
                        <a:spcAft>
                          <a:spcPts val="0"/>
                        </a:spcAft>
                        <a:buFont typeface="Wingdings" panose="05000000000000000000" pitchFamily="2" charset="2"/>
                        <a:buNone/>
                      </a:pPr>
                      <a:r>
                        <a:rPr lang="en-US" altLang="ja-JP" sz="900" b="1" i="0" u="sng" strike="noStrike" kern="1200" cap="none" spc="0" normalizeH="0" baseline="0" noProof="0">
                          <a:ln>
                            <a:noFill/>
                          </a:ln>
                          <a:solidFill>
                            <a:schemeClr val="tx1"/>
                          </a:solidFill>
                          <a:effectLst/>
                          <a:uLnTx/>
                          <a:uFillTx/>
                        </a:rPr>
                        <a:t>1</a:t>
                      </a:r>
                      <a:r>
                        <a:rPr lang="ja-JP" altLang="en-US" sz="900" b="1" i="0" u="sng" strike="noStrike" kern="1200" cap="none" spc="0" normalizeH="0" baseline="0" noProof="0">
                          <a:ln>
                            <a:noFill/>
                          </a:ln>
                          <a:solidFill>
                            <a:schemeClr val="tx1"/>
                          </a:solidFill>
                          <a:effectLst/>
                          <a:uLnTx/>
                          <a:uFillTx/>
                        </a:rPr>
                        <a:t>．全国的な運用開始に向けた医療機関等向け総合ポータルサイトの蓋開けに係る</a:t>
                      </a:r>
                      <a:r>
                        <a:rPr lang="en-US" altLang="ja-JP" sz="900" b="1" i="0" u="sng" strike="noStrike" kern="1200" cap="none" spc="0" normalizeH="0" baseline="0" noProof="0">
                          <a:ln>
                            <a:noFill/>
                          </a:ln>
                          <a:solidFill>
                            <a:schemeClr val="tx1"/>
                          </a:solidFill>
                          <a:effectLst/>
                          <a:uLnTx/>
                          <a:uFillTx/>
                        </a:rPr>
                        <a:t>Todo</a:t>
                      </a:r>
                      <a:r>
                        <a:rPr lang="ja-JP" altLang="en-US" sz="900" b="1" i="0" u="sng" strike="noStrike" kern="1200" cap="none" spc="0" normalizeH="0" baseline="0" noProof="0">
                          <a:ln>
                            <a:noFill/>
                          </a:ln>
                          <a:solidFill>
                            <a:schemeClr val="tx1"/>
                          </a:solidFill>
                          <a:effectLst/>
                          <a:uLnTx/>
                          <a:uFillTx/>
                        </a:rPr>
                        <a:t>管理方法について</a:t>
                      </a:r>
                      <a:endParaRPr lang="en-US" altLang="ja-JP" sz="900" b="1" i="0" u="sng" strike="noStrike" kern="1200" cap="none" spc="0" normalizeH="0" baseline="0" noProof="0">
                        <a:ln>
                          <a:noFill/>
                        </a:ln>
                        <a:solidFill>
                          <a:schemeClr val="tx1"/>
                        </a:solidFill>
                        <a:effectLst/>
                        <a:uLnTx/>
                        <a:uFillTx/>
                      </a:endParaRPr>
                    </a:p>
                    <a:p>
                      <a:pPr marL="171450" marR="0" lvl="1" indent="-171450" algn="l">
                        <a:lnSpc>
                          <a:spcPct val="100000"/>
                        </a:lnSpc>
                        <a:spcBef>
                          <a:spcPts val="0"/>
                        </a:spcBef>
                        <a:spcAft>
                          <a:spcPts val="0"/>
                        </a:spcAft>
                        <a:buFont typeface="Wingdings" panose="05000000000000000000" pitchFamily="2" charset="2"/>
                        <a:buChar char="ü"/>
                      </a:pPr>
                      <a:r>
                        <a:rPr lang="ja-JP" altLang="en-US" sz="900" b="0" i="0" u="none" strike="noStrike" kern="1200" cap="none" spc="0" normalizeH="0" baseline="0" noProof="0">
                          <a:ln>
                            <a:noFill/>
                          </a:ln>
                          <a:solidFill>
                            <a:schemeClr val="tx1"/>
                          </a:solidFill>
                          <a:effectLst/>
                          <a:uLnTx/>
                          <a:uFillTx/>
                        </a:rPr>
                        <a:t>医療機関等向け総合ポータルサイトの蓋開けに係る</a:t>
                      </a:r>
                      <a:r>
                        <a:rPr lang="en-US" altLang="ja-JP" sz="900" b="0" i="0" u="none" strike="noStrike" kern="1200" cap="none" spc="0" normalizeH="0" baseline="0" noProof="0">
                          <a:ln>
                            <a:noFill/>
                          </a:ln>
                          <a:solidFill>
                            <a:schemeClr val="tx1"/>
                          </a:solidFill>
                          <a:effectLst/>
                          <a:uLnTx/>
                          <a:uFillTx/>
                        </a:rPr>
                        <a:t>Todo</a:t>
                      </a:r>
                      <a:r>
                        <a:rPr lang="ja-JP" altLang="en-US" sz="900" b="0" i="0" u="none" strike="noStrike" kern="1200" cap="none" spc="0" normalizeH="0" baseline="0" noProof="0">
                          <a:ln>
                            <a:noFill/>
                          </a:ln>
                          <a:solidFill>
                            <a:schemeClr val="tx1"/>
                          </a:solidFill>
                          <a:effectLst/>
                          <a:uLnTx/>
                          <a:uFillTx/>
                        </a:rPr>
                        <a:t>は</a:t>
                      </a:r>
                      <a:r>
                        <a:rPr lang="en-US" altLang="ja-JP" sz="900" b="0" i="0" u="none" strike="noStrike" kern="1200" cap="none" spc="0" normalizeH="0" baseline="0" noProof="0">
                          <a:ln>
                            <a:noFill/>
                          </a:ln>
                          <a:solidFill>
                            <a:schemeClr val="tx1"/>
                          </a:solidFill>
                          <a:effectLst/>
                          <a:uLnTx/>
                          <a:uFillTx/>
                        </a:rPr>
                        <a:t>Teams</a:t>
                      </a:r>
                      <a:r>
                        <a:rPr lang="ja-JP" altLang="en-US" sz="900" b="0" i="0" u="none" strike="noStrike" kern="1200" cap="none" spc="0" normalizeH="0" baseline="0" noProof="0">
                          <a:ln>
                            <a:noFill/>
                          </a:ln>
                          <a:solidFill>
                            <a:schemeClr val="tx1"/>
                          </a:solidFill>
                          <a:effectLst/>
                          <a:uLnTx/>
                          <a:uFillTx/>
                        </a:rPr>
                        <a:t>のスレッドを用いて管理する。</a:t>
                      </a:r>
                      <a:endParaRPr lang="en-US" altLang="ja-JP" sz="900" b="0" i="0" u="none" strike="noStrike" kern="1200" cap="none" spc="0" normalizeH="0" baseline="0" noProof="0">
                        <a:ln>
                          <a:noFill/>
                        </a:ln>
                        <a:solidFill>
                          <a:schemeClr val="tx1"/>
                        </a:solidFill>
                        <a:effectLst/>
                        <a:uLnTx/>
                        <a:uFillTx/>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7800" marR="0" lvl="1" indent="-177800" algn="l">
                        <a:lnSpc>
                          <a:spcPct val="100000"/>
                        </a:lnSpc>
                        <a:spcBef>
                          <a:spcPts val="0"/>
                        </a:spcBef>
                        <a:spcAft>
                          <a:spcPts val="0"/>
                        </a:spcAft>
                        <a:buFont typeface="Wingdings"/>
                        <a:buChar char="ü"/>
                      </a:pPr>
                      <a:r>
                        <a:rPr lang="en-US" altLang="ja-JP" sz="900" dirty="0">
                          <a:effectLst/>
                          <a:latin typeface="+mj-ea"/>
                          <a:ea typeface="+mj-ea"/>
                        </a:rPr>
                        <a:t>2-1</a:t>
                      </a:r>
                      <a:r>
                        <a:rPr lang="ja-JP" altLang="en-US" sz="900" dirty="0">
                          <a:effectLst/>
                          <a:latin typeface="+mj-ea"/>
                          <a:ea typeface="+mj-ea"/>
                        </a:rPr>
                        <a:t>：医療機関等向け総合ポータルサイトにおける「運用開始日」の名称の変更案を</a:t>
                      </a:r>
                      <a:r>
                        <a:rPr lang="en-US" altLang="ja-JP" sz="900" dirty="0">
                          <a:effectLst/>
                          <a:latin typeface="+mj-ea"/>
                          <a:ea typeface="+mj-ea"/>
                        </a:rPr>
                        <a:t>Teams</a:t>
                      </a:r>
                      <a:r>
                        <a:rPr lang="ja-JP" altLang="en-US" sz="900" dirty="0">
                          <a:effectLst/>
                          <a:latin typeface="+mj-ea"/>
                          <a:ea typeface="+mj-ea"/>
                        </a:rPr>
                        <a:t>のスレッドで機構に連携する。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highlight>
                            <a:srgbClr val="FFFF00"/>
                          </a:highlight>
                          <a:latin typeface="+mj-ea"/>
                          <a:ea typeface="+mj-ea"/>
                        </a:rPr>
                        <a:t>10/19】</a:t>
                      </a:r>
                    </a:p>
                    <a:p>
                      <a:pPr marL="177800" marR="0" lvl="1" indent="-177800" algn="l">
                        <a:lnSpc>
                          <a:spcPct val="100000"/>
                        </a:lnSpc>
                        <a:spcBef>
                          <a:spcPts val="0"/>
                        </a:spcBef>
                        <a:spcAft>
                          <a:spcPts val="0"/>
                        </a:spcAft>
                        <a:buFont typeface="Wingdings"/>
                        <a:buChar char="ü"/>
                      </a:pPr>
                      <a:r>
                        <a:rPr lang="en-US" altLang="ja-JP" sz="900" dirty="0">
                          <a:effectLst/>
                          <a:latin typeface="+mj-ea"/>
                          <a:ea typeface="+mj-ea"/>
                        </a:rPr>
                        <a:t>2-2</a:t>
                      </a:r>
                      <a:r>
                        <a:rPr lang="ja-JP" altLang="en-US" sz="900" dirty="0">
                          <a:effectLst/>
                          <a:latin typeface="+mj-ea"/>
                          <a:ea typeface="+mj-ea"/>
                        </a:rPr>
                        <a:t>：</a:t>
                      </a:r>
                      <a:r>
                        <a:rPr kumimoji="1" lang="ja-JP" altLang="en-US" sz="900" kern="1200" dirty="0">
                          <a:solidFill>
                            <a:schemeClr val="tx1"/>
                          </a:solidFill>
                          <a:effectLst/>
                          <a:latin typeface="+mj-ea"/>
                          <a:ea typeface="+mn-ea"/>
                          <a:cs typeface="+mn-cs"/>
                        </a:rPr>
                        <a:t>医療機関等向け総合ポータルサイトにおける</a:t>
                      </a:r>
                      <a:r>
                        <a:rPr lang="ja-JP" altLang="en-US" sz="900" dirty="0">
                          <a:effectLst/>
                          <a:latin typeface="+mj-ea"/>
                          <a:ea typeface="+mj-ea"/>
                        </a:rPr>
                        <a:t>運用開始日のチェック仕様について、資料の赤字部分</a:t>
                      </a:r>
                      <a:r>
                        <a:rPr lang="en-US" altLang="ja-JP" sz="900" baseline="30000" dirty="0">
                          <a:effectLst/>
                          <a:latin typeface="+mj-ea"/>
                          <a:ea typeface="+mj-ea"/>
                        </a:rPr>
                        <a:t>※</a:t>
                      </a:r>
                      <a:r>
                        <a:rPr lang="ja-JP" altLang="en-US" sz="900" dirty="0">
                          <a:effectLst/>
                          <a:latin typeface="+mj-ea"/>
                          <a:ea typeface="+mj-ea"/>
                        </a:rPr>
                        <a:t>を確認し、確認結果を</a:t>
                      </a:r>
                      <a:r>
                        <a:rPr lang="en-US" altLang="ja-JP" sz="900" dirty="0">
                          <a:effectLst/>
                          <a:latin typeface="+mj-ea"/>
                          <a:ea typeface="+mj-ea"/>
                        </a:rPr>
                        <a:t>DX</a:t>
                      </a:r>
                      <a:r>
                        <a:rPr lang="ja-JP" altLang="en-US" sz="900" dirty="0">
                          <a:effectLst/>
                          <a:latin typeface="+mj-ea"/>
                          <a:ea typeface="+mj-ea"/>
                        </a:rPr>
                        <a:t>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highlight>
                            <a:srgbClr val="FFFF00"/>
                          </a:highlight>
                          <a:latin typeface="+mj-ea"/>
                          <a:ea typeface="+mj-ea"/>
                        </a:rPr>
                        <a:t>10/19】</a:t>
                      </a:r>
                      <a:br>
                        <a:rPr lang="en-US" altLang="ja-JP" sz="900" dirty="0">
                          <a:effectLst/>
                          <a:latin typeface="+mj-ea"/>
                          <a:ea typeface="+mj-ea"/>
                        </a:rPr>
                      </a:br>
                      <a:r>
                        <a:rPr lang="en-US" altLang="ja-JP" sz="900" b="0" i="0" u="none" strike="noStrike" kern="1200" cap="none" spc="0" normalizeH="0" baseline="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b="0" i="0" u="none" strike="noStrike" kern="1200" cap="none" spc="0" normalizeH="0" baseline="0" noProof="0" dirty="0">
                          <a:ln>
                            <a:noFill/>
                          </a:ln>
                          <a:solidFill>
                            <a:srgbClr val="000000"/>
                          </a:solidFill>
                          <a:effectLst/>
                          <a:uLnTx/>
                          <a:uFillTx/>
                          <a:latin typeface="+mj-ea"/>
                          <a:ea typeface="+mj-ea"/>
                          <a:cs typeface="Arial"/>
                        </a:rPr>
                        <a:t>20261013_全国的な運用開始に向けたポータルサイトの蓋開けに係る調整について.pptx</a:t>
                      </a:r>
                      <a:r>
                        <a:rPr lang="ja-JP" altLang="en-US" sz="900" b="0" i="0" u="none" strike="noStrike" kern="1200" cap="none" spc="0" normalizeH="0" baseline="0" noProof="0" dirty="0">
                          <a:ln>
                            <a:noFill/>
                          </a:ln>
                          <a:solidFill>
                            <a:srgbClr val="000000"/>
                          </a:solidFill>
                          <a:effectLst/>
                          <a:uLnTx/>
                          <a:uFillTx/>
                          <a:latin typeface="+mj-ea"/>
                          <a:ea typeface="+mj-ea"/>
                          <a:cs typeface="Arial"/>
                        </a:rPr>
                        <a:t>」の</a:t>
                      </a:r>
                      <a:r>
                        <a:rPr lang="en-US" altLang="ja-JP" sz="900" b="0" i="0" u="none" strike="noStrike" kern="1200" cap="none" spc="0" normalizeH="0" baseline="0" noProof="0" dirty="0">
                          <a:ln>
                            <a:noFill/>
                          </a:ln>
                          <a:solidFill>
                            <a:srgbClr val="000000"/>
                          </a:solidFill>
                          <a:effectLst/>
                          <a:uLnTx/>
                          <a:uFillTx/>
                          <a:latin typeface="+mj-ea"/>
                          <a:ea typeface="+mj-ea"/>
                          <a:cs typeface="Arial"/>
                        </a:rPr>
                        <a:t>P5</a:t>
                      </a:r>
                    </a:p>
                    <a:p>
                      <a:pPr marL="177800" marR="0" lvl="1" indent="-177800" algn="l">
                        <a:lnSpc>
                          <a:spcPct val="100000"/>
                        </a:lnSpc>
                        <a:spcBef>
                          <a:spcPts val="0"/>
                        </a:spcBef>
                        <a:spcAft>
                          <a:spcPts val="0"/>
                        </a:spcAft>
                        <a:buFont typeface="Wingdings"/>
                        <a:buChar char="ü"/>
                      </a:pPr>
                      <a:r>
                        <a:rPr lang="en-US" altLang="ja-JP" sz="900" b="0" i="0" u="none" strike="noStrike" kern="1200" cap="none" spc="0" normalizeH="0" baseline="0" noProof="0" dirty="0">
                          <a:ln>
                            <a:noFill/>
                          </a:ln>
                          <a:solidFill>
                            <a:srgbClr val="000000"/>
                          </a:solidFill>
                          <a:effectLst/>
                          <a:uLnTx/>
                          <a:uFillTx/>
                          <a:latin typeface="+mj-ea"/>
                          <a:ea typeface="+mj-ea"/>
                          <a:cs typeface="Arial"/>
                        </a:rPr>
                        <a:t>2-2</a:t>
                      </a:r>
                      <a:r>
                        <a:rPr lang="ja-JP" altLang="en-US" sz="900" b="0" i="0" u="none" strike="noStrike" kern="1200" cap="none" spc="0" normalizeH="0" baseline="0" noProof="0" dirty="0">
                          <a:ln>
                            <a:noFill/>
                          </a:ln>
                          <a:solidFill>
                            <a:srgbClr val="000000"/>
                          </a:solidFill>
                          <a:effectLst/>
                          <a:uLnTx/>
                          <a:uFillTx/>
                          <a:latin typeface="+mj-ea"/>
                          <a:ea typeface="+mj-ea"/>
                          <a:cs typeface="Arial"/>
                        </a:rPr>
                        <a:t>：資料</a:t>
                      </a:r>
                      <a:r>
                        <a:rPr lang="en-US" altLang="ja-JP" sz="900" b="0" i="0" u="none" strike="noStrike" kern="1200" cap="none" spc="0" normalizeH="0" baseline="3000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の運用開始入力範囲のエラー条件の記載について、「</a:t>
                      </a:r>
                      <a:r>
                        <a:rPr lang="en-US" altLang="ja-JP" sz="900" b="0" i="0" u="none" strike="noStrike" kern="1200" cap="none" spc="0" normalizeH="0" baseline="0" noProof="0" dirty="0">
                          <a:ln>
                            <a:noFill/>
                          </a:ln>
                          <a:solidFill>
                            <a:srgbClr val="000000"/>
                          </a:solidFill>
                          <a:effectLst/>
                          <a:uLnTx/>
                          <a:uFillTx/>
                          <a:latin typeface="+mj-ea"/>
                          <a:ea typeface="+mj-ea"/>
                          <a:cs typeface="Arial"/>
                        </a:rPr>
                        <a:t>2027/01/24</a:t>
                      </a:r>
                      <a:r>
                        <a:rPr lang="ja-JP" altLang="en-US" sz="900" b="0" i="0" u="none" strike="noStrike" kern="1200" cap="none" spc="0" normalizeH="0" baseline="0" noProof="0" dirty="0">
                          <a:ln>
                            <a:noFill/>
                          </a:ln>
                          <a:solidFill>
                            <a:srgbClr val="000000"/>
                          </a:solidFill>
                          <a:effectLst/>
                          <a:uLnTx/>
                          <a:uFillTx/>
                          <a:latin typeface="+mj-ea"/>
                          <a:ea typeface="+mj-ea"/>
                          <a:cs typeface="Arial"/>
                        </a:rPr>
                        <a:t>よりも前」を「</a:t>
                      </a:r>
                      <a:r>
                        <a:rPr lang="en-US" altLang="ja-JP" sz="900" b="0" i="0" u="none" strike="noStrike" kern="1200" cap="none" spc="0" normalizeH="0" baseline="0" noProof="0" dirty="0">
                          <a:ln>
                            <a:noFill/>
                          </a:ln>
                          <a:solidFill>
                            <a:srgbClr val="000000"/>
                          </a:solidFill>
                          <a:effectLst/>
                          <a:uLnTx/>
                          <a:uFillTx/>
                          <a:latin typeface="+mj-ea"/>
                          <a:ea typeface="+mj-ea"/>
                          <a:cs typeface="Arial"/>
                        </a:rPr>
                        <a:t>2027/01/24</a:t>
                      </a:r>
                      <a:r>
                        <a:rPr lang="ja-JP" altLang="en-US" sz="900" b="0" i="0" u="none" strike="noStrike" kern="1200" cap="none" spc="0" normalizeH="0" baseline="0" noProof="0" dirty="0">
                          <a:ln>
                            <a:noFill/>
                          </a:ln>
                          <a:solidFill>
                            <a:srgbClr val="000000"/>
                          </a:solidFill>
                          <a:effectLst/>
                          <a:uLnTx/>
                          <a:uFillTx/>
                          <a:latin typeface="+mj-ea"/>
                          <a:ea typeface="+mj-ea"/>
                          <a:cs typeface="Arial"/>
                        </a:rPr>
                        <a:t>以前」に修正する。</a:t>
                      </a:r>
                      <a:r>
                        <a:rPr lang="en-US" altLang="ja-JP" sz="900" b="0" i="0" u="none" strike="noStrike" kern="1200" cap="none" spc="0" normalizeH="0" baseline="0" noProof="0" dirty="0">
                          <a:ln>
                            <a:noFill/>
                          </a:ln>
                          <a:solidFill>
                            <a:srgbClr val="000000"/>
                          </a:solidFill>
                          <a:effectLst/>
                          <a:uLnTx/>
                          <a:uFillTx/>
                          <a:latin typeface="+mj-ea"/>
                          <a:ea typeface="+mj-ea"/>
                          <a:cs typeface="Arial"/>
                        </a:rPr>
                        <a:t>【DX</a:t>
                      </a:r>
                      <a:r>
                        <a:rPr lang="ja-JP" altLang="en-US" sz="900" b="0" i="0" u="none" strike="noStrike" kern="1200" cap="none" spc="0" normalizeH="0" baseline="0" noProof="0" dirty="0">
                          <a:ln>
                            <a:noFill/>
                          </a:ln>
                          <a:solidFill>
                            <a:srgbClr val="000000"/>
                          </a:solidFill>
                          <a:effectLst/>
                          <a:uLnTx/>
                          <a:uFillTx/>
                          <a:latin typeface="+mj-ea"/>
                          <a:ea typeface="+mj-ea"/>
                          <a:cs typeface="Arial"/>
                        </a:rPr>
                        <a:t>機構　</a:t>
                      </a:r>
                      <a:r>
                        <a:rPr lang="en-US" altLang="ja-JP" sz="900" b="0" i="0" u="none" strike="noStrike" kern="1200" cap="none" spc="0" normalizeH="0" baseline="0" noProof="0" dirty="0">
                          <a:ln>
                            <a:noFill/>
                          </a:ln>
                          <a:solidFill>
                            <a:srgbClr val="000000"/>
                          </a:solidFill>
                          <a:effectLst/>
                          <a:uLnTx/>
                          <a:uFillTx/>
                          <a:latin typeface="+mj-ea"/>
                          <a:ea typeface="+mj-ea"/>
                          <a:cs typeface="Arial"/>
                        </a:rPr>
                        <a:t>10/19】</a:t>
                      </a:r>
                      <a:br>
                        <a:rPr lang="en-US" altLang="ja-JP" sz="900" b="0" i="0" u="none" strike="noStrike" kern="1200" cap="none" spc="0" normalizeH="0" baseline="0" noProof="0" dirty="0">
                          <a:ln>
                            <a:noFill/>
                          </a:ln>
                          <a:solidFill>
                            <a:srgbClr val="000000"/>
                          </a:solidFill>
                          <a:effectLst/>
                          <a:uLnTx/>
                          <a:uFillTx/>
                          <a:latin typeface="+mj-ea"/>
                          <a:ea typeface="+mj-ea"/>
                          <a:cs typeface="Arial"/>
                        </a:rPr>
                      </a:br>
                      <a:r>
                        <a:rPr kumimoji="1" lang="en-US" altLang="ja-JP" sz="900" b="0" i="0" u="none" strike="noStrike" kern="1200" cap="none" spc="0" normalizeH="0" baseline="0" noProof="0" dirty="0">
                          <a:ln>
                            <a:noFill/>
                          </a:ln>
                          <a:solidFill>
                            <a:srgbClr val="000000"/>
                          </a:solidFill>
                          <a:effectLst/>
                          <a:uLnTx/>
                          <a:uFillTx/>
                          <a:latin typeface="+mj-ea"/>
                          <a:ea typeface="+mn-ea"/>
                          <a:cs typeface="Arial"/>
                        </a:rPr>
                        <a:t>※</a:t>
                      </a:r>
                      <a:r>
                        <a:rPr kumimoji="1" lang="ja-JP" altLang="en-US" sz="900" b="0" i="0" u="none" strike="noStrike" kern="1200" cap="none" spc="0" normalizeH="0" baseline="0" noProof="0" dirty="0">
                          <a:ln>
                            <a:noFill/>
                          </a:ln>
                          <a:solidFill>
                            <a:srgbClr val="000000"/>
                          </a:solidFill>
                          <a:effectLst/>
                          <a:uLnTx/>
                          <a:uFillTx/>
                          <a:latin typeface="+mj-ea"/>
                          <a:ea typeface="+mn-ea"/>
                          <a:cs typeface="Arial"/>
                        </a:rPr>
                        <a:t>「</a:t>
                      </a:r>
                      <a:r>
                        <a:rPr kumimoji="1" lang="en-US" altLang="ja-JP" sz="900" b="0" i="0" u="none" strike="noStrike" kern="1200" cap="none" spc="0" normalizeH="0" baseline="0" noProof="0" dirty="0">
                          <a:ln>
                            <a:noFill/>
                          </a:ln>
                          <a:solidFill>
                            <a:srgbClr val="000000"/>
                          </a:solidFill>
                          <a:effectLst/>
                          <a:uLnTx/>
                          <a:uFillTx/>
                          <a:latin typeface="+mj-ea"/>
                          <a:ea typeface="+mn-ea"/>
                          <a:cs typeface="Arial"/>
                        </a:rPr>
                        <a:t>20261013_全国的な運用開始に向けたポータルサイトの蓋開けに係る調整について.pptx</a:t>
                      </a:r>
                      <a:r>
                        <a:rPr kumimoji="1" lang="ja-JP" altLang="en-US" sz="900" b="0" i="0" u="none" strike="noStrike" kern="1200" cap="none" spc="0" normalizeH="0" baseline="0" noProof="0" dirty="0">
                          <a:ln>
                            <a:noFill/>
                          </a:ln>
                          <a:solidFill>
                            <a:srgbClr val="000000"/>
                          </a:solidFill>
                          <a:effectLst/>
                          <a:uLnTx/>
                          <a:uFillTx/>
                          <a:latin typeface="+mj-ea"/>
                          <a:ea typeface="+mn-ea"/>
                          <a:cs typeface="Arial"/>
                        </a:rPr>
                        <a:t>」の</a:t>
                      </a:r>
                      <a:r>
                        <a:rPr kumimoji="1" lang="en-US" altLang="ja-JP" sz="900" b="0" i="0" u="none" strike="noStrike" kern="1200" cap="none" spc="0" normalizeH="0" baseline="0" noProof="0" dirty="0">
                          <a:ln>
                            <a:noFill/>
                          </a:ln>
                          <a:solidFill>
                            <a:srgbClr val="000000"/>
                          </a:solidFill>
                          <a:effectLst/>
                          <a:uLnTx/>
                          <a:uFillTx/>
                          <a:latin typeface="+mj-ea"/>
                          <a:ea typeface="+mn-ea"/>
                          <a:cs typeface="Arial"/>
                        </a:rPr>
                        <a:t>P5</a:t>
                      </a:r>
                      <a:endParaRPr lang="en-US" altLang="ja-JP" sz="900" dirty="0">
                        <a:effectLst/>
                        <a:latin typeface="+mj-ea"/>
                        <a:ea typeface="+mj-ea"/>
                      </a:endParaRPr>
                    </a:p>
                    <a:p>
                      <a:pPr marL="177800" marR="0" lvl="1" indent="-177800" algn="l">
                        <a:lnSpc>
                          <a:spcPct val="100000"/>
                        </a:lnSpc>
                        <a:spcBef>
                          <a:spcPts val="0"/>
                        </a:spcBef>
                        <a:spcAft>
                          <a:spcPts val="0"/>
                        </a:spcAft>
                        <a:buFont typeface="Wingdings"/>
                        <a:buChar char="ü"/>
                      </a:pPr>
                      <a:r>
                        <a:rPr lang="en-US" altLang="ja-JP" sz="900" dirty="0">
                          <a:effectLst/>
                          <a:latin typeface="+mj-ea"/>
                          <a:ea typeface="+mj-ea"/>
                        </a:rPr>
                        <a:t>2-3</a:t>
                      </a:r>
                      <a:r>
                        <a:rPr lang="ja-JP" altLang="en-US" sz="900" dirty="0">
                          <a:effectLst/>
                          <a:latin typeface="+mj-ea"/>
                          <a:ea typeface="+mj-ea"/>
                        </a:rPr>
                        <a:t>：医療機関等向け総合ポータルサイトにおける申請機能の閉塞中の挙動およびポップアップメッセージについて資料</a:t>
                      </a:r>
                      <a:r>
                        <a:rPr lang="en-US" altLang="ja-JP" sz="900" baseline="30000" dirty="0">
                          <a:effectLst/>
                          <a:latin typeface="+mj-ea"/>
                          <a:ea typeface="+mj-ea"/>
                        </a:rPr>
                        <a:t>※</a:t>
                      </a:r>
                      <a:r>
                        <a:rPr lang="ja-JP" altLang="en-US" sz="900" dirty="0">
                          <a:effectLst/>
                          <a:latin typeface="+mj-ea"/>
                          <a:ea typeface="+mj-ea"/>
                        </a:rPr>
                        <a:t>を確認し、確認結果を</a:t>
                      </a:r>
                      <a:r>
                        <a:rPr lang="en-US" altLang="ja-JP" sz="900" dirty="0">
                          <a:effectLst/>
                          <a:latin typeface="+mj-ea"/>
                          <a:ea typeface="+mj-ea"/>
                        </a:rPr>
                        <a:t>DX</a:t>
                      </a:r>
                      <a:r>
                        <a:rPr lang="ja-JP" altLang="en-US" sz="900" dirty="0">
                          <a:effectLst/>
                          <a:latin typeface="+mj-ea"/>
                          <a:ea typeface="+mj-ea"/>
                        </a:rPr>
                        <a:t>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10/19】</a:t>
                      </a:r>
                      <a:br>
                        <a:rPr lang="en-US" altLang="ja-JP" sz="900" dirty="0">
                          <a:effectLst/>
                          <a:latin typeface="+mj-ea"/>
                          <a:ea typeface="+mj-ea"/>
                        </a:rPr>
                      </a:br>
                      <a:r>
                        <a:rPr lang="en-US" altLang="ja-JP" sz="900" b="0" i="0" u="none" strike="noStrike" kern="1200" cap="none" spc="0" normalizeH="0" baseline="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b="0" i="0" u="none" strike="noStrike" kern="1200" cap="none" spc="0" normalizeH="0" baseline="0" noProof="0" dirty="0">
                          <a:ln>
                            <a:noFill/>
                          </a:ln>
                          <a:solidFill>
                            <a:srgbClr val="000000"/>
                          </a:solidFill>
                          <a:effectLst/>
                          <a:uLnTx/>
                          <a:uFillTx/>
                          <a:latin typeface="+mj-ea"/>
                          <a:ea typeface="+mj-ea"/>
                          <a:cs typeface="Arial"/>
                        </a:rPr>
                        <a:t>20261013_全国的な運用開始に向けたポータルサイトの蓋開けに係る調整について.pptx</a:t>
                      </a:r>
                      <a:r>
                        <a:rPr lang="ja-JP" altLang="en-US" sz="900" b="0" i="0" u="none" strike="noStrike" kern="1200" cap="none" spc="0" normalizeH="0" baseline="0" noProof="0" dirty="0">
                          <a:ln>
                            <a:noFill/>
                          </a:ln>
                          <a:solidFill>
                            <a:srgbClr val="000000"/>
                          </a:solidFill>
                          <a:effectLst/>
                          <a:uLnTx/>
                          <a:uFillTx/>
                          <a:latin typeface="+mj-ea"/>
                          <a:ea typeface="+mj-ea"/>
                          <a:cs typeface="Arial"/>
                        </a:rPr>
                        <a:t>」の</a:t>
                      </a:r>
                      <a:r>
                        <a:rPr lang="en-US" altLang="ja-JP" sz="900" b="0" i="0" u="none" strike="noStrike" kern="1200" cap="none" spc="0" normalizeH="0" baseline="0" noProof="0" dirty="0">
                          <a:ln>
                            <a:noFill/>
                          </a:ln>
                          <a:solidFill>
                            <a:srgbClr val="000000"/>
                          </a:solidFill>
                          <a:effectLst/>
                          <a:uLnTx/>
                          <a:uFillTx/>
                          <a:latin typeface="+mj-ea"/>
                          <a:ea typeface="+mj-ea"/>
                          <a:cs typeface="Arial"/>
                        </a:rPr>
                        <a:t>P6</a:t>
                      </a: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lang="en-US" altLang="ja-JP" sz="900" dirty="0">
                          <a:effectLst/>
                          <a:latin typeface="+mj-ea"/>
                          <a:ea typeface="+mj-ea"/>
                        </a:rPr>
                        <a:t>2-4</a:t>
                      </a:r>
                      <a:r>
                        <a:rPr lang="ja-JP" altLang="en-US" sz="900" dirty="0">
                          <a:effectLst/>
                          <a:latin typeface="+mj-ea"/>
                          <a:ea typeface="+mj-ea"/>
                        </a:rPr>
                        <a:t>：医療機関等向け総合ポータルサイトにおける歯科調剤の申請機能の閉塞中の挙動およびポップアップメッセージについて、資料</a:t>
                      </a:r>
                      <a:r>
                        <a:rPr lang="en-US" altLang="ja-JP" sz="900" baseline="30000" dirty="0">
                          <a:effectLst/>
                          <a:latin typeface="+mj-ea"/>
                          <a:ea typeface="+mj-ea"/>
                        </a:rPr>
                        <a:t>※</a:t>
                      </a:r>
                      <a:r>
                        <a:rPr lang="ja-JP" altLang="en-US" sz="900" dirty="0">
                          <a:effectLst/>
                          <a:latin typeface="+mj-ea"/>
                          <a:ea typeface="+mj-ea"/>
                        </a:rPr>
                        <a:t>を確認し、確認結果を</a:t>
                      </a:r>
                      <a:r>
                        <a:rPr lang="en-US" altLang="ja-JP" sz="900" dirty="0">
                          <a:effectLst/>
                          <a:latin typeface="+mj-ea"/>
                          <a:ea typeface="+mj-ea"/>
                        </a:rPr>
                        <a:t>DX</a:t>
                      </a:r>
                      <a:r>
                        <a:rPr lang="ja-JP" altLang="en-US" sz="900" dirty="0">
                          <a:effectLst/>
                          <a:latin typeface="+mj-ea"/>
                          <a:ea typeface="+mj-ea"/>
                        </a:rPr>
                        <a:t>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10/19】</a:t>
                      </a:r>
                      <a:br>
                        <a:rPr lang="en-US" altLang="ja-JP" sz="900" dirty="0">
                          <a:effectLst/>
                          <a:latin typeface="+mj-ea"/>
                          <a:ea typeface="+mj-ea"/>
                        </a:rPr>
                      </a:br>
                      <a:r>
                        <a:rPr lang="en-US" altLang="ja-JP" sz="900" b="0" i="0" u="none" strike="noStrike" kern="1200" cap="none" spc="0" normalizeH="0" baseline="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b="0" i="0" u="none" strike="noStrike" kern="1200" cap="none" spc="0" normalizeH="0" baseline="0" noProof="0" dirty="0">
                          <a:ln>
                            <a:noFill/>
                          </a:ln>
                          <a:solidFill>
                            <a:srgbClr val="000000"/>
                          </a:solidFill>
                          <a:effectLst/>
                          <a:uLnTx/>
                          <a:uFillTx/>
                          <a:latin typeface="+mj-ea"/>
                          <a:ea typeface="+mj-ea"/>
                          <a:cs typeface="Arial"/>
                        </a:rPr>
                        <a:t>20261013_全国的な運用開始に向けたポータルサイトの蓋開けに係る調整について.pptx</a:t>
                      </a:r>
                      <a:r>
                        <a:rPr lang="ja-JP" altLang="en-US" sz="900" b="0" i="0" u="none" strike="noStrike" kern="1200" cap="none" spc="0" normalizeH="0" baseline="0" noProof="0" dirty="0">
                          <a:ln>
                            <a:noFill/>
                          </a:ln>
                          <a:solidFill>
                            <a:srgbClr val="000000"/>
                          </a:solidFill>
                          <a:effectLst/>
                          <a:uLnTx/>
                          <a:uFillTx/>
                          <a:latin typeface="+mj-ea"/>
                          <a:ea typeface="+mj-ea"/>
                          <a:cs typeface="Arial"/>
                        </a:rPr>
                        <a:t>」の</a:t>
                      </a:r>
                      <a:r>
                        <a:rPr lang="en-US" altLang="ja-JP" sz="900" b="0" i="0" u="none" strike="noStrike" kern="1200" cap="none" spc="0" normalizeH="0" baseline="0" noProof="0" dirty="0">
                          <a:ln>
                            <a:noFill/>
                          </a:ln>
                          <a:solidFill>
                            <a:srgbClr val="000000"/>
                          </a:solidFill>
                          <a:effectLst/>
                          <a:uLnTx/>
                          <a:uFillTx/>
                          <a:latin typeface="+mj-ea"/>
                          <a:ea typeface="+mj-ea"/>
                          <a:cs typeface="Arial"/>
                        </a:rPr>
                        <a:t>P7</a:t>
                      </a: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lang="en-US" altLang="ja-JP" sz="900" dirty="0">
                          <a:effectLst/>
                          <a:latin typeface="+mj-ea"/>
                          <a:ea typeface="+mj-ea"/>
                        </a:rPr>
                        <a:t>3-1</a:t>
                      </a:r>
                      <a:r>
                        <a:rPr lang="ja-JP" altLang="en-US" sz="900" dirty="0">
                          <a:effectLst/>
                          <a:latin typeface="+mj-ea"/>
                          <a:ea typeface="+mj-ea"/>
                        </a:rPr>
                        <a:t>：医療機関等向け総合ポータルサイト</a:t>
                      </a:r>
                      <a:r>
                        <a:rPr lang="ja-JP" altLang="en-US" sz="900" dirty="0">
                          <a:effectLst/>
                          <a:highlight>
                            <a:srgbClr val="FFFF00"/>
                          </a:highlight>
                          <a:latin typeface="+mj-ea"/>
                          <a:ea typeface="+mj-ea"/>
                        </a:rPr>
                        <a:t>のからの</a:t>
                      </a:r>
                      <a:r>
                        <a:rPr lang="ja-JP" altLang="en-US" sz="900" dirty="0">
                          <a:effectLst/>
                          <a:latin typeface="+mj-ea"/>
                          <a:ea typeface="+mj-ea"/>
                        </a:rPr>
                        <a:t>利用開始申請及び運用開始日登録後の返却メールの送付先について、資料</a:t>
                      </a:r>
                      <a:r>
                        <a:rPr lang="en-US" altLang="ja-JP" sz="900" baseline="30000" dirty="0">
                          <a:effectLst/>
                          <a:latin typeface="+mj-ea"/>
                          <a:ea typeface="+mj-ea"/>
                        </a:rPr>
                        <a:t>※</a:t>
                      </a:r>
                      <a:r>
                        <a:rPr lang="ja-JP" altLang="en-US" sz="900" dirty="0">
                          <a:effectLst/>
                          <a:latin typeface="+mj-ea"/>
                          <a:ea typeface="+mj-ea"/>
                        </a:rPr>
                        <a:t>を確認し、確認結果を</a:t>
                      </a:r>
                      <a:r>
                        <a:rPr lang="en-US" altLang="ja-JP" sz="900" dirty="0">
                          <a:effectLst/>
                          <a:latin typeface="+mj-ea"/>
                          <a:ea typeface="+mj-ea"/>
                        </a:rPr>
                        <a:t>DX</a:t>
                      </a:r>
                      <a:r>
                        <a:rPr lang="ja-JP" altLang="en-US" sz="900" dirty="0">
                          <a:effectLst/>
                          <a:latin typeface="+mj-ea"/>
                          <a:ea typeface="+mj-ea"/>
                        </a:rPr>
                        <a:t>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10/19】</a:t>
                      </a:r>
                      <a:br>
                        <a:rPr lang="en-US" altLang="ja-JP" sz="900" dirty="0">
                          <a:effectLst/>
                          <a:latin typeface="+mj-ea"/>
                          <a:ea typeface="+mj-ea"/>
                        </a:rPr>
                      </a:br>
                      <a:r>
                        <a:rPr lang="en-US" altLang="ja-JP" sz="900" b="0" i="0" u="none" strike="noStrike" kern="1200" cap="none" spc="0" normalizeH="0" baseline="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b="0" i="0" u="none" strike="noStrike" kern="1200" cap="none" spc="0" normalizeH="0" baseline="0" noProof="0" dirty="0">
                          <a:ln>
                            <a:noFill/>
                          </a:ln>
                          <a:solidFill>
                            <a:srgbClr val="000000"/>
                          </a:solidFill>
                          <a:effectLst/>
                          <a:uLnTx/>
                          <a:uFillTx/>
                          <a:latin typeface="+mj-ea"/>
                          <a:ea typeface="+mj-ea"/>
                          <a:cs typeface="Arial"/>
                        </a:rPr>
                        <a:t>20261013_全国的な運用開始に向けたポータルサイトの蓋開けに係る調整について.pptx</a:t>
                      </a:r>
                      <a:r>
                        <a:rPr lang="ja-JP" altLang="en-US" sz="900" b="0" i="0" u="none" strike="noStrike" kern="1200" cap="none" spc="0" normalizeH="0" baseline="0" noProof="0" dirty="0">
                          <a:ln>
                            <a:noFill/>
                          </a:ln>
                          <a:solidFill>
                            <a:srgbClr val="000000"/>
                          </a:solidFill>
                          <a:effectLst/>
                          <a:uLnTx/>
                          <a:uFillTx/>
                          <a:latin typeface="+mj-ea"/>
                          <a:ea typeface="+mj-ea"/>
                          <a:cs typeface="Arial"/>
                        </a:rPr>
                        <a:t>」の</a:t>
                      </a:r>
                      <a:r>
                        <a:rPr lang="en-US" altLang="ja-JP" sz="900" b="0" i="0" u="none" strike="noStrike" kern="1200" cap="none" spc="0" normalizeH="0" baseline="0" noProof="0" dirty="0">
                          <a:ln>
                            <a:noFill/>
                          </a:ln>
                          <a:solidFill>
                            <a:srgbClr val="000000"/>
                          </a:solidFill>
                          <a:effectLst/>
                          <a:uLnTx/>
                          <a:uFillTx/>
                          <a:latin typeface="+mj-ea"/>
                          <a:ea typeface="+mj-ea"/>
                          <a:cs typeface="Arial"/>
                        </a:rPr>
                        <a:t>P8</a:t>
                      </a: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kumimoji="1" lang="en-US" altLang="ja-JP" sz="900" kern="1200" dirty="0">
                          <a:solidFill>
                            <a:schemeClr val="tx1"/>
                          </a:solidFill>
                          <a:effectLst/>
                          <a:latin typeface="+mj-ea"/>
                          <a:ea typeface="+mn-ea"/>
                          <a:cs typeface="+mn-cs"/>
                        </a:rPr>
                        <a:t>3-1</a:t>
                      </a:r>
                      <a:r>
                        <a:rPr kumimoji="1" lang="ja-JP" altLang="en-US" sz="900" kern="1200" dirty="0">
                          <a:solidFill>
                            <a:schemeClr val="tx1"/>
                          </a:solidFill>
                          <a:effectLst/>
                          <a:latin typeface="+mj-ea"/>
                          <a:ea typeface="+mn-ea"/>
                          <a:cs typeface="+mn-cs"/>
                        </a:rPr>
                        <a:t>：医療機関等向け総合ポータルサイトのからの利用申請及び運用開始日登録後の返却メールの内容を厚労省に連携する。</a:t>
                      </a:r>
                      <a:r>
                        <a:rPr kumimoji="1" lang="en-US" altLang="ja-JP" sz="900" kern="1200" dirty="0">
                          <a:solidFill>
                            <a:schemeClr val="tx1"/>
                          </a:solidFill>
                          <a:effectLst/>
                          <a:latin typeface="+mj-ea"/>
                          <a:ea typeface="+mn-ea"/>
                          <a:cs typeface="+mn-cs"/>
                        </a:rPr>
                        <a:t>【DX</a:t>
                      </a:r>
                      <a:r>
                        <a:rPr kumimoji="1" lang="ja-JP" altLang="en-US" sz="900" kern="1200" dirty="0">
                          <a:solidFill>
                            <a:schemeClr val="tx1"/>
                          </a:solidFill>
                          <a:effectLst/>
                          <a:latin typeface="+mj-ea"/>
                          <a:ea typeface="+mn-ea"/>
                          <a:cs typeface="+mn-cs"/>
                        </a:rPr>
                        <a:t>機構 </a:t>
                      </a:r>
                      <a:r>
                        <a:rPr kumimoji="1" lang="en-US" altLang="ja-JP" sz="900" kern="1200" dirty="0">
                          <a:solidFill>
                            <a:schemeClr val="tx1"/>
                          </a:solidFill>
                          <a:effectLst/>
                          <a:latin typeface="+mj-ea"/>
                          <a:ea typeface="+mn-ea"/>
                          <a:cs typeface="+mn-cs"/>
                        </a:rPr>
                        <a:t>10/15】</a:t>
                      </a:r>
                      <a:endParaRPr lang="en-US" altLang="ja-JP" sz="900" b="0" i="0" u="none" strike="noStrike" kern="1200" cap="none" spc="0" normalizeH="0" baseline="0" noProof="0" dirty="0">
                        <a:ln>
                          <a:noFill/>
                        </a:ln>
                        <a:solidFill>
                          <a:srgbClr val="000000"/>
                        </a:solidFill>
                        <a:effectLst/>
                        <a:uLnTx/>
                        <a:uFillTx/>
                        <a:latin typeface="+mj-ea"/>
                        <a:ea typeface="+mj-ea"/>
                        <a:cs typeface="Arial"/>
                      </a:endParaRP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lang="en-US" altLang="ja-JP" sz="900" dirty="0">
                          <a:effectLst/>
                          <a:latin typeface="+mj-ea"/>
                          <a:ea typeface="+mj-ea"/>
                        </a:rPr>
                        <a:t>3-1</a:t>
                      </a:r>
                      <a:r>
                        <a:rPr lang="ja-JP" altLang="en-US" sz="900" dirty="0">
                          <a:effectLst/>
                          <a:latin typeface="+mj-ea"/>
                          <a:ea typeface="+mj-ea"/>
                        </a:rPr>
                        <a:t>：医療機関等向け総合ポータルサイトのからの</a:t>
                      </a:r>
                      <a:r>
                        <a:rPr kumimoji="1" lang="ja-JP" altLang="en-US" sz="900" kern="1200" dirty="0">
                          <a:solidFill>
                            <a:schemeClr val="tx1"/>
                          </a:solidFill>
                          <a:effectLst/>
                          <a:latin typeface="+mj-ea"/>
                          <a:ea typeface="+mn-ea"/>
                          <a:cs typeface="+mn-cs"/>
                        </a:rPr>
                        <a:t>利用申請及び運用開始日登録後の返却メール</a:t>
                      </a:r>
                      <a:r>
                        <a:rPr kumimoji="1" lang="ja-JP" altLang="en-US" sz="900" kern="1200" dirty="0">
                          <a:solidFill>
                            <a:schemeClr val="tx1"/>
                          </a:solidFill>
                          <a:effectLst/>
                          <a:latin typeface="+mj-ea"/>
                          <a:ea typeface="+mj-ea"/>
                          <a:cs typeface="+mn-cs"/>
                        </a:rPr>
                        <a:t>について、</a:t>
                      </a:r>
                      <a:r>
                        <a:rPr lang="en-US" altLang="ja-JP" sz="900" dirty="0">
                          <a:effectLst/>
                          <a:latin typeface="+mj-ea"/>
                          <a:ea typeface="+mj-ea"/>
                        </a:rPr>
                        <a:t>DX</a:t>
                      </a:r>
                      <a:r>
                        <a:rPr lang="ja-JP" altLang="en-US" sz="900" dirty="0">
                          <a:effectLst/>
                          <a:latin typeface="+mj-ea"/>
                          <a:ea typeface="+mj-ea"/>
                        </a:rPr>
                        <a:t>機構より連携されるメールの内容を確認し、確認結果を</a:t>
                      </a:r>
                      <a:r>
                        <a:rPr lang="en-US" altLang="ja-JP" sz="900" dirty="0">
                          <a:effectLst/>
                          <a:latin typeface="+mj-ea"/>
                          <a:ea typeface="+mj-ea"/>
                        </a:rPr>
                        <a:t>DX</a:t>
                      </a:r>
                      <a:r>
                        <a:rPr lang="ja-JP" altLang="en-US" sz="900" dirty="0">
                          <a:effectLst/>
                          <a:latin typeface="+mj-ea"/>
                          <a:ea typeface="+mj-ea"/>
                        </a:rPr>
                        <a:t>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10/19】</a:t>
                      </a: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lang="en-US" altLang="ja-JP" sz="900" dirty="0">
                          <a:effectLst/>
                          <a:latin typeface="+mj-ea"/>
                          <a:ea typeface="+mj-ea"/>
                        </a:rPr>
                        <a:t>4-1</a:t>
                      </a:r>
                      <a:r>
                        <a:rPr lang="ja-JP" altLang="en-US" sz="900" dirty="0">
                          <a:effectLst/>
                          <a:latin typeface="+mj-ea"/>
                          <a:ea typeface="+mj-ea"/>
                        </a:rPr>
                        <a:t>：「準備作業手引き」のファイルを</a:t>
                      </a:r>
                      <a:r>
                        <a:rPr lang="en-US" altLang="ja-JP" sz="900" dirty="0">
                          <a:effectLst/>
                          <a:latin typeface="+mj-ea"/>
                          <a:ea typeface="+mj-ea"/>
                        </a:rPr>
                        <a:t>DX</a:t>
                      </a:r>
                      <a:r>
                        <a:rPr lang="ja-JP" altLang="en-US" sz="900" dirty="0">
                          <a:effectLst/>
                          <a:latin typeface="+mj-ea"/>
                          <a:ea typeface="+mj-ea"/>
                        </a:rPr>
                        <a:t>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12/14】</a:t>
                      </a: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lang="en-US" altLang="ja-JP" sz="900" b="0" i="0" u="none" strike="noStrike" kern="1200" cap="none" spc="0" normalizeH="0" baseline="0" noProof="0" dirty="0">
                          <a:ln>
                            <a:noFill/>
                          </a:ln>
                          <a:solidFill>
                            <a:srgbClr val="000000"/>
                          </a:solidFill>
                          <a:effectLst/>
                          <a:uLnTx/>
                          <a:uFillTx/>
                          <a:latin typeface="+mj-ea"/>
                          <a:ea typeface="+mj-ea"/>
                          <a:cs typeface="Arial"/>
                        </a:rPr>
                        <a:t>4-2</a:t>
                      </a:r>
                      <a:r>
                        <a:rPr lang="ja-JP" altLang="en-US" sz="900" b="0" i="0" u="none" strike="noStrike" kern="1200" cap="none" spc="0" normalizeH="0" baseline="0" noProof="0" dirty="0">
                          <a:ln>
                            <a:noFill/>
                          </a:ln>
                          <a:solidFill>
                            <a:srgbClr val="000000"/>
                          </a:solidFill>
                          <a:effectLst/>
                          <a:uLnTx/>
                          <a:uFillTx/>
                          <a:latin typeface="+mj-ea"/>
                          <a:ea typeface="+mj-ea"/>
                          <a:cs typeface="Arial"/>
                        </a:rPr>
                        <a:t>：厚労省</a:t>
                      </a:r>
                      <a:r>
                        <a:rPr lang="en-US" altLang="ja-JP" sz="900" b="0" i="0" u="none" strike="noStrike" kern="1200" cap="none" spc="0" normalizeH="0" baseline="0" noProof="0" dirty="0">
                          <a:ln>
                            <a:noFill/>
                          </a:ln>
                          <a:solidFill>
                            <a:srgbClr val="000000"/>
                          </a:solidFill>
                          <a:effectLst/>
                          <a:uLnTx/>
                          <a:uFillTx/>
                          <a:latin typeface="+mj-ea"/>
                          <a:ea typeface="+mj-ea"/>
                          <a:cs typeface="Arial"/>
                        </a:rPr>
                        <a:t>HP</a:t>
                      </a:r>
                      <a:r>
                        <a:rPr lang="ja-JP" altLang="en-US" sz="900" b="0" i="0" u="none" strike="noStrike" kern="1200" cap="none" spc="0" normalizeH="0" baseline="0" noProof="0" dirty="0">
                          <a:ln>
                            <a:noFill/>
                          </a:ln>
                          <a:solidFill>
                            <a:srgbClr val="000000"/>
                          </a:solidFill>
                          <a:effectLst/>
                          <a:uLnTx/>
                          <a:uFillTx/>
                          <a:latin typeface="+mj-ea"/>
                          <a:ea typeface="+mj-ea"/>
                          <a:cs typeface="Arial"/>
                        </a:rPr>
                        <a:t>に掲載する</a:t>
                      </a:r>
                      <a:r>
                        <a:rPr kumimoji="1" lang="ja-JP" altLang="en-US" sz="900" b="0" i="0" u="none" strike="noStrike" kern="1200" cap="none" spc="0" normalizeH="0" baseline="0" noProof="0" dirty="0">
                          <a:ln>
                            <a:noFill/>
                          </a:ln>
                          <a:solidFill>
                            <a:srgbClr val="000000"/>
                          </a:solidFill>
                          <a:effectLst/>
                          <a:uLnTx/>
                          <a:uFillTx/>
                          <a:latin typeface="+mj-ea"/>
                          <a:ea typeface="+mn-ea"/>
                          <a:cs typeface="Arial"/>
                        </a:rPr>
                        <a:t>電カル共有単独の</a:t>
                      </a:r>
                      <a:r>
                        <a:rPr lang="ja-JP" altLang="en-US" sz="900" b="0" i="0" u="none" strike="noStrike" kern="1200" cap="none" spc="0" normalizeH="0" baseline="0" noProof="0" dirty="0">
                          <a:ln>
                            <a:noFill/>
                          </a:ln>
                          <a:solidFill>
                            <a:srgbClr val="000000"/>
                          </a:solidFill>
                          <a:effectLst/>
                          <a:uLnTx/>
                          <a:uFillTx/>
                          <a:latin typeface="+mj-ea"/>
                          <a:ea typeface="+mj-ea"/>
                          <a:cs typeface="Arial"/>
                        </a:rPr>
                        <a:t>参加医療機関リストの掲載先の</a:t>
                      </a:r>
                      <a:r>
                        <a:rPr lang="en-US" altLang="ja-JP" sz="900" b="0" i="0" u="none" strike="noStrike" kern="1200" cap="none" spc="0" normalizeH="0" baseline="0" noProof="0" dirty="0">
                          <a:ln>
                            <a:noFill/>
                          </a:ln>
                          <a:solidFill>
                            <a:srgbClr val="000000"/>
                          </a:solidFill>
                          <a:effectLst/>
                          <a:uLnTx/>
                          <a:uFillTx/>
                          <a:latin typeface="+mj-ea"/>
                          <a:ea typeface="+mj-ea"/>
                          <a:cs typeface="Arial"/>
                        </a:rPr>
                        <a:t>URL</a:t>
                      </a:r>
                      <a:r>
                        <a:rPr lang="ja-JP" altLang="en-US" sz="900" b="0" i="0" u="none" strike="noStrike" kern="1200" cap="none" spc="0" normalizeH="0" baseline="0" noProof="0" dirty="0">
                          <a:ln>
                            <a:noFill/>
                          </a:ln>
                          <a:solidFill>
                            <a:srgbClr val="000000"/>
                          </a:solidFill>
                          <a:effectLst/>
                          <a:uLnTx/>
                          <a:uFillTx/>
                          <a:latin typeface="+mj-ea"/>
                          <a:ea typeface="+mj-ea"/>
                          <a:cs typeface="Arial"/>
                        </a:rPr>
                        <a:t>を</a:t>
                      </a:r>
                      <a:r>
                        <a:rPr lang="en-US" altLang="ja-JP" sz="900" b="0" i="0" u="none" strike="noStrike" kern="1200" cap="none" spc="0" normalizeH="0" baseline="0" noProof="0" dirty="0">
                          <a:ln>
                            <a:noFill/>
                          </a:ln>
                          <a:solidFill>
                            <a:srgbClr val="000000"/>
                          </a:solidFill>
                          <a:effectLst/>
                          <a:uLnTx/>
                          <a:uFillTx/>
                          <a:latin typeface="+mj-ea"/>
                          <a:ea typeface="+mj-ea"/>
                          <a:cs typeface="Arial"/>
                        </a:rPr>
                        <a:t>DX</a:t>
                      </a:r>
                      <a:r>
                        <a:rPr lang="ja-JP" altLang="en-US" sz="900" b="0" i="0" u="none" strike="noStrike" kern="1200" cap="none" spc="0" normalizeH="0" baseline="0" noProof="0" dirty="0">
                          <a:ln>
                            <a:noFill/>
                          </a:ln>
                          <a:solidFill>
                            <a:srgbClr val="000000"/>
                          </a:solidFill>
                          <a:effectLst/>
                          <a:uLnTx/>
                          <a:uFillTx/>
                          <a:latin typeface="+mj-ea"/>
                          <a:ea typeface="+mj-ea"/>
                          <a:cs typeface="Arial"/>
                        </a:rPr>
                        <a:t>機構に連携する。</a:t>
                      </a:r>
                      <a:r>
                        <a:rPr lang="en-US" altLang="ja-JP" sz="900" b="0" i="0" u="none" strike="noStrike" kern="1200" cap="none" spc="0" normalizeH="0" baseline="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厚労省 </a:t>
                      </a:r>
                      <a:r>
                        <a:rPr lang="en-US" altLang="ja-JP" sz="900" b="0" i="0" u="none" strike="noStrike" kern="1200" cap="none" spc="0" normalizeH="0" baseline="0" noProof="0" dirty="0">
                          <a:ln>
                            <a:noFill/>
                          </a:ln>
                          <a:solidFill>
                            <a:srgbClr val="000000"/>
                          </a:solidFill>
                          <a:effectLst/>
                          <a:highlight>
                            <a:srgbClr val="FFFF00"/>
                          </a:highlight>
                          <a:uLnTx/>
                          <a:uFillTx/>
                          <a:latin typeface="+mj-ea"/>
                          <a:ea typeface="+mj-ea"/>
                          <a:cs typeface="Arial"/>
                        </a:rPr>
                        <a:t>12/14】</a:t>
                      </a: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lang="en-US" altLang="ja-JP" sz="900" b="0" i="0" u="none" strike="noStrike" kern="1200" cap="none" spc="0" normalizeH="0" baseline="0" noProof="0" dirty="0">
                          <a:ln>
                            <a:noFill/>
                          </a:ln>
                          <a:solidFill>
                            <a:srgbClr val="000000"/>
                          </a:solidFill>
                          <a:effectLst/>
                          <a:uLnTx/>
                          <a:uFillTx/>
                          <a:latin typeface="+mj-ea"/>
                          <a:ea typeface="+mj-ea"/>
                          <a:cs typeface="Arial"/>
                        </a:rPr>
                        <a:t>5</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kumimoji="1" lang="ja-JP" altLang="en-US" sz="900" b="0" i="0" u="none" strike="noStrike" kern="1200" cap="none" spc="0" normalizeH="0" baseline="0" noProof="0" dirty="0">
                          <a:ln>
                            <a:noFill/>
                          </a:ln>
                          <a:solidFill>
                            <a:srgbClr val="000000"/>
                          </a:solidFill>
                          <a:effectLst/>
                          <a:uLnTx/>
                          <a:uFillTx/>
                          <a:latin typeface="+mj-ea"/>
                          <a:ea typeface="+mn-ea"/>
                          <a:cs typeface="Arial"/>
                        </a:rPr>
                        <a:t>オン資・電処・電カル共有の</a:t>
                      </a:r>
                      <a:r>
                        <a:rPr lang="ja-JP" altLang="en-US" sz="900" b="0" i="0" u="none" strike="noStrike" kern="1200" cap="none" spc="0" normalizeH="0" baseline="0" noProof="0" dirty="0">
                          <a:ln>
                            <a:noFill/>
                          </a:ln>
                          <a:solidFill>
                            <a:srgbClr val="000000"/>
                          </a:solidFill>
                          <a:effectLst/>
                          <a:uLnTx/>
                          <a:uFillTx/>
                          <a:latin typeface="+mj-ea"/>
                          <a:ea typeface="+mj-ea"/>
                          <a:cs typeface="Arial"/>
                        </a:rPr>
                        <a:t>参加医療機関リスト、および、電カル共有単独の参加医療機関リストそれぞれについて、</a:t>
                      </a:r>
                      <a:r>
                        <a:rPr lang="en-US" altLang="ja-JP" sz="900" b="0" i="0" u="none" strike="noStrike" kern="1200" cap="none" spc="0" normalizeH="0" baseline="0" noProof="0" dirty="0">
                          <a:ln>
                            <a:noFill/>
                          </a:ln>
                          <a:solidFill>
                            <a:srgbClr val="000000"/>
                          </a:solidFill>
                          <a:effectLst/>
                          <a:uLnTx/>
                          <a:uFillTx/>
                          <a:latin typeface="+mj-ea"/>
                          <a:ea typeface="+mj-ea"/>
                          <a:cs typeface="Arial"/>
                        </a:rPr>
                        <a:t>Excel</a:t>
                      </a:r>
                      <a:r>
                        <a:rPr lang="ja-JP" altLang="en-US" sz="900" b="0" i="0" u="none" strike="noStrike" kern="1200" cap="none" spc="0" normalizeH="0" baseline="0" noProof="0" dirty="0">
                          <a:ln>
                            <a:noFill/>
                          </a:ln>
                          <a:solidFill>
                            <a:srgbClr val="000000"/>
                          </a:solidFill>
                          <a:effectLst/>
                          <a:uLnTx/>
                          <a:uFillTx/>
                          <a:latin typeface="+mj-ea"/>
                          <a:ea typeface="+mj-ea"/>
                          <a:cs typeface="Arial"/>
                        </a:rPr>
                        <a:t>のレイアウト案</a:t>
                      </a:r>
                      <a:r>
                        <a:rPr lang="en-US" altLang="ja-JP" sz="900" b="0" i="0" u="none" strike="noStrike" kern="1200" cap="none" spc="0" normalizeH="0" baseline="3000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を確認し、確認結果を</a:t>
                      </a:r>
                      <a:r>
                        <a:rPr lang="ja-JP" altLang="en-US" sz="900" b="0" i="0" u="none" strike="noStrike" kern="1200" cap="none" spc="0" normalizeH="0" baseline="0" noProof="0" dirty="0">
                          <a:ln>
                            <a:noFill/>
                          </a:ln>
                          <a:solidFill>
                            <a:srgbClr val="000000"/>
                          </a:solidFill>
                          <a:effectLst/>
                          <a:highlight>
                            <a:srgbClr val="FFFF00"/>
                          </a:highlight>
                          <a:uLnTx/>
                          <a:uFillTx/>
                          <a:latin typeface="+mj-ea"/>
                          <a:ea typeface="+mj-ea"/>
                          <a:cs typeface="Arial"/>
                        </a:rPr>
                        <a:t>機構に連携する</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dirty="0">
                          <a:effectLst/>
                          <a:latin typeface="+mj-ea"/>
                          <a:ea typeface="+mj-ea"/>
                        </a:rPr>
                        <a:t>【</a:t>
                      </a:r>
                      <a:r>
                        <a:rPr lang="ja-JP" altLang="en-US" sz="900" dirty="0">
                          <a:effectLst/>
                          <a:latin typeface="+mj-ea"/>
                          <a:ea typeface="+mj-ea"/>
                        </a:rPr>
                        <a:t>厚労省 </a:t>
                      </a:r>
                      <a:r>
                        <a:rPr lang="en-US" altLang="ja-JP" sz="900" dirty="0">
                          <a:effectLst/>
                          <a:highlight>
                            <a:srgbClr val="FFFF00"/>
                          </a:highlight>
                          <a:latin typeface="+mj-ea"/>
                          <a:ea typeface="+mj-ea"/>
                        </a:rPr>
                        <a:t>10/19】</a:t>
                      </a:r>
                      <a:br>
                        <a:rPr lang="en-US" altLang="ja-JP" sz="900" dirty="0">
                          <a:effectLst/>
                          <a:latin typeface="+mj-ea"/>
                          <a:ea typeface="+mj-ea"/>
                        </a:rPr>
                      </a:br>
                      <a:r>
                        <a:rPr lang="en-US" altLang="ja-JP" sz="900" b="0" i="0" u="none" strike="noStrike" kern="1200" cap="none" spc="0" normalizeH="0" baseline="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b="0" i="0" u="none" strike="noStrike" kern="1200" cap="none" spc="0" normalizeH="0" baseline="0" noProof="0" dirty="0">
                          <a:ln>
                            <a:noFill/>
                          </a:ln>
                          <a:solidFill>
                            <a:srgbClr val="000000"/>
                          </a:solidFill>
                          <a:effectLst/>
                          <a:uLnTx/>
                          <a:uFillTx/>
                          <a:latin typeface="+mj-ea"/>
                          <a:ea typeface="+mj-ea"/>
                          <a:cs typeface="Arial"/>
                        </a:rPr>
                        <a:t>20261013_全国的な運用開始に向けたポータルサイトの蓋開けに係る調整について.pptx</a:t>
                      </a:r>
                      <a:r>
                        <a:rPr lang="ja-JP" altLang="en-US" sz="900" b="0" i="0" u="none" strike="noStrike" kern="1200" cap="none" spc="0" normalizeH="0" baseline="0" noProof="0" dirty="0">
                          <a:ln>
                            <a:noFill/>
                          </a:ln>
                          <a:solidFill>
                            <a:srgbClr val="000000"/>
                          </a:solidFill>
                          <a:effectLst/>
                          <a:uLnTx/>
                          <a:uFillTx/>
                          <a:latin typeface="+mj-ea"/>
                          <a:ea typeface="+mj-ea"/>
                          <a:cs typeface="Arial"/>
                        </a:rPr>
                        <a:t>」の</a:t>
                      </a:r>
                      <a:r>
                        <a:rPr lang="en-US" altLang="ja-JP" sz="900" b="0" i="0" u="none" strike="noStrike" kern="1200" cap="none" spc="0" normalizeH="0" baseline="0" noProof="0" dirty="0">
                          <a:ln>
                            <a:noFill/>
                          </a:ln>
                          <a:solidFill>
                            <a:srgbClr val="000000"/>
                          </a:solidFill>
                          <a:effectLst/>
                          <a:uLnTx/>
                          <a:uFillTx/>
                          <a:latin typeface="+mj-ea"/>
                          <a:ea typeface="+mj-ea"/>
                          <a:cs typeface="Arial"/>
                        </a:rPr>
                        <a:t>P10</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b="0" i="0" u="none" strike="noStrike" kern="1200" cap="none" spc="0" normalizeH="0" baseline="0" noProof="0" dirty="0">
                          <a:ln>
                            <a:noFill/>
                          </a:ln>
                          <a:solidFill>
                            <a:srgbClr val="000000"/>
                          </a:solidFill>
                          <a:effectLst/>
                          <a:uLnTx/>
                          <a:uFillTx/>
                          <a:latin typeface="+mj-ea"/>
                          <a:ea typeface="+mj-ea"/>
                          <a:cs typeface="Arial"/>
                        </a:rPr>
                        <a:t>p11</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8111704"/>
                  </a:ext>
                </a:extLst>
              </a:tr>
              <a:tr h="0">
                <a:tc>
                  <a:txBody>
                    <a:bodyPr/>
                    <a:lstStyle/>
                    <a:p>
                      <a:pPr marL="0" algn="l" defTabSz="843930" rtl="0" eaLnBrk="1" fontAlgn="base" latinLnBrk="0" hangingPunct="1">
                        <a:lnSpc>
                          <a:spcPts val="1200"/>
                        </a:lnSpc>
                      </a:pPr>
                      <a:r>
                        <a:rPr kumimoji="1" lang="ja-JP" altLang="en-US" sz="900" b="0" i="0" kern="1200">
                          <a:solidFill>
                            <a:schemeClr val="tx1"/>
                          </a:solidFill>
                          <a:effectLst/>
                          <a:latin typeface="+mn-ea"/>
                          <a:ea typeface="+mn-ea"/>
                          <a:cs typeface="+mn-cs"/>
                        </a:rPr>
                        <a:t>ー</a:t>
                      </a:r>
                      <a:endParaRPr kumimoji="1" lang="en-US" sz="900" b="0" i="0" kern="1200">
                        <a:solidFill>
                          <a:schemeClr val="tx1"/>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i="0" kern="1200">
                          <a:solidFill>
                            <a:schemeClr val="tx1"/>
                          </a:solidFill>
                          <a:effectLst/>
                          <a:latin typeface="+mn-ea"/>
                          <a:ea typeface="+mn-ea"/>
                          <a:cs typeface="+mn-cs"/>
                        </a:rPr>
                        <a:t>ラップアップ</a:t>
                      </a: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Wingdings" panose="05000000000000000000" pitchFamily="2" charset="2"/>
                        <a:buNone/>
                        <a:tabLst/>
                        <a:defRPr/>
                      </a:pPr>
                      <a:r>
                        <a:rPr kumimoji="1" lang="ja-JP" altLang="en-US" sz="900" b="0" i="0" u="none" strike="noStrike" kern="1200" cap="none" spc="0" normalizeH="0" baseline="0" noProof="0">
                          <a:ln>
                            <a:noFill/>
                          </a:ln>
                          <a:solidFill>
                            <a:schemeClr val="tx1"/>
                          </a:solidFill>
                          <a:effectLst/>
                          <a:uLnTx/>
                          <a:uFillTx/>
                          <a:latin typeface="Meiryo UI"/>
                          <a:ea typeface="Meiryo UI"/>
                          <a:cs typeface="+mn-cs"/>
                        </a:rPr>
                        <a:t>ー</a:t>
                      </a:r>
                      <a:endParaRPr kumimoji="1" lang="en-US" altLang="ja-JP" sz="900" b="0" i="0" u="none" strike="noStrike" kern="1200" cap="none" spc="0" normalizeH="0" baseline="0" noProof="0">
                        <a:ln>
                          <a:noFill/>
                        </a:ln>
                        <a:solidFill>
                          <a:schemeClr val="tx1"/>
                        </a:solidFill>
                        <a:effectLst/>
                        <a:uLnTx/>
                        <a:uFillTx/>
                        <a:latin typeface="Meiryo UI"/>
                        <a:ea typeface="Meiryo UI"/>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a:ln>
                            <a:noFill/>
                          </a:ln>
                          <a:solidFill>
                            <a:schemeClr val="tx1"/>
                          </a:solidFill>
                          <a:effectLst/>
                          <a:uLnTx/>
                          <a:uFillTx/>
                          <a:latin typeface="+mn-ea"/>
                          <a:ea typeface="+mn-ea"/>
                          <a:cs typeface="+mn-cs"/>
                        </a:rPr>
                        <a:t>特になし</a:t>
                      </a:r>
                      <a:endParaRPr kumimoji="1" lang="en-US" altLang="ja-JP" sz="900" b="0" i="0" u="none" strike="noStrike" kern="1200" cap="none" spc="0" normalizeH="0" baseline="0" noProof="0">
                        <a:ln>
                          <a:noFill/>
                        </a:ln>
                        <a:solidFill>
                          <a:schemeClr val="tx1"/>
                        </a:solidFill>
                        <a:effectLst/>
                        <a:uLnTx/>
                        <a:uFillTx/>
                        <a:latin typeface="Meiryo UI"/>
                        <a:ea typeface="Meiryo UI"/>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特になし</a:t>
                      </a:r>
                      <a:endParaRPr kumimoji="1" lang="en-US" altLang="ja-JP" sz="900" b="0" i="0" u="none" strike="noStrike" kern="1200" cap="none" spc="0" normalizeH="0" baseline="0" noProof="0" dirty="0">
                        <a:ln>
                          <a:noFill/>
                        </a:ln>
                        <a:solidFill>
                          <a:schemeClr val="tx1"/>
                        </a:solidFill>
                        <a:effectLst/>
                        <a:uLnTx/>
                        <a:uFillTx/>
                        <a:latin typeface="Meiryo UI"/>
                        <a:ea typeface="+mn-ea"/>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6924032"/>
                  </a:ext>
                </a:extLst>
              </a:tr>
            </a:tbl>
          </a:graphicData>
        </a:graphic>
      </p:graphicFrame>
      <p:sp>
        <p:nvSpPr>
          <p:cNvPr id="10" name="ACNコメント_No2"/>
          <p:cNvSpPr/>
          <p:nvPr/>
        </p:nvSpPr>
        <p:spPr>
          <a:xfrm>
            <a:off x="10056000" y="60000"/>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【内部向けコメント】（No.2）</a:t>
            </a:r>
          </a:p>
          <a:p>
            <a:pPr algn="l"/>
            <a:r>
              <a:rPr sz="900" b="0">
                <a:solidFill>
                  <a:srgbClr val="000000"/>
                </a:solidFill>
              </a:rPr>
              <a:t>会議では、運用開始日の名称はスレッドで関係者が意見を出し合い、10月末までに決定するとしたと認識しております。期限をご確認いただけますでしょうか。</a:t>
            </a:r>
          </a:p>
        </p:txBody>
      </p:sp>
      <p:cxnSp>
        <p:nvCxnSpPr>
          <p:cNvPr id="11" name="ACNコメント線_No2"/>
          <p:cNvCxnSpPr/>
          <p:nvPr/>
        </p:nvCxnSpPr>
        <p:spPr>
          <a:xfrm flipH="1">
            <a:off x="5384601" y="260000"/>
            <a:ext cx="4671399" cy="1435661"/>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2" name="ACNコメント_No1"/>
          <p:cNvSpPr/>
          <p:nvPr/>
        </p:nvSpPr>
        <p:spPr>
          <a:xfrm>
            <a:off x="10056000" y="973000"/>
            <a:ext cx="2700000" cy="1425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a:t>
            </a:r>
          </a:p>
          <a:p>
            <a:pPr algn="l"/>
            <a:r>
              <a:rPr sz="900" b="0">
                <a:solidFill>
                  <a:srgbClr val="000000"/>
                </a:solidFill>
              </a:rPr>
              <a:t>会議では、①ポータルサイト申請機能のリリース判定を12月中に行い、薬局・歯科の運用開始日登録の非活性化・申請画面の閉塞・データ移行を同時に実施する、②取りまとめ者向けメールは全区分同一の内容のままとし、区分分けは今後の検討とする、の2点も確認したと認識しております。合意形成事項への追記をご検討いただけますでしょうか。</a:t>
            </a:r>
          </a:p>
        </p:txBody>
      </p:sp>
      <p:cxnSp>
        <p:nvCxnSpPr>
          <p:cNvPr id="13" name="ACNコメント線_No1"/>
          <p:cNvCxnSpPr/>
          <p:nvPr/>
        </p:nvCxnSpPr>
        <p:spPr>
          <a:xfrm flipH="1">
            <a:off x="3050876" y="1173000"/>
            <a:ext cx="7005124" cy="808661"/>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4" name="ACNコメント_No3"/>
          <p:cNvSpPr/>
          <p:nvPr/>
        </p:nvSpPr>
        <p:spPr>
          <a:xfrm>
            <a:off x="10056000" y="2458000"/>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【内部向けコメント】（No.3）</a:t>
            </a:r>
          </a:p>
          <a:p>
            <a:pPr algn="l"/>
            <a:r>
              <a:rPr sz="900" b="0">
                <a:solidFill>
                  <a:srgbClr val="000000"/>
                </a:solidFill>
              </a:rPr>
              <a:t>会議では、2-2～2-4の確認期限を当初の10/30から10/20に前倒しすると合意したと認識しております。期限（10/19）をご確認いただけますでしょうか。</a:t>
            </a:r>
          </a:p>
        </p:txBody>
      </p:sp>
      <p:cxnSp>
        <p:nvCxnSpPr>
          <p:cNvPr id="15" name="ACNコメント線_No3"/>
          <p:cNvCxnSpPr/>
          <p:nvPr/>
        </p:nvCxnSpPr>
        <p:spPr>
          <a:xfrm flipH="1" flipV="1">
            <a:off x="5384601" y="1981661"/>
            <a:ext cx="4671399" cy="676339"/>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6" name="ACNコメント_No7"/>
          <p:cNvSpPr/>
          <p:nvPr/>
        </p:nvSpPr>
        <p:spPr>
          <a:xfrm>
            <a:off x="10056000" y="3371000"/>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【内部向けコメント】（No.7）</a:t>
            </a:r>
          </a:p>
          <a:p>
            <a:pPr algn="l"/>
            <a:r>
              <a:rPr sz="900" b="0">
                <a:solidFill>
                  <a:srgbClr val="000000"/>
                </a:solidFill>
              </a:rPr>
              <a:t>細かい点で恐れ入りますが、「ポータルサイトのからの」となっているため、「ポータルサイトからの」に修正いただけますでしょうか（3-1の3か所）。</a:t>
            </a:r>
          </a:p>
        </p:txBody>
      </p:sp>
      <p:cxnSp>
        <p:nvCxnSpPr>
          <p:cNvPr id="17" name="ACNコメント線_No7"/>
          <p:cNvCxnSpPr/>
          <p:nvPr/>
        </p:nvCxnSpPr>
        <p:spPr>
          <a:xfrm flipH="1">
            <a:off x="7442001" y="3571000"/>
            <a:ext cx="2613999" cy="984661"/>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8" name="ACNコメント_No4"/>
          <p:cNvSpPr/>
          <p:nvPr/>
        </p:nvSpPr>
        <p:spPr>
          <a:xfrm>
            <a:off x="10056000" y="4284000"/>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【内部向けコメント】（No.4）</a:t>
            </a:r>
          </a:p>
          <a:p>
            <a:pPr algn="l"/>
            <a:r>
              <a:rPr sz="900" b="0">
                <a:solidFill>
                  <a:srgbClr val="000000"/>
                </a:solidFill>
              </a:rPr>
              <a:t>会議では、4-1の記載（URLではなく資料を提供する形）についても、DX機構で修正版を再連携するとしたと認識しております。ToDoへの記載をご検討いただけますでしょうか。</a:t>
            </a:r>
          </a:p>
        </p:txBody>
      </p:sp>
      <p:cxnSp>
        <p:nvCxnSpPr>
          <p:cNvPr id="19" name="ACNコメント線_No4"/>
          <p:cNvCxnSpPr/>
          <p:nvPr/>
        </p:nvCxnSpPr>
        <p:spPr>
          <a:xfrm flipH="1">
            <a:off x="5464561" y="4484000"/>
            <a:ext cx="4591439" cy="1501661"/>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20" name="ACNコメント_No5"/>
          <p:cNvSpPr/>
          <p:nvPr/>
        </p:nvSpPr>
        <p:spPr>
          <a:xfrm>
            <a:off x="10056000" y="5197000"/>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【内部向けコメント】（No.5）</a:t>
            </a:r>
          </a:p>
          <a:p>
            <a:pPr algn="l"/>
            <a:r>
              <a:rPr sz="900" b="0">
                <a:solidFill>
                  <a:srgbClr val="000000"/>
                </a:solidFill>
              </a:rPr>
              <a:t>会議では、参加医療機関リストの掲載先URLは確定次第（10/31目安）連携するとしたと認識しております。期限をご確認いただけますでしょうか。</a:t>
            </a:r>
          </a:p>
        </p:txBody>
      </p:sp>
      <p:cxnSp>
        <p:nvCxnSpPr>
          <p:cNvPr id="21" name="ACNコメント線_No5"/>
          <p:cNvCxnSpPr/>
          <p:nvPr/>
        </p:nvCxnSpPr>
        <p:spPr>
          <a:xfrm flipH="1">
            <a:off x="5384601" y="5397000"/>
            <a:ext cx="4671399" cy="874661"/>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22" name="ACNコメント_No6"/>
          <p:cNvSpPr/>
          <p:nvPr/>
        </p:nvSpPr>
        <p:spPr>
          <a:xfrm>
            <a:off x="10056000" y="6110000"/>
            <a:ext cx="2700000" cy="710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【内部向けコメント】（No.6）</a:t>
            </a:r>
          </a:p>
          <a:p>
            <a:pPr algn="l"/>
            <a:r>
              <a:rPr sz="900" b="0">
                <a:solidFill>
                  <a:srgbClr val="000000"/>
                </a:solidFill>
              </a:rPr>
              <a:t>会議では、参加医療機関リストの形式の確認は10/31目安としたと認識しております。期限をご確認いただけますでしょうか。</a:t>
            </a:r>
          </a:p>
        </p:txBody>
      </p:sp>
      <p:cxnSp>
        <p:nvCxnSpPr>
          <p:cNvPr id="23" name="ACNコメント線_No6"/>
          <p:cNvCxnSpPr/>
          <p:nvPr/>
        </p:nvCxnSpPr>
        <p:spPr>
          <a:xfrm flipH="1">
            <a:off x="5384601" y="6310000"/>
            <a:ext cx="4671399" cy="390661"/>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24" name="ACNコメント_No8"/>
          <p:cNvSpPr/>
          <p:nvPr/>
        </p:nvSpPr>
        <p:spPr>
          <a:xfrm>
            <a:off x="10056000" y="6880000"/>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【内部向けコメント】（No.8）</a:t>
            </a:r>
          </a:p>
          <a:p>
            <a:pPr algn="l"/>
            <a:r>
              <a:rPr sz="900" b="0">
                <a:solidFill>
                  <a:srgbClr val="000000"/>
                </a:solidFill>
              </a:rPr>
              <a:t>細かい点で恐れ入りますが、2-1・5の連携先が「機構」となっているため、他のToDoと合わせて「DX機構」に統一いただけますでしょうか。</a:t>
            </a:r>
          </a:p>
        </p:txBody>
      </p:sp>
      <p:cxnSp>
        <p:nvCxnSpPr>
          <p:cNvPr id="25" name="ACNコメント線_No8"/>
          <p:cNvCxnSpPr/>
          <p:nvPr/>
        </p:nvCxnSpPr>
        <p:spPr>
          <a:xfrm flipH="1" flipV="1">
            <a:off x="9242189" y="6700661"/>
            <a:ext cx="813811" cy="379339"/>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49519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2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9933FF">
            <a:alpha val="34118"/>
          </a:srgbClr>
        </a:solidFill>
        <a:ln w="9525" cap="flat" cmpd="sng" algn="ctr">
          <a:solidFill>
            <a:srgbClr val="9933FF"/>
          </a:solidFill>
          <a:prstDash val="soli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l" eaLnBrk="0" hangingPunct="0">
          <a:lnSpc>
            <a:spcPct val="100000"/>
          </a:lnSpc>
          <a:defRPr kumimoji="0" sz="1200" kern="0" dirty="0" smtClea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8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sz="1400" dirty="0" err="1" smtClean="0">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D26169CDAAF6B41B8B557D8EAD22A36" ma:contentTypeVersion="11" ma:contentTypeDescription="新しいドキュメントを作成します。" ma:contentTypeScope="" ma:versionID="a52047099d1dd8de6e74bf87a4a73917">
  <xsd:schema xmlns:xsd="http://www.w3.org/2001/XMLSchema" xmlns:xs="http://www.w3.org/2001/XMLSchema" xmlns:p="http://schemas.microsoft.com/office/2006/metadata/properties" xmlns:ns2="e356ba7c-6f75-4160-892e-139003efe231" targetNamespace="http://schemas.microsoft.com/office/2006/metadata/properties" ma:root="true" ma:fieldsID="429bb204e7b0455599c34819c2da32be" ns2:_="">
    <xsd:import namespace="e356ba7c-6f75-4160-892e-139003efe2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56ba7c-6f75-4160-892e-139003efe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0347f584-7be2-4218-8e94-402d99aedf0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356ba7c-6f75-4160-892e-139003efe2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EF5906E-92F1-4047-A3C6-942F8A2C80DE}"/>
</file>

<file path=customXml/itemProps2.xml><?xml version="1.0" encoding="utf-8"?>
<ds:datastoreItem xmlns:ds="http://schemas.openxmlformats.org/officeDocument/2006/customXml" ds:itemID="{B978B852-6164-4632-B368-230EBD9FA6CC}"/>
</file>

<file path=customXml/itemProps3.xml><?xml version="1.0" encoding="utf-8"?>
<ds:datastoreItem xmlns:ds="http://schemas.openxmlformats.org/officeDocument/2006/customXml" ds:itemID="{45AD57B4-1925-4482-BE34-77206B15E3AD}"/>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0</TotalTime>
  <Words>697</Words>
  <Application>Microsoft Office PowerPoint</Application>
  <PresentationFormat>A4 210 x 297 mm</PresentationFormat>
  <Paragraphs>63</Paragraphs>
  <Slides>3</Slides>
  <Notes>2</Notes>
  <HiddenSlides>0</HiddenSlides>
  <MMClips>0</MMClips>
  <ScaleCrop>false</ScaleCrop>
  <HeadingPairs>
    <vt:vector size="8" baseType="variant">
      <vt:variant>
        <vt:lpstr>使用されているフォント</vt:lpstr>
      </vt:variant>
      <vt:variant>
        <vt:i4>7</vt:i4>
      </vt:variant>
      <vt:variant>
        <vt:lpstr>テーマ</vt:lpstr>
      </vt:variant>
      <vt:variant>
        <vt:i4>3</vt:i4>
      </vt:variant>
      <vt:variant>
        <vt:lpstr>埋め込まれた OLE サーバー</vt:lpstr>
      </vt:variant>
      <vt:variant>
        <vt:i4>1</vt:i4>
      </vt:variant>
      <vt:variant>
        <vt:lpstr>スライド タイトル</vt:lpstr>
      </vt:variant>
      <vt:variant>
        <vt:i4>3</vt:i4>
      </vt:variant>
    </vt:vector>
  </HeadingPairs>
  <TitlesOfParts>
    <vt:vector size="14" baseType="lpstr">
      <vt:lpstr>Meiryo UI</vt:lpstr>
      <vt:lpstr>ＭＳ Ｐゴシック</vt:lpstr>
      <vt:lpstr>游ゴシック</vt:lpstr>
      <vt:lpstr>Arial</vt:lpstr>
      <vt:lpstr>Calibri</vt:lpstr>
      <vt:lpstr>Times New Roman</vt:lpstr>
      <vt:lpstr>Wingdings</vt:lpstr>
      <vt:lpstr>テーマ２（ACN用）</vt:lpstr>
      <vt:lpstr>2_テーマ２（ACN用）</vt:lpstr>
      <vt:lpstr>8_テーマ２（ACN用）</vt:lpstr>
      <vt:lpstr>think-cellスライド</vt:lpstr>
      <vt:lpstr>PowerPoint プレゼンテーション</vt:lpstr>
      <vt:lpstr>開発進捗連絡会議 アジェンダ</vt:lpstr>
      <vt:lpstr>開発進捗連絡会議の共有 議事要旨（案）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2026-10-14T01:53:16Z</dcterms:created>
  <dcterms:modified xsi:type="dcterms:W3CDTF">2026-10-14T01:53:37Z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0x010100AD26169CDAAF6B41B8B557D8EAD22A36</vt:lpwstr>
  </property>
</Properties>
</file>