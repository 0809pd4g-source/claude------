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4"/>
    <p:sldMasterId id="2147483782" r:id="rId5"/>
    <p:sldMasterId id="2147483811" r:id="rId6"/>
  </p:sldMasterIdLst>
  <p:notesMasterIdLst>
    <p:notesMasterId r:id="rId14"/>
  </p:notesMasterIdLst>
  <p:sldIdLst>
    <p:sldId id="2147483633" r:id="rId7"/>
    <p:sldId id="2147483646" r:id="rId8"/>
    <p:sldId id="256" r:id="rId9"/>
    <p:sldId id="257" r:id="rId10"/>
    <p:sldId id="258" r:id="rId11"/>
    <p:sldId id="260" r:id="rId12"/>
    <p:sldId id="2147483647" r:id="rId1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6"/>
            <p14:sldId id="257"/>
            <p14:sldId id="258"/>
            <p14:sldId id="260"/>
            <p14:sldId id="2147483647"/>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819"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AFFF"/>
    <a:srgbClr val="FFC000"/>
    <a:srgbClr val="FFFF00"/>
    <a:srgbClr val="FFFFFF"/>
    <a:srgbClr val="FFFF99"/>
    <a:srgbClr val="FFFFCC"/>
    <a:srgbClr val="7F7F7F"/>
    <a:srgbClr val="0070C0"/>
    <a:srgbClr val="65A9D9"/>
    <a:srgbClr val="D3EB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302D8A-9613-4765-8DF3-7F8693E42B99}" v="2532" dt="2026-10-07T11:48:04.752"/>
    <p1510:client id="{63FD97D6-FE95-4C89-8FD2-37D18B026BE5}" v="7" dt="2026-10-08T01:36:32.098"/>
    <p1510:client id="{BEF18306-6EB2-4124-B868-E1C930F639ED}" v="5" dt="2026-10-07T02:50:44.09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586" autoAdjust="0"/>
  </p:normalViewPr>
  <p:slideViewPr>
    <p:cSldViewPr snapToGrid="0">
      <p:cViewPr varScale="1">
        <p:scale>
          <a:sx n="116" d="100"/>
          <a:sy n="116" d="100"/>
        </p:scale>
        <p:origin x="528" y="96"/>
      </p:cViewPr>
      <p:guideLst>
        <p:guide orient="horz" pos="2160"/>
        <p:guide pos="2850"/>
        <p:guide pos="1548"/>
        <p:guide pos="5819"/>
        <p:guide pos="2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F67-23DA-9FF1-139F-8CC25A4CD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456BC4-573E-24EE-821C-065C076E027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49D9E0D-0617-980E-22C8-4A72F8F671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F4109-9D5F-4E47-3673-91923A6E7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87448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A5F9-9C33-F8AF-F0BE-F443E5DAF0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E18BA8-02F4-3542-8B57-3837A16B54B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7773920-7402-4918-C856-614C18C224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66248F-E959-ADE7-FEF5-F91DA205E2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9021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FF62-8CD6-BA4E-776B-84C83B1F47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CD0E51-EBEA-619B-3F68-1BB1F6B78A9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2DFFE0A-182E-99E1-76A6-29E5FD38A8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18BB523-79D0-4AC6-0CA0-5EB402497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6505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32EB-CCC2-D528-ACEA-A624DE29C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250DA-0B1E-01B5-A1CD-F5B25039F27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9853997-57F4-7944-D032-9389562180D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E5EFBD-C145-078E-8697-C8E7FD5CC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149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oleObject" Target="../embeddings/oleObject2.bin"/><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2.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16.xml"/><Relationship Id="rId7" Type="http://schemas.openxmlformats.org/officeDocument/2006/relationships/theme" Target="../theme/theme3.xml"/><Relationship Id="rId12" Type="http://schemas.openxmlformats.org/officeDocument/2006/relationships/image" Target="../media/image2.emf"/><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oleObject" Target="../embeddings/oleObject3.bin"/><Relationship Id="rId5" Type="http://schemas.openxmlformats.org/officeDocument/2006/relationships/slideLayout" Target="../slideLayouts/slideLayout18.xml"/><Relationship Id="rId10" Type="http://schemas.openxmlformats.org/officeDocument/2006/relationships/tags" Target="../tags/tag5.xml"/><Relationship Id="rId4" Type="http://schemas.openxmlformats.org/officeDocument/2006/relationships/slideLayout" Target="../slideLayouts/slideLayout17.xml"/><Relationship Id="rId9"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2026/10/5</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1800" b="0" i="0" u="none" strike="noStrike" kern="0" cap="none" spc="0" normalizeH="0" baseline="0" noProof="0">
                <a:ln>
                  <a:noFill/>
                </a:ln>
                <a:solidFill>
                  <a:prstClr val="black"/>
                </a:solidFill>
                <a:effectLst/>
                <a:uLnTx/>
                <a:uFillTx/>
                <a:latin typeface="Meiryo UI"/>
                <a:ea typeface="Meiryo UI"/>
                <a:cs typeface="+mn-cs"/>
              </a:rPr>
              <a:t>13:30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16:00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1999666307"/>
              </p:ext>
            </p:extLst>
          </p:nvPr>
        </p:nvGraphicFramePr>
        <p:xfrm>
          <a:off x="453000" y="843756"/>
          <a:ext cx="9000001" cy="5788152"/>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82252">
                  <a:extLst>
                    <a:ext uri="{9D8B030D-6E8A-4147-A177-3AD203B41FA5}">
                      <a16:colId xmlns:a16="http://schemas.microsoft.com/office/drawing/2014/main" val="99914978"/>
                    </a:ext>
                  </a:extLst>
                </a:gridCol>
                <a:gridCol w="1622412">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．案件の新規起票​</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下記の新規案件を開発候補として、</a:t>
                      </a:r>
                      <a:r>
                        <a:rPr kumimoji="0" lang="en-US" altLang="ja-JP" sz="900" b="0" i="0" u="none" strike="noStrike" kern="0" cap="none" spc="0" normalizeH="0" baseline="0" noProof="0">
                          <a:ln>
                            <a:noFill/>
                          </a:ln>
                          <a:solidFill>
                            <a:prstClr val="black"/>
                          </a:solidFill>
                          <a:effectLst/>
                          <a:uLnTx/>
                          <a:uFillTx/>
                          <a:latin typeface="+mn-ea"/>
                          <a:ea typeface="+mn-ea"/>
                          <a:cs typeface="+mn-cs"/>
                        </a:rPr>
                        <a:t>10</a:t>
                      </a:r>
                      <a:r>
                        <a:rPr kumimoji="0" lang="ja-JP" altLang="en-US" sz="900" b="0" i="0" u="none" strike="noStrike" kern="0" cap="none" spc="0" normalizeH="0" baseline="0" noProof="0">
                          <a:ln>
                            <a:noFill/>
                          </a:ln>
                          <a:solidFill>
                            <a:prstClr val="black"/>
                          </a:solidFill>
                          <a:effectLst/>
                          <a:uLnTx/>
                          <a:uFillTx/>
                          <a:latin typeface="+mn-ea"/>
                          <a:ea typeface="+mn-ea"/>
                          <a:cs typeface="+mn-cs"/>
                        </a:rPr>
                        <a:t>月調達委員会に向けた後続の手続きを進める</a:t>
                      </a:r>
                      <a:r>
                        <a:rPr kumimoji="1" lang="ja-JP" altLang="en-US" sz="900" b="0" i="0" u="none" strike="noStrike" kern="1200">
                          <a:solidFill>
                            <a:srgbClr val="000000"/>
                          </a:solidFill>
                          <a:latin typeface="+mn-ea"/>
                          <a:ea typeface="+mn-ea"/>
                          <a:cs typeface="+mn-cs"/>
                        </a:rPr>
                        <a:t>。​</a:t>
                      </a:r>
                      <a:r>
                        <a:rPr kumimoji="1" lang="en-US" altLang="ja-JP" sz="900" b="0" i="0" u="none" strike="noStrike" kern="1200">
                          <a:solidFill>
                            <a:srgbClr val="000000"/>
                          </a:solidFill>
                          <a:latin typeface="+mn-ea"/>
                          <a:ea typeface="+mn-ea"/>
                          <a:cs typeface="+mn-cs"/>
                        </a:rPr>
                        <a:t>(</a:t>
                      </a:r>
                      <a:r>
                        <a:rPr kumimoji="1" lang="en-US" altLang="ja-JP" sz="900" b="0" i="0" u="none" strike="noStrike" kern="1200">
                          <a:solidFill>
                            <a:srgbClr val="000000"/>
                          </a:solidFill>
                          <a:highlight>
                            <a:srgbClr val="FFFF00"/>
                          </a:highlight>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ID214(</a:t>
                      </a:r>
                      <a:r>
                        <a:rPr kumimoji="1" lang="ja-JP" altLang="en-US" sz="900" kern="1200">
                          <a:solidFill>
                            <a:schemeClr val="tx1"/>
                          </a:solidFill>
                          <a:latin typeface="+mn-ea"/>
                          <a:ea typeface="+mn-ea"/>
                          <a:cs typeface="+mn-cs"/>
                        </a:rPr>
                        <a:t>健診項目の拡充</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ID215(</a:t>
                      </a:r>
                      <a:r>
                        <a:rPr kumimoji="1" lang="ja-JP" altLang="en-US" sz="900" kern="1200">
                          <a:solidFill>
                            <a:schemeClr val="tx1"/>
                          </a:solidFill>
                          <a:latin typeface="+mn-ea"/>
                          <a:ea typeface="+mn-ea"/>
                          <a:cs typeface="+mn-cs"/>
                        </a:rPr>
                        <a:t>保険医療機関（歯科）の診療情報提供書</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ID216(</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9</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ID217(</a:t>
                      </a:r>
                      <a:r>
                        <a:rPr kumimoji="1" lang="ja-JP" altLang="en-US" sz="900" kern="1200">
                          <a:solidFill>
                            <a:schemeClr val="tx1"/>
                          </a:solidFill>
                          <a:latin typeface="+mn-ea"/>
                          <a:ea typeface="+mn-ea"/>
                          <a:cs typeface="+mn-cs"/>
                        </a:rPr>
                        <a:t>健診文書の登録について保険者へ連携する同意がなくても登録可能とする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ID218(</a:t>
                      </a:r>
                      <a:r>
                        <a:rPr kumimoji="1" lang="ja-JP" altLang="en-US" sz="900" kern="1200">
                          <a:solidFill>
                            <a:schemeClr val="tx1"/>
                          </a:solidFill>
                          <a:latin typeface="+mn-ea"/>
                          <a:ea typeface="+mn-ea"/>
                          <a:cs typeface="+mn-cs"/>
                        </a:rPr>
                        <a:t>検査・感染症の検査結果に対する注意事項の追記</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ID219(</a:t>
                      </a:r>
                      <a:r>
                        <a:rPr kumimoji="1" lang="ja-JP" altLang="en-US" sz="900" kern="1200">
                          <a:solidFill>
                            <a:schemeClr val="tx1"/>
                          </a:solidFill>
                          <a:latin typeface="+mn-ea"/>
                          <a:ea typeface="+mn-ea"/>
                          <a:cs typeface="+mn-cs"/>
                        </a:rPr>
                        <a:t>医療機関の承継が発生した際における患者サマリーのマイナポでの処方情報・検査情報の表示対象範囲の正規化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ID220(</a:t>
                      </a:r>
                      <a:r>
                        <a:rPr kumimoji="1" lang="ja-JP" altLang="en-US" sz="900" kern="1200">
                          <a:solidFill>
                            <a:schemeClr val="tx1"/>
                          </a:solidFill>
                          <a:latin typeface="+mn-ea"/>
                          <a:ea typeface="+mn-ea"/>
                          <a:cs typeface="+mn-cs"/>
                        </a:rPr>
                        <a:t>承継申請に基づく医療機関コードの変換処理における旧医療機関発行の患者サマリーの除外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highlight>
                            <a:srgbClr val="FFFF00"/>
                          </a:highlight>
                          <a:latin typeface="+mn-ea"/>
                          <a:ea typeface="+mn-ea"/>
                          <a:cs typeface="+mn-cs"/>
                        </a:rPr>
                        <a:t>ID221(</a:t>
                      </a:r>
                      <a:r>
                        <a:rPr kumimoji="1" lang="ja-JP" altLang="en-US" sz="900" kern="1200">
                          <a:solidFill>
                            <a:schemeClr val="tx1"/>
                          </a:solidFill>
                          <a:highlight>
                            <a:srgbClr val="FFFF00"/>
                          </a:highlight>
                          <a:latin typeface="+mn-ea"/>
                          <a:ea typeface="+mn-ea"/>
                          <a:cs typeface="+mn-cs"/>
                        </a:rPr>
                        <a:t>検査感染症 </a:t>
                      </a:r>
                      <a:r>
                        <a:rPr kumimoji="1" lang="en-US" altLang="ja-JP" sz="900" kern="1200">
                          <a:solidFill>
                            <a:schemeClr val="tx1"/>
                          </a:solidFill>
                          <a:highlight>
                            <a:srgbClr val="FFFF00"/>
                          </a:highlight>
                          <a:latin typeface="+mn-ea"/>
                          <a:ea typeface="+mn-ea"/>
                          <a:cs typeface="+mn-cs"/>
                        </a:rPr>
                        <a:t>43+5</a:t>
                      </a:r>
                      <a:r>
                        <a:rPr kumimoji="1" lang="ja-JP" altLang="en-US" sz="900" kern="1200">
                          <a:solidFill>
                            <a:schemeClr val="tx1"/>
                          </a:solidFill>
                          <a:highlight>
                            <a:srgbClr val="FFFF00"/>
                          </a:highlight>
                          <a:latin typeface="+mn-ea"/>
                          <a:ea typeface="+mn-ea"/>
                          <a:cs typeface="+mn-cs"/>
                        </a:rPr>
                        <a:t>項目のデータ登録時に</a:t>
                      </a:r>
                      <a:r>
                        <a:rPr kumimoji="1" lang="en-US" altLang="ja-JP" sz="900" kern="1200">
                          <a:solidFill>
                            <a:schemeClr val="tx1"/>
                          </a:solidFill>
                          <a:highlight>
                            <a:srgbClr val="FFFF00"/>
                          </a:highlight>
                          <a:latin typeface="+mn-ea"/>
                          <a:ea typeface="+mn-ea"/>
                          <a:cs typeface="+mn-cs"/>
                        </a:rPr>
                        <a:t>JLAC11</a:t>
                      </a:r>
                      <a:r>
                        <a:rPr kumimoji="1" lang="ja-JP" altLang="en-US" sz="900" kern="1200">
                          <a:solidFill>
                            <a:schemeClr val="tx1"/>
                          </a:solidFill>
                          <a:highlight>
                            <a:srgbClr val="FFFF00"/>
                          </a:highlight>
                          <a:latin typeface="+mn-ea"/>
                          <a:ea typeface="+mn-ea"/>
                          <a:cs typeface="+mn-cs"/>
                        </a:rPr>
                        <a:t>コード・</a:t>
                      </a:r>
                      <a:r>
                        <a:rPr kumimoji="1" lang="en-US" altLang="ja-JP" sz="900" kern="1200">
                          <a:solidFill>
                            <a:schemeClr val="tx1"/>
                          </a:solidFill>
                          <a:highlight>
                            <a:srgbClr val="FFFF00"/>
                          </a:highlight>
                          <a:latin typeface="+mn-ea"/>
                          <a:ea typeface="+mn-ea"/>
                          <a:cs typeface="+mn-cs"/>
                        </a:rPr>
                        <a:t>JLAC10</a:t>
                      </a:r>
                      <a:r>
                        <a:rPr kumimoji="1" lang="ja-JP" altLang="en-US" sz="900" kern="1200">
                          <a:solidFill>
                            <a:schemeClr val="tx1"/>
                          </a:solidFill>
                          <a:highlight>
                            <a:srgbClr val="FFFF00"/>
                          </a:highlight>
                          <a:latin typeface="+mn-ea"/>
                          <a:ea typeface="+mn-ea"/>
                          <a:cs typeface="+mn-cs"/>
                        </a:rPr>
                        <a:t>コードが併記されている場合に</a:t>
                      </a:r>
                      <a:r>
                        <a:rPr kumimoji="1" lang="en-US" altLang="ja-JP" sz="900" kern="1200">
                          <a:solidFill>
                            <a:schemeClr val="tx1"/>
                          </a:solidFill>
                          <a:highlight>
                            <a:srgbClr val="FFFF00"/>
                          </a:highlight>
                          <a:latin typeface="+mn-ea"/>
                          <a:ea typeface="+mn-ea"/>
                          <a:cs typeface="+mn-cs"/>
                        </a:rPr>
                        <a:t>JLAC11</a:t>
                      </a:r>
                      <a:r>
                        <a:rPr kumimoji="1" lang="ja-JP" altLang="en-US" sz="900" kern="1200">
                          <a:solidFill>
                            <a:schemeClr val="tx1"/>
                          </a:solidFill>
                          <a:highlight>
                            <a:srgbClr val="FFFF00"/>
                          </a:highlight>
                          <a:latin typeface="+mn-ea"/>
                          <a:ea typeface="+mn-ea"/>
                          <a:cs typeface="+mn-cs"/>
                        </a:rPr>
                        <a:t>コードを優先して出力する</a:t>
                      </a:r>
                      <a:r>
                        <a:rPr kumimoji="1" lang="en-US" altLang="ja-JP" sz="900" kern="1200">
                          <a:solidFill>
                            <a:schemeClr val="tx1"/>
                          </a:solidFill>
                          <a:highlight>
                            <a:srgbClr val="FFFF00"/>
                          </a:highlight>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ID222(</a:t>
                      </a:r>
                      <a:r>
                        <a:rPr kumimoji="1" lang="ja-JP" altLang="en-US" sz="900" kern="1200">
                          <a:solidFill>
                            <a:schemeClr val="tx1"/>
                          </a:solidFill>
                          <a:latin typeface="+mn-ea"/>
                          <a:ea typeface="+mn-ea"/>
                          <a:cs typeface="+mn-cs"/>
                        </a:rPr>
                        <a:t>臨床情報等の</a:t>
                      </a:r>
                      <a:r>
                        <a:rPr kumimoji="1" lang="en-US" altLang="ja-JP" sz="900" kern="1200">
                          <a:solidFill>
                            <a:schemeClr val="tx1"/>
                          </a:solidFill>
                          <a:latin typeface="+mn-ea"/>
                          <a:ea typeface="+mn-ea"/>
                          <a:cs typeface="+mn-cs"/>
                        </a:rPr>
                        <a:t>XML</a:t>
                      </a:r>
                      <a:r>
                        <a:rPr kumimoji="1" lang="ja-JP" altLang="en-US" sz="900" kern="1200">
                          <a:solidFill>
                            <a:schemeClr val="tx1"/>
                          </a:solidFill>
                          <a:latin typeface="+mn-ea"/>
                          <a:ea typeface="+mn-ea"/>
                          <a:cs typeface="+mn-cs"/>
                        </a:rPr>
                        <a:t>から出力する文字の黒丸対応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文字コードの固定</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拡張</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ID223(</a:t>
                      </a:r>
                      <a:r>
                        <a:rPr kumimoji="1" lang="ja-JP" altLang="en-US" sz="900" kern="1200">
                          <a:solidFill>
                            <a:srgbClr val="000000"/>
                          </a:solidFill>
                          <a:latin typeface="+mn-ea"/>
                          <a:ea typeface="+mn-ea"/>
                          <a:cs typeface="+mn-cs"/>
                        </a:rPr>
                        <a:t>電子署名の危殆化対応</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ID224(ICD11</a:t>
                      </a:r>
                      <a:r>
                        <a:rPr kumimoji="1" lang="ja-JP" altLang="en-US" sz="900" kern="1200">
                          <a:solidFill>
                            <a:srgbClr val="000000"/>
                          </a:solidFill>
                          <a:latin typeface="+mn-ea"/>
                          <a:ea typeface="+mn-ea"/>
                          <a:cs typeface="+mn-cs"/>
                        </a:rPr>
                        <a:t>への移行に伴う傷病名マスタの変更</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highlight>
                            <a:srgbClr val="FFFF00"/>
                          </a:highlight>
                          <a:latin typeface="+mn-ea"/>
                          <a:ea typeface="+mn-ea"/>
                          <a:cs typeface="+mn-cs"/>
                        </a:rPr>
                        <a:t>ID225(BI</a:t>
                      </a:r>
                      <a:r>
                        <a:rPr kumimoji="1" lang="ja-JP" altLang="en-US" sz="900" kern="1200">
                          <a:solidFill>
                            <a:srgbClr val="000000"/>
                          </a:solidFill>
                          <a:highlight>
                            <a:srgbClr val="FFFF00"/>
                          </a:highlight>
                          <a:latin typeface="+mn-ea"/>
                          <a:ea typeface="+mn-ea"/>
                          <a:cs typeface="+mn-cs"/>
                        </a:rPr>
                        <a:t>基盤活用による臨床情報の可視化</a:t>
                      </a:r>
                      <a:r>
                        <a:rPr kumimoji="1" lang="en-US" altLang="ja-JP" sz="900" kern="1200">
                          <a:solidFill>
                            <a:srgbClr val="000000"/>
                          </a:solidFill>
                          <a:highlight>
                            <a:srgbClr val="FFFF00"/>
                          </a:highlight>
                          <a:latin typeface="+mn-ea"/>
                          <a:ea typeface="+mn-ea"/>
                          <a:cs typeface="+mn-cs"/>
                        </a:rPr>
                        <a:t>)</a:t>
                      </a:r>
                      <a:br>
                        <a:rPr kumimoji="1" lang="en-US" altLang="ja-JP" sz="900" kern="1200">
                          <a:solidFill>
                            <a:srgbClr val="000000"/>
                          </a:solidFill>
                          <a:highlight>
                            <a:srgbClr val="FFFF00"/>
                          </a:highlight>
                          <a:latin typeface="+mn-ea"/>
                          <a:ea typeface="+mn-ea"/>
                          <a:cs typeface="+mn-cs"/>
                        </a:rPr>
                      </a:br>
                      <a:endParaRPr kumimoji="1" lang="en-US" altLang="ja-JP" sz="900" kern="1200">
                        <a:solidFill>
                          <a:srgbClr val="000000"/>
                        </a:solidFill>
                        <a:highlight>
                          <a:srgbClr val="FFFF00"/>
                        </a:highlight>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下記の案件の記載を変更する</a:t>
                      </a:r>
                      <a:r>
                        <a:rPr kumimoji="1" lang="en-US" altLang="ja-JP" sz="900" b="0" i="0" u="none" strike="noStrike" kern="1200">
                          <a:solidFill>
                            <a:srgbClr val="000000"/>
                          </a:solidFill>
                          <a:latin typeface="+mn-ea"/>
                          <a:ea typeface="+mn-ea"/>
                          <a:cs typeface="+mn-cs"/>
                        </a:rPr>
                        <a:t>(2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ID210(</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について、以下のように変更する。</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備考列：「</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本案件の実装対象外の関連検討</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」という文言を追加</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ID213(</a:t>
                      </a:r>
                      <a:r>
                        <a:rPr kumimoji="1" lang="ja-JP" altLang="en-US" sz="900" kern="1200">
                          <a:solidFill>
                            <a:schemeClr val="tx1"/>
                          </a:solidFill>
                          <a:latin typeface="+mn-ea"/>
                          <a:ea typeface="+mn-ea"/>
                          <a:cs typeface="+mn-cs"/>
                        </a:rPr>
                        <a:t>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について、案件名を以下のように変更する。</a:t>
                      </a:r>
                      <a:br>
                        <a:rPr kumimoji="1" lang="en-US" altLang="ja-JP" sz="900" b="0" i="0" u="none"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なお、趣旨に変更はなく案件名のみの変更。</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案件名を「臨床情報：感染症・検査に関する改修​」から「臨床情報詳細画面の傷病名を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と同様に出力する対応」に変更。</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．案件の取り下げ​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下記の案件を取り下げる</a:t>
                      </a:r>
                      <a:r>
                        <a:rPr kumimoji="1" lang="ja-JP" altLang="en-US" sz="900" b="0" i="0" u="none" strike="noStrike" kern="1200">
                          <a:solidFill>
                            <a:schemeClr val="tx1"/>
                          </a:solidFill>
                          <a:latin typeface="+mn-ea"/>
                          <a:ea typeface="+mn-ea"/>
                          <a:cs typeface="+mn-cs"/>
                        </a:rPr>
                        <a:t>。</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ID204(</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269875" marR="0" lvl="1" indent="127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a:t>
                      </a: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で対応するため</a:t>
                      </a:r>
                      <a:br>
                        <a:rPr kumimoji="1" lang="en-US" altLang="ja-JP" sz="900" b="1" i="0" u="sng" strike="noStrike" kern="1200">
                          <a:solidFill>
                            <a:srgbClr val="000000"/>
                          </a:solidFill>
                          <a:latin typeface="+mn-ea"/>
                          <a:ea typeface="+mn-ea"/>
                          <a:cs typeface="+mn-cs"/>
                        </a:rPr>
                      </a:b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highlight>
                            <a:srgbClr val="FFFF00"/>
                          </a:highlight>
                          <a:latin typeface="+mn-ea"/>
                          <a:ea typeface="+mn-ea"/>
                          <a:cs typeface="Arial"/>
                        </a:rPr>
                        <a:t>案件</a:t>
                      </a:r>
                      <a:r>
                        <a:rPr lang="en-US" altLang="ja-JP" sz="900" b="0" i="0" u="none" strike="noStrike" kern="1200" noProof="0" dirty="0">
                          <a:solidFill>
                            <a:srgbClr val="000000"/>
                          </a:solidFill>
                          <a:highlight>
                            <a:srgbClr val="FFFF00"/>
                          </a:highlight>
                          <a:latin typeface="+mn-ea"/>
                          <a:ea typeface="+mn-ea"/>
                          <a:cs typeface="Arial"/>
                        </a:rPr>
                        <a:t>ID210(</a:t>
                      </a:r>
                      <a:r>
                        <a:rPr lang="ja-JP" altLang="en-US" sz="900" b="0" i="0" u="none" strike="noStrike" kern="1200" noProof="0" dirty="0">
                          <a:solidFill>
                            <a:srgbClr val="000000"/>
                          </a:solidFill>
                          <a:highlight>
                            <a:srgbClr val="FFFF00"/>
                          </a:highlight>
                          <a:latin typeface="+mn-ea"/>
                          <a:ea typeface="+mn-ea"/>
                          <a:cs typeface="Arial"/>
                        </a:rPr>
                        <a:t>血液型に関する情報を共有対象外とする改修</a:t>
                      </a:r>
                      <a:r>
                        <a:rPr lang="en-US" altLang="ja-JP" sz="900" b="0" i="0" u="none" strike="noStrike" kern="1200" noProof="0" dirty="0">
                          <a:solidFill>
                            <a:srgbClr val="000000"/>
                          </a:solidFill>
                          <a:highlight>
                            <a:srgbClr val="FFFF00"/>
                          </a:highlight>
                          <a:latin typeface="+mn-ea"/>
                          <a:ea typeface="+mn-ea"/>
                          <a:cs typeface="Arial"/>
                        </a:rPr>
                        <a:t>)</a:t>
                      </a:r>
                      <a:r>
                        <a:rPr lang="ja-JP" altLang="en-US" sz="900" b="0" i="0" u="none" strike="noStrike" kern="1200" noProof="0" dirty="0">
                          <a:solidFill>
                            <a:srgbClr val="000000"/>
                          </a:solidFill>
                          <a:highlight>
                            <a:srgbClr val="FFFF00"/>
                          </a:highlight>
                          <a:latin typeface="+mn-ea"/>
                          <a:ea typeface="+mn-ea"/>
                          <a:cs typeface="Arial"/>
                        </a:rPr>
                        <a:t>について、下記の内容を削除する。</a:t>
                      </a:r>
                      <a:br>
                        <a:rPr lang="en-US" altLang="ja-JP" sz="900" b="0" i="0" u="none" strike="noStrike" kern="1200" noProof="0" dirty="0">
                          <a:solidFill>
                            <a:srgbClr val="000000"/>
                          </a:solidFill>
                          <a:highlight>
                            <a:srgbClr val="FFFF00"/>
                          </a:highlight>
                          <a:latin typeface="+mn-ea"/>
                          <a:ea typeface="+mn-ea"/>
                          <a:cs typeface="Arial"/>
                        </a:rPr>
                      </a:br>
                      <a:r>
                        <a:rPr lang="ja-JP" altLang="en-US" sz="900" b="0" i="0" u="none" strike="noStrike" kern="1200" noProof="0" dirty="0">
                          <a:solidFill>
                            <a:srgbClr val="000000"/>
                          </a:solidFill>
                          <a:highlight>
                            <a:srgbClr val="FFFF00"/>
                          </a:highlight>
                          <a:latin typeface="+mn-ea"/>
                          <a:ea typeface="+mn-ea"/>
                          <a:cs typeface="Arial"/>
                        </a:rPr>
                        <a:t>・要求事項列</a:t>
                      </a:r>
                      <a:r>
                        <a:rPr lang="en-US" altLang="ja-JP" sz="900" b="0" i="0" u="none" strike="noStrike" kern="1200" noProof="0" dirty="0">
                          <a:solidFill>
                            <a:srgbClr val="000000"/>
                          </a:solidFill>
                          <a:highlight>
                            <a:srgbClr val="FFFF00"/>
                          </a:highlight>
                          <a:latin typeface="+mn-ea"/>
                          <a:ea typeface="+mn-ea"/>
                          <a:cs typeface="Arial"/>
                        </a:rPr>
                        <a:t>_</a:t>
                      </a:r>
                      <a:r>
                        <a:rPr lang="ja-JP" altLang="en-US" sz="900" b="0" i="0" u="none" strike="noStrike" kern="1200" noProof="0" dirty="0">
                          <a:solidFill>
                            <a:srgbClr val="000000"/>
                          </a:solidFill>
                          <a:highlight>
                            <a:srgbClr val="FFFF00"/>
                          </a:highlight>
                          <a:latin typeface="+mn-ea"/>
                          <a:ea typeface="+mn-ea"/>
                          <a:cs typeface="Arial"/>
                        </a:rPr>
                        <a:t>対応案</a:t>
                      </a:r>
                      <a:r>
                        <a:rPr lang="en-US" altLang="ja-JP" sz="900" b="0" i="0" u="none" strike="noStrike" kern="1200" noProof="0" dirty="0" err="1">
                          <a:solidFill>
                            <a:srgbClr val="000000"/>
                          </a:solidFill>
                          <a:highlight>
                            <a:srgbClr val="FFFF00"/>
                          </a:highlight>
                          <a:latin typeface="+mn-ea"/>
                          <a:ea typeface="+mn-ea"/>
                          <a:cs typeface="Arial"/>
                        </a:rPr>
                        <a:t>Bに係る記載</a:t>
                      </a:r>
                      <a:br>
                        <a:rPr lang="en-US" altLang="ja-JP" sz="900" b="0" i="0" u="none" strike="noStrike" kern="1200" noProof="0" dirty="0">
                          <a:solidFill>
                            <a:srgbClr val="000000"/>
                          </a:solidFill>
                          <a:highlight>
                            <a:srgbClr val="FFFF00"/>
                          </a:highlight>
                          <a:latin typeface="+mn-ea"/>
                          <a:ea typeface="+mn-ea"/>
                          <a:cs typeface="Arial"/>
                        </a:rPr>
                      </a:br>
                      <a:r>
                        <a:rPr lang="ja-JP" altLang="en-US" sz="900" b="0" i="0" u="none" strike="noStrike" kern="1200" noProof="0" dirty="0">
                          <a:solidFill>
                            <a:srgbClr val="000000"/>
                          </a:solidFill>
                          <a:highlight>
                            <a:srgbClr val="FFFF00"/>
                          </a:highlight>
                          <a:latin typeface="+mn-ea"/>
                          <a:ea typeface="+mn-ea"/>
                          <a:cs typeface="Arial"/>
                        </a:rPr>
                        <a:t>・要求事項列</a:t>
                      </a:r>
                      <a:r>
                        <a:rPr lang="en-US" altLang="ja-JP" sz="900" b="0" i="0" u="none" strike="noStrike" kern="1200" noProof="0" dirty="0">
                          <a:solidFill>
                            <a:srgbClr val="000000"/>
                          </a:solidFill>
                          <a:highlight>
                            <a:srgbClr val="FFFF00"/>
                          </a:highlight>
                          <a:latin typeface="+mn-ea"/>
                          <a:ea typeface="+mn-ea"/>
                          <a:cs typeface="Arial"/>
                        </a:rPr>
                        <a:t>_</a:t>
                      </a:r>
                      <a:r>
                        <a:rPr lang="ja-JP" altLang="en-US" sz="900" b="0" i="0" u="none" strike="noStrike" kern="1200" noProof="0" dirty="0">
                          <a:solidFill>
                            <a:srgbClr val="000000"/>
                          </a:solidFill>
                          <a:highlight>
                            <a:srgbClr val="FFFF00"/>
                          </a:highlight>
                          <a:latin typeface="+mn-ea"/>
                          <a:ea typeface="+mn-ea"/>
                          <a:cs typeface="Arial"/>
                        </a:rPr>
                        <a:t>血液型データの論理削除に係る記載</a:t>
                      </a:r>
                    </a:p>
                    <a:p>
                      <a:pPr marL="179070" marR="0" lvl="0" indent="0" algn="l" rtl="0" eaLnBrk="1" fontAlgn="auto" latinLnBrk="0" hangingPunct="1">
                        <a:lnSpc>
                          <a:spcPct val="100000"/>
                        </a:lnSpc>
                        <a:spcBef>
                          <a:spcPts val="0"/>
                        </a:spcBef>
                        <a:spcAft>
                          <a:spcPts val="0"/>
                        </a:spcAft>
                        <a:buClrTx/>
                        <a:buSzTx/>
                        <a:buFontTx/>
                        <a:buNone/>
                      </a:pPr>
                      <a:r>
                        <a:rPr lang="ja-JP" altLang="en-US" sz="900" b="0" i="0" u="none" strike="noStrike" kern="1200" noProof="0" dirty="0">
                          <a:solidFill>
                            <a:srgbClr val="000000"/>
                          </a:solidFill>
                          <a:highlight>
                            <a:srgbClr val="FFFF00"/>
                          </a:highlight>
                          <a:latin typeface="+mn-ea"/>
                          <a:ea typeface="+mn-ea"/>
                          <a:cs typeface="Arial"/>
                        </a:rPr>
                        <a:t>・備考列</a:t>
                      </a:r>
                      <a:r>
                        <a:rPr lang="en-US" altLang="ja-JP" sz="900" b="0" i="0" u="none" strike="noStrike" kern="1200" noProof="0" dirty="0">
                          <a:solidFill>
                            <a:srgbClr val="000000"/>
                          </a:solidFill>
                          <a:highlight>
                            <a:srgbClr val="FFFF00"/>
                          </a:highlight>
                          <a:latin typeface="+mn-ea"/>
                          <a:ea typeface="+mn-ea"/>
                          <a:cs typeface="Arial"/>
                        </a:rPr>
                        <a:t>_</a:t>
                      </a:r>
                      <a:r>
                        <a:rPr lang="ja-JP" altLang="en-US" sz="900" b="0" i="0" u="none" strike="noStrike" kern="1200" noProof="0" dirty="0">
                          <a:solidFill>
                            <a:srgbClr val="000000"/>
                          </a:solidFill>
                          <a:highlight>
                            <a:srgbClr val="FFFF00"/>
                          </a:highlight>
                          <a:latin typeface="+mn-ea"/>
                          <a:ea typeface="+mn-ea"/>
                          <a:cs typeface="Arial"/>
                        </a:rPr>
                        <a:t>血液型データの論理削除に係る記載</a:t>
                      </a:r>
                      <a:r>
                        <a:rPr lang="en-US" altLang="ja-JP" sz="900" b="0" i="0" u="none" strike="noStrike" kern="1200" noProof="0" dirty="0">
                          <a:solidFill>
                            <a:srgbClr val="000000"/>
                          </a:solidFill>
                          <a:highlight>
                            <a:srgbClr val="FFFF00"/>
                          </a:highlight>
                          <a:latin typeface="+mn-ea"/>
                          <a:ea typeface="+mn-ea"/>
                          <a:cs typeface="Arial"/>
                        </a:rPr>
                        <a:t>【</a:t>
                      </a:r>
                      <a:r>
                        <a:rPr lang="ja-JP" altLang="en-US" sz="900" b="0" i="0" u="none" strike="noStrike" kern="1200" noProof="0" dirty="0">
                          <a:solidFill>
                            <a:srgbClr val="000000"/>
                          </a:solidFill>
                          <a:highlight>
                            <a:srgbClr val="FFFF00"/>
                          </a:highlight>
                          <a:latin typeface="+mn-ea"/>
                          <a:ea typeface="+mn-ea"/>
                          <a:cs typeface="Arial"/>
                        </a:rPr>
                        <a:t>厚労省 </a:t>
                      </a:r>
                      <a:r>
                        <a:rPr lang="en-US" altLang="ja-JP" sz="900" b="0" i="0" u="none" strike="noStrike" kern="1200" noProof="0" dirty="0">
                          <a:solidFill>
                            <a:srgbClr val="000000"/>
                          </a:solidFill>
                          <a:highlight>
                            <a:srgbClr val="FFFF00"/>
                          </a:highlight>
                          <a:latin typeface="+mn-ea"/>
                          <a:ea typeface="+mn-ea"/>
                          <a:cs typeface="Arial"/>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)(1/6)</a:t>
            </a:r>
            <a:endParaRPr lang="ja-JP" altLang="en-US" sz="2000">
              <a:solidFill>
                <a:schemeClr val="tx2">
                  <a:lumMod val="75000"/>
                </a:schemeClr>
              </a:solidFill>
            </a:endParaRPr>
          </a:p>
        </p:txBody>
      </p:sp>
      <p:sp>
        <p:nvSpPr>
          <p:cNvPr id="3" name="吹き出し: 線 2">
            <a:extLst>
              <a:ext uri="{FF2B5EF4-FFF2-40B4-BE49-F238E27FC236}">
                <a16:creationId xmlns:a16="http://schemas.microsoft.com/office/drawing/2014/main" id="{F99021AD-C11D-EC62-46DA-A031DD47E149}"/>
              </a:ext>
            </a:extLst>
          </p:cNvPr>
          <p:cNvSpPr/>
          <p:nvPr/>
        </p:nvSpPr>
        <p:spPr>
          <a:xfrm>
            <a:off x="9635707" y="1068043"/>
            <a:ext cx="2002766" cy="2477414"/>
          </a:xfrm>
          <a:prstGeom prst="borderCallout1">
            <a:avLst>
              <a:gd name="adj1" fmla="val 84375"/>
              <a:gd name="adj2" fmla="val -635"/>
              <a:gd name="adj3" fmla="val 57386"/>
              <a:gd name="adj4" fmla="val -18214"/>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案件</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210</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の削除対象の論理削除に係る記載については、リリースと別対応になることが分かるように修正済みで、課題検討会でも報告しております。</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また、論理削除自体の対応自体は引き続き検討中の認識であるため、以下の記載への修正を検討いただけないでしょうか。</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■文案</a:t>
            </a:r>
            <a:b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案件</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ID210(</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血液型に関する情報を共有対象外とする改修</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について、下記の内容を削除する。</a:t>
            </a:r>
            <a:b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・要求事項列</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_</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対応案</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B</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に係る記載</a:t>
            </a:r>
            <a:b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厚労省 </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10/13】</a:t>
            </a:r>
          </a:p>
        </p:txBody>
      </p:sp>
      <p:sp>
        <p:nvSpPr>
          <p:cNvPr id="4" name="吹き出し: 線 3">
            <a:extLst>
              <a:ext uri="{FF2B5EF4-FFF2-40B4-BE49-F238E27FC236}">
                <a16:creationId xmlns:a16="http://schemas.microsoft.com/office/drawing/2014/main" id="{0A10B404-C1F6-4C93-42DE-C442E6298F57}"/>
              </a:ext>
            </a:extLst>
          </p:cNvPr>
          <p:cNvSpPr/>
          <p:nvPr/>
        </p:nvSpPr>
        <p:spPr>
          <a:xfrm>
            <a:off x="7913065" y="3706349"/>
            <a:ext cx="2715605" cy="1966864"/>
          </a:xfrm>
          <a:prstGeom prst="borderCallout1">
            <a:avLst>
              <a:gd name="adj1" fmla="val 18097"/>
              <a:gd name="adj2" fmla="val 838"/>
              <a:gd name="adj3" fmla="val -33015"/>
              <a:gd name="adj4" fmla="val -148587"/>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hangingPunct="0">
              <a:lnSpc>
                <a:spcPct val="100000"/>
              </a:lnSpc>
            </a:pP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eaLnBrk="0" hangingPunct="0"/>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案件</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221</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が競合してしまっていたため、</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ID226</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として「患者サマリへの</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PDF</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の添付機能」を記述いただくか、打ち合わせの中の資料の記載に合わせて以下のようにしていただけないでしょうか。</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eaLnBrk="0" hangingPunct="0"/>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文案</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p>
          <a:p>
            <a:pPr eaLnBrk="0" hangingPunct="0"/>
            <a:r>
              <a:rPr lang="en-US" altLang="ja-JP" sz="900">
                <a:latin typeface="+mn-ea"/>
              </a:rPr>
              <a:t>ID221(</a:t>
            </a:r>
            <a:r>
              <a:rPr lang="ja-JP" altLang="en-US" sz="900">
                <a:latin typeface="+mn-ea"/>
              </a:rPr>
              <a:t>検査感染症 </a:t>
            </a:r>
            <a:r>
              <a:rPr lang="en-US" altLang="ja-JP" sz="900">
                <a:latin typeface="+mn-ea"/>
              </a:rPr>
              <a:t>43+5</a:t>
            </a:r>
            <a:r>
              <a:rPr lang="ja-JP" altLang="en-US" sz="900">
                <a:latin typeface="+mn-ea"/>
              </a:rPr>
              <a:t>項目のデータ登録時に</a:t>
            </a:r>
            <a:r>
              <a:rPr lang="en-US" altLang="ja-JP" sz="900">
                <a:latin typeface="+mn-ea"/>
              </a:rPr>
              <a:t>JLAC11</a:t>
            </a:r>
            <a:r>
              <a:rPr lang="ja-JP" altLang="en-US" sz="900">
                <a:latin typeface="+mn-ea"/>
              </a:rPr>
              <a:t>コード・</a:t>
            </a:r>
            <a:r>
              <a:rPr lang="en-US" altLang="ja-JP" sz="900">
                <a:latin typeface="+mn-ea"/>
              </a:rPr>
              <a:t>JLAC10</a:t>
            </a:r>
            <a:r>
              <a:rPr lang="ja-JP" altLang="en-US" sz="900">
                <a:latin typeface="+mn-ea"/>
              </a:rPr>
              <a:t>コードが併記されている場合に</a:t>
            </a:r>
            <a:r>
              <a:rPr lang="en-US" altLang="ja-JP" sz="900">
                <a:latin typeface="+mn-ea"/>
              </a:rPr>
              <a:t>JLAC11</a:t>
            </a:r>
            <a:r>
              <a:rPr lang="ja-JP" altLang="en-US" sz="900">
                <a:latin typeface="+mn-ea"/>
              </a:rPr>
              <a:t>コードを優先して出力する</a:t>
            </a:r>
            <a:r>
              <a:rPr lang="en-US" altLang="ja-JP" sz="900">
                <a:latin typeface="+mn-ea"/>
              </a:rPr>
              <a:t>)</a:t>
            </a:r>
            <a:br>
              <a:rPr lang="en-US" altLang="ja-JP" sz="900">
                <a:latin typeface="+mn-ea"/>
              </a:rPr>
            </a:br>
            <a:r>
              <a:rPr lang="en-US" altLang="ja-JP" sz="900">
                <a:latin typeface="+mn-ea"/>
              </a:rPr>
              <a:t>ID221(※)(</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患者サマリへの</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PDF</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の添付機能</a:t>
            </a:r>
            <a:r>
              <a:rPr lang="en-US" altLang="ja-JP" sz="900">
                <a:latin typeface="+mn-ea"/>
              </a:rPr>
              <a:t>)</a:t>
            </a:r>
            <a:br>
              <a:rPr lang="en-US" altLang="ja-JP" sz="900">
                <a:latin typeface="+mn-ea"/>
              </a:rPr>
            </a:br>
            <a:r>
              <a:rPr lang="en-US" altLang="ja-JP" sz="900">
                <a:latin typeface="+mn-ea"/>
              </a:rPr>
              <a:t>※</a:t>
            </a:r>
            <a:r>
              <a:rPr lang="ja-JP" altLang="en-US" sz="900">
                <a:latin typeface="+mn-ea"/>
              </a:rPr>
              <a:t>会議後 採番が競合していたことが発覚したため </a:t>
            </a:r>
            <a:r>
              <a:rPr lang="en-US" altLang="ja-JP" sz="900">
                <a:latin typeface="+mn-ea"/>
              </a:rPr>
              <a:t>ID226</a:t>
            </a:r>
            <a:r>
              <a:rPr lang="ja-JP" altLang="en-US" sz="900">
                <a:latin typeface="+mn-ea"/>
              </a:rPr>
              <a:t>に修正</a:t>
            </a:r>
            <a:endParaRPr lang="en-US" altLang="ja-JP" sz="900">
              <a:latin typeface="+mn-ea"/>
            </a:endParaRPr>
          </a:p>
        </p:txBody>
      </p:sp>
      <p:sp>
        <p:nvSpPr>
          <p:cNvPr id="8" name="吹き出し: 線 7">
            <a:extLst>
              <a:ext uri="{FF2B5EF4-FFF2-40B4-BE49-F238E27FC236}">
                <a16:creationId xmlns:a16="http://schemas.microsoft.com/office/drawing/2014/main" id="{A846941F-6EC8-CEE8-DB5B-D65D56643E9D}"/>
              </a:ext>
            </a:extLst>
          </p:cNvPr>
          <p:cNvSpPr/>
          <p:nvPr/>
        </p:nvSpPr>
        <p:spPr>
          <a:xfrm>
            <a:off x="7913064" y="5809368"/>
            <a:ext cx="2715605" cy="1210864"/>
          </a:xfrm>
          <a:prstGeom prst="borderCallout1">
            <a:avLst>
              <a:gd name="adj1" fmla="val 18097"/>
              <a:gd name="adj2" fmla="val 838"/>
              <a:gd name="adj3" fmla="val -186745"/>
              <a:gd name="adj4" fmla="val -150036"/>
            </a:avLst>
          </a:prstGeom>
          <a:solidFill>
            <a:schemeClr val="accent3">
              <a:lumMod val="20000"/>
              <a:lumOff val="80000"/>
            </a:schemeClr>
          </a:solidFill>
          <a:ln w="9525" cap="flat" cmpd="sng" algn="ctr">
            <a:solidFill>
              <a:schemeClr val="accent3"/>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hangingPunct="0">
              <a:lnSpc>
                <a:spcPct val="100000"/>
              </a:lnSpc>
            </a:pP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箕輪さん・向井さん向け</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ID225</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について、新規起票は問題ないですが、</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内容の説明が完了していないため、</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10</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月調達委員会に進めることは了が取れていない認識なのですが、認識合いますでしょうか？</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若干現地の温度感とずれてたらと思い、すり合わせさせてください。</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A0F-8ACF-A91F-45E3-157B26FE75B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D9C81D7-0F73-62D6-1286-8EC26C5406EF}"/>
              </a:ext>
            </a:extLst>
          </p:cNvPr>
          <p:cNvGraphicFramePr>
            <a:graphicFrameLocks noGrp="1"/>
          </p:cNvGraphicFramePr>
          <p:nvPr>
            <p:extLst>
              <p:ext uri="{D42A27DB-BD31-4B8C-83A1-F6EECF244321}">
                <p14:modId xmlns:p14="http://schemas.microsoft.com/office/powerpoint/2010/main" val="360074560"/>
              </p:ext>
            </p:extLst>
          </p:nvPr>
        </p:nvGraphicFramePr>
        <p:xfrm>
          <a:off x="453000" y="843756"/>
          <a:ext cx="9000000" cy="5003004"/>
        </p:xfrm>
        <a:graphic>
          <a:graphicData uri="http://schemas.openxmlformats.org/drawingml/2006/table">
            <a:tbl>
              <a:tblPr/>
              <a:tblGrid>
                <a:gridCol w="473868">
                  <a:extLst>
                    <a:ext uri="{9D8B030D-6E8A-4147-A177-3AD203B41FA5}">
                      <a16:colId xmlns:a16="http://schemas.microsoft.com/office/drawing/2014/main" val="3484704196"/>
                    </a:ext>
                  </a:extLst>
                </a:gridCol>
                <a:gridCol w="1060329">
                  <a:extLst>
                    <a:ext uri="{9D8B030D-6E8A-4147-A177-3AD203B41FA5}">
                      <a16:colId xmlns:a16="http://schemas.microsoft.com/office/drawing/2014/main" val="3863879091"/>
                    </a:ext>
                  </a:extLst>
                </a:gridCol>
                <a:gridCol w="4777587">
                  <a:extLst>
                    <a:ext uri="{9D8B030D-6E8A-4147-A177-3AD203B41FA5}">
                      <a16:colId xmlns:a16="http://schemas.microsoft.com/office/drawing/2014/main" val="99914978"/>
                    </a:ext>
                  </a:extLst>
                </a:gridCol>
                <a:gridCol w="268821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dirty="0">
                          <a:solidFill>
                            <a:srgbClr val="000000"/>
                          </a:solidFill>
                          <a:latin typeface="+mn-ea"/>
                          <a:ea typeface="+mn-ea"/>
                          <a:cs typeface="+mn-cs"/>
                        </a:rPr>
                        <a:t>4</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のクローズ</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をクローズとする</a:t>
                      </a:r>
                      <a:r>
                        <a:rPr kumimoji="1" lang="en-US" altLang="ja-JP" sz="900" b="0" i="0" u="none" strike="noStrike" kern="1200" dirty="0">
                          <a:solidFill>
                            <a:srgbClr val="000000"/>
                          </a:solidFill>
                          <a:latin typeface="+mn-ea"/>
                          <a:ea typeface="+mn-ea"/>
                          <a:cs typeface="+mn-cs"/>
                        </a:rPr>
                        <a:t>(12</a:t>
                      </a:r>
                      <a:r>
                        <a:rPr kumimoji="1" lang="ja-JP" altLang="en-US" sz="900" b="0" i="0" u="none" strike="noStrike" kern="1200" dirty="0">
                          <a:solidFill>
                            <a:srgbClr val="000000"/>
                          </a:solidFill>
                          <a:latin typeface="+mn-ea"/>
                          <a:ea typeface="+mn-ea"/>
                          <a:cs typeface="+mn-cs"/>
                        </a:rPr>
                        <a:t>件</a:t>
                      </a:r>
                      <a:r>
                        <a:rPr kumimoji="1" lang="en-US" altLang="ja-JP" sz="900" b="0" i="0" u="none" strike="noStrike"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#873(</a:t>
                      </a:r>
                      <a:r>
                        <a:rPr lang="ja-JP" altLang="en-US" sz="900" b="0" dirty="0">
                          <a:latin typeface="+mn-ea"/>
                          <a:ea typeface="+mn-ea"/>
                        </a:rPr>
                        <a:t>案件</a:t>
                      </a:r>
                      <a:r>
                        <a:rPr lang="en-US" altLang="ja-JP" sz="900" b="0" dirty="0">
                          <a:latin typeface="+mn-ea"/>
                          <a:ea typeface="+mn-ea"/>
                        </a:rPr>
                        <a:t>ID036(</a:t>
                      </a:r>
                      <a:r>
                        <a:rPr lang="ja-JP" altLang="en-US" sz="900" b="0" dirty="0">
                          <a:latin typeface="+mn-ea"/>
                          <a:ea typeface="+mn-ea"/>
                        </a:rPr>
                        <a:t>診療情報提供書の介護事業所送付機能の拡張</a:t>
                      </a:r>
                      <a:r>
                        <a:rPr lang="en-US" altLang="ja-JP" sz="900" b="0" dirty="0">
                          <a:latin typeface="+mn-ea"/>
                          <a:ea typeface="+mn-ea"/>
                        </a:rPr>
                        <a:t>)</a:t>
                      </a:r>
                      <a:r>
                        <a:rPr lang="ja-JP" altLang="en-US" sz="900" b="0" dirty="0">
                          <a:latin typeface="+mn-ea"/>
                          <a:ea typeface="+mn-ea"/>
                        </a:rPr>
                        <a:t>について、医療機関・介護事業者からの問い合わせに対し、医政局、DX機構、デジ庁、老健局等の複数組織間で連携できるよう、横断的なコミュニケーション方法を検討する。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i="0" u="none" strike="noStrike" kern="1200" noProof="0" dirty="0">
                          <a:solidFill>
                            <a:srgbClr val="000000"/>
                          </a:solidFill>
                          <a:latin typeface="+mn-lt"/>
                          <a:ea typeface="+mn-ea"/>
                          <a:cs typeface="Arial"/>
                        </a:rPr>
                        <a:t> </a:t>
                      </a:r>
                      <a:r>
                        <a:rPr lang="en-US" altLang="ja-JP" sz="900" b="0" i="0" u="none" strike="noStrike" kern="1200" noProof="0" dirty="0">
                          <a:solidFill>
                            <a:srgbClr val="000000"/>
                          </a:solidFill>
                          <a:highlight>
                            <a:srgbClr val="FFFF00"/>
                          </a:highlight>
                          <a:latin typeface="+mn-lt"/>
                          <a:ea typeface="+mn-ea"/>
                          <a:cs typeface="Arial"/>
                        </a:rPr>
                        <a:t>#1108(JP CLINS 1.12.0</a:t>
                      </a:r>
                      <a:r>
                        <a:rPr lang="ja-JP" altLang="en-US" sz="900" b="0" i="0" u="none" strike="noStrike" kern="1200" noProof="0" dirty="0">
                          <a:solidFill>
                            <a:srgbClr val="000000"/>
                          </a:solidFill>
                          <a:highlight>
                            <a:srgbClr val="FFFF00"/>
                          </a:highlight>
                          <a:latin typeface="+mn-lt"/>
                          <a:ea typeface="+mn-ea"/>
                          <a:cs typeface="Arial"/>
                        </a:rPr>
                        <a:t>版サポート終了に伴うモデル外ベンダへの周知を行う。 </a:t>
                      </a:r>
                      <a:r>
                        <a:rPr lang="en-US" altLang="ja-JP" sz="900" b="0" i="0" u="none" strike="noStrike" kern="1200" noProof="0" dirty="0">
                          <a:solidFill>
                            <a:srgbClr val="000000"/>
                          </a:solidFill>
                          <a:highlight>
                            <a:srgbClr val="FFFF00"/>
                          </a:highlight>
                          <a:latin typeface="+mn-lt"/>
                          <a:ea typeface="+mn-ea"/>
                          <a:cs typeface="Arial"/>
                        </a:rPr>
                        <a:t>)</a:t>
                      </a:r>
                      <a:endParaRPr lang="en-US" altLang="ja-JP" sz="900" b="0" dirty="0">
                        <a:highlight>
                          <a:srgbClr val="FFFF00"/>
                        </a:highlight>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#1158(</a:t>
                      </a:r>
                      <a:r>
                        <a:rPr lang="ja-JP" altLang="en-US" sz="900" b="0" dirty="0">
                          <a:latin typeface="+mn-ea"/>
                          <a:ea typeface="+mn-ea"/>
                        </a:rPr>
                        <a:t>自施設宛て文書一覧から該当患者の文書が取得できなかった場合の運用として、紹介元医療機関へ診療情報提供書の再送を依頼し、再送時にエラーが発生した場合は紙運用に切り替える旨を運用マニュアルへ記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#1181(</a:t>
                      </a:r>
                      <a:r>
                        <a:rPr lang="ja-JP" altLang="en-US" sz="900" b="0" dirty="0">
                          <a:latin typeface="+mn-ea"/>
                          <a:ea typeface="+mn-ea"/>
                        </a:rPr>
                        <a:t>今後</a:t>
                      </a:r>
                      <a:r>
                        <a:rPr lang="en-US" altLang="ja-JP" sz="900" b="0" dirty="0">
                          <a:latin typeface="+mn-ea"/>
                          <a:ea typeface="+mn-ea"/>
                        </a:rPr>
                        <a:t>BI</a:t>
                      </a:r>
                      <a:r>
                        <a:rPr lang="ja-JP" altLang="en-US" sz="900" b="0" dirty="0">
                          <a:latin typeface="+mn-ea"/>
                          <a:ea typeface="+mn-ea"/>
                        </a:rPr>
                        <a:t>ツールを使用する際のアウトプットを検討した際に、再度インプット部分の改修に跳ねることにならないか確認し、確認結果を厚労省に連携する。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#1183(</a:t>
                      </a:r>
                      <a:r>
                        <a:rPr kumimoji="1" lang="ja-JP" altLang="en-US" sz="900" b="0" kern="1200" dirty="0">
                          <a:solidFill>
                            <a:srgbClr val="000000"/>
                          </a:solidFill>
                          <a:latin typeface="+mn-ea"/>
                          <a:ea typeface="+mn-ea"/>
                          <a:cs typeface="+mn-cs"/>
                        </a:rPr>
                        <a:t>「臨床情報詳細画面」と「</a:t>
                      </a:r>
                      <a:r>
                        <a:rPr kumimoji="1" lang="en-US" altLang="ja-JP" sz="900" b="0" kern="1200" dirty="0">
                          <a:solidFill>
                            <a:srgbClr val="000000"/>
                          </a:solidFill>
                          <a:latin typeface="+mn-ea"/>
                          <a:ea typeface="+mn-ea"/>
                          <a:cs typeface="+mn-cs"/>
                        </a:rPr>
                        <a:t>PDF</a:t>
                      </a:r>
                      <a:r>
                        <a:rPr kumimoji="1" lang="ja-JP" altLang="en-US" sz="900" b="0" kern="1200" dirty="0">
                          <a:solidFill>
                            <a:srgbClr val="000000"/>
                          </a:solidFill>
                          <a:latin typeface="+mn-ea"/>
                          <a:ea typeface="+mn-ea"/>
                          <a:cs typeface="+mn-cs"/>
                        </a:rPr>
                        <a:t>帳票」の間における項目名・各項目の</a:t>
                      </a:r>
                      <a:r>
                        <a:rPr kumimoji="1" lang="en-US" altLang="ja-JP" sz="900" b="0" kern="1200" dirty="0" err="1">
                          <a:solidFill>
                            <a:srgbClr val="000000"/>
                          </a:solidFill>
                          <a:latin typeface="+mn-ea"/>
                          <a:ea typeface="+mn-ea"/>
                          <a:cs typeface="+mn-cs"/>
                        </a:rPr>
                        <a:t>FHIRパス</a:t>
                      </a:r>
                      <a:r>
                        <a:rPr kumimoji="1" lang="ja-JP" altLang="en-US" sz="900" b="0" kern="1200" dirty="0">
                          <a:solidFill>
                            <a:srgbClr val="000000"/>
                          </a:solidFill>
                          <a:latin typeface="+mn-ea"/>
                          <a:ea typeface="+mn-ea"/>
                          <a:cs typeface="+mn-cs"/>
                        </a:rPr>
                        <a:t>の差分有無について、富士通へ確認のうえ結果を厚労省に連携する。</a:t>
                      </a:r>
                      <a:r>
                        <a:rPr kumimoji="1" lang="en-US" altLang="ja-JP" sz="900" b="0"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dirty="0">
                          <a:solidFill>
                            <a:srgbClr val="000000"/>
                          </a:solidFill>
                          <a:latin typeface="+mn-ea"/>
                          <a:ea typeface="+mn-ea"/>
                          <a:cs typeface="+mn-cs"/>
                        </a:rPr>
                        <a:t>#1209(10/20</a:t>
                      </a:r>
                      <a:r>
                        <a:rPr kumimoji="1" lang="ja-JP" altLang="en-US" sz="900" b="0" i="0" u="none" strike="noStrike" kern="1200" dirty="0">
                          <a:solidFill>
                            <a:srgbClr val="000000"/>
                          </a:solidFill>
                          <a:latin typeface="+mn-ea"/>
                          <a:ea typeface="+mn-ea"/>
                          <a:cs typeface="+mn-cs"/>
                        </a:rPr>
                        <a:t>の調達委員会時点で、令和</a:t>
                      </a:r>
                      <a:r>
                        <a:rPr kumimoji="1" lang="en-US" altLang="ja-JP" sz="900" b="0" i="0" u="none" strike="noStrike" kern="1200" dirty="0">
                          <a:solidFill>
                            <a:srgbClr val="000000"/>
                          </a:solidFill>
                          <a:latin typeface="+mn-ea"/>
                          <a:ea typeface="+mn-ea"/>
                          <a:cs typeface="+mn-cs"/>
                        </a:rPr>
                        <a:t>9</a:t>
                      </a:r>
                      <a:r>
                        <a:rPr kumimoji="1" lang="ja-JP" altLang="en-US" sz="900" b="0" i="0" u="none" strike="noStrike" kern="1200" dirty="0">
                          <a:solidFill>
                            <a:srgbClr val="000000"/>
                          </a:solidFill>
                          <a:latin typeface="+mn-ea"/>
                          <a:ea typeface="+mn-ea"/>
                          <a:cs typeface="+mn-cs"/>
                        </a:rPr>
                        <a:t>年度開発を希望する案件においては、</a:t>
                      </a:r>
                      <a:r>
                        <a:rPr kumimoji="1" lang="en-US" altLang="ja-JP" sz="900" b="0" i="0" u="none" strike="noStrike" kern="1200" dirty="0">
                          <a:solidFill>
                            <a:srgbClr val="000000"/>
                          </a:solidFill>
                          <a:latin typeface="+mn-ea"/>
                          <a:ea typeface="+mn-ea"/>
                          <a:cs typeface="+mn-cs"/>
                        </a:rPr>
                        <a:t>10/5</a:t>
                      </a:r>
                      <a:r>
                        <a:rPr kumimoji="1" lang="ja-JP" altLang="en-US" sz="900" b="0" i="0" u="none" strike="noStrike" kern="1200" dirty="0">
                          <a:solidFill>
                            <a:srgbClr val="000000"/>
                          </a:solidFill>
                          <a:latin typeface="+mn-ea"/>
                          <a:ea typeface="+mn-ea"/>
                          <a:cs typeface="+mn-cs"/>
                        </a:rPr>
                        <a:t>までに①案件名②案件概要、さらに可能であれば③案件の背景・目的を厚労省からDX機構に連携する。</a:t>
                      </a:r>
                      <a:r>
                        <a:rPr kumimoji="1" lang="en-US" altLang="ja-JP" sz="900" b="0" i="0" u="none" strike="noStrike" kern="1200" dirty="0">
                          <a:solidFill>
                            <a:srgbClr val="000000"/>
                          </a:solidFill>
                          <a:latin typeface="+mn-ea"/>
                          <a:ea typeface="+mn-ea"/>
                          <a:cs typeface="+mn-cs"/>
                        </a:rPr>
                        <a:t>)</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#1212(</a:t>
                      </a:r>
                      <a:r>
                        <a:rPr lang="ja-JP" altLang="en-US" sz="900" b="0" dirty="0">
                          <a:latin typeface="+mn-ea"/>
                          <a:ea typeface="+mn-ea"/>
                        </a:rPr>
                        <a:t>「②ステークホルダーへのデータ共有」について、厚労省職員の端末で</a:t>
                      </a:r>
                      <a:r>
                        <a:rPr lang="en-US" altLang="ja-JP" sz="900" b="0" dirty="0">
                          <a:latin typeface="+mn-ea"/>
                          <a:ea typeface="+mn-ea"/>
                        </a:rPr>
                        <a:t>BI</a:t>
                      </a:r>
                      <a:r>
                        <a:rPr lang="ja-JP" altLang="en-US" sz="900" b="0" dirty="0">
                          <a:latin typeface="+mn-ea"/>
                          <a:ea typeface="+mn-ea"/>
                        </a:rPr>
                        <a:t>ツールのデータ閲覧需要の有無を確認し、結果をDX機構に連携する。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#1214(</a:t>
                      </a:r>
                      <a:r>
                        <a:rPr lang="ja-JP" altLang="en-US" sz="900" b="0" dirty="0">
                          <a:latin typeface="+mn-ea"/>
                          <a:ea typeface="+mn-ea"/>
                        </a:rPr>
                        <a:t>マイナポータルにおける臨床情報検査結果の基準値表示について、技術解説書</a:t>
                      </a:r>
                      <a:r>
                        <a:rPr lang="en-US" altLang="ja-JP" sz="900" b="0" dirty="0">
                          <a:latin typeface="+mn-ea"/>
                          <a:ea typeface="+mn-ea"/>
                        </a:rPr>
                        <a:t>2.1.0</a:t>
                      </a:r>
                      <a:r>
                        <a:rPr lang="ja-JP" altLang="en-US" sz="900" b="0" dirty="0">
                          <a:latin typeface="+mn-ea"/>
                          <a:ea typeface="+mn-ea"/>
                        </a:rPr>
                        <a:t>版で「未満」「超過」の意図を含む基準値登録が可能となった一方、マイナポータルは</a:t>
                      </a:r>
                      <a:r>
                        <a:rPr lang="en-US" altLang="ja-JP" sz="900" b="0" dirty="0">
                          <a:latin typeface="+mn-ea"/>
                          <a:ea typeface="+mn-ea"/>
                        </a:rPr>
                        <a:t>2.0.0</a:t>
                      </a:r>
                      <a:r>
                        <a:rPr lang="ja-JP" altLang="en-US" sz="900" b="0" dirty="0">
                          <a:latin typeface="+mn-ea"/>
                          <a:ea typeface="+mn-ea"/>
                        </a:rPr>
                        <a:t>版相当の表示仕様のため当該意図を表現できていないことを踏まえ、改修要否を検討し、検討結果をDX機構へ共有する。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#1216(</a:t>
                      </a:r>
                      <a:r>
                        <a:rPr lang="ja-JP" altLang="en-US" sz="900" b="0" dirty="0">
                          <a:latin typeface="+mn-ea"/>
                          <a:ea typeface="+mn-ea"/>
                        </a:rPr>
                        <a:t>医療介護連携における介護事業所宛て診療情報提供書の送付に係るランニングコストの按分を検討するためのインプットとして、電子カルテ情報共有サービスで資格確認の</a:t>
                      </a:r>
                      <a:r>
                        <a:rPr lang="en-US" altLang="ja-JP" sz="900" b="0" dirty="0">
                          <a:latin typeface="+mn-ea"/>
                          <a:ea typeface="+mn-ea"/>
                        </a:rPr>
                        <a:t>API</a:t>
                      </a:r>
                      <a:r>
                        <a:rPr lang="ja-JP" altLang="en-US" sz="900" b="0" dirty="0">
                          <a:latin typeface="+mn-ea"/>
                          <a:ea typeface="+mn-ea"/>
                        </a:rPr>
                        <a:t>を用いる機能のうち、統計ログの出力が必要な機能を抽出するための判断軸を整理し、整理結果をDX機構へ共有する。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#1220(</a:t>
                      </a:r>
                      <a:r>
                        <a:rPr lang="ja-JP" altLang="en-US" sz="900" b="0" dirty="0">
                          <a:latin typeface="+mn-ea"/>
                          <a:ea typeface="+mn-ea"/>
                        </a:rPr>
                        <a:t>電子署名の危殆化対応について、確認事項に対する回答を厚労省に連携する。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#1221(</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年度のプロファイル更新の取り込みについて、令和</a:t>
                      </a:r>
                      <a:r>
                        <a:rPr lang="en-US" altLang="ja-JP" sz="900" b="0" dirty="0">
                          <a:latin typeface="+mn-ea"/>
                          <a:ea typeface="+mn-ea"/>
                        </a:rPr>
                        <a:t>9</a:t>
                      </a:r>
                      <a:r>
                        <a:rPr lang="ja-JP" altLang="en-US" sz="900" b="0" dirty="0">
                          <a:latin typeface="+mn-ea"/>
                          <a:ea typeface="+mn-ea"/>
                        </a:rPr>
                        <a:t>年度案件として新規起票が必要か確認する。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#1223(</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年度登録予定案件の要件および優先度を確認し、質問事項等があれば厚労省に連携する。</a:t>
                      </a:r>
                      <a:r>
                        <a:rPr lang="en-US" altLang="ja-JP" sz="900" b="0" dirty="0">
                          <a:latin typeface="+mn-ea"/>
                          <a:ea typeface="+mn-ea"/>
                        </a:rPr>
                        <a:t>)</a:t>
                      </a:r>
                      <a:endParaRPr kumimoji="1" lang="en-US" altLang="ja-JP" sz="900" b="0" i="0" u="sng" strike="noStrike"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の要求事項に記載されたダッシュボード作成のインプットデータについて、令和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月末案件において既存データをどこまで拡充可能か、富士通・</a:t>
                      </a:r>
                      <a:r>
                        <a:rPr lang="en-US" altLang="ja-JP" sz="900" b="0" i="0" u="none" strike="noStrike" kern="1200" noProof="0" dirty="0">
                          <a:solidFill>
                            <a:srgbClr val="000000"/>
                          </a:solidFill>
                          <a:latin typeface="+mn-ea"/>
                          <a:ea typeface="+mn-ea"/>
                          <a:cs typeface="Arial"/>
                        </a:rPr>
                        <a:t>NTTD</a:t>
                      </a:r>
                      <a:r>
                        <a:rPr lang="ja-JP" altLang="en-US" sz="900" b="0" i="0" u="none" strike="noStrike" kern="1200" noProof="0" dirty="0">
                          <a:solidFill>
                            <a:srgbClr val="000000"/>
                          </a:solidFill>
                          <a:latin typeface="+mn-ea"/>
                          <a:ea typeface="+mn-ea"/>
                          <a:cs typeface="Arial"/>
                        </a:rPr>
                        <a:t>に確認する。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基盤活用による臨床情報の可視化)において、ダッシュボード作成のインプットデータのうち、令和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年度末(</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月末)までに反映できない既存データについて、対応可能時期を富士通へ確認する。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a:t>
                      </a:r>
                      <a:r>
                        <a:rPr lang="en-US" altLang="ja-JP" sz="900" b="0" i="0" u="none" strike="noStrike" kern="1200" noProof="0" dirty="0">
                          <a:solidFill>
                            <a:srgbClr val="000000"/>
                          </a:solidFill>
                          <a:latin typeface="+mn-ea"/>
                          <a:ea typeface="+mn-ea"/>
                          <a:cs typeface="Arial"/>
                        </a:rPr>
                        <a:t>15</a:t>
                      </a:r>
                      <a:r>
                        <a:rPr lang="ja-JP" altLang="en-US" sz="900" b="0" i="0" u="none" strike="noStrike" kern="1200" noProof="0" dirty="0">
                          <a:solidFill>
                            <a:srgbClr val="000000"/>
                          </a:solidFill>
                          <a:latin typeface="+mn-ea"/>
                          <a:ea typeface="+mn-ea"/>
                          <a:cs typeface="Arial"/>
                        </a:rPr>
                        <a:t>種類のダッシュボード</a:t>
                      </a:r>
                      <a:r>
                        <a:rPr lang="en-US" altLang="ja-JP" sz="900" b="0" i="0" u="none" strike="noStrike" kern="1200" baseline="300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について、各ダッシュボードの確認観点・活用目的を整理し、厚労省に提示する。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8224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原本</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電カル共有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案件台帳</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.xlsx</a:t>
                      </a:r>
                      <a:r>
                        <a:rPr lang="ja-JP" altLang="en-US" sz="900" b="0" i="0" u="none" strike="noStrike" kern="1200" noProof="0" dirty="0">
                          <a:solidFill>
                            <a:srgbClr val="000000"/>
                          </a:solidFill>
                          <a:latin typeface="+mn-ea"/>
                          <a:ea typeface="+mn-ea"/>
                          <a:cs typeface="Arial"/>
                        </a:rPr>
                        <a:t>」の案件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の要求事項に記載</a:t>
                      </a:r>
                      <a:endParaRPr lang="en-US" altLang="ja-JP" sz="900" b="0" i="0" u="none" strike="noStrike" kern="1200" noProof="0" dirty="0">
                        <a:solidFill>
                          <a:srgbClr val="000000"/>
                        </a:solidFill>
                        <a:latin typeface="+mn-ea"/>
                        <a:ea typeface="+mn-ea"/>
                        <a:cs typeface="Arial"/>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臨床情報詳細画面と</a:t>
                      </a:r>
                      <a:r>
                        <a:rPr lang="en-US" altLang="ja-JP" sz="900" b="0" i="0" u="none" strike="noStrike" kern="1200" noProof="0" dirty="0">
                          <a:solidFill>
                            <a:srgbClr val="000000"/>
                          </a:solidFill>
                          <a:latin typeface="+mn-ea"/>
                          <a:ea typeface="+mn-ea"/>
                          <a:cs typeface="Arial"/>
                        </a:rPr>
                        <a:t>PDF</a:t>
                      </a:r>
                      <a:r>
                        <a:rPr lang="ja-JP" altLang="en-US" sz="900" b="0" i="0" u="none" strike="noStrike" kern="1200" noProof="0" dirty="0">
                          <a:solidFill>
                            <a:srgbClr val="000000"/>
                          </a:solidFill>
                          <a:latin typeface="+mn-ea"/>
                          <a:ea typeface="+mn-ea"/>
                          <a:cs typeface="Arial"/>
                        </a:rPr>
                        <a:t>帳票間における項目名および</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パスの差分について、富士通へ</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パスの追記を依頼し、</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パスを明記した</a:t>
                      </a:r>
                      <a:r>
                        <a:rPr lang="en-US" altLang="ja-JP" sz="900" b="0" i="0" u="none" strike="noStrike" kern="1200" noProof="0" dirty="0">
                          <a:solidFill>
                            <a:srgbClr val="000000"/>
                          </a:solidFill>
                          <a:latin typeface="+mn-ea"/>
                          <a:ea typeface="+mn-ea"/>
                          <a:cs typeface="Arial"/>
                        </a:rPr>
                        <a:t>Excel</a:t>
                      </a:r>
                      <a:r>
                        <a:rPr lang="ja-JP" altLang="en-US" sz="900" b="0" i="0" u="none" strike="noStrike" kern="1200" noProof="0" dirty="0">
                          <a:solidFill>
                            <a:srgbClr val="000000"/>
                          </a:solidFill>
                          <a:latin typeface="+mn-ea"/>
                          <a:ea typeface="+mn-ea"/>
                          <a:cs typeface="Arial"/>
                        </a:rPr>
                        <a:t>資料を厚労省へ共有する。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highlight>
                            <a:srgbClr val="FFFF00"/>
                          </a:highlight>
                          <a:latin typeface="+mn-ea"/>
                          <a:ea typeface="+mn-ea"/>
                          <a:cs typeface="Arial"/>
                        </a:rPr>
                        <a:t>案件</a:t>
                      </a:r>
                      <a:r>
                        <a:rPr lang="en-US" altLang="ja-JP" sz="900" b="0" i="0" u="none" strike="noStrike" kern="1200" noProof="0" dirty="0">
                          <a:solidFill>
                            <a:srgbClr val="000000"/>
                          </a:solidFill>
                          <a:highlight>
                            <a:srgbClr val="FFFF00"/>
                          </a:highlight>
                          <a:latin typeface="+mn-ea"/>
                          <a:ea typeface="+mn-ea"/>
                          <a:cs typeface="Arial"/>
                        </a:rPr>
                        <a:t>ID225</a:t>
                      </a:r>
                      <a:r>
                        <a:rPr lang="ja-JP" altLang="en-US" sz="900" b="0" i="0" u="none" strike="noStrike" kern="1200" noProof="0" dirty="0">
                          <a:solidFill>
                            <a:srgbClr val="000000"/>
                          </a:solidFill>
                          <a:highlight>
                            <a:srgbClr val="FFFF00"/>
                          </a:highlight>
                          <a:latin typeface="+mn-ea"/>
                          <a:ea typeface="+mn-ea"/>
                          <a:cs typeface="Arial"/>
                        </a:rPr>
                        <a:t>（</a:t>
                      </a:r>
                      <a:r>
                        <a:rPr lang="en-US" altLang="ja-JP" sz="900" b="0" i="0" u="none" strike="noStrike" kern="1200" noProof="0" dirty="0">
                          <a:solidFill>
                            <a:srgbClr val="000000"/>
                          </a:solidFill>
                          <a:highlight>
                            <a:srgbClr val="FFFF00"/>
                          </a:highlight>
                          <a:latin typeface="+mn-ea"/>
                          <a:ea typeface="+mn-ea"/>
                          <a:cs typeface="Arial"/>
                        </a:rPr>
                        <a:t>BI</a:t>
                      </a:r>
                      <a:r>
                        <a:rPr lang="ja-JP" altLang="en-US" sz="900" b="0" i="0" u="none" strike="noStrike" kern="1200" noProof="0" dirty="0">
                          <a:solidFill>
                            <a:srgbClr val="000000"/>
                          </a:solidFill>
                          <a:highlight>
                            <a:srgbClr val="FFFF00"/>
                          </a:highlight>
                          <a:latin typeface="+mn-ea"/>
                          <a:ea typeface="+mn-ea"/>
                          <a:cs typeface="Arial"/>
                        </a:rPr>
                        <a:t>基盤活用による臨床情報の可視化）について、案件台帳の要求事項を確認し、照会事項等があれば</a:t>
                      </a:r>
                      <a:r>
                        <a:rPr lang="en-US" altLang="ja-JP" sz="900" b="0" i="0" u="none" strike="noStrike" kern="1200" noProof="0" dirty="0">
                          <a:solidFill>
                            <a:srgbClr val="000000"/>
                          </a:solidFill>
                          <a:highlight>
                            <a:srgbClr val="FFFF00"/>
                          </a:highlight>
                          <a:latin typeface="+mn-ea"/>
                          <a:ea typeface="+mn-ea"/>
                          <a:cs typeface="Arial"/>
                        </a:rPr>
                        <a:t>DX</a:t>
                      </a:r>
                      <a:r>
                        <a:rPr lang="ja-JP" altLang="en-US" sz="900" b="0" i="0" u="none" strike="noStrike" kern="1200" noProof="0" dirty="0">
                          <a:solidFill>
                            <a:srgbClr val="000000"/>
                          </a:solidFill>
                          <a:highlight>
                            <a:srgbClr val="FFFF00"/>
                          </a:highlight>
                          <a:latin typeface="+mn-ea"/>
                          <a:ea typeface="+mn-ea"/>
                          <a:cs typeface="Arial"/>
                        </a:rPr>
                        <a:t>機構へ連携する。</a:t>
                      </a:r>
                      <a:r>
                        <a:rPr lang="en-US" altLang="ja-JP" sz="900" b="0" i="0" u="none" strike="noStrike" kern="1200" noProof="0" dirty="0">
                          <a:solidFill>
                            <a:srgbClr val="000000"/>
                          </a:solidFill>
                          <a:highlight>
                            <a:srgbClr val="FFFF00"/>
                          </a:highlight>
                          <a:latin typeface="+mn-lt"/>
                          <a:ea typeface="+mn-ea"/>
                          <a:cs typeface="Arial"/>
                        </a:rPr>
                        <a:t>【</a:t>
                      </a:r>
                      <a:r>
                        <a:rPr lang="ja-JP" altLang="en-US" sz="900" b="0" i="0" u="none" strike="noStrike" kern="1200" noProof="0" dirty="0">
                          <a:solidFill>
                            <a:srgbClr val="000000"/>
                          </a:solidFill>
                          <a:highlight>
                            <a:srgbClr val="FFFF00"/>
                          </a:highlight>
                          <a:latin typeface="+mn-lt"/>
                          <a:ea typeface="+mn-ea"/>
                          <a:cs typeface="Arial"/>
                        </a:rPr>
                        <a:t>厚労省 </a:t>
                      </a:r>
                      <a:r>
                        <a:rPr lang="en-US" altLang="ja-JP" sz="900" b="0" i="0" u="none" strike="noStrike" kern="1200" noProof="0" dirty="0">
                          <a:solidFill>
                            <a:srgbClr val="000000"/>
                          </a:solidFill>
                          <a:highlight>
                            <a:srgbClr val="FFFF00"/>
                          </a:highlight>
                          <a:latin typeface="+mn-lt"/>
                          <a:ea typeface="+mn-ea"/>
                          <a:cs typeface="Arial"/>
                        </a:rPr>
                        <a:t>10/13】​</a:t>
                      </a:r>
                    </a:p>
                    <a:p>
                      <a:pPr marL="0" marR="0" lvl="0" indent="0" algn="l">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highlight>
                            <a:srgbClr val="FFFF00"/>
                          </a:highlight>
                          <a:latin typeface="+mn-ea"/>
                          <a:ea typeface="+mn-ea"/>
                          <a:cs typeface="Arial"/>
                        </a:rPr>
                        <a:t>マイナポータルにおける臨床情報検査結果の基準値表示について、技術解説書</a:t>
                      </a:r>
                      <a:r>
                        <a:rPr lang="en-US" altLang="ja-JP" sz="900" b="0" i="0" u="none" strike="noStrike" kern="1200" noProof="0" dirty="0">
                          <a:solidFill>
                            <a:srgbClr val="000000"/>
                          </a:solidFill>
                          <a:highlight>
                            <a:srgbClr val="FFFF00"/>
                          </a:highlight>
                          <a:latin typeface="+mn-ea"/>
                          <a:ea typeface="+mn-ea"/>
                          <a:cs typeface="Arial"/>
                        </a:rPr>
                        <a:t>2.1.0</a:t>
                      </a:r>
                      <a:r>
                        <a:rPr lang="ja-JP" altLang="en-US" sz="900" b="0" i="0" u="none" strike="noStrike" kern="1200" noProof="0" dirty="0">
                          <a:solidFill>
                            <a:srgbClr val="000000"/>
                          </a:solidFill>
                          <a:highlight>
                            <a:srgbClr val="FFFF00"/>
                          </a:highlight>
                          <a:latin typeface="+mn-ea"/>
                          <a:ea typeface="+mn-ea"/>
                          <a:cs typeface="Arial"/>
                        </a:rPr>
                        <a:t>版の内容(「未満」「超過」の意図を含む基準値登録を可能とする)を反映した仕様に改修するため、デジタル庁にマイナポータルの改修可能時期を確認する。</a:t>
                      </a:r>
                      <a:r>
                        <a:rPr lang="en-US" altLang="ja-JP" sz="900" b="0" i="0" u="none" strike="noStrike" kern="1200" noProof="0" dirty="0">
                          <a:solidFill>
                            <a:srgbClr val="000000"/>
                          </a:solidFill>
                          <a:highlight>
                            <a:srgbClr val="FFFF00"/>
                          </a:highlight>
                          <a:latin typeface="+mn-ea"/>
                          <a:ea typeface="+mn-ea"/>
                          <a:cs typeface="Arial"/>
                        </a:rPr>
                        <a:t>【</a:t>
                      </a:r>
                      <a:r>
                        <a:rPr lang="ja-JP" altLang="en-US" sz="900" b="0" i="0" u="none" strike="noStrike" kern="1200" noProof="0" dirty="0">
                          <a:solidFill>
                            <a:srgbClr val="000000"/>
                          </a:solidFill>
                          <a:highlight>
                            <a:srgbClr val="FFFF00"/>
                          </a:highlight>
                          <a:latin typeface="+mn-ea"/>
                          <a:ea typeface="+mn-ea"/>
                          <a:cs typeface="Arial"/>
                        </a:rPr>
                        <a:t>厚労省 </a:t>
                      </a:r>
                      <a:r>
                        <a:rPr lang="en-US" altLang="ja-JP" sz="900" b="0" i="0" u="none" strike="noStrike" kern="1200" noProof="0" dirty="0">
                          <a:solidFill>
                            <a:srgbClr val="000000"/>
                          </a:solidFill>
                          <a:highlight>
                            <a:srgbClr val="FFFF00"/>
                          </a:highlight>
                          <a:latin typeface="+mn-ea"/>
                          <a:ea typeface="+mn-ea"/>
                          <a:cs typeface="Arial"/>
                        </a:rPr>
                        <a:t>10/19】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0362052-4A07-4322-45D5-4CF8A0306FCB}"/>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)(2/6)</a:t>
            </a:r>
            <a:endParaRPr lang="ja-JP" altLang="en-US" sz="2000">
              <a:solidFill>
                <a:schemeClr val="tx2">
                  <a:lumMod val="75000"/>
                </a:schemeClr>
              </a:solidFill>
            </a:endParaRPr>
          </a:p>
        </p:txBody>
      </p:sp>
      <p:sp>
        <p:nvSpPr>
          <p:cNvPr id="3" name="吹き出し: 線 2">
            <a:extLst>
              <a:ext uri="{FF2B5EF4-FFF2-40B4-BE49-F238E27FC236}">
                <a16:creationId xmlns:a16="http://schemas.microsoft.com/office/drawing/2014/main" id="{34AA7438-B6ED-A447-5CB3-7EC8634DE82D}"/>
              </a:ext>
            </a:extLst>
          </p:cNvPr>
          <p:cNvSpPr/>
          <p:nvPr/>
        </p:nvSpPr>
        <p:spPr>
          <a:xfrm>
            <a:off x="9765103" y="3614468"/>
            <a:ext cx="2002766" cy="1604514"/>
          </a:xfrm>
          <a:prstGeom prst="borderCallout1">
            <a:avLst>
              <a:gd name="adj1" fmla="val 84375"/>
              <a:gd name="adj2" fmla="val -635"/>
              <a:gd name="adj3" fmla="val 57386"/>
              <a:gd name="adj4" fmla="val -18214"/>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BI</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ツールについては案件台帳に起票済みの認識ですが、上記</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Todo</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にもあるとおり厚労省から詳細な要求事項の説明を求めている状況であり、現在の要求事項は</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FIX</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しておらず、厚労省の確認フェーズに入っていないものと認識しています。</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そのため当該</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Todo</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は現時点では削除いただけますでしょうか。</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吹き出し: 線 4">
            <a:extLst>
              <a:ext uri="{FF2B5EF4-FFF2-40B4-BE49-F238E27FC236}">
                <a16:creationId xmlns:a16="http://schemas.microsoft.com/office/drawing/2014/main" id="{E8E81FD2-88A2-9876-2B6A-7DC944399D23}"/>
              </a:ext>
            </a:extLst>
          </p:cNvPr>
          <p:cNvSpPr/>
          <p:nvPr/>
        </p:nvSpPr>
        <p:spPr>
          <a:xfrm>
            <a:off x="9765103" y="5354127"/>
            <a:ext cx="2002766" cy="2079059"/>
          </a:xfrm>
          <a:prstGeom prst="borderCallout1">
            <a:avLst>
              <a:gd name="adj1" fmla="val 49852"/>
              <a:gd name="adj2" fmla="val 2802"/>
              <a:gd name="adj3" fmla="val 18314"/>
              <a:gd name="adj4" fmla="val -65051"/>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本</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TODO</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について</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は、</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打ち合わせ内</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で</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確認依頼等</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の</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発言</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は</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なかった</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認識です</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eaLnBrk="0" hangingPunct="0"/>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そのため本紙への記載は削除いただき</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本内容</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を</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明示的に取り扱う場合について</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は</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、スレッド等で問い合わせていただくか、記載せずに、三者定例で追加で依頼いただいてもよろしい</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でしょうか</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（中央基盤へ</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の</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影響</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がない</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という確認</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は</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させていただいており</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リリース時期の影響</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は</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ないこと・本案件の問い合わせ元がいないことを懸念して厚労側から</a:t>
            </a:r>
            <a: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DX</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機構へ確認させていただいておりました</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吹き出し: 線 8">
            <a:extLst>
              <a:ext uri="{FF2B5EF4-FFF2-40B4-BE49-F238E27FC236}">
                <a16:creationId xmlns:a16="http://schemas.microsoft.com/office/drawing/2014/main" id="{0E570D80-1787-FE12-7911-FE25E9680B72}"/>
              </a:ext>
            </a:extLst>
          </p:cNvPr>
          <p:cNvSpPr/>
          <p:nvPr/>
        </p:nvSpPr>
        <p:spPr>
          <a:xfrm>
            <a:off x="4953000" y="774745"/>
            <a:ext cx="1792857" cy="828136"/>
          </a:xfrm>
          <a:prstGeom prst="borderCallout1">
            <a:avLst>
              <a:gd name="adj1" fmla="val 84375"/>
              <a:gd name="adj2" fmla="val -635"/>
              <a:gd name="adj3" fmla="val 167708"/>
              <a:gd name="adj4" fmla="val -40739"/>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細かい点で恐れ入ります。</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他とフォントが異なるためご確認をお願いします。</a:t>
            </a:r>
          </a:p>
        </p:txBody>
      </p:sp>
    </p:spTree>
    <p:extLst>
      <p:ext uri="{BB962C8B-B14F-4D97-AF65-F5344CB8AC3E}">
        <p14:creationId xmlns:p14="http://schemas.microsoft.com/office/powerpoint/2010/main" val="42609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7DA3-36AF-82D6-8266-E279604845D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93DB6213-59FD-AB24-D346-BDE292898E9C}"/>
              </a:ext>
            </a:extLst>
          </p:cNvPr>
          <p:cNvGraphicFramePr>
            <a:graphicFrameLocks noGrp="1"/>
          </p:cNvGraphicFramePr>
          <p:nvPr>
            <p:extLst>
              <p:ext uri="{D42A27DB-BD31-4B8C-83A1-F6EECF244321}">
                <p14:modId xmlns:p14="http://schemas.microsoft.com/office/powerpoint/2010/main" val="686607322"/>
              </p:ext>
            </p:extLst>
          </p:nvPr>
        </p:nvGraphicFramePr>
        <p:xfrm>
          <a:off x="452999" y="843756"/>
          <a:ext cx="9134882" cy="5112732"/>
        </p:xfrm>
        <a:graphic>
          <a:graphicData uri="http://schemas.openxmlformats.org/drawingml/2006/table">
            <a:tbl>
              <a:tblPr/>
              <a:tblGrid>
                <a:gridCol w="480970">
                  <a:extLst>
                    <a:ext uri="{9D8B030D-6E8A-4147-A177-3AD203B41FA5}">
                      <a16:colId xmlns:a16="http://schemas.microsoft.com/office/drawing/2014/main" val="3484704196"/>
                    </a:ext>
                  </a:extLst>
                </a:gridCol>
                <a:gridCol w="1138276">
                  <a:extLst>
                    <a:ext uri="{9D8B030D-6E8A-4147-A177-3AD203B41FA5}">
                      <a16:colId xmlns:a16="http://schemas.microsoft.com/office/drawing/2014/main" val="3863879091"/>
                    </a:ext>
                  </a:extLst>
                </a:gridCol>
                <a:gridCol w="6787512">
                  <a:extLst>
                    <a:ext uri="{9D8B030D-6E8A-4147-A177-3AD203B41FA5}">
                      <a16:colId xmlns:a16="http://schemas.microsoft.com/office/drawing/2014/main" val="99914978"/>
                    </a:ext>
                  </a:extLst>
                </a:gridCol>
                <a:gridCol w="728124">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の対応期限を延伸する。</a:t>
                      </a:r>
                      <a:r>
                        <a:rPr kumimoji="1" lang="en-US" altLang="ja-JP" sz="900" b="0" i="0" u="none" strike="noStrike" kern="1200" dirty="0">
                          <a:solidFill>
                            <a:srgbClr val="000000"/>
                          </a:solidFill>
                          <a:highlight>
                            <a:srgbClr val="FFFF00"/>
                          </a:highlight>
                          <a:latin typeface="+mn-ea"/>
                          <a:ea typeface="+mn-ea"/>
                          <a:cs typeface="+mn-cs"/>
                        </a:rPr>
                        <a:t>(13</a:t>
                      </a:r>
                      <a:r>
                        <a:rPr kumimoji="1" lang="ja-JP" altLang="en-US" sz="900" b="0" i="0" u="none" strike="noStrike" kern="1200" dirty="0">
                          <a:solidFill>
                            <a:srgbClr val="000000"/>
                          </a:solidFill>
                          <a:highlight>
                            <a:srgbClr val="FFFF00"/>
                          </a:highlight>
                          <a:latin typeface="+mn-ea"/>
                          <a:ea typeface="+mn-ea"/>
                          <a:cs typeface="+mn-cs"/>
                        </a:rPr>
                        <a:t>件</a:t>
                      </a:r>
                      <a:r>
                        <a:rPr kumimoji="1" lang="en-US" altLang="ja-JP" sz="900" b="0" i="0" u="none" strike="noStrike" kern="1200" dirty="0">
                          <a:solidFill>
                            <a:srgbClr val="000000"/>
                          </a:solidFill>
                          <a:highlight>
                            <a:srgbClr val="FFFF00"/>
                          </a:highlight>
                          <a:latin typeface="+mn-ea"/>
                          <a:ea typeface="+mn-ea"/>
                          <a:cs typeface="+mn-cs"/>
                        </a:rPr>
                        <a:t>)</a:t>
                      </a:r>
                      <a:endParaRPr kumimoji="1" lang="en-US" altLang="ja-JP" sz="900" kern="1200" dirty="0">
                        <a:solidFill>
                          <a:schemeClr val="tx1"/>
                        </a:solidFill>
                        <a:highlight>
                          <a:srgbClr val="FFFF00"/>
                        </a:highlight>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#1056(</a:t>
                      </a:r>
                      <a:r>
                        <a:rPr kumimoji="1" lang="ja-JP" altLang="en-US" sz="900" b="0" kern="1200" dirty="0">
                          <a:solidFill>
                            <a:srgbClr val="000000"/>
                          </a:solidFill>
                          <a:latin typeface="+mn-ea"/>
                          <a:ea typeface="+mn-ea"/>
                          <a:cs typeface="+mn-cs"/>
                        </a:rPr>
                        <a:t>電子カルテ情報共有サービスの利用を健診実施機関</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単独</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に拡大する検討において、「健診文書の登録」を行う上での業務要件を、業務フロー図、機能要件として機能一覧、外部</a:t>
                      </a:r>
                      <a:r>
                        <a:rPr kumimoji="1" lang="en-US" altLang="ja-JP" sz="900" b="0" kern="1200" dirty="0">
                          <a:solidFill>
                            <a:srgbClr val="000000"/>
                          </a:solidFill>
                          <a:latin typeface="+mn-ea"/>
                          <a:ea typeface="+mn-ea"/>
                          <a:cs typeface="+mn-cs"/>
                        </a:rPr>
                        <a:t>IF</a:t>
                      </a:r>
                      <a:r>
                        <a:rPr kumimoji="1" lang="ja-JP" altLang="en-US" sz="900" b="0" kern="1200" dirty="0">
                          <a:solidFill>
                            <a:srgbClr val="000000"/>
                          </a:solidFill>
                          <a:latin typeface="+mn-ea"/>
                          <a:ea typeface="+mn-ea"/>
                          <a:cs typeface="+mn-cs"/>
                        </a:rPr>
                        <a:t>一覧、システムフロー図を用いて整理し、整理結果をDX機構に連携する。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10/13令和9</a:t>
                      </a:r>
                      <a:r>
                        <a:rPr kumimoji="1" lang="ja-JP" altLang="en-US" sz="900" b="0" kern="1200" dirty="0">
                          <a:solidFill>
                            <a:srgbClr val="000000"/>
                          </a:solidFill>
                          <a:latin typeface="+mn-ea"/>
                          <a:ea typeface="+mn-ea"/>
                          <a:cs typeface="+mn-cs"/>
                        </a:rPr>
                        <a:t>年度開発状況確認会にて、厚労省より連携予定のため。</a:t>
                      </a:r>
                      <a:endParaRPr kumimoji="1" lang="en-US" altLang="ja-JP" sz="900" b="1" i="0" u="sng" strike="noStrike" kern="1200" dirty="0">
                        <a:solidFill>
                          <a:srgbClr val="000000"/>
                        </a:solidFill>
                        <a:latin typeface="+mn-ea"/>
                        <a:ea typeface="+mn-ea"/>
                        <a:cs typeface="+mn-cs"/>
                      </a:endParaRPr>
                    </a:p>
                    <a:p>
                      <a:pPr marL="274320" marR="0" lvl="0" indent="-185420" algn="l" defTabSz="843930">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#1166(</a:t>
                      </a:r>
                      <a:r>
                        <a:rPr kumimoji="1" lang="ja-JP" altLang="en-US" sz="900" b="0" kern="1200" dirty="0">
                          <a:solidFill>
                            <a:srgbClr val="000000"/>
                          </a:solidFill>
                          <a:latin typeface="+mn-ea"/>
                          <a:ea typeface="+mn-ea"/>
                          <a:cs typeface="+mn-cs"/>
                        </a:rPr>
                        <a:t>電子カルテ情報共有サービスを利用して診療情報提供書を紹介先医療機関に送付する場合の口頭同意の取得方法について、運用マニュアルに反映する。 </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2026/9/30→2026/12/21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機構と厚労省で運用マニュアルや指針に関する会議を別途実施予定であり、当該会議の中で改めて対応を検討するため。</a:t>
                      </a:r>
                      <a:endParaRPr kumimoji="1" lang="ja-JP" dirty="0"/>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#1167(</a:t>
                      </a:r>
                      <a:r>
                        <a:rPr kumimoji="1" lang="ja-JP" altLang="en-US" sz="900" b="0" kern="1200" dirty="0">
                          <a:solidFill>
                            <a:srgbClr val="000000"/>
                          </a:solidFill>
                          <a:latin typeface="+mn-ea"/>
                          <a:ea typeface="+mn-ea"/>
                          <a:cs typeface="+mn-cs"/>
                        </a:rPr>
                        <a:t>医療従事者向け指針に、電子カルテ情報共有サービスを利用して診療情報提供書を送付する際、紙媒体ではなく電子的に紹介先医療機関へ送付されることを患者に説明する旨を記載する。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当該修正については指針に盛り込む方針であるものの、診療情報提供書の送付時の同意について厚労省内で整理中であり、当該修正の記載内容が</a:t>
                      </a:r>
                      <a:r>
                        <a:rPr kumimoji="1" lang="en-US" altLang="ja-JP" sz="900" b="0" kern="1200" dirty="0">
                          <a:solidFill>
                            <a:srgbClr val="000000"/>
                          </a:solidFill>
                          <a:latin typeface="+mn-ea"/>
                          <a:ea typeface="+mn-ea"/>
                          <a:cs typeface="+mn-cs"/>
                        </a:rPr>
                        <a:t>FIX</a:t>
                      </a:r>
                      <a:r>
                        <a:rPr kumimoji="1" lang="ja-JP" altLang="en-US" sz="900" b="0" kern="1200" dirty="0">
                          <a:solidFill>
                            <a:srgbClr val="000000"/>
                          </a:solidFill>
                          <a:latin typeface="+mn-ea"/>
                          <a:ea typeface="+mn-ea"/>
                          <a:cs typeface="+mn-cs"/>
                        </a:rPr>
                        <a:t>していないため。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#1194(</a:t>
                      </a:r>
                      <a:r>
                        <a:rPr kumimoji="1" lang="ja-JP" altLang="en-US" sz="900" b="0" kern="1200" dirty="0">
                          <a:solidFill>
                            <a:srgbClr val="000000"/>
                          </a:solidFill>
                          <a:latin typeface="+mn-ea"/>
                          <a:ea typeface="+mn-ea"/>
                          <a:cs typeface="+mn-cs"/>
                        </a:rPr>
                        <a:t>令和</a:t>
                      </a:r>
                      <a:r>
                        <a:rPr kumimoji="1" lang="en-US" altLang="ja-JP" sz="900" b="0" kern="1200" dirty="0">
                          <a:solidFill>
                            <a:srgbClr val="000000"/>
                          </a:solidFill>
                          <a:latin typeface="+mn-ea"/>
                          <a:ea typeface="+mn-ea"/>
                          <a:cs typeface="+mn-cs"/>
                        </a:rPr>
                        <a:t>9</a:t>
                      </a:r>
                      <a:r>
                        <a:rPr kumimoji="1" lang="ja-JP" altLang="en-US" sz="900" b="0" kern="1200" dirty="0">
                          <a:solidFill>
                            <a:srgbClr val="000000"/>
                          </a:solidFill>
                          <a:latin typeface="+mn-ea"/>
                          <a:ea typeface="+mn-ea"/>
                          <a:cs typeface="+mn-cs"/>
                        </a:rPr>
                        <a:t>年度の</a:t>
                      </a:r>
                      <a:r>
                        <a:rPr kumimoji="1" lang="en-US" altLang="ja-JP" sz="900" b="0" kern="1200" dirty="0">
                          <a:solidFill>
                            <a:srgbClr val="000000"/>
                          </a:solidFill>
                          <a:latin typeface="+mn-ea"/>
                          <a:ea typeface="+mn-ea"/>
                          <a:cs typeface="+mn-cs"/>
                        </a:rPr>
                        <a:t>JLAC</a:t>
                      </a:r>
                      <a:r>
                        <a:rPr kumimoji="1" lang="ja-JP" altLang="en-US" sz="900" b="0" kern="1200" dirty="0">
                          <a:solidFill>
                            <a:srgbClr val="000000"/>
                          </a:solidFill>
                          <a:latin typeface="+mn-ea"/>
                          <a:ea typeface="+mn-ea"/>
                          <a:cs typeface="+mn-cs"/>
                        </a:rPr>
                        <a:t>マスタ・薬剤関連マスタの新規契約について、電子カルテ情報共有サービスの開発費用から契約費用を充当し、DX機構で委託契約する方針で問題ないか、標準マスタの契約に関する過去の経緯も含めて厚労省からDX機構の榊原特任に説明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2026/9/30→2026/10/19</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厚労省にて、榊原特任への説明準備に時間を要しているため。</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#1196(</a:t>
                      </a:r>
                      <a:r>
                        <a:rPr kumimoji="1" lang="ja-JP" altLang="en-US" sz="900" b="0" kern="1200" dirty="0">
                          <a:solidFill>
                            <a:srgbClr val="000000"/>
                          </a:solidFill>
                          <a:latin typeface="+mn-ea"/>
                          <a:ea typeface="+mn-ea"/>
                          <a:cs typeface="+mn-cs"/>
                        </a:rPr>
                        <a:t>ポータルサイト一括申請に係る前提条件について、厚労省からの確認結果</a:t>
                      </a:r>
                      <a:r>
                        <a:rPr kumimoji="1" lang="en-US" altLang="ja-JP" sz="900" b="0" kern="1200" dirty="0">
                          <a:solidFill>
                            <a:srgbClr val="000000"/>
                          </a:solidFill>
                          <a:latin typeface="+mn-ea"/>
                          <a:ea typeface="+mn-ea"/>
                          <a:cs typeface="+mn-cs"/>
                        </a:rPr>
                        <a:t>(ToDo#1175)</a:t>
                      </a:r>
                      <a:r>
                        <a:rPr kumimoji="1" lang="ja-JP" altLang="en-US" sz="900" b="0" kern="1200" dirty="0">
                          <a:solidFill>
                            <a:srgbClr val="000000"/>
                          </a:solidFill>
                          <a:latin typeface="+mn-ea"/>
                          <a:ea typeface="+mn-ea"/>
                          <a:cs typeface="+mn-cs"/>
                        </a:rPr>
                        <a:t>を確認し、厚労省からの追加照会事項に回答する。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厚労省からの更問で求められている電子処方箋の利用規約のポップアップ画面のイメージを</a:t>
                      </a:r>
                      <a:r>
                        <a:rPr kumimoji="1" lang="en-US" altLang="ja-JP" sz="900" b="0" kern="1200" dirty="0">
                          <a:solidFill>
                            <a:srgbClr val="000000"/>
                          </a:solidFill>
                          <a:latin typeface="+mn-ea"/>
                          <a:ea typeface="+mn-ea"/>
                          <a:cs typeface="+mn-cs"/>
                        </a:rPr>
                        <a:t>NTTD</a:t>
                      </a:r>
                      <a:r>
                        <a:rPr kumimoji="1" lang="ja-JP" altLang="en-US" sz="900" b="0" kern="1200" dirty="0">
                          <a:solidFill>
                            <a:srgbClr val="000000"/>
                          </a:solidFill>
                          <a:latin typeface="+mn-ea"/>
                          <a:ea typeface="+mn-ea"/>
                          <a:cs typeface="+mn-cs"/>
                        </a:rPr>
                        <a:t>で作成中のため。</a:t>
                      </a:r>
                      <a:endParaRPr kumimoji="1" lang="en-US" altLang="ja-JP" sz="900" b="0" kern="1200" dirty="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dirty="0">
                          <a:solidFill>
                            <a:srgbClr val="000000"/>
                          </a:solidFill>
                          <a:latin typeface="+mn-ea"/>
                          <a:ea typeface="+mn-ea"/>
                          <a:cs typeface="+mn-cs"/>
                        </a:rPr>
                      </a:br>
                      <a:r>
                        <a:rPr kumimoji="1" lang="en-US" altLang="ja-JP" sz="900" b="0" i="0" u="none" strike="noStrike" kern="1200" dirty="0">
                          <a:solidFill>
                            <a:srgbClr val="000000"/>
                          </a:solidFill>
                          <a:latin typeface="+mn-ea"/>
                          <a:ea typeface="+mn-ea"/>
                          <a:cs typeface="+mn-cs"/>
                        </a:rPr>
                        <a:t>(</a:t>
                      </a:r>
                      <a:r>
                        <a:rPr kumimoji="1" lang="ja-JP" altLang="en-US" sz="900" b="0" i="0" u="none" strike="noStrike" kern="1200" dirty="0">
                          <a:solidFill>
                            <a:srgbClr val="000000"/>
                          </a:solidFill>
                          <a:latin typeface="+mn-ea"/>
                          <a:ea typeface="+mn-ea"/>
                          <a:cs typeface="+mn-cs"/>
                        </a:rPr>
                        <a:t>続</a:t>
                      </a:r>
                      <a:r>
                        <a:rPr kumimoji="1" lang="en-US" altLang="ja-JP" sz="900" b="0" i="0" u="none" strike="noStrike" kern="1200" dirty="0">
                          <a:solidFill>
                            <a:srgbClr val="000000"/>
                          </a:solidFill>
                          <a:latin typeface="+mn-ea"/>
                          <a:ea typeface="+mn-ea"/>
                          <a:cs typeface="+mn-cs"/>
                        </a:rPr>
                        <a:t>)</a:t>
                      </a: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C3137E1-437D-9D83-02E7-F3A849DE45CA}"/>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)(3/6)</a:t>
            </a:r>
            <a:endParaRPr lang="ja-JP" altLang="en-US" sz="2000">
              <a:solidFill>
                <a:schemeClr val="tx2">
                  <a:lumMod val="75000"/>
                </a:schemeClr>
              </a:solidFill>
            </a:endParaRPr>
          </a:p>
        </p:txBody>
      </p:sp>
      <p:sp>
        <p:nvSpPr>
          <p:cNvPr id="2" name="吹き出し: 線 1">
            <a:extLst>
              <a:ext uri="{FF2B5EF4-FFF2-40B4-BE49-F238E27FC236}">
                <a16:creationId xmlns:a16="http://schemas.microsoft.com/office/drawing/2014/main" id="{3C947F6C-EC1F-6F90-1C01-12955A188623}"/>
              </a:ext>
            </a:extLst>
          </p:cNvPr>
          <p:cNvSpPr/>
          <p:nvPr/>
        </p:nvSpPr>
        <p:spPr>
          <a:xfrm>
            <a:off x="5020440" y="429688"/>
            <a:ext cx="1792857" cy="828136"/>
          </a:xfrm>
          <a:prstGeom prst="borderCallout1">
            <a:avLst>
              <a:gd name="adj1" fmla="val 84375"/>
              <a:gd name="adj2" fmla="val -635"/>
              <a:gd name="adj3" fmla="val 112500"/>
              <a:gd name="adj4" fmla="val -38333"/>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議事要旨上、期限延伸対象は</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12</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件に見えますが、ご確認いただけますでしょうか。</a:t>
            </a:r>
          </a:p>
        </p:txBody>
      </p:sp>
    </p:spTree>
    <p:extLst>
      <p:ext uri="{BB962C8B-B14F-4D97-AF65-F5344CB8AC3E}">
        <p14:creationId xmlns:p14="http://schemas.microsoft.com/office/powerpoint/2010/main" val="403245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7F59-6656-3178-6396-8092B08D3B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89AFD92-EE63-1BCD-9866-A8CF707ED9FC}"/>
              </a:ext>
            </a:extLst>
          </p:cNvPr>
          <p:cNvGraphicFramePr>
            <a:graphicFrameLocks noGrp="1"/>
          </p:cNvGraphicFramePr>
          <p:nvPr>
            <p:extLst>
              <p:ext uri="{D42A27DB-BD31-4B8C-83A1-F6EECF244321}">
                <p14:modId xmlns:p14="http://schemas.microsoft.com/office/powerpoint/2010/main" val="2113986379"/>
              </p:ext>
            </p:extLst>
          </p:nvPr>
        </p:nvGraphicFramePr>
        <p:xfrm>
          <a:off x="301083" y="843756"/>
          <a:ext cx="9333570" cy="5551644"/>
        </p:xfrm>
        <a:graphic>
          <a:graphicData uri="http://schemas.openxmlformats.org/drawingml/2006/table">
            <a:tbl>
              <a:tblPr/>
              <a:tblGrid>
                <a:gridCol w="491430">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6815591">
                  <a:extLst>
                    <a:ext uri="{9D8B030D-6E8A-4147-A177-3AD203B41FA5}">
                      <a16:colId xmlns:a16="http://schemas.microsoft.com/office/drawing/2014/main" val="99914978"/>
                    </a:ext>
                  </a:extLst>
                </a:gridCol>
                <a:gridCol w="863515">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#1210(BI</a:t>
                      </a:r>
                      <a:r>
                        <a:rPr lang="ja-JP" altLang="en-US" sz="900" b="0" dirty="0">
                          <a:latin typeface="+mn-ea"/>
                          <a:ea typeface="+mn-ea"/>
                        </a:rPr>
                        <a:t>ツール活用に係る案件を起票し、厚労省へ説明する。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lang="en-US" altLang="ja-JP" sz="900" b="0" dirty="0">
                        <a:highlight>
                          <a:srgbClr val="FFFF00"/>
                        </a:highlight>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#1211(BI</a:t>
                      </a:r>
                      <a:r>
                        <a:rPr lang="ja-JP" altLang="en-US" sz="900" b="0" dirty="0">
                          <a:latin typeface="+mn-ea"/>
                          <a:ea typeface="+mn-ea"/>
                        </a:rPr>
                        <a:t>ツール活用に係る案件を起票するにあたり、開発事業者とDX機構にて調整したデータ連携スコープについて厚労省へ説明する。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#1213(</a:t>
                      </a:r>
                      <a:r>
                        <a:rPr kumimoji="1" lang="ja-JP" altLang="en-US" sz="900" b="0" kern="1200" dirty="0">
                          <a:solidFill>
                            <a:srgbClr val="000000"/>
                          </a:solidFill>
                          <a:latin typeface="+mn-ea"/>
                          <a:ea typeface="+mn-ea"/>
                          <a:cs typeface="+mn-cs"/>
                        </a:rPr>
                        <a:t>「②ステークホルダーへのデータ共有」について、厚労省職員の端末で</a:t>
                      </a:r>
                      <a:r>
                        <a:rPr kumimoji="1" lang="en-US" altLang="ja-JP" sz="900" b="0" kern="1200" dirty="0">
                          <a:solidFill>
                            <a:srgbClr val="000000"/>
                          </a:solidFill>
                          <a:latin typeface="+mn-ea"/>
                          <a:ea typeface="+mn-ea"/>
                          <a:cs typeface="+mn-cs"/>
                        </a:rPr>
                        <a:t>BI</a:t>
                      </a:r>
                      <a:r>
                        <a:rPr kumimoji="1" lang="ja-JP" altLang="en-US" sz="900" b="0" kern="1200" dirty="0">
                          <a:solidFill>
                            <a:srgbClr val="000000"/>
                          </a:solidFill>
                          <a:latin typeface="+mn-ea"/>
                          <a:ea typeface="+mn-ea"/>
                          <a:cs typeface="+mn-cs"/>
                        </a:rPr>
                        <a:t>ツールへアクセスする際のネットワーク形式を確認し、結果をDX機構に連携する。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厚労省内での確認作業(</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機構への更問含む)に時間を要しているため。</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#1215(</a:t>
                      </a:r>
                      <a:r>
                        <a:rPr lang="ja-JP" altLang="en-US" sz="900" b="0" dirty="0">
                          <a:latin typeface="+mn-ea"/>
                          <a:ea typeface="+mn-ea"/>
                        </a:rPr>
                        <a:t>受入テストシナリオの厚労省レビュー時に、DX機構より厚労省に対して当該シナリオに関する説明の可否を確認し、結果を厚労省へ連携する。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各シナリオ担当者が背景説明を行うためのスケジュールを調整できるか、</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機構内で確認・調整するため。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#1217(</a:t>
                      </a:r>
                      <a:r>
                        <a:rPr kumimoji="1" lang="ja-JP" altLang="en-US" sz="900" b="0" kern="1200" dirty="0">
                          <a:solidFill>
                            <a:srgbClr val="000000"/>
                          </a:solidFill>
                          <a:latin typeface="+mn-ea"/>
                          <a:ea typeface="+mn-ea"/>
                          <a:cs typeface="+mn-cs"/>
                        </a:rPr>
                        <a:t>患者サマリーの運用整理に関する問い合わせ結果について書面にて確認し、確認結果を厚労省へ共有する。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#1218(</a:t>
                      </a:r>
                      <a:r>
                        <a:rPr kumimoji="1" lang="ja-JP" altLang="en-US" sz="900" b="0" kern="1200" dirty="0">
                          <a:solidFill>
                            <a:srgbClr val="000000"/>
                          </a:solidFill>
                          <a:latin typeface="+mn-ea"/>
                          <a:ea typeface="+mn-ea"/>
                          <a:cs typeface="+mn-cs"/>
                        </a:rPr>
                        <a:t>標準マスタにおいて </a:t>
                      </a:r>
                      <a:r>
                        <a:rPr kumimoji="1" lang="en-US" altLang="ja-JP" sz="900" b="0" kern="1200" dirty="0">
                          <a:solidFill>
                            <a:srgbClr val="000000"/>
                          </a:solidFill>
                          <a:latin typeface="+mn-ea"/>
                          <a:ea typeface="+mn-ea"/>
                          <a:cs typeface="+mn-cs"/>
                        </a:rPr>
                        <a:t>1</a:t>
                      </a:r>
                      <a:r>
                        <a:rPr kumimoji="1" lang="ja-JP" altLang="en-US" sz="900" b="0" kern="1200" dirty="0">
                          <a:solidFill>
                            <a:srgbClr val="000000"/>
                          </a:solidFill>
                          <a:latin typeface="+mn-ea"/>
                          <a:ea typeface="+mn-ea"/>
                          <a:cs typeface="+mn-cs"/>
                        </a:rPr>
                        <a:t>つの</a:t>
                      </a:r>
                      <a:r>
                        <a:rPr kumimoji="1" lang="en-US" altLang="ja-JP" sz="900" b="0" kern="1200" dirty="0">
                          <a:solidFill>
                            <a:srgbClr val="000000"/>
                          </a:solidFill>
                          <a:latin typeface="+mn-ea"/>
                          <a:ea typeface="+mn-ea"/>
                          <a:cs typeface="+mn-cs"/>
                        </a:rPr>
                        <a:t>code</a:t>
                      </a:r>
                      <a:r>
                        <a:rPr kumimoji="1" lang="ja-JP" altLang="en-US" sz="900" b="0" kern="1200" dirty="0">
                          <a:solidFill>
                            <a:srgbClr val="000000"/>
                          </a:solidFill>
                          <a:latin typeface="+mn-ea"/>
                          <a:ea typeface="+mn-ea"/>
                          <a:cs typeface="+mn-cs"/>
                        </a:rPr>
                        <a:t>に対する</a:t>
                      </a:r>
                      <a:r>
                        <a:rPr kumimoji="1" lang="en-US" altLang="ja-JP" sz="900" b="0" kern="1200" dirty="0">
                          <a:solidFill>
                            <a:srgbClr val="000000"/>
                          </a:solidFill>
                          <a:latin typeface="+mn-ea"/>
                          <a:ea typeface="+mn-ea"/>
                          <a:cs typeface="+mn-cs"/>
                        </a:rPr>
                        <a:t>display</a:t>
                      </a:r>
                      <a:r>
                        <a:rPr kumimoji="1" lang="ja-JP" altLang="en-US" sz="900" b="0" kern="1200" dirty="0">
                          <a:solidFill>
                            <a:srgbClr val="000000"/>
                          </a:solidFill>
                          <a:latin typeface="+mn-ea"/>
                          <a:ea typeface="+mn-ea"/>
                          <a:cs typeface="+mn-cs"/>
                        </a:rPr>
                        <a:t>値の変更によるエラーの恒久対応の運用フローの運用フロー案について、DX機構として担当できる運用範囲や、厚労省から管理団体への調整が必要な事項を確認し、確認結果を厚労省へ連携する。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続</a:t>
                      </a:r>
                      <a:r>
                        <a:rPr kumimoji="1" lang="en-US" altLang="ja-JP" sz="900" b="0" kern="1200" dirty="0">
                          <a:solidFill>
                            <a:srgbClr val="000000"/>
                          </a:solidFill>
                          <a:latin typeface="+mn-ea"/>
                          <a:ea typeface="+mn-ea"/>
                          <a:cs typeface="+mn-cs"/>
                        </a:rPr>
                        <a:t>)</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CFD0412-D475-BC0E-A9A2-74EAB62209DE}"/>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)(4/6)</a:t>
            </a:r>
            <a:endParaRPr lang="ja-JP" altLang="en-US" sz="2000">
              <a:solidFill>
                <a:schemeClr val="tx2">
                  <a:lumMod val="75000"/>
                </a:schemeClr>
              </a:solidFill>
            </a:endParaRPr>
          </a:p>
        </p:txBody>
      </p:sp>
      <p:sp>
        <p:nvSpPr>
          <p:cNvPr id="3" name="吹き出し: 線 2">
            <a:extLst>
              <a:ext uri="{FF2B5EF4-FFF2-40B4-BE49-F238E27FC236}">
                <a16:creationId xmlns:a16="http://schemas.microsoft.com/office/drawing/2014/main" id="{673B0E78-22FE-2F05-A988-718300FB792C}"/>
              </a:ext>
            </a:extLst>
          </p:cNvPr>
          <p:cNvSpPr/>
          <p:nvPr/>
        </p:nvSpPr>
        <p:spPr>
          <a:xfrm>
            <a:off x="5330991" y="999031"/>
            <a:ext cx="1792857" cy="828136"/>
          </a:xfrm>
          <a:prstGeom prst="borderCallout1">
            <a:avLst>
              <a:gd name="adj1" fmla="val 84375"/>
              <a:gd name="adj2" fmla="val -635"/>
              <a:gd name="adj3" fmla="val 111458"/>
              <a:gd name="adj4" fmla="val -93666"/>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細かい点で恐れ入ります。</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#1210,1211,1222</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について、</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Todo</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台帳では、延伸前の期限が</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10/5</a:t>
            </a: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となっていますが、ご確認いただけますでしょうか。</a:t>
            </a:r>
          </a:p>
        </p:txBody>
      </p:sp>
    </p:spTree>
    <p:extLst>
      <p:ext uri="{BB962C8B-B14F-4D97-AF65-F5344CB8AC3E}">
        <p14:creationId xmlns:p14="http://schemas.microsoft.com/office/powerpoint/2010/main" val="141662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C690-BD71-7344-35A4-4FE45A580A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E6FC4AD-C612-6F05-DD9C-43AF588090F1}"/>
              </a:ext>
            </a:extLst>
          </p:cNvPr>
          <p:cNvGraphicFramePr>
            <a:graphicFrameLocks noGrp="1"/>
          </p:cNvGraphicFramePr>
          <p:nvPr>
            <p:extLst>
              <p:ext uri="{D42A27DB-BD31-4B8C-83A1-F6EECF244321}">
                <p14:modId xmlns:p14="http://schemas.microsoft.com/office/powerpoint/2010/main" val="708501661"/>
              </p:ext>
            </p:extLst>
          </p:nvPr>
        </p:nvGraphicFramePr>
        <p:xfrm>
          <a:off x="301083" y="843756"/>
          <a:ext cx="9333572" cy="5916756"/>
        </p:xfrm>
        <a:graphic>
          <a:graphicData uri="http://schemas.openxmlformats.org/drawingml/2006/table">
            <a:tbl>
              <a:tblPr/>
              <a:tblGrid>
                <a:gridCol w="491431">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4986790">
                  <a:extLst>
                    <a:ext uri="{9D8B030D-6E8A-4147-A177-3AD203B41FA5}">
                      <a16:colId xmlns:a16="http://schemas.microsoft.com/office/drawing/2014/main" val="99914978"/>
                    </a:ext>
                  </a:extLst>
                </a:gridCol>
                <a:gridCol w="2692317">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kern="1200" dirty="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t>#1222(</a:t>
                      </a: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厚労省より提示いただいた令和</a:t>
                      </a:r>
                      <a: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年度のプロファイル更新の取り込みスケジュールのドラフト版について、開発事業者と認識合わせを行い、確認結果を厚労省に連携する。</a:t>
                      </a:r>
                      <a: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t>)</a:t>
                      </a:r>
                      <a:b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b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■延伸期限</a:t>
                      </a:r>
                      <a:b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br>
                      <a:r>
                        <a:rPr kumimoji="1" lang="en-US" altLang="ja-JP" sz="900" b="0" i="0" u="none" strike="noStrike" kern="1200" cap="none" spc="0" normalizeH="0" baseline="0" noProof="0" dirty="0">
                          <a:ln>
                            <a:noFill/>
                          </a:ln>
                          <a:solidFill>
                            <a:prstClr val="black"/>
                          </a:solidFill>
                          <a:effectLst/>
                          <a:highlight>
                            <a:srgbClr val="FFFF00"/>
                          </a:highlight>
                          <a:uLnTx/>
                          <a:uFillTx/>
                          <a:latin typeface="Meiryo UI"/>
                          <a:ea typeface="+mn-ea"/>
                          <a:cs typeface="+mn-cs"/>
                        </a:rPr>
                        <a:t>2026/9/30→2026/10/13</a:t>
                      </a:r>
                      <a:b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b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期限延伸の背景</a:t>
                      </a:r>
                      <a:b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b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令和</a:t>
                      </a:r>
                      <a: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年度のプロファイル更新の取り込みスケジュールについて、</a:t>
                      </a:r>
                      <a:r>
                        <a:rPr kumimoji="1" lang="en-US" altLang="ja-JP" sz="900" b="0" i="0" u="none" strike="noStrike" kern="1200" cap="none" spc="0" normalizeH="0" baseline="0" noProof="0" dirty="0">
                          <a:ln>
                            <a:noFill/>
                          </a:ln>
                          <a:solidFill>
                            <a:srgbClr val="000000"/>
                          </a:solidFill>
                          <a:effectLst/>
                          <a:uLnTx/>
                          <a:uFillTx/>
                          <a:latin typeface="Meiryo UI"/>
                          <a:ea typeface="+mn-ea"/>
                          <a:cs typeface="+mn-cs"/>
                        </a:rPr>
                        <a:t>NTTD</a:t>
                      </a: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に確認中のため。</a:t>
                      </a:r>
                      <a:endParaRPr kumimoji="1" lang="en-US" altLang="ja-JP" sz="900" b="0" i="0" u="none" strike="noStrike" kern="1200" cap="none" spc="0" normalizeH="0" baseline="0" noProof="0" dirty="0">
                        <a:ln>
                          <a:noFill/>
                        </a:ln>
                        <a:solidFill>
                          <a:srgbClr val="000000"/>
                        </a:solidFill>
                        <a:effectLst/>
                        <a:uLnTx/>
                        <a:uFillTx/>
                        <a:latin typeface="Meiryo UI"/>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dirty="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ja-JP" altLang="en-US" sz="900" b="1" i="0" u="sng" strike="noStrike" kern="1200" dirty="0">
                          <a:solidFill>
                            <a:srgbClr val="000000"/>
                          </a:solidFill>
                          <a:latin typeface="+mn-ea"/>
                          <a:ea typeface="+mn-ea"/>
                          <a:cs typeface="+mn-cs"/>
                        </a:rPr>
                        <a:t>6．</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の取り下げ</a:t>
                      </a:r>
                      <a:endParaRPr kumimoji="1" lang="en-US" altLang="ja-JP" sz="900" b="1" i="0" u="sng" strike="noStrike" kern="1200" dirty="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dirty="0">
                          <a:solidFill>
                            <a:srgbClr val="000000"/>
                          </a:solidFill>
                          <a:latin typeface="+mn-ea"/>
                          <a:ea typeface="+mn-ea"/>
                          <a:cs typeface="+mn-cs"/>
                        </a:rPr>
                        <a:t>下記</a:t>
                      </a:r>
                      <a:r>
                        <a:rPr kumimoji="1" lang="en-US" altLang="ja-JP" sz="900" b="0" kern="1200" dirty="0" err="1">
                          <a:solidFill>
                            <a:srgbClr val="000000"/>
                          </a:solidFill>
                          <a:latin typeface="+mn-ea"/>
                          <a:ea typeface="+mn-ea"/>
                          <a:cs typeface="+mn-cs"/>
                        </a:rPr>
                        <a:t>ToDo</a:t>
                      </a:r>
                      <a:r>
                        <a:rPr kumimoji="1" lang="ja-JP" altLang="en-US" sz="900" b="0" kern="1200" dirty="0">
                          <a:solidFill>
                            <a:srgbClr val="000000"/>
                          </a:solidFill>
                          <a:latin typeface="+mn-ea"/>
                          <a:ea typeface="+mn-ea"/>
                          <a:cs typeface="+mn-cs"/>
                        </a:rPr>
                        <a:t>を取り下げる。(</a:t>
                      </a:r>
                      <a:r>
                        <a:rPr kumimoji="1" lang="en-US" altLang="ja-JP" sz="900" b="0" kern="1200" dirty="0">
                          <a:solidFill>
                            <a:srgbClr val="000000"/>
                          </a:solidFill>
                          <a:latin typeface="+mn-ea"/>
                          <a:ea typeface="+mn-ea"/>
                          <a:cs typeface="+mn-cs"/>
                        </a:rPr>
                        <a:t>2</a:t>
                      </a:r>
                      <a:r>
                        <a:rPr kumimoji="1" lang="ja-JP" altLang="en-US" sz="900" b="0" kern="1200" dirty="0">
                          <a:solidFill>
                            <a:srgbClr val="000000"/>
                          </a:solidFill>
                          <a:latin typeface="+mn-ea"/>
                          <a:ea typeface="+mn-ea"/>
                          <a:cs typeface="+mn-cs"/>
                        </a:rPr>
                        <a:t>件)</a:t>
                      </a:r>
                      <a:endParaRPr kumimoji="1" lang="en-US" altLang="ja-JP" sz="900" b="0" kern="1200" dirty="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#1180(</a:t>
                      </a:r>
                      <a:r>
                        <a:rPr kumimoji="1" lang="ja-JP" altLang="en-US" sz="900" b="0" kern="1200" dirty="0">
                          <a:solidFill>
                            <a:srgbClr val="000000"/>
                          </a:solidFill>
                          <a:latin typeface="+mn-ea"/>
                          <a:ea typeface="+mn-ea"/>
                          <a:cs typeface="+mn-cs"/>
                        </a:rPr>
                        <a:t>厚労省において</a:t>
                      </a:r>
                      <a:r>
                        <a:rPr kumimoji="1" lang="en-US" altLang="ja-JP" sz="900" b="0" kern="1200" dirty="0">
                          <a:solidFill>
                            <a:srgbClr val="000000"/>
                          </a:solidFill>
                          <a:latin typeface="+mn-ea"/>
                          <a:ea typeface="+mn-ea"/>
                          <a:cs typeface="+mn-cs"/>
                        </a:rPr>
                        <a:t>BI</a:t>
                      </a:r>
                      <a:r>
                        <a:rPr kumimoji="1" lang="ja-JP" altLang="en-US" sz="900" b="0" kern="1200" dirty="0">
                          <a:solidFill>
                            <a:srgbClr val="000000"/>
                          </a:solidFill>
                          <a:latin typeface="+mn-ea"/>
                          <a:ea typeface="+mn-ea"/>
                          <a:cs typeface="+mn-cs"/>
                        </a:rPr>
                        <a:t>ツールを用いた統計ログ出力に関する案件を新規起票するにあたり、現行の</a:t>
                      </a:r>
                      <a:r>
                        <a:rPr kumimoji="1" lang="en-US" altLang="ja-JP" sz="900" b="0" kern="1200" dirty="0">
                          <a:solidFill>
                            <a:srgbClr val="000000"/>
                          </a:solidFill>
                          <a:latin typeface="+mn-ea"/>
                          <a:ea typeface="+mn-ea"/>
                          <a:cs typeface="+mn-cs"/>
                        </a:rPr>
                        <a:t>BI</a:t>
                      </a:r>
                      <a:r>
                        <a:rPr kumimoji="1" lang="ja-JP" altLang="en-US" sz="900" b="0" kern="1200" dirty="0">
                          <a:solidFill>
                            <a:srgbClr val="000000"/>
                          </a:solidFill>
                          <a:latin typeface="+mn-ea"/>
                          <a:ea typeface="+mn-ea"/>
                          <a:cs typeface="+mn-cs"/>
                        </a:rPr>
                        <a:t>ツールで実施可能な事項と実現不可能な事項をそれぞれ整理するとともに、今後実施想定の内容を整理し、厚労省へ説明する。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取り下げの背景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ToDo#1210</a:t>
                      </a:r>
                      <a:r>
                        <a:rPr kumimoji="1" lang="ja-JP" altLang="en-US" sz="900" b="0" kern="1200" dirty="0">
                          <a:solidFill>
                            <a:srgbClr val="000000"/>
                          </a:solidFill>
                          <a:latin typeface="+mn-ea"/>
                          <a:ea typeface="+mn-ea"/>
                          <a:cs typeface="+mn-cs"/>
                        </a:rPr>
                        <a:t>、</a:t>
                      </a:r>
                      <a:r>
                        <a:rPr kumimoji="1" lang="en-US" altLang="ja-JP" sz="900" b="0" kern="1200" dirty="0">
                          <a:solidFill>
                            <a:srgbClr val="000000"/>
                          </a:solidFill>
                          <a:latin typeface="+mn-ea"/>
                          <a:ea typeface="+mn-ea"/>
                          <a:cs typeface="+mn-cs"/>
                        </a:rPr>
                        <a:t>#1211</a:t>
                      </a:r>
                      <a:r>
                        <a:rPr kumimoji="1" lang="ja-JP" altLang="en-US" sz="900" b="0" kern="1200" dirty="0">
                          <a:solidFill>
                            <a:srgbClr val="000000"/>
                          </a:solidFill>
                          <a:latin typeface="+mn-ea"/>
                          <a:ea typeface="+mn-ea"/>
                          <a:cs typeface="+mn-cs"/>
                        </a:rPr>
                        <a:t>で後続対応を行うため。</a:t>
                      </a:r>
                      <a:endParaRPr kumimoji="1" lang="en-US" altLang="ja-JP" sz="900" b="0" kern="1200" dirty="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#1198(</a:t>
                      </a:r>
                      <a:r>
                        <a:rPr kumimoji="1" lang="ja-JP" altLang="en-US" sz="900" b="0" kern="1200" dirty="0">
                          <a:solidFill>
                            <a:srgbClr val="000000"/>
                          </a:solidFill>
                          <a:latin typeface="+mn-ea"/>
                          <a:ea typeface="+mn-ea"/>
                          <a:cs typeface="+mn-cs"/>
                        </a:rPr>
                        <a:t>標準マスタにおいて</a:t>
                      </a:r>
                      <a:r>
                        <a:rPr kumimoji="1" lang="en-US" altLang="ja-JP" sz="900" b="0" kern="1200" dirty="0">
                          <a:solidFill>
                            <a:srgbClr val="000000"/>
                          </a:solidFill>
                          <a:latin typeface="+mn-ea"/>
                          <a:ea typeface="+mn-ea"/>
                          <a:cs typeface="+mn-cs"/>
                        </a:rPr>
                        <a:t>1</a:t>
                      </a:r>
                      <a:r>
                        <a:rPr kumimoji="1" lang="ja-JP" altLang="en-US" sz="900" b="0" kern="1200" dirty="0">
                          <a:solidFill>
                            <a:srgbClr val="000000"/>
                          </a:solidFill>
                          <a:latin typeface="+mn-ea"/>
                          <a:ea typeface="+mn-ea"/>
                          <a:cs typeface="+mn-cs"/>
                        </a:rPr>
                        <a:t>つの</a:t>
                      </a:r>
                      <a:r>
                        <a:rPr kumimoji="1" lang="en-US" altLang="ja-JP" sz="900" b="0" kern="1200" dirty="0">
                          <a:solidFill>
                            <a:srgbClr val="000000"/>
                          </a:solidFill>
                          <a:latin typeface="+mn-ea"/>
                          <a:ea typeface="+mn-ea"/>
                          <a:cs typeface="+mn-cs"/>
                        </a:rPr>
                        <a:t>code</a:t>
                      </a:r>
                      <a:r>
                        <a:rPr kumimoji="1" lang="ja-JP" altLang="en-US" sz="900" b="0" kern="1200" dirty="0">
                          <a:solidFill>
                            <a:srgbClr val="000000"/>
                          </a:solidFill>
                          <a:latin typeface="+mn-ea"/>
                          <a:ea typeface="+mn-ea"/>
                          <a:cs typeface="+mn-cs"/>
                        </a:rPr>
                        <a:t>に対する</a:t>
                      </a:r>
                      <a:r>
                        <a:rPr kumimoji="1" lang="en-US" altLang="ja-JP" sz="900" b="0" kern="1200" dirty="0">
                          <a:solidFill>
                            <a:srgbClr val="000000"/>
                          </a:solidFill>
                          <a:latin typeface="+mn-ea"/>
                          <a:ea typeface="+mn-ea"/>
                          <a:cs typeface="+mn-cs"/>
                        </a:rPr>
                        <a:t>display</a:t>
                      </a:r>
                      <a:r>
                        <a:rPr kumimoji="1" lang="ja-JP" altLang="en-US" sz="900" b="0" kern="1200" dirty="0">
                          <a:solidFill>
                            <a:srgbClr val="000000"/>
                          </a:solidFill>
                          <a:latin typeface="+mn-ea"/>
                          <a:ea typeface="+mn-ea"/>
                          <a:cs typeface="+mn-cs"/>
                        </a:rPr>
                        <a:t>値が変更された場合に発生するエラーの恒久対応について、厚労省から提示予定の経過措置期間の設定・登録に係る運用方針に基づいて、改修費用およびランニングコストの見積もりを取得する。また、見積もり結果を厚労省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取り下げの背景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ToDo#1219</a:t>
                      </a:r>
                      <a:r>
                        <a:rPr kumimoji="1" lang="ja-JP" altLang="en-US" sz="900" b="0" kern="1200" dirty="0">
                          <a:solidFill>
                            <a:srgbClr val="000000"/>
                          </a:solidFill>
                          <a:latin typeface="+mn-ea"/>
                          <a:ea typeface="+mn-ea"/>
                          <a:cs typeface="+mn-cs"/>
                        </a:rPr>
                        <a:t>で後続対応を行うため</a:t>
                      </a:r>
                      <a:r>
                        <a:rPr kumimoji="1" lang="ja-JP" altLang="en-US" sz="900" b="0" kern="1200" dirty="0">
                          <a:solidFill>
                            <a:srgbClr val="000000"/>
                          </a:solidFill>
                          <a:highlight>
                            <a:srgbClr val="FFFF00"/>
                          </a:highlight>
                          <a:latin typeface="+mn-ea"/>
                          <a:ea typeface="+mn-ea"/>
                          <a:cs typeface="+mn-cs"/>
                        </a:rPr>
                        <a:t>。</a:t>
                      </a:r>
                      <a:endParaRPr kumimoji="1" lang="en-US" altLang="ja-JP" sz="900" b="0" i="0" u="none" strike="noStrike" kern="1200" noProof="0" dirty="0">
                        <a:solidFill>
                          <a:srgbClr val="000000"/>
                        </a:solidFill>
                        <a:highlight>
                          <a:srgbClr val="FFFF00"/>
                        </a:highlight>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r h="54000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highlight>
                            <a:srgbClr val="FFFF00"/>
                          </a:highlight>
                          <a:latin typeface="+mn-ea"/>
                          <a:ea typeface="+mn-ea"/>
                          <a:cs typeface="+mn-cs"/>
                        </a:rPr>
                        <a:t>案件</a:t>
                      </a:r>
                      <a:r>
                        <a:rPr kumimoji="1" lang="en-US" altLang="ja-JP" sz="900" b="0" u="none" kern="1200" dirty="0">
                          <a:solidFill>
                            <a:schemeClr val="tx1"/>
                          </a:solidFill>
                          <a:highlight>
                            <a:srgbClr val="FFFF00"/>
                          </a:highlight>
                          <a:latin typeface="+mn-ea"/>
                          <a:ea typeface="+mn-ea"/>
                          <a:cs typeface="+mn-cs"/>
                        </a:rPr>
                        <a:t>ID192(</a:t>
                      </a:r>
                      <a:r>
                        <a:rPr kumimoji="1" lang="ja-JP" altLang="en-US" sz="900" b="0" u="none" kern="1200" dirty="0">
                          <a:solidFill>
                            <a:schemeClr val="tx1"/>
                          </a:solidFill>
                          <a:highlight>
                            <a:srgbClr val="FFFF00"/>
                          </a:highlight>
                          <a:latin typeface="+mn-ea"/>
                          <a:ea typeface="+mn-ea"/>
                          <a:cs typeface="+mn-cs"/>
                        </a:rPr>
                        <a:t>サポートするプロファイルバージョンの終了</a:t>
                      </a:r>
                      <a:r>
                        <a:rPr kumimoji="1" lang="en-US" altLang="ja-JP" sz="900" b="0" u="none" kern="1200" dirty="0">
                          <a:solidFill>
                            <a:schemeClr val="tx1"/>
                          </a:solidFill>
                          <a:highlight>
                            <a:srgbClr val="FFFF00"/>
                          </a:highlight>
                          <a:latin typeface="+mn-ea"/>
                          <a:ea typeface="+mn-ea"/>
                          <a:cs typeface="+mn-cs"/>
                        </a:rPr>
                        <a:t>(</a:t>
                      </a:r>
                      <a:r>
                        <a:rPr kumimoji="1" lang="ja-JP" altLang="en-US" sz="900" b="0" u="none" kern="1200" dirty="0">
                          <a:solidFill>
                            <a:schemeClr val="tx1"/>
                          </a:solidFill>
                          <a:highlight>
                            <a:srgbClr val="FFFF00"/>
                          </a:highlight>
                          <a:latin typeface="+mn-ea"/>
                          <a:ea typeface="+mn-ea"/>
                          <a:cs typeface="+mn-cs"/>
                        </a:rPr>
                        <a:t>令和</a:t>
                      </a:r>
                      <a:r>
                        <a:rPr kumimoji="1" lang="en-US" altLang="ja-JP" sz="900" b="0" u="none" kern="1200" dirty="0">
                          <a:solidFill>
                            <a:schemeClr val="tx1"/>
                          </a:solidFill>
                          <a:highlight>
                            <a:srgbClr val="FFFF00"/>
                          </a:highlight>
                          <a:latin typeface="+mn-ea"/>
                          <a:ea typeface="+mn-ea"/>
                          <a:cs typeface="+mn-cs"/>
                        </a:rPr>
                        <a:t>8</a:t>
                      </a:r>
                      <a:r>
                        <a:rPr kumimoji="1" lang="ja-JP" altLang="en-US" sz="900" b="0" u="none" kern="1200" dirty="0">
                          <a:solidFill>
                            <a:schemeClr val="tx1"/>
                          </a:solidFill>
                          <a:highlight>
                            <a:srgbClr val="FFFF00"/>
                          </a:highlight>
                          <a:latin typeface="+mn-ea"/>
                          <a:ea typeface="+mn-ea"/>
                          <a:cs typeface="+mn-cs"/>
                        </a:rPr>
                        <a:t>年</a:t>
                      </a:r>
                      <a:r>
                        <a:rPr kumimoji="1" lang="en-US" altLang="ja-JP" sz="900" b="0" u="none" kern="1200" dirty="0">
                          <a:solidFill>
                            <a:schemeClr val="tx1"/>
                          </a:solidFill>
                          <a:highlight>
                            <a:srgbClr val="FFFF00"/>
                          </a:highlight>
                          <a:latin typeface="+mn-ea"/>
                          <a:ea typeface="+mn-ea"/>
                          <a:cs typeface="+mn-cs"/>
                        </a:rPr>
                        <a:t>9</a:t>
                      </a:r>
                      <a:r>
                        <a:rPr kumimoji="1" lang="ja-JP" altLang="en-US" sz="900" b="0" u="none" kern="1200" dirty="0">
                          <a:solidFill>
                            <a:schemeClr val="tx1"/>
                          </a:solidFill>
                          <a:highlight>
                            <a:srgbClr val="FFFF00"/>
                          </a:highlight>
                          <a:latin typeface="+mn-ea"/>
                          <a:ea typeface="+mn-ea"/>
                          <a:cs typeface="+mn-cs"/>
                        </a:rPr>
                        <a:t>末</a:t>
                      </a:r>
                      <a:r>
                        <a:rPr kumimoji="1" lang="en-US" altLang="ja-JP" sz="900" b="0" u="none" kern="1200" dirty="0">
                          <a:solidFill>
                            <a:schemeClr val="tx1"/>
                          </a:solidFill>
                          <a:highlight>
                            <a:srgbClr val="FFFF00"/>
                          </a:highlight>
                          <a:latin typeface="+mn-ea"/>
                          <a:ea typeface="+mn-ea"/>
                          <a:cs typeface="+mn-cs"/>
                        </a:rPr>
                        <a:t>))</a:t>
                      </a:r>
                      <a:r>
                        <a:rPr kumimoji="1" lang="ja-JP" altLang="en-US" sz="900" b="0" u="none" kern="1200" dirty="0">
                          <a:solidFill>
                            <a:schemeClr val="tx1"/>
                          </a:solidFill>
                          <a:highlight>
                            <a:srgbClr val="FFFF00"/>
                          </a:highlight>
                          <a:latin typeface="+mn-ea"/>
                          <a:ea typeface="+mn-ea"/>
                          <a:cs typeface="+mn-cs"/>
                        </a:rPr>
                        <a:t>の案件名から「令和</a:t>
                      </a:r>
                      <a:r>
                        <a:rPr kumimoji="1" lang="en-US" altLang="ja-JP" sz="900" b="0" u="none" kern="1200" dirty="0">
                          <a:solidFill>
                            <a:schemeClr val="tx1"/>
                          </a:solidFill>
                          <a:highlight>
                            <a:srgbClr val="FFFF00"/>
                          </a:highlight>
                          <a:latin typeface="+mn-ea"/>
                          <a:ea typeface="+mn-ea"/>
                          <a:cs typeface="+mn-cs"/>
                        </a:rPr>
                        <a:t>8</a:t>
                      </a:r>
                      <a:r>
                        <a:rPr kumimoji="1" lang="ja-JP" altLang="en-US" sz="900" b="0" u="none" kern="1200" dirty="0">
                          <a:solidFill>
                            <a:schemeClr val="tx1"/>
                          </a:solidFill>
                          <a:highlight>
                            <a:srgbClr val="FFFF00"/>
                          </a:highlight>
                          <a:latin typeface="+mn-ea"/>
                          <a:ea typeface="+mn-ea"/>
                          <a:cs typeface="+mn-cs"/>
                        </a:rPr>
                        <a:t>年</a:t>
                      </a:r>
                      <a:r>
                        <a:rPr kumimoji="1" lang="en-US" altLang="ja-JP" sz="900" b="0" u="none" kern="1200" dirty="0">
                          <a:solidFill>
                            <a:schemeClr val="tx1"/>
                          </a:solidFill>
                          <a:highlight>
                            <a:srgbClr val="FFFF00"/>
                          </a:highlight>
                          <a:latin typeface="+mn-ea"/>
                          <a:ea typeface="+mn-ea"/>
                          <a:cs typeface="+mn-cs"/>
                        </a:rPr>
                        <a:t>9</a:t>
                      </a:r>
                      <a:r>
                        <a:rPr kumimoji="1" lang="ja-JP" altLang="en-US" sz="900" b="0" u="none" kern="1200" dirty="0">
                          <a:solidFill>
                            <a:schemeClr val="tx1"/>
                          </a:solidFill>
                          <a:highlight>
                            <a:srgbClr val="FFFF00"/>
                          </a:highlight>
                          <a:latin typeface="+mn-ea"/>
                          <a:ea typeface="+mn-ea"/>
                          <a:cs typeface="+mn-cs"/>
                        </a:rPr>
                        <a:t>末」の文言を削除する。</a:t>
                      </a:r>
                      <a:r>
                        <a:rPr kumimoji="1" lang="en-US" altLang="ja-JP" sz="900" b="0" u="none" kern="1200" dirty="0">
                          <a:solidFill>
                            <a:schemeClr val="tx1"/>
                          </a:solidFill>
                          <a:highlight>
                            <a:srgbClr val="FFFF00"/>
                          </a:highlight>
                          <a:latin typeface="+mn-ea"/>
                          <a:ea typeface="+mn-ea"/>
                          <a:cs typeface="+mn-cs"/>
                        </a:rPr>
                        <a:t>【</a:t>
                      </a:r>
                      <a:r>
                        <a:rPr kumimoji="1" lang="ja-JP" altLang="en-US" sz="900" b="0" u="none" kern="1200" dirty="0">
                          <a:solidFill>
                            <a:schemeClr val="tx1"/>
                          </a:solidFill>
                          <a:highlight>
                            <a:srgbClr val="FFFF00"/>
                          </a:highlight>
                          <a:latin typeface="+mn-ea"/>
                          <a:ea typeface="+mn-ea"/>
                          <a:cs typeface="+mn-cs"/>
                        </a:rPr>
                        <a:t>厚労省 </a:t>
                      </a:r>
                      <a:r>
                        <a:rPr kumimoji="1" lang="en-US" altLang="ja-JP" sz="900" b="0" u="none" kern="1200" dirty="0">
                          <a:solidFill>
                            <a:schemeClr val="tx1"/>
                          </a:solidFill>
                          <a:highlight>
                            <a:srgbClr val="FFFF00"/>
                          </a:highlight>
                          <a:latin typeface="+mn-ea"/>
                          <a:ea typeface="+mn-ea"/>
                          <a:cs typeface="+mn-cs"/>
                        </a:rPr>
                        <a:t>10/9】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0509963"/>
                  </a:ext>
                </a:extLst>
              </a:tr>
              <a:tr h="54000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9</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年度開発向け要件整理案件の実施内容および進め方について書面</a:t>
                      </a:r>
                      <a:r>
                        <a:rPr kumimoji="0" lang="en-US" altLang="ja-JP" sz="900" b="0" i="0" u="none" strike="noStrike" kern="0" cap="none" spc="0" normalizeH="0" baseline="3000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にて確認し、確認結果を</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DX</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機構へ連携する。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厚労省 </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10/13】​</a:t>
                      </a:r>
                      <a:br>
                        <a:rPr kumimoji="0" lang="en-US" altLang="ja-JP" sz="900" b="0" i="0" u="none" strike="noStrike" kern="0" cap="none" spc="0" normalizeH="0" baseline="0" noProof="0" dirty="0">
                          <a:ln>
                            <a:noFill/>
                          </a:ln>
                          <a:solidFill>
                            <a:srgbClr val="000000"/>
                          </a:solidFill>
                          <a:effectLst/>
                          <a:uLnTx/>
                          <a:uFillTx/>
                          <a:latin typeface="+mn-ea"/>
                          <a:ea typeface="+mn-ea"/>
                          <a:cs typeface="+mn-cs"/>
                        </a:rPr>
                      </a:b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a:t>
                      </a:r>
                      <a:r>
                        <a:rPr kumimoji="1" lang="ja-JP" altLang="en-US" sz="900" b="0" i="0" u="none" strike="noStrike" kern="1200" dirty="0">
                          <a:solidFill>
                            <a:schemeClr val="tx1"/>
                          </a:solidFill>
                          <a:latin typeface="+mn-ea"/>
                          <a:ea typeface="+mn-ea"/>
                          <a:cs typeface="+mn-cs"/>
                        </a:rPr>
                        <a:t>開発課題検討会</a:t>
                      </a:r>
                      <a:r>
                        <a:rPr kumimoji="1" lang="en-US" altLang="ja-JP" sz="900" b="0" i="0" u="none" strike="noStrike" kern="1200" dirty="0">
                          <a:solidFill>
                            <a:schemeClr val="tx1"/>
                          </a:solidFill>
                          <a:latin typeface="+mn-ea"/>
                          <a:ea typeface="+mn-ea"/>
                          <a:cs typeface="+mn-cs"/>
                        </a:rPr>
                        <a:t>_20261005.pptx</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P12～17</a:t>
                      </a:r>
                      <a:endParaRPr kumimoji="0" lang="ja-JP" altLang="en-US"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64281801"/>
                  </a:ext>
                </a:extLst>
              </a:tr>
              <a:tr h="54000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介護連携における介護事業所宛て診療情報提供書のログ・統計機能の目的と対象ファイル</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dirty="0">
                          <a:solidFill>
                            <a:schemeClr val="tx1"/>
                          </a:solidFill>
                          <a:latin typeface="+mn-ea"/>
                          <a:ea typeface="+mn-ea"/>
                          <a:cs typeface="+mn-cs"/>
                        </a:rPr>
                        <a:t>1</a:t>
                      </a:r>
                      <a:r>
                        <a:rPr kumimoji="1" lang="ja-JP" altLang="en-US" sz="900" b="1" i="0" u="sng" strike="noStrike" kern="1200" dirty="0">
                          <a:solidFill>
                            <a:srgbClr val="000000"/>
                          </a:solidFill>
                          <a:latin typeface="+mn-ea"/>
                          <a:ea typeface="+mn-ea"/>
                          <a:cs typeface="+mn-cs"/>
                        </a:rPr>
                        <a:t>．介護事業所宛て診療情報提供書におけるログ・統計機能の目的および対象ファイル</a:t>
                      </a:r>
                      <a:endParaRPr kumimoji="1" lang="en-US" altLang="ja-JP" sz="900" b="1" u="sng" kern="1200" dirty="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介護事業所宛て診療情報提供書におけるログ・統計機能は、運用テストおよび本番運用において情報収集を行うことを目的として実施する。</a:t>
                      </a:r>
                      <a:endParaRPr kumimoji="1" lang="en-US" altLang="ja-JP" sz="900" b="0" u="none" kern="1200" dirty="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抽出対象ファイルについては、既存の医療機関間の文書連携におけるログ・統計に係るファイルを医療介護連携においても横展開する方針とし、本連携において新たなログ・統計ファイルの追加等は行わない。</a:t>
                      </a:r>
                      <a:endParaRPr kumimoji="1" lang="en-US" altLang="ja-JP" sz="900" b="0" u="none" kern="1200" dirty="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なお、介護事業所</a:t>
                      </a:r>
                      <a:r>
                        <a:rPr lang="ja-JP" altLang="en-US" sz="900" b="0" u="none" kern="1200" dirty="0">
                          <a:solidFill>
                            <a:schemeClr val="tx1"/>
                          </a:solidFill>
                          <a:latin typeface="+mn-ea"/>
                          <a:ea typeface="+mn-ea"/>
                          <a:cs typeface="+mn-cs"/>
                        </a:rPr>
                        <a:t>コードに紐づく項目として、介護事業所</a:t>
                      </a:r>
                      <a:r>
                        <a:rPr kumimoji="1" lang="ja-JP" altLang="en-US" sz="900" b="0" u="none" kern="1200" dirty="0">
                          <a:solidFill>
                            <a:schemeClr val="tx1"/>
                          </a:solidFill>
                          <a:latin typeface="+mn-ea"/>
                          <a:ea typeface="+mn-ea"/>
                          <a:cs typeface="+mn-cs"/>
                        </a:rPr>
                        <a:t>のサービス種類コードおよびサービス種類名称を集計項目に追加し、列記する形で出力する。</a:t>
                      </a:r>
                      <a:br>
                        <a:rPr kumimoji="1" lang="en-US" altLang="ja-JP" sz="900" b="0" u="none" kern="1200" dirty="0">
                          <a:solidFill>
                            <a:srgbClr val="000000"/>
                          </a:solidFill>
                          <a:latin typeface="+mn-ea"/>
                          <a:ea typeface="+mn-ea"/>
                          <a:cs typeface="+mn-cs"/>
                        </a:rPr>
                      </a:b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特になし。</a:t>
                      </a:r>
                      <a:endParaRPr kumimoji="1" lang="en-US" altLang="ja-JP" sz="900" b="0" u="none" kern="1200" dirty="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6630737"/>
                  </a:ext>
                </a:extLst>
              </a:tr>
            </a:tbl>
          </a:graphicData>
        </a:graphic>
      </p:graphicFrame>
      <p:sp>
        <p:nvSpPr>
          <p:cNvPr id="6" name="タイトル 1">
            <a:extLst>
              <a:ext uri="{FF2B5EF4-FFF2-40B4-BE49-F238E27FC236}">
                <a16:creationId xmlns:a16="http://schemas.microsoft.com/office/drawing/2014/main" id="{C5640EA2-B531-3077-4F04-B6E1103F027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)(5/6)</a:t>
            </a:r>
            <a:endParaRPr lang="ja-JP" altLang="en-US" sz="2000">
              <a:solidFill>
                <a:schemeClr val="tx2">
                  <a:lumMod val="75000"/>
                </a:schemeClr>
              </a:solidFill>
            </a:endParaRPr>
          </a:p>
        </p:txBody>
      </p:sp>
      <p:sp>
        <p:nvSpPr>
          <p:cNvPr id="3" name="吹き出し: 線 2">
            <a:extLst>
              <a:ext uri="{FF2B5EF4-FFF2-40B4-BE49-F238E27FC236}">
                <a16:creationId xmlns:a16="http://schemas.microsoft.com/office/drawing/2014/main" id="{948FD048-B5C9-DBC2-34E5-C6DFD4FF1BA2}"/>
              </a:ext>
            </a:extLst>
          </p:cNvPr>
          <p:cNvSpPr/>
          <p:nvPr/>
        </p:nvSpPr>
        <p:spPr>
          <a:xfrm>
            <a:off x="4468349" y="4052782"/>
            <a:ext cx="1792857" cy="726252"/>
          </a:xfrm>
          <a:prstGeom prst="borderCallout1">
            <a:avLst>
              <a:gd name="adj1" fmla="val 65370"/>
              <a:gd name="adj2" fmla="val -2560"/>
              <a:gd name="adj3" fmla="val 20833"/>
              <a:gd name="adj4" fmla="val -23899"/>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細かい点で恐れ入ります。</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句読点が重複していたため削除しています。</a:t>
            </a:r>
          </a:p>
        </p:txBody>
      </p:sp>
      <p:sp>
        <p:nvSpPr>
          <p:cNvPr id="4" name="吹き出し: 線 3">
            <a:extLst>
              <a:ext uri="{FF2B5EF4-FFF2-40B4-BE49-F238E27FC236}">
                <a16:creationId xmlns:a16="http://schemas.microsoft.com/office/drawing/2014/main" id="{CBCF8031-10FC-87E8-6AC2-86C127940A84}"/>
              </a:ext>
            </a:extLst>
          </p:cNvPr>
          <p:cNvSpPr/>
          <p:nvPr/>
        </p:nvSpPr>
        <p:spPr>
          <a:xfrm>
            <a:off x="9756477" y="3429000"/>
            <a:ext cx="2002766" cy="1815860"/>
          </a:xfrm>
          <a:prstGeom prst="borderCallout1">
            <a:avLst>
              <a:gd name="adj1" fmla="val 84375"/>
              <a:gd name="adj2" fmla="val -635"/>
              <a:gd name="adj3" fmla="val 61186"/>
              <a:gd name="adj4" fmla="val -18214"/>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修正対象が案件台帳であることを明記いただけないでしょうか。</a:t>
            </a: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endPar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eaLnBrk="0" hangingPunct="0"/>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■文案</a:t>
            </a:r>
            <a:b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lang="ja-JP" altLang="en-US" sz="900" dirty="0">
                <a:latin typeface="+mn-ea"/>
              </a:rPr>
              <a:t>案件</a:t>
            </a:r>
            <a:r>
              <a:rPr lang="en-US" altLang="ja-JP" sz="900" dirty="0">
                <a:latin typeface="+mn-ea"/>
              </a:rPr>
              <a:t>ID192(</a:t>
            </a:r>
            <a:r>
              <a:rPr lang="ja-JP" altLang="en-US" sz="900" dirty="0">
                <a:latin typeface="+mn-ea"/>
              </a:rPr>
              <a:t>サポートするプロファイルバージョンの終了</a:t>
            </a:r>
            <a:r>
              <a:rPr lang="en-US" altLang="ja-JP" sz="900" dirty="0">
                <a:latin typeface="+mn-ea"/>
              </a:rPr>
              <a:t>(</a:t>
            </a:r>
            <a:r>
              <a:rPr lang="ja-JP" altLang="en-US" sz="900" dirty="0">
                <a:latin typeface="+mn-ea"/>
              </a:rPr>
              <a:t>令和</a:t>
            </a:r>
            <a:r>
              <a:rPr lang="en-US" altLang="ja-JP" sz="900" dirty="0">
                <a:latin typeface="+mn-ea"/>
              </a:rPr>
              <a:t>8</a:t>
            </a:r>
            <a:r>
              <a:rPr lang="ja-JP" altLang="en-US" sz="900" dirty="0">
                <a:latin typeface="+mn-ea"/>
              </a:rPr>
              <a:t>年</a:t>
            </a:r>
            <a:r>
              <a:rPr lang="en-US" altLang="ja-JP" sz="900" dirty="0">
                <a:latin typeface="+mn-ea"/>
              </a:rPr>
              <a:t>9</a:t>
            </a:r>
            <a:r>
              <a:rPr lang="ja-JP" altLang="en-US" sz="900" dirty="0">
                <a:latin typeface="+mn-ea"/>
              </a:rPr>
              <a:t>末</a:t>
            </a:r>
            <a:r>
              <a:rPr lang="en-US" altLang="ja-JP" sz="900" dirty="0">
                <a:latin typeface="+mn-ea"/>
              </a:rPr>
              <a:t>))</a:t>
            </a:r>
            <a:r>
              <a:rPr lang="ja-JP" altLang="en-US" sz="900" dirty="0">
                <a:latin typeface="+mn-ea"/>
              </a:rPr>
              <a:t>について、案件台帳上の案件名から「令和</a:t>
            </a:r>
            <a:r>
              <a:rPr lang="en-US" altLang="ja-JP" sz="900" dirty="0">
                <a:latin typeface="+mn-ea"/>
              </a:rPr>
              <a:t>8</a:t>
            </a:r>
            <a:r>
              <a:rPr lang="ja-JP" altLang="en-US" sz="900" dirty="0">
                <a:latin typeface="+mn-ea"/>
              </a:rPr>
              <a:t>年</a:t>
            </a:r>
            <a:r>
              <a:rPr lang="en-US" altLang="ja-JP" sz="900" dirty="0">
                <a:latin typeface="+mn-ea"/>
              </a:rPr>
              <a:t>9</a:t>
            </a:r>
            <a:r>
              <a:rPr lang="ja-JP" altLang="en-US" sz="900" dirty="0">
                <a:latin typeface="+mn-ea"/>
              </a:rPr>
              <a:t>末」の文言を削除する。</a:t>
            </a:r>
            <a:r>
              <a:rPr lang="en-US" altLang="ja-JP" sz="900" dirty="0">
                <a:latin typeface="+mn-ea"/>
              </a:rPr>
              <a:t>【</a:t>
            </a:r>
            <a:r>
              <a:rPr lang="ja-JP" altLang="en-US" sz="900" dirty="0">
                <a:latin typeface="+mn-ea"/>
              </a:rPr>
              <a:t>厚労省 </a:t>
            </a:r>
            <a:r>
              <a:rPr lang="en-US" altLang="ja-JP" sz="900" dirty="0">
                <a:latin typeface="+mn-ea"/>
              </a:rPr>
              <a:t>10/9】</a:t>
            </a:r>
          </a:p>
        </p:txBody>
      </p:sp>
    </p:spTree>
    <p:extLst>
      <p:ext uri="{BB962C8B-B14F-4D97-AF65-F5344CB8AC3E}">
        <p14:creationId xmlns:p14="http://schemas.microsoft.com/office/powerpoint/2010/main" val="374430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1400048629"/>
              </p:ext>
            </p:extLst>
          </p:nvPr>
        </p:nvGraphicFramePr>
        <p:xfrm>
          <a:off x="461626" y="820692"/>
          <a:ext cx="9000000" cy="3731798"/>
        </p:xfrm>
        <a:graphic>
          <a:graphicData uri="http://schemas.openxmlformats.org/drawingml/2006/table">
            <a:tbl>
              <a:tblPr/>
              <a:tblGrid>
                <a:gridCol w="412213">
                  <a:extLst>
                    <a:ext uri="{9D8B030D-6E8A-4147-A177-3AD203B41FA5}">
                      <a16:colId xmlns:a16="http://schemas.microsoft.com/office/drawing/2014/main" val="3484704196"/>
                    </a:ext>
                  </a:extLst>
                </a:gridCol>
                <a:gridCol w="878528">
                  <a:extLst>
                    <a:ext uri="{9D8B030D-6E8A-4147-A177-3AD203B41FA5}">
                      <a16:colId xmlns:a16="http://schemas.microsoft.com/office/drawing/2014/main" val="3863879091"/>
                    </a:ext>
                  </a:extLst>
                </a:gridCol>
                <a:gridCol w="4816712">
                  <a:extLst>
                    <a:ext uri="{9D8B030D-6E8A-4147-A177-3AD203B41FA5}">
                      <a16:colId xmlns:a16="http://schemas.microsoft.com/office/drawing/2014/main" val="99914978"/>
                    </a:ext>
                  </a:extLst>
                </a:gridCol>
                <a:gridCol w="2892547">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a:t>
                      </a:r>
                      <a:r>
                        <a:rPr kumimoji="1" lang="en-US" altLang="ja-JP" sz="900" b="0">
                          <a:latin typeface="+mn-ea"/>
                          <a:ea typeface="+mn-ea"/>
                        </a:rPr>
                        <a:t>ToDo#1216_</a:t>
                      </a:r>
                      <a:r>
                        <a:rPr kumimoji="1" lang="ja-JP" altLang="en-US" sz="900" b="0">
                          <a:latin typeface="+mn-ea"/>
                          <a:ea typeface="+mn-ea"/>
                        </a:rPr>
                        <a:t>医療介護連携におけるランニングコスト按分のための統計ログ出力機能の検討」の結果共有</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．医療介護連携におけるランニングコスト按分のための統計ログ出力機能の出力範囲について</a:t>
                      </a:r>
                      <a:endParaRPr kumimoji="1" lang="en-US" altLang="ja-JP" sz="900" b="0" i="0" strike="noStrike" kern="1200" cap="none" spc="0" normalizeH="0" baseline="0" noProof="1">
                        <a:ln>
                          <a:noFill/>
                        </a:ln>
                        <a:solidFill>
                          <a:prstClr val="black"/>
                        </a:solidFill>
                        <a:effectLst/>
                        <a:uLnTx/>
                        <a:uFillTx/>
                        <a:latin typeface="Meiryo UI"/>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a:t>
                      </a:r>
                      <a:r>
                        <a:rPr kumimoji="1" lang="ja-JP" altLang="en-US" sz="900" b="0" i="0" strike="noStrike" kern="1200" cap="none" spc="0" normalizeH="0" baseline="0" noProof="1">
                          <a:ln>
                            <a:noFill/>
                          </a:ln>
                          <a:solidFill>
                            <a:prstClr val="black"/>
                          </a:solidFill>
                          <a:effectLst/>
                          <a:uLnTx/>
                          <a:uFillTx/>
                          <a:latin typeface="Meiryo UI"/>
                          <a:ea typeface="+mn-ea"/>
                          <a:cs typeface="+mn-cs"/>
                        </a:rPr>
                        <a:t>における医療側と介護側のランニングコストの按分概算は、当初想定の診療情報提供書の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受付と連動した資格確認処理数ではなく、電子カルテ情報共有サービスの中央基盤の処理数全体の内の診療情報提供書の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自体の受付・処理のみの割合だけでも算出可能であるため、以下の算出方針とする。</a:t>
                      </a:r>
                      <a:br>
                        <a:rPr kumimoji="1" lang="en-US" altLang="ja-JP" sz="900" b="0" i="0" strike="noStrike" kern="1200" cap="none" spc="0" normalizeH="0" baseline="0" noProof="1">
                          <a:ln>
                            <a:noFill/>
                          </a:ln>
                          <a:solidFill>
                            <a:srgbClr val="000000"/>
                          </a:solidFill>
                          <a:effectLst/>
                          <a:uLnTx/>
                          <a:uFillTx/>
                          <a:latin typeface="Meiryo UI"/>
                          <a:ea typeface="+mn-ea"/>
                          <a:cs typeface="+mn-cs"/>
                        </a:rPr>
                      </a:br>
                      <a:r>
                        <a:rPr kumimoji="1" lang="ja-JP" altLang="en-US" sz="900" b="0" i="0" strike="noStrike" kern="1200" cap="none" spc="0" normalizeH="0" baseline="0" noProof="1">
                          <a:ln>
                            <a:noFill/>
                          </a:ln>
                          <a:solidFill>
                            <a:srgbClr val="000000"/>
                          </a:solidFill>
                          <a:effectLst/>
                          <a:uLnTx/>
                          <a:uFillTx/>
                          <a:latin typeface="Meiryo UI"/>
                          <a:ea typeface="+mn-ea"/>
                          <a:cs typeface="+mn-cs"/>
                        </a:rPr>
                        <a:t>■算出方針</a:t>
                      </a:r>
                      <a:br>
                        <a:rPr kumimoji="1" lang="en-US" altLang="ja-JP" sz="900" b="0" i="0" strike="noStrike" kern="1200" cap="none" spc="0" normalizeH="0" baseline="0" noProof="1">
                          <a:ln>
                            <a:noFill/>
                          </a:ln>
                          <a:solidFill>
                            <a:prstClr val="black"/>
                          </a:solidFill>
                          <a:effectLst/>
                          <a:uLnTx/>
                          <a:uFillTx/>
                          <a:latin typeface="Meiryo UI"/>
                          <a:ea typeface="+mn-ea"/>
                          <a:cs typeface="+mn-cs"/>
                        </a:rPr>
                      </a:br>
                      <a:r>
                        <a:rPr kumimoji="1" lang="ja-JP" altLang="en-US" sz="900" b="0" i="0" strike="noStrike" kern="1200" cap="none" spc="0" normalizeH="0" baseline="0" noProof="1">
                          <a:ln>
                            <a:noFill/>
                          </a:ln>
                          <a:solidFill>
                            <a:prstClr val="black"/>
                          </a:solidFill>
                          <a:effectLst/>
                          <a:uLnTx/>
                          <a:uFillTx/>
                          <a:latin typeface="Meiryo UI"/>
                          <a:ea typeface="+mn-ea"/>
                          <a:cs typeface="+mn-cs"/>
                        </a:rPr>
                        <a:t>電子カルテ情報共有サービス中央基盤の全処理数のうち、診療情報提供書の登録・変更・取消</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受付回数を集計し、医療向け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と介護向け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に区分して医療・介護の割合を算出する。</a:t>
                      </a: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診療情報提供書の医療介護連携のランニングコストを按分して算出するため、電子カルテ情報共有サービス中央基盤の全処理数のうち、文書の登録・変更・取消に係る</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処理件数を集計できるか確認する。</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96591"/>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chemeClr val="tx1"/>
                          </a:solidFill>
                          <a:latin typeface="+mn-ea"/>
                          <a:ea typeface="+mn-ea"/>
                          <a:cs typeface="+mn-cs"/>
                        </a:rPr>
                        <a:t>10/20</a:t>
                      </a:r>
                      <a:r>
                        <a:rPr kumimoji="1" lang="ja-JP" altLang="en-US" sz="900" b="1" i="0" u="sng" strike="noStrike" kern="1200">
                          <a:solidFill>
                            <a:schemeClr val="tx1"/>
                          </a:solidFill>
                          <a:latin typeface="+mn-ea"/>
                          <a:ea typeface="+mn-ea"/>
                          <a:cs typeface="+mn-cs"/>
                        </a:rPr>
                        <a:t>調達委員会に向けた令和</a:t>
                      </a:r>
                      <a:r>
                        <a:rPr kumimoji="1" lang="en-US" altLang="ja-JP" sz="900" b="1" i="0" u="sng" strike="noStrike" kern="1200">
                          <a:solidFill>
                            <a:schemeClr val="tx1"/>
                          </a:solidFill>
                          <a:latin typeface="+mn-ea"/>
                          <a:ea typeface="+mn-ea"/>
                          <a:cs typeface="+mn-cs"/>
                        </a:rPr>
                        <a:t>9</a:t>
                      </a:r>
                      <a:r>
                        <a:rPr kumimoji="1" lang="ja-JP" altLang="en-US" sz="900" b="1" i="0" u="sng" strike="noStrike" kern="1200">
                          <a:solidFill>
                            <a:schemeClr val="tx1"/>
                          </a:solidFill>
                          <a:latin typeface="+mn-ea"/>
                          <a:ea typeface="+mn-ea"/>
                          <a:cs typeface="+mn-cs"/>
                        </a:rPr>
                        <a:t>年度案件の対応について</a:t>
                      </a:r>
                      <a:endParaRPr kumimoji="1" lang="en-US" altLang="ja-JP" sz="900" b="1" i="0" u="sng" strike="noStrike" kern="1200">
                        <a:solidFill>
                          <a:schemeClr val="tx1"/>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en-US" altLang="ja-JP" sz="900" b="0" i="0" u="none" strike="noStrike" kern="1200">
                          <a:solidFill>
                            <a:schemeClr val="tx1"/>
                          </a:solidFill>
                          <a:latin typeface="+mn-ea"/>
                          <a:ea typeface="+mn-ea"/>
                          <a:cs typeface="+mn-cs"/>
                        </a:rPr>
                        <a:t>10/5</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_20261005_</a:t>
                      </a:r>
                      <a:r>
                        <a:rPr kumimoji="1" lang="ja-JP" altLang="en-US" sz="900" b="0" i="0" u="none" strike="noStrike" kern="1200">
                          <a:solidFill>
                            <a:schemeClr val="tx1"/>
                          </a:solidFill>
                          <a:latin typeface="+mn-ea"/>
                          <a:ea typeface="+mn-ea"/>
                          <a:cs typeface="+mn-cs"/>
                        </a:rPr>
                        <a:t>厚労省側</a:t>
                      </a:r>
                      <a:r>
                        <a:rPr kumimoji="1" lang="en-US" altLang="ja-JP" sz="900" b="0" i="0" u="none" strike="noStrike" kern="1200">
                          <a:solidFill>
                            <a:schemeClr val="tx1"/>
                          </a:solidFill>
                          <a:latin typeface="+mn-ea"/>
                          <a:ea typeface="+mn-ea"/>
                          <a:cs typeface="+mn-cs"/>
                        </a:rPr>
                        <a:t>.pptx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P4～5</a:t>
                      </a:r>
                      <a:r>
                        <a:rPr kumimoji="1" lang="ja-JP" altLang="en-US" sz="900" b="0" i="0" u="none" strike="noStrike" kern="1200">
                          <a:solidFill>
                            <a:schemeClr val="tx1"/>
                          </a:solidFill>
                          <a:latin typeface="+mn-ea"/>
                          <a:ea typeface="+mn-ea"/>
                          <a:cs typeface="+mn-cs"/>
                        </a:rPr>
                        <a:t>に記載の</a:t>
                      </a:r>
                      <a:r>
                        <a:rPr kumimoji="1" lang="en-US" altLang="ja-JP" sz="900" b="0" i="0" u="none" strike="noStrike" kern="1200">
                          <a:solidFill>
                            <a:schemeClr val="tx1"/>
                          </a:solidFill>
                          <a:latin typeface="+mn-ea"/>
                          <a:ea typeface="+mn-ea"/>
                          <a:cs typeface="+mn-cs"/>
                        </a:rPr>
                        <a:t>19</a:t>
                      </a:r>
                      <a:r>
                        <a:rPr kumimoji="1" lang="ja-JP" altLang="en-US" sz="900" b="0" i="0" u="none" strike="noStrike" kern="1200">
                          <a:solidFill>
                            <a:schemeClr val="tx1"/>
                          </a:solidFill>
                          <a:latin typeface="+mn-ea"/>
                          <a:ea typeface="+mn-ea"/>
                          <a:cs typeface="+mn-cs"/>
                        </a:rPr>
                        <a:t>件の令和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年度案件について、</a:t>
                      </a:r>
                      <a:r>
                        <a:rPr kumimoji="0" lang="en-US" altLang="ja-JP" sz="900" b="0" i="0" u="none" strike="noStrike" kern="0" cap="none" spc="0" normalizeH="0" baseline="0" noProof="0">
                          <a:ln>
                            <a:noFill/>
                          </a:ln>
                          <a:solidFill>
                            <a:srgbClr val="000000"/>
                          </a:solidFill>
                          <a:effectLst/>
                          <a:uLnTx/>
                          <a:uFillTx/>
                          <a:latin typeface="+mn-ea"/>
                          <a:ea typeface="+mn-ea"/>
                          <a:cs typeface="+mn-cs"/>
                        </a:rPr>
                        <a:t>10/20</a:t>
                      </a:r>
                      <a:r>
                        <a:rPr kumimoji="0" lang="ja-JP" altLang="en-US" sz="900" b="0" i="0" u="none" strike="noStrike" kern="0" cap="none" spc="0" normalizeH="0" baseline="0" noProof="0">
                          <a:ln>
                            <a:noFill/>
                          </a:ln>
                          <a:solidFill>
                            <a:srgbClr val="000000"/>
                          </a:solidFill>
                          <a:effectLst/>
                          <a:uLnTx/>
                          <a:uFillTx/>
                          <a:latin typeface="+mn-ea"/>
                          <a:ea typeface="+mn-ea"/>
                          <a:cs typeface="+mn-cs"/>
                        </a:rPr>
                        <a:t>の調達委員会に向け、</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機構にて要件定義フェーズの調達手続きを進める。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10/5</a:t>
                      </a:r>
                      <a:r>
                        <a:rPr kumimoji="1" lang="ja-JP" altLang="en-US" sz="900" b="0" u="none" kern="1200">
                          <a:solidFill>
                            <a:schemeClr val="tx1"/>
                          </a:solidFill>
                          <a:latin typeface="+mn-ea"/>
                          <a:ea typeface="+mn-ea"/>
                          <a:cs typeface="+mn-cs"/>
                        </a:rPr>
                        <a:t>開発課題検討会資料「開発課題検討会</a:t>
                      </a:r>
                      <a:r>
                        <a:rPr kumimoji="1" lang="en-US" altLang="ja-JP" sz="900" b="0" u="none" kern="1200">
                          <a:solidFill>
                            <a:schemeClr val="tx1"/>
                          </a:solidFill>
                          <a:latin typeface="+mn-ea"/>
                          <a:ea typeface="+mn-ea"/>
                          <a:cs typeface="+mn-cs"/>
                        </a:rPr>
                        <a:t>_20261005_</a:t>
                      </a:r>
                      <a:r>
                        <a:rPr kumimoji="1" lang="ja-JP" altLang="en-US" sz="900" b="0" u="none" kern="1200">
                          <a:solidFill>
                            <a:schemeClr val="tx1"/>
                          </a:solidFill>
                          <a:latin typeface="+mn-ea"/>
                          <a:ea typeface="+mn-ea"/>
                          <a:cs typeface="+mn-cs"/>
                        </a:rPr>
                        <a:t>厚労省側</a:t>
                      </a:r>
                      <a:r>
                        <a:rPr kumimoji="1" lang="en-US" altLang="ja-JP" sz="900" b="0" u="none" kern="1200">
                          <a:solidFill>
                            <a:schemeClr val="tx1"/>
                          </a:solidFill>
                          <a:latin typeface="+mn-ea"/>
                          <a:ea typeface="+mn-ea"/>
                          <a:cs typeface="+mn-cs"/>
                        </a:rPr>
                        <a:t>.pptx</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P4</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5</a:t>
                      </a:r>
                      <a:r>
                        <a:rPr kumimoji="1" lang="ja-JP" altLang="en-US" sz="900" b="0" u="none" kern="1200">
                          <a:solidFill>
                            <a:schemeClr val="tx1"/>
                          </a:solidFill>
                          <a:latin typeface="+mn-ea"/>
                          <a:ea typeface="+mn-ea"/>
                          <a:cs typeface="+mn-cs"/>
                        </a:rPr>
                        <a:t>に記載の令和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年度案件の</a:t>
                      </a:r>
                      <a:r>
                        <a:rPr kumimoji="1" lang="en-US" altLang="ja-JP" sz="900" b="0" u="none" kern="1200">
                          <a:solidFill>
                            <a:schemeClr val="tx1"/>
                          </a:solidFill>
                          <a:latin typeface="+mn-ea"/>
                          <a:ea typeface="+mn-ea"/>
                          <a:cs typeface="+mn-cs"/>
                        </a:rPr>
                        <a:t>19</a:t>
                      </a:r>
                      <a:r>
                        <a:rPr kumimoji="1" lang="ja-JP" altLang="en-US" sz="900" b="0" u="none" kern="1200">
                          <a:solidFill>
                            <a:schemeClr val="tx1"/>
                          </a:solidFill>
                          <a:latin typeface="+mn-ea"/>
                          <a:ea typeface="+mn-ea"/>
                          <a:cs typeface="+mn-cs"/>
                        </a:rPr>
                        <a:t>件について、</a:t>
                      </a: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機構にて要件定義フェーズの調達手続きを進める。</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 </a:t>
                      </a:r>
                      <a:r>
                        <a:rPr kumimoji="1" lang="en-US" altLang="ja-JP" sz="900" b="0" u="none" kern="1200">
                          <a:solidFill>
                            <a:schemeClr val="tx1"/>
                          </a:solidFill>
                          <a:latin typeface="+mn-ea"/>
                          <a:ea typeface="+mn-ea"/>
                          <a:cs typeface="+mn-cs"/>
                        </a:rPr>
                        <a:t>10/20】</a:t>
                      </a:r>
                      <a:endParaRPr kumimoji="1" lang="ja-JP" altLang="en-US" sz="900" b="0" u="none" kern="1200">
                        <a:solidFill>
                          <a:schemeClr val="tx1"/>
                        </a:solidFill>
                        <a:latin typeface="+mn-ea"/>
                        <a:ea typeface="+mn-ea"/>
                        <a:cs typeface="+mn-cs"/>
                      </a:endParaRPr>
                    </a:p>
                    <a:p>
                      <a:pPr marL="0" marR="0" lvl="0" indent="0" algn="l" defTabSz="84393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503867"/>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案件台帳の更新箇所の報告(</a:t>
                      </a:r>
                      <a:r>
                        <a:rPr kumimoji="1" lang="en-US" altLang="ja-JP" sz="900" b="0">
                          <a:latin typeface="+mn-ea"/>
                          <a:ea typeface="+mn-ea"/>
                        </a:rPr>
                        <a:t>1005</a:t>
                      </a:r>
                      <a:r>
                        <a:rPr kumimoji="1" lang="ja-JP" altLang="en-US" sz="900" b="0">
                          <a:latin typeface="+mn-ea"/>
                          <a:ea typeface="+mn-ea"/>
                        </a:rPr>
                        <a:t>断面)</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a:lnSpc>
                          <a:spcPct val="120000"/>
                        </a:lnSpc>
                        <a:spcBef>
                          <a:spcPts val="0"/>
                        </a:spcBef>
                        <a:spcAft>
                          <a:spcPts val="0"/>
                        </a:spcAft>
                        <a:buClr>
                          <a:srgbClr val="000000"/>
                        </a:buClr>
                        <a:buFont typeface="Wingdings,sans-serif"/>
                        <a:buChar char="ü"/>
                      </a:pPr>
                      <a:r>
                        <a:rPr kumimoji="0" lang="ja-JP" sz="900" b="0" i="0" u="none" strike="noStrike" kern="0" cap="none" spc="0" normalizeH="0" baseline="0" noProof="0" dirty="0">
                          <a:ln>
                            <a:noFill/>
                          </a:ln>
                          <a:solidFill>
                            <a:srgbClr val="000000"/>
                          </a:solidFill>
                          <a:effectLst/>
                          <a:uLnTx/>
                          <a:uFillTx/>
                          <a:latin typeface="Arial"/>
                          <a:ea typeface="+mn-ea"/>
                          <a:cs typeface="Arial"/>
                        </a:rPr>
                        <a:t>特になし</a:t>
                      </a:r>
                      <a:r>
                        <a:rPr lang="ja-JP" sz="900" b="0" i="0" u="none" strike="noStrike" kern="0" cap="none" spc="0" normalizeH="0" baseline="0" noProof="0" dirty="0">
                          <a:ln>
                            <a:noFill/>
                          </a:ln>
                          <a:solidFill>
                            <a:srgbClr val="000000"/>
                          </a:solidFill>
                          <a:effectLst/>
                          <a:uLnTx/>
                          <a:uFillTx/>
                          <a:latin typeface="Arial"/>
                          <a:ea typeface="+mn-ea"/>
                          <a:cs typeface="Arial"/>
                        </a:rPr>
                        <a:t>。</a:t>
                      </a:r>
                      <a:endParaRPr lang="en-US" altLang="ja-JP" sz="900" b="0" i="0" u="none" strike="noStrike" kern="0" cap="none" spc="0" normalizeH="0" baseline="0" noProof="0" dirty="0">
                        <a:ln>
                          <a:noFill/>
                        </a:ln>
                        <a:solidFill>
                          <a:srgbClr val="000000"/>
                        </a:solidFill>
                        <a:effectLst/>
                        <a:uLnTx/>
                        <a:uFillTx/>
                        <a:latin typeface="Arial"/>
                        <a:ea typeface="+mn-ea"/>
                        <a:cs typeface="Arial"/>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highlight>
                            <a:srgbClr val="FFFF00"/>
                          </a:highligh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highlight>
                          <a:srgbClr val="FFFF00"/>
                        </a:highligh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229936"/>
                  </a:ext>
                </a:extLst>
              </a:tr>
              <a:tr h="574428">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案件</a:t>
                      </a:r>
                      <a:r>
                        <a:rPr kumimoji="1" lang="en-US" altLang="ja-JP" sz="900" b="0" u="none" kern="1200" dirty="0">
                          <a:solidFill>
                            <a:schemeClr val="tx1"/>
                          </a:solidFill>
                          <a:latin typeface="+mn-ea"/>
                          <a:ea typeface="+mn-ea"/>
                          <a:cs typeface="+mn-cs"/>
                        </a:rPr>
                        <a:t>ID225</a:t>
                      </a:r>
                      <a:r>
                        <a:rPr kumimoji="1" lang="ja-JP" altLang="en-US" sz="900" b="0" u="none" kern="1200" dirty="0">
                          <a:solidFill>
                            <a:schemeClr val="tx1"/>
                          </a:solidFill>
                          <a:latin typeface="+mn-ea"/>
                          <a:ea typeface="+mn-ea"/>
                          <a:cs typeface="+mn-cs"/>
                        </a:rPr>
                        <a:t>（</a:t>
                      </a:r>
                      <a:r>
                        <a:rPr kumimoji="1" lang="en-US" altLang="ja-JP" sz="900" b="0" u="none" kern="1200" dirty="0">
                          <a:solidFill>
                            <a:schemeClr val="tx1"/>
                          </a:solidFill>
                          <a:latin typeface="+mn-ea"/>
                          <a:ea typeface="+mn-ea"/>
                          <a:cs typeface="+mn-cs"/>
                        </a:rPr>
                        <a:t>BI</a:t>
                      </a:r>
                      <a:r>
                        <a:rPr kumimoji="1" lang="ja-JP" altLang="en-US" sz="900" b="0" u="none" kern="1200" dirty="0">
                          <a:solidFill>
                            <a:schemeClr val="tx1"/>
                          </a:solidFill>
                          <a:latin typeface="+mn-ea"/>
                          <a:ea typeface="+mn-ea"/>
                          <a:cs typeface="+mn-cs"/>
                        </a:rPr>
                        <a:t>基盤活用による臨床情報の可視化）の新規起票に併せて、要求事項に記載された</a:t>
                      </a:r>
                      <a:r>
                        <a:rPr kumimoji="1" lang="en-US" altLang="ja-JP" sz="900" b="0" u="none" kern="1200" dirty="0">
                          <a:solidFill>
                            <a:schemeClr val="tx1"/>
                          </a:solidFill>
                          <a:latin typeface="+mn-ea"/>
                          <a:ea typeface="+mn-ea"/>
                          <a:cs typeface="+mn-cs"/>
                        </a:rPr>
                        <a:t>15</a:t>
                      </a:r>
                      <a:r>
                        <a:rPr kumimoji="1" lang="ja-JP" altLang="en-US" sz="900" b="0" u="none" kern="1200" dirty="0">
                          <a:solidFill>
                            <a:schemeClr val="tx1"/>
                          </a:solidFill>
                          <a:latin typeface="+mn-ea"/>
                          <a:ea typeface="+mn-ea"/>
                          <a:cs typeface="+mn-cs"/>
                        </a:rPr>
                        <a:t>のダッシュボードは、初回構築であることを踏まえ富士通が作成する。なお、同要求事項に記載されたインプットデータを用いて追加作成する新規ダッシュボードについては、</a:t>
                      </a:r>
                      <a:r>
                        <a:rPr kumimoji="1" lang="en-US" altLang="ja-JP" sz="900" b="0" u="none" kern="1200" dirty="0">
                          <a:solidFill>
                            <a:schemeClr val="tx1"/>
                          </a:solidFill>
                          <a:latin typeface="+mn-ea"/>
                          <a:ea typeface="+mn-ea"/>
                          <a:cs typeface="+mn-cs"/>
                        </a:rPr>
                        <a:t>DX</a:t>
                      </a:r>
                      <a:r>
                        <a:rPr kumimoji="1" lang="ja-JP" altLang="en-US" sz="900" b="0" u="none" kern="1200" dirty="0">
                          <a:solidFill>
                            <a:schemeClr val="tx1"/>
                          </a:solidFill>
                          <a:latin typeface="+mn-ea"/>
                          <a:ea typeface="+mn-ea"/>
                          <a:cs typeface="+mn-cs"/>
                        </a:rPr>
                        <a:t>機構が作成する想定であることから、本開発案件の対象外とすることを合意した。</a:t>
                      </a:r>
                    </a:p>
                  </a:txBody>
                  <a:tcP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568879"/>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)(6/6)</a:t>
            </a:r>
            <a:endParaRPr lang="ja-JP" altLang="en-US" sz="2000">
              <a:solidFill>
                <a:schemeClr val="tx2">
                  <a:lumMod val="75000"/>
                </a:schemeClr>
              </a:solidFill>
            </a:endParaRPr>
          </a:p>
        </p:txBody>
      </p:sp>
      <p:sp>
        <p:nvSpPr>
          <p:cNvPr id="3" name="吹き出し: 線 2">
            <a:extLst>
              <a:ext uri="{FF2B5EF4-FFF2-40B4-BE49-F238E27FC236}">
                <a16:creationId xmlns:a16="http://schemas.microsoft.com/office/drawing/2014/main" id="{B4F14C3F-1023-DCE4-D0A3-FD64570B82C2}"/>
              </a:ext>
            </a:extLst>
          </p:cNvPr>
          <p:cNvSpPr/>
          <p:nvPr/>
        </p:nvSpPr>
        <p:spPr>
          <a:xfrm>
            <a:off x="9756477" y="3429000"/>
            <a:ext cx="2327368" cy="1815860"/>
          </a:xfrm>
          <a:prstGeom prst="borderCallout1">
            <a:avLst>
              <a:gd name="adj1" fmla="val 19941"/>
              <a:gd name="adj2" fmla="val 1820"/>
              <a:gd name="adj3" fmla="val 7039"/>
              <a:gd name="adj4" fmla="val -111491"/>
            </a:avLst>
          </a:prstGeom>
          <a:solidFill>
            <a:srgbClr val="DCAFFF"/>
          </a:solidFill>
          <a:ln w="9525" cap="flat" cmpd="sng" algn="ctr">
            <a:solidFill>
              <a:srgbClr val="9933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（内部確認用）</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案件の更新および案件の取り下げにつきましては、</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書面確認とさせていただいた記憶があるのですが、次週再度読み合わせたほうがよろしいでしょうか？</a:t>
            </a:r>
            <a:br>
              <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9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個人的にはどちらでも構わないため、意図的に削除しておりましたら、このままでも構いません。</a:t>
            </a:r>
            <a:endParaRPr kumimoji="0" lang="en-US" altLang="ja-JP" sz="9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2523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DD5D2B-73A2-4CC4-83C1-25E9AD8773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56ba7c-6f75-4160-892e-139003efe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EA3C11-427A-4A79-9D8A-EB6C4AB4C984}">
  <ds:schemaRefs>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e356ba7c-6f75-4160-892e-139003efe231"/>
    <ds:schemaRef ds:uri="http://www.w3.org/XML/1998/namespace"/>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3E0A28AC-CCEA-4057-BB6B-2EF5C4DCA335}">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4263</Words>
  <Application>Microsoft Office PowerPoint</Application>
  <PresentationFormat>A4 210 x 297 mm</PresentationFormat>
  <Paragraphs>209</Paragraphs>
  <Slides>7</Slides>
  <Notes>7</Notes>
  <HiddenSlides>0</HiddenSlides>
  <MMClips>0</MMClips>
  <ScaleCrop>false</ScaleCrop>
  <HeadingPairs>
    <vt:vector size="8" baseType="variant">
      <vt:variant>
        <vt:lpstr>使用されているフォント</vt:lpstr>
      </vt:variant>
      <vt:variant>
        <vt:i4>8</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19" baseType="lpstr">
      <vt:lpstr>Meiryo UI</vt:lpstr>
      <vt:lpstr>ＭＳ Ｐゴシック</vt:lpstr>
      <vt:lpstr>Wingdings,sans-serif</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議事要旨(案)(1/6)</vt:lpstr>
      <vt:lpstr>開発課題検討会の共有 議事要旨(案)(2/6)</vt:lpstr>
      <vt:lpstr>開発課題検討会の共有 議事要旨(案)(3/6)</vt:lpstr>
      <vt:lpstr>開発課題検討会の共有 議事要旨(案)(4/6)</vt:lpstr>
      <vt:lpstr>開発課題検討会の共有 議事要旨(案)(5/6)</vt:lpstr>
      <vt:lpstr>開発課題検討会の共有 議事要旨(案)(6/6)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2026-10-07T02:50:44Z</dcterms:created>
  <dcterms:modified xsi:type="dcterms:W3CDTF">2026-10-08T01:36:32Z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