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1"/>
    <p:sldMasterId id="2147483782" r:id="rId2"/>
    <p:sldMasterId id="2147483811" r:id="rId3"/>
  </p:sldMasterIdLst>
  <p:notesMasterIdLst>
    <p:notesMasterId r:id="rId13"/>
  </p:notesMasterIdLst>
  <p:sldIdLst>
    <p:sldId id="2147483633" r:id="rId4"/>
    <p:sldId id="2147483646" r:id="rId5"/>
    <p:sldId id="259" r:id="rId6"/>
    <p:sldId id="257" r:id="rId7"/>
    <p:sldId id="258" r:id="rId8"/>
    <p:sldId id="2147483647" r:id="rId9"/>
    <p:sldId id="256" r:id="rId10"/>
    <p:sldId id="261" r:id="rId11"/>
    <p:sldId id="260" r:id="rId1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9"/>
            <p14:sldId id="257"/>
            <p14:sldId id="258"/>
            <p14:sldId id="2147483647"/>
            <p14:sldId id="256"/>
            <p14:sldId id="261"/>
            <p14:sldId id="260"/>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00"/>
    <a:srgbClr val="FFFFFF"/>
    <a:srgbClr val="DCAFFF"/>
    <a:srgbClr val="FFFF99"/>
    <a:srgbClr val="7F7F7F"/>
    <a:srgbClr val="0070C0"/>
    <a:srgbClr val="65A9D9"/>
    <a:srgbClr val="D3EBDD"/>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052" y="344"/>
      </p:cViewPr>
      <p:guideLst>
        <p:guide orient="horz" pos="2160"/>
        <p:guide pos="2850"/>
        <p:guide pos="1548"/>
        <p:guide pos="5798"/>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customXml" Target="../customXml/item1.xml"/><Relationship Id="rId21" Type="http://schemas.openxmlformats.org/officeDocument/2006/relationships/customXml" Target="../customXml/item2.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CDED-F737-11AC-5BB6-2894FB6930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1D0D16-D62E-D6DD-54CE-AE7ED0E99BF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97544634-5ED8-F9A5-DF1B-ED8841FE82E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F421A68-D03E-80F1-16EB-94EB263759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420542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C8FD-775A-FC97-F807-8D8C111929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E4A1AA-B4E6-EA4A-A89E-C9C853BFD09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D77AD38-6E01-6ABD-ADFC-3664AFE4462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A559F3-3BA4-6CCA-AE6C-4D082D66B8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81989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307D-163F-E7C9-9E12-2BD46B9423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B51B48-3CC7-8664-D50F-6DFFE56101EE}"/>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63FF755-8F05-0D16-C163-9C7E2D2873A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1F4FC03-5A00-DCA5-0B93-573F4AF0A4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02251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7B56-690A-B24D-762F-206287E43F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FBCFD1-66D3-730A-CFAB-2A4798DC832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5554980-FE69-AFBE-170A-711418BCB66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177E34-4F62-B145-2D3F-4B60B8006D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53054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70ECB-AE72-A74D-CB18-8435B8061F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AA87EE-1B11-F261-A616-F81FD2F9E6D8}"/>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92A7EB4-10AD-9D9D-9847-9CC5997320A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7D9F62-D0CD-F6E0-8174-DE4066677E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35327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20FF-0110-9E22-B240-5011401C47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DC6E24-7F7D-9EE4-541C-761BA4321EC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0B82C87-4277-178E-F8D5-2DE152E063E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A03957E-F9DB-3E58-5124-D46F1ECE6C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16237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oleObject" Target="../embeddings/oleObject1.bin"/><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theme" Target="../theme/theme2.xml"/><Relationship Id="rId12" Type="http://schemas.openxmlformats.org/officeDocument/2006/relationships/tags" Target="../tags/tag2.xml"/><Relationship Id="rId13" Type="http://schemas.openxmlformats.org/officeDocument/2006/relationships/oleObject" Target="../embeddings/oleObject2.bin"/><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 Id="rId8" Type="http://schemas.openxmlformats.org/officeDocument/2006/relationships/tags" Target="../tags/tag3.xml"/><Relationship Id="rId9" Type="http://schemas.openxmlformats.org/officeDocument/2006/relationships/tags" Target="../tags/tag4.xml"/><Relationship Id="rId10" Type="http://schemas.openxmlformats.org/officeDocument/2006/relationships/tags" Target="../tags/tag5.xml"/><Relationship Id="rId11" Type="http://schemas.openxmlformats.org/officeDocument/2006/relationships/oleObject" Target="../embeddings/oleObject3.bin"/><Relationship Id="rId1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2026/10/13</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lang="en-US" altLang="ja-JP" sz="1800" kern="0">
                <a:solidFill>
                  <a:prstClr val="black"/>
                </a:solidFill>
                <a:latin typeface="Meiryo UI"/>
                <a:ea typeface="Meiryo UI"/>
              </a:rPr>
              <a:t>14:10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15:30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277681234"/>
              </p:ext>
            </p:extLst>
          </p:nvPr>
        </p:nvGraphicFramePr>
        <p:xfrm>
          <a:off x="453000" y="843756"/>
          <a:ext cx="9000001" cy="493776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24063">
                  <a:extLst>
                    <a:ext uri="{9D8B030D-6E8A-4147-A177-3AD203B41FA5}">
                      <a16:colId xmlns:a16="http://schemas.microsoft.com/office/drawing/2014/main" val="99914978"/>
                    </a:ext>
                  </a:extLst>
                </a:gridCol>
                <a:gridCol w="1680601">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下記案件の記載を変更する。</a:t>
                      </a:r>
                      <a:r>
                        <a:rPr kumimoji="1" lang="en-US" altLang="ja-JP" sz="900" b="0" i="0" u="none" strike="noStrike" kern="1200">
                          <a:solidFill>
                            <a:srgbClr val="000000"/>
                          </a:solidFill>
                          <a:latin typeface="+mn-ea"/>
                          <a:ea typeface="+mn-ea"/>
                          <a:cs typeface="+mn-cs"/>
                        </a:rPr>
                        <a:t>(3</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p>
                    <a:p>
                      <a:pPr marL="2698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ID192</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lang="ja-JP" altLang="en-US" sz="900" b="0" i="0" u="none" strike="noStrike" kern="1200" cap="none" spc="0" normalizeH="0" baseline="0" noProof="0">
                          <a:ln>
                            <a:noFill/>
                          </a:ln>
                          <a:solidFill>
                            <a:srgbClr val="000000"/>
                          </a:solidFill>
                          <a:effectLst/>
                          <a:uLnTx/>
                          <a:uFillTx/>
                        </a:rPr>
                        <a:t>令和9年3月末</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案件名称</a:t>
                      </a:r>
                      <a:r>
                        <a:rPr kumimoji="1" lang="en-US" altLang="ja-JP" sz="900" kern="1200">
                          <a:solidFill>
                            <a:schemeClr val="tx1"/>
                          </a:solidFill>
                          <a:latin typeface="+mn-ea"/>
                          <a:ea typeface="+mn-ea"/>
                          <a:cs typeface="+mn-cs"/>
                        </a:rPr>
                        <a:t>：3</a:t>
                      </a:r>
                      <a:r>
                        <a:rPr kumimoji="1" lang="ja-JP" altLang="en-US" sz="900" kern="1200">
                          <a:solidFill>
                            <a:schemeClr val="tx1"/>
                          </a:solidFill>
                          <a:latin typeface="+mn-ea"/>
                          <a:ea typeface="+mn-ea"/>
                          <a:cs typeface="+mn-cs"/>
                        </a:rPr>
                        <a:t>月リリース対象だが案件名に「令和8年9月末」の記載があったため、当該記載「令和9年3月末」に修正。</a:t>
                      </a:r>
                    </a:p>
                    <a:p>
                      <a:pPr marL="269875" marR="0" lvl="1" indent="-1727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ID195</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アレルギー等情報の症状の項目名称の変更</a:t>
                      </a:r>
                      <a:r>
                        <a:rPr kumimoji="1" lang="en-US" altLang="ja-JP" sz="900" kern="1200">
                          <a:solidFill>
                            <a:schemeClr val="tx1"/>
                          </a:solidFill>
                          <a:latin typeface="+mn-ea"/>
                          <a:ea typeface="+mn-ea"/>
                          <a:cs typeface="+mn-cs"/>
                        </a:rPr>
                        <a:t>)</a:t>
                      </a:r>
                      <a:br>
                        <a:rPr kumimoji="1" lang="ja-JP" altLang="en-US" sz="900" kern="1200"/>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lang="ja-JP" altLang="en-US" sz="900" b="0" i="0" u="none" strike="noStrike" kern="1200" cap="none" spc="0" normalizeH="0" baseline="0" noProof="0">
                          <a:ln>
                            <a:noFill/>
                          </a:ln>
                          <a:solidFill>
                            <a:srgbClr val="000000"/>
                          </a:solidFill>
                          <a:effectLst/>
                          <a:uLnTx/>
                          <a:uFillTx/>
                        </a:rPr>
                        <a:t>要求事項：「</a:t>
                      </a:r>
                      <a:r>
                        <a:rPr lang="ja-JP" altLang="ja-JP" sz="900" b="0" i="0" u="none" strike="noStrike" kern="1200" cap="none" spc="0" normalizeH="0" baseline="0" noProof="0">
                          <a:ln>
                            <a:noFill/>
                          </a:ln>
                          <a:solidFill>
                            <a:srgbClr val="000000"/>
                          </a:solidFill>
                          <a:effectLst/>
                          <a:uLnTx/>
                          <a:uFillTx/>
                        </a:rPr>
                        <a:t>診断・症状・所見等</a:t>
                      </a:r>
                      <a:r>
                        <a:rPr lang="ja-JP" altLang="en-US" sz="900" b="0" i="0" u="none" strike="noStrike" kern="1200" cap="none" spc="0" normalizeH="0" baseline="0" noProof="0">
                          <a:ln>
                            <a:noFill/>
                          </a:ln>
                          <a:solidFill>
                            <a:srgbClr val="000000"/>
                          </a:solidFill>
                          <a:effectLst/>
                          <a:uLnTx/>
                          <a:uFillTx/>
                        </a:rPr>
                        <a:t>」欄に</a:t>
                      </a:r>
                      <a:r>
                        <a:rPr lang="ja-JP" altLang="ja-JP" sz="900" b="0" i="0" u="none" strike="noStrike" kern="1200" cap="none" spc="0" normalizeH="0" baseline="0" noProof="0">
                          <a:ln>
                            <a:noFill/>
                          </a:ln>
                          <a:solidFill>
                            <a:srgbClr val="000000"/>
                          </a:solidFill>
                          <a:effectLst/>
                          <a:uLnTx/>
                          <a:uFillTx/>
                        </a:rPr>
                        <a:t>は当初より詳細な記載が行われる可能性がある</a:t>
                      </a:r>
                      <a:r>
                        <a:rPr lang="ja-JP" altLang="en-US" sz="900" b="0" i="0" u="none" strike="noStrike" kern="1200" cap="none" spc="0" normalizeH="0" baseline="0" noProof="0">
                          <a:ln>
                            <a:noFill/>
                          </a:ln>
                          <a:solidFill>
                            <a:srgbClr val="000000"/>
                          </a:solidFill>
                          <a:effectLst/>
                          <a:uLnTx/>
                          <a:uFillTx/>
                        </a:rPr>
                        <a:t>ことから</a:t>
                      </a:r>
                      <a:r>
                        <a:rPr lang="ja-JP" altLang="ja-JP" sz="900" b="0" i="0" u="none" strike="noStrike" kern="1200" cap="none" spc="0" normalizeH="0" baseline="0" noProof="0">
                          <a:ln>
                            <a:noFill/>
                          </a:ln>
                          <a:solidFill>
                            <a:srgbClr val="000000"/>
                          </a:solidFill>
                          <a:effectLst/>
                          <a:uLnTx/>
                          <a:uFillTx/>
                        </a:rPr>
                        <a:t>、</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薬剤名・アレルギー物質</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の列を狭め、</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診断・症状・所見等</a:t>
                      </a:r>
                      <a:r>
                        <a:rPr lang="ja-JP" altLang="en-US" sz="900" b="0" i="0" u="none" strike="noStrike" kern="1200" cap="none" spc="0" normalizeH="0" baseline="0" noProof="0">
                          <a:ln>
                            <a:noFill/>
                          </a:ln>
                          <a:solidFill>
                            <a:srgbClr val="000000"/>
                          </a:solidFill>
                          <a:effectLst/>
                          <a:uLnTx/>
                          <a:uFillTx/>
                        </a:rPr>
                        <a:t>」</a:t>
                      </a:r>
                      <a:r>
                        <a:rPr lang="ja-JP" altLang="ja-JP" sz="900" b="0" i="0" u="none" strike="noStrike" kern="1200" cap="none" spc="0" normalizeH="0" baseline="0" noProof="0">
                          <a:ln>
                            <a:noFill/>
                          </a:ln>
                          <a:solidFill>
                            <a:srgbClr val="000000"/>
                          </a:solidFill>
                          <a:effectLst/>
                          <a:uLnTx/>
                          <a:uFillTx/>
                        </a:rPr>
                        <a:t>の表示枠の横幅をさらに広げる</a:t>
                      </a:r>
                      <a:r>
                        <a:rPr lang="ja-JP" altLang="en-US" sz="900" b="0" i="0" u="none" strike="noStrike" kern="1200" cap="none" spc="0" normalizeH="0" baseline="0" noProof="0">
                          <a:ln>
                            <a:noFill/>
                          </a:ln>
                          <a:solidFill>
                            <a:srgbClr val="000000"/>
                          </a:solidFill>
                          <a:effectLst/>
                          <a:uLnTx/>
                          <a:uFillTx/>
                        </a:rPr>
                        <a:t>改修が、</a:t>
                      </a:r>
                      <a:r>
                        <a:rPr lang="ja-JP" altLang="ja-JP" sz="900" b="0" i="0" u="none" strike="noStrike" kern="1200" cap="none" spc="0" normalizeH="0" baseline="0" noProof="0">
                          <a:ln>
                            <a:noFill/>
                          </a:ln>
                          <a:solidFill>
                            <a:srgbClr val="000000"/>
                          </a:solidFill>
                          <a:effectLst/>
                          <a:uLnTx/>
                          <a:uFillTx/>
                        </a:rPr>
                        <a:t>3月リリースにて行</a:t>
                      </a:r>
                      <a:r>
                        <a:rPr lang="ja-JP" altLang="en-US" sz="900" b="0" i="0" u="none" strike="noStrike" kern="1200" cap="none" spc="0" normalizeH="0" baseline="0" noProof="0">
                          <a:ln>
                            <a:noFill/>
                          </a:ln>
                          <a:solidFill>
                            <a:srgbClr val="000000"/>
                          </a:solidFill>
                          <a:effectLst/>
                          <a:uLnTx/>
                          <a:uFillTx/>
                        </a:rPr>
                        <a:t>われる旨を追記</a:t>
                      </a:r>
                      <a:r>
                        <a:rPr lang="ja-JP" altLang="ja-JP" sz="900" b="0" i="0" u="none" strike="noStrike" kern="1200" cap="none" spc="0" normalizeH="0" baseline="0" noProof="0">
                          <a:ln>
                            <a:noFill/>
                          </a:ln>
                          <a:solidFill>
                            <a:srgbClr val="000000"/>
                          </a:solidFill>
                          <a:effectLst/>
                          <a:uLnTx/>
                          <a:uFillTx/>
                        </a:rPr>
                        <a:t>。</a:t>
                      </a:r>
                      <a:endParaRPr kumimoji="1" lang="ja-JP" altLang="en-US" sz="900" b="0" i="0" u="none" strike="noStrike" kern="1200" cap="none" spc="0" normalizeH="0" baseline="0" noProof="0">
                        <a:ln>
                          <a:noFill/>
                        </a:ln>
                        <a:solidFill>
                          <a:srgbClr val="000000"/>
                        </a:solidFill>
                        <a:effectLst/>
                        <a:uLnTx/>
                        <a:uFillTx/>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リリース希望時期</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8</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3</a:t>
                      </a:r>
                      <a:r>
                        <a:rPr kumimoji="1" lang="ja-JP" altLang="en-US" sz="900" kern="1200">
                          <a:solidFill>
                            <a:schemeClr val="tx1"/>
                          </a:solidFill>
                          <a:latin typeface="+mn-ea"/>
                          <a:ea typeface="+mn-ea"/>
                          <a:cs typeface="+mn-cs"/>
                        </a:rPr>
                        <a:t>月の追記。</a:t>
                      </a:r>
                      <a:endParaRPr kumimoji="1" lang="en-US" altLang="ja-JP" sz="900" kern="1200">
                        <a:solidFill>
                          <a:schemeClr val="tx1"/>
                        </a:solidFill>
                        <a:latin typeface="+mn-ea"/>
                        <a:ea typeface="+mn-ea"/>
                        <a:cs typeface="+mn-cs"/>
                      </a:endParaRPr>
                    </a:p>
                    <a:p>
                      <a:pPr marL="269875" marR="0" lvl="1" indent="-1727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ID210</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br>
                        <a:rPr kumimoji="1" lang="ja-JP" altLang="en-US" sz="900" kern="1200"/>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備考欄：</a:t>
                      </a:r>
                      <a:r>
                        <a:rPr kumimoji="1" lang="ja-JP" altLang="en-US" sz="900" b="0" i="0" u="none" strike="noStrike" kern="1200" cap="none" spc="0" normalizeH="0" baseline="0" noProof="0">
                          <a:ln>
                            <a:noFill/>
                          </a:ln>
                          <a:solidFill>
                            <a:srgbClr val="000000"/>
                          </a:solidFill>
                          <a:effectLst/>
                          <a:uLnTx/>
                          <a:uFillTx/>
                        </a:rPr>
                        <a:t>モデル期間中に登録された血液型の検査結果の論理削除に係る検討の進捗を追記。</a:t>
                      </a:r>
                      <a:endParaRPr kumimoji="1" lang="en-US" altLang="ja-JP" sz="900" b="0" i="0" u="none" strike="noStrike" kern="1200" cap="none" spc="0" normalizeH="0" baseline="0" noProof="0">
                        <a:ln>
                          <a:noFill/>
                        </a:ln>
                        <a:solidFill>
                          <a:srgbClr val="000000"/>
                        </a:solidFill>
                        <a:effectLst/>
                        <a:uLnTx/>
                        <a:uFillTx/>
                      </a:endParaRPr>
                    </a:p>
                    <a:p>
                      <a:pPr marL="449263"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endParaRPr kumimoji="1" lang="en-US" altLang="ja-JP" sz="900" b="0" i="0" u="none" strike="noStrike" kern="1200" cap="none" spc="0" normalizeH="0" baseline="0" noProof="0">
                        <a:ln>
                          <a:noFill/>
                        </a:ln>
                        <a:solidFill>
                          <a:srgbClr val="000000"/>
                        </a:solidFill>
                        <a:effectLst/>
                        <a:uLnTx/>
                        <a:uFillTx/>
                        <a:latin typeface="+mn-lt"/>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．案件の取り下げ​</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下記案件を取り下げる。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p>
                    <a:p>
                      <a:pPr marL="2698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ID226</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患者サマリ</a:t>
                      </a:r>
                      <a:r>
                        <a:rPr kumimoji="1" lang="en-US" altLang="ja-JP" sz="900" kern="1200">
                          <a:solidFill>
                            <a:schemeClr val="tx1"/>
                          </a:solidFill>
                          <a:latin typeface="+mn-ea"/>
                          <a:ea typeface="+mn-ea"/>
                          <a:cs typeface="+mn-cs"/>
                        </a:rPr>
                        <a:t>ー</a:t>
                      </a:r>
                      <a:r>
                        <a:rPr kumimoji="1" lang="ja-JP" altLang="en-US" sz="900" kern="1200">
                          <a:solidFill>
                            <a:schemeClr val="tx1"/>
                          </a:solidFill>
                          <a:latin typeface="+mn-ea"/>
                          <a:ea typeface="+mn-ea"/>
                          <a:cs typeface="+mn-cs"/>
                        </a:rPr>
                        <a:t>への</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の添付機能</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医師会との調整を踏まえて、厚労省にて検討の結果、開発不要と判断されたため。</a:t>
                      </a:r>
                      <a:endParaRPr kumimoji="1" lang="en-US" altLang="ja-JP" sz="900" kern="1200">
                        <a:solidFill>
                          <a:schemeClr val="tx1"/>
                        </a:solidFill>
                        <a:latin typeface="+mn-ea"/>
                        <a:ea typeface="+mn-ea"/>
                        <a:cs typeface="+mn-cs"/>
                      </a:endParaRPr>
                    </a:p>
                    <a:p>
                      <a:pPr marL="271463"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endParaRPr kumimoji="1" lang="en-US" altLang="ja-JP" sz="900" b="0" i="0" u="none" strike="noStrik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．課題の期限延伸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下記課題の対応期限を延伸する。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 </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highlight>
                            <a:srgbClr val="FFFF00"/>
                          </a:highlight>
                          <a:latin typeface="+mn-ea"/>
                          <a:ea typeface="+mn-ea"/>
                          <a:cs typeface="+mn-cs"/>
                        </a:rPr>
                        <a:t>#24</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検証用ツールの公開及びソースコードの公開をいつまで実施するかを検討する</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延伸期限</a:t>
                      </a:r>
                      <a:br>
                        <a:rPr kumimoji="1" lang="ja-JP" altLang="en-US" sz="900" kern="1200">
                          <a:solidFill>
                            <a:srgbClr val="000000"/>
                          </a:solidFill>
                          <a:latin typeface="+mn-ea"/>
                          <a:ea typeface="+mn-ea"/>
                          <a:cs typeface="+mn-cs"/>
                        </a:rPr>
                      </a:br>
                      <a:r>
                        <a:rPr kumimoji="1" lang="en-US" altLang="ja-JP" sz="900" kern="1200">
                          <a:solidFill>
                            <a:schemeClr val="tx1"/>
                          </a:solidFill>
                          <a:latin typeface="+mn-ea"/>
                          <a:ea typeface="+mn-ea"/>
                          <a:cs typeface="+mn-cs"/>
                        </a:rPr>
                        <a:t>2026/10/12</a:t>
                      </a:r>
                      <a:r>
                        <a:rPr kumimoji="1" lang="ja-JP" altLang="en-US" sz="900" kern="1200">
                          <a:solidFill>
                            <a:schemeClr val="tx1"/>
                          </a:solidFill>
                          <a:latin typeface="+mn-ea"/>
                          <a:ea typeface="+mn-ea"/>
                          <a:cs typeface="+mn-cs"/>
                        </a:rPr>
                        <a:t>→</a:t>
                      </a:r>
                      <a:r>
                        <a:rPr kumimoji="1" lang="en-US" altLang="ja-JP" sz="900" kern="1200">
                          <a:solidFill>
                            <a:schemeClr val="tx1"/>
                          </a:solidFill>
                          <a:latin typeface="+mn-ea"/>
                          <a:ea typeface="+mn-ea"/>
                          <a:cs typeface="+mn-cs"/>
                        </a:rPr>
                        <a:t>2026/10/19</a:t>
                      </a:r>
                      <a:br>
                        <a:rPr kumimoji="1" lang="en-US" altLang="ja-JP" sz="900" kern="1200">
                          <a:solidFill>
                            <a:srgbClr val="000000"/>
                          </a:solidFill>
                          <a:latin typeface="+mn-ea"/>
                          <a:ea typeface="+mn-ea"/>
                          <a:cs typeface="+mn-cs"/>
                        </a:rPr>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期限延伸の背景</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今後の方針の検討材料としてい</a:t>
                      </a:r>
                      <a:r>
                        <a:rPr lang="ja-JP" altLang="en-US" sz="900" kern="1200">
                          <a:solidFill>
                            <a:schemeClr val="tx1"/>
                          </a:solidFill>
                          <a:latin typeface="+mn-ea"/>
                          <a:ea typeface="+mn-ea"/>
                          <a:cs typeface="+mn-cs"/>
                        </a:rPr>
                        <a:t>た</a:t>
                      </a:r>
                      <a:r>
                        <a:rPr kumimoji="1" lang="ja-JP" altLang="en-US" sz="900" kern="1200">
                          <a:solidFill>
                            <a:schemeClr val="tx1"/>
                          </a:solidFill>
                          <a:latin typeface="+mn-ea"/>
                          <a:ea typeface="+mn-ea"/>
                          <a:cs typeface="+mn-cs"/>
                        </a:rPr>
                        <a:t>アンケートの締め切り日が</a:t>
                      </a:r>
                      <a:r>
                        <a:rPr kumimoji="1" lang="en-US" altLang="ja-JP" sz="900" kern="1200">
                          <a:solidFill>
                            <a:schemeClr val="tx1"/>
                          </a:solidFill>
                          <a:latin typeface="+mn-ea"/>
                          <a:ea typeface="+mn-ea"/>
                          <a:cs typeface="+mn-cs"/>
                        </a:rPr>
                        <a:t>9/30</a:t>
                      </a:r>
                      <a:r>
                        <a:rPr kumimoji="1" lang="ja-JP" altLang="en-US" sz="900" kern="1200">
                          <a:solidFill>
                            <a:schemeClr val="tx1"/>
                          </a:solidFill>
                          <a:latin typeface="+mn-ea"/>
                          <a:ea typeface="+mn-ea"/>
                          <a:cs typeface="+mn-cs"/>
                        </a:rPr>
                        <a:t>から</a:t>
                      </a:r>
                      <a:r>
                        <a:rPr kumimoji="1" lang="en-US" altLang="ja-JP" sz="900" kern="1200">
                          <a:solidFill>
                            <a:schemeClr val="tx1"/>
                          </a:solidFill>
                          <a:latin typeface="+mn-ea"/>
                          <a:ea typeface="+mn-ea"/>
                          <a:cs typeface="+mn-cs"/>
                        </a:rPr>
                        <a:t>10/13</a:t>
                      </a:r>
                      <a:r>
                        <a:rPr kumimoji="1" lang="ja-JP" altLang="en-US" sz="900" kern="1200">
                          <a:solidFill>
                            <a:schemeClr val="tx1"/>
                          </a:solidFill>
                          <a:latin typeface="+mn-ea"/>
                          <a:ea typeface="+mn-ea"/>
                          <a:cs typeface="+mn-cs"/>
                        </a:rPr>
                        <a:t>に変更となったため。</a:t>
                      </a:r>
                      <a:endParaRPr kumimoji="1" lang="en-US" altLang="ja-JP" sz="900" b="1"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)(1/8)</a:t>
            </a:r>
            <a:endParaRPr lang="ja-JP" altLang="en-US" sz="2000">
              <a:solidFill>
                <a:schemeClr val="tx2">
                  <a:lumMod val="75000"/>
                </a:schemeClr>
              </a:solidFill>
            </a:endParaRPr>
          </a:p>
        </p:txBody>
      </p:sp>
      <p:sp>
        <p:nvSpPr>
          <p:cNvPr id="8" name="ACNコメント_No12"/>
          <p:cNvSpPr/>
          <p:nvPr/>
        </p:nvSpPr>
        <p:spPr>
          <a:xfrm>
            <a:off x="10056000" y="143235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【内部向けコメント】（No.12）</a:t>
            </a:r>
          </a:p>
          <a:p>
            <a:pPr algn="l"/>
            <a:r>
              <a:rPr sz="900" b="0">
                <a:solidFill>
                  <a:srgbClr val="000000"/>
                </a:solidFill>
              </a:rPr>
              <a:t>細かい点で恐れ入りますが、議題2の項目の箇条書きの字下げ（レベル）が、ページ・項目によって異なるため、そろえていただけますでしょうか。</a:t>
            </a:r>
          </a:p>
        </p:txBody>
      </p:sp>
      <p:cxnSp>
        <p:nvCxnSpPr>
          <p:cNvPr id="9" name="ACNコメント線_No12"/>
          <p:cNvCxnSpPr/>
          <p:nvPr/>
        </p:nvCxnSpPr>
        <p:spPr>
          <a:xfrm flipH="1">
            <a:off x="2448337" y="1632356"/>
            <a:ext cx="7607663"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
          <p:cNvSpPr/>
          <p:nvPr/>
        </p:nvSpPr>
        <p:spPr>
          <a:xfrm>
            <a:off x="10056000" y="457835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a:t>
            </a:r>
          </a:p>
          <a:p>
            <a:pPr algn="l"/>
            <a:r>
              <a:rPr sz="900" b="0">
                <a:solidFill>
                  <a:srgbClr val="000000"/>
                </a:solidFill>
              </a:rPr>
              <a:t>細かい点で恐れ入りますが、9/28の議事要旨では、本課題を「#69」と記載していました。課題台帳上の番号をご確認いただけますでしょうか。</a:t>
            </a:r>
          </a:p>
        </p:txBody>
      </p:sp>
      <p:cxnSp>
        <p:nvCxnSpPr>
          <p:cNvPr id="11" name="ACNコメント線_No1"/>
          <p:cNvCxnSpPr/>
          <p:nvPr/>
        </p:nvCxnSpPr>
        <p:spPr>
          <a:xfrm flipH="1">
            <a:off x="2368377" y="4778356"/>
            <a:ext cx="7687623"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00141-CECD-206B-15A4-45A64C9A586B}"/>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01777464-4BDE-7DAE-64F3-CDF1D628D2D5}"/>
              </a:ext>
            </a:extLst>
          </p:cNvPr>
          <p:cNvGraphicFramePr>
            <a:graphicFrameLocks noGrp="1"/>
          </p:cNvGraphicFramePr>
          <p:nvPr>
            <p:extLst>
              <p:ext uri="{D42A27DB-BD31-4B8C-83A1-F6EECF244321}">
                <p14:modId xmlns:p14="http://schemas.microsoft.com/office/powerpoint/2010/main" val="1353857867"/>
              </p:ext>
            </p:extLst>
          </p:nvPr>
        </p:nvGraphicFramePr>
        <p:xfrm>
          <a:off x="453000" y="843756"/>
          <a:ext cx="9000001" cy="330222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4625074">
                  <a:extLst>
                    <a:ext uri="{9D8B030D-6E8A-4147-A177-3AD203B41FA5}">
                      <a16:colId xmlns:a16="http://schemas.microsoft.com/office/drawing/2014/main" val="99914978"/>
                    </a:ext>
                  </a:extLst>
                </a:gridCol>
                <a:gridCol w="2779590">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をクローズとする。</a:t>
                      </a:r>
                      <a:r>
                        <a:rPr kumimoji="1" lang="en-US" altLang="ja-JP" sz="900" b="0" i="0" u="none" strike="noStrike" kern="1200">
                          <a:solidFill>
                            <a:srgbClr val="000000"/>
                          </a:solidFill>
                          <a:latin typeface="+mn-ea"/>
                          <a:ea typeface="+mn-ea"/>
                          <a:cs typeface="+mn-cs"/>
                        </a:rPr>
                        <a:t>(6</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#1056(</a:t>
                      </a:r>
                      <a:r>
                        <a:rPr lang="ja-JP" altLang="en-US" sz="900" b="0">
                          <a:latin typeface="+mn-ea"/>
                          <a:ea typeface="+mn-ea"/>
                        </a:rPr>
                        <a:t>電カル共有サービスの利用を健診実施機関</a:t>
                      </a:r>
                      <a:r>
                        <a:rPr lang="en-US" altLang="ja-JP" sz="900" b="0">
                          <a:latin typeface="+mn-ea"/>
                          <a:ea typeface="+mn-ea"/>
                        </a:rPr>
                        <a:t>(</a:t>
                      </a:r>
                      <a:r>
                        <a:rPr lang="ja-JP" altLang="en-US" sz="900" b="0">
                          <a:latin typeface="+mn-ea"/>
                          <a:ea typeface="+mn-ea"/>
                        </a:rPr>
                        <a:t>単独</a:t>
                      </a:r>
                      <a:r>
                        <a:rPr lang="en-US" altLang="ja-JP" sz="900" b="0">
                          <a:latin typeface="+mn-ea"/>
                          <a:ea typeface="+mn-ea"/>
                        </a:rPr>
                        <a:t>)</a:t>
                      </a:r>
                      <a:r>
                        <a:rPr lang="ja-JP" altLang="en-US" sz="900" b="0">
                          <a:latin typeface="+mn-ea"/>
                          <a:ea typeface="+mn-ea"/>
                        </a:rPr>
                        <a:t>に拡大する検討において、「健診文書の登録」を行う上での業務要件を、業務フロー図、機能要件として機能一覧、外部</a:t>
                      </a:r>
                      <a:r>
                        <a:rPr lang="en-US" altLang="ja-JP" sz="900" b="0">
                          <a:latin typeface="+mn-ea"/>
                          <a:ea typeface="+mn-ea"/>
                        </a:rPr>
                        <a:t>IF</a:t>
                      </a:r>
                      <a:r>
                        <a:rPr lang="ja-JP" altLang="en-US" sz="900" b="0">
                          <a:latin typeface="+mn-ea"/>
                          <a:ea typeface="+mn-ea"/>
                        </a:rPr>
                        <a:t>一覧、システムフロー図を用いて整理し、整理結果を基金に連携する。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#1196(</a:t>
                      </a:r>
                      <a:r>
                        <a:rPr lang="ja-JP" altLang="en-US" sz="900" b="0">
                          <a:latin typeface="+mn-ea"/>
                          <a:ea typeface="+mn-ea"/>
                        </a:rPr>
                        <a:t>ポータルサイト一括申請に係る前提条件について、厚労省からの確認結果</a:t>
                      </a:r>
                      <a:r>
                        <a:rPr lang="en-US" altLang="ja-JP" sz="900" b="0">
                          <a:latin typeface="+mn-ea"/>
                          <a:ea typeface="+mn-ea"/>
                        </a:rPr>
                        <a:t>(ToDo#1175)</a:t>
                      </a:r>
                      <a:r>
                        <a:rPr lang="ja-JP" altLang="en-US" sz="900" b="0">
                          <a:latin typeface="+mn-ea"/>
                          <a:ea typeface="+mn-ea"/>
                        </a:rPr>
                        <a:t>を確認し、厚労省からの追加照会事項に回答する。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#1202(</a:t>
                      </a:r>
                      <a:r>
                        <a:rPr lang="ja-JP" altLang="en-US" sz="900" b="0">
                          <a:latin typeface="+mn-ea"/>
                          <a:ea typeface="+mn-ea"/>
                        </a:rPr>
                        <a:t>パンくずリストの設定を中心としたポータルサイトを改善する推進体制について、厚労省から提示される体制案と基金の体制を照らし合わせて確認し、確認結果を厚労省に連携する。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#1215(</a:t>
                      </a:r>
                      <a:r>
                        <a:rPr lang="ja-JP" altLang="en-US" sz="900" b="0">
                          <a:latin typeface="+mn-ea"/>
                          <a:ea typeface="+mn-ea"/>
                        </a:rPr>
                        <a:t>受入テストシナリオの厚労省レビュー時に、基金より厚労省に対して当該シナリオに関する説明の可否を確認し、結果を厚労省に連携する。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#1217(</a:t>
                      </a:r>
                      <a:r>
                        <a:rPr lang="ja-JP" altLang="en-US" sz="900" b="0">
                          <a:latin typeface="+mn-ea"/>
                          <a:ea typeface="+mn-ea"/>
                        </a:rPr>
                        <a:t>患者サマリーの運用整理に関する問い合わせ結果について書面にて確認し、確認結果を厚労省に連携する。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#1222(</a:t>
                      </a:r>
                      <a:r>
                        <a:rPr lang="ja-JP" altLang="en-US" sz="900" b="0">
                          <a:latin typeface="+mn-ea"/>
                          <a:ea typeface="+mn-ea"/>
                        </a:rPr>
                        <a:t>厚労省より提示いただいた令和</a:t>
                      </a:r>
                      <a:r>
                        <a:rPr lang="en-US" altLang="ja-JP" sz="900" b="0">
                          <a:latin typeface="+mn-ea"/>
                          <a:ea typeface="+mn-ea"/>
                        </a:rPr>
                        <a:t>9</a:t>
                      </a:r>
                      <a:r>
                        <a:rPr lang="ja-JP" altLang="en-US" sz="900" b="0">
                          <a:latin typeface="+mn-ea"/>
                          <a:ea typeface="+mn-ea"/>
                        </a:rPr>
                        <a:t>年度のプロファイル更新の取り込みスケジュールのドラフト版について、開発事業者と認識合わせを行い、確認結果を厚労省に連携する。</a:t>
                      </a:r>
                      <a:r>
                        <a:rPr lang="en-US" altLang="ja-JP" sz="900" b="0">
                          <a:latin typeface="+mn-ea"/>
                          <a:ea typeface="+mn-ea"/>
                        </a:rPr>
                        <a:t>)</a:t>
                      </a: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ja-JP" sz="900" b="0" i="0" u="none" strike="noStrike" kern="1200" noProof="0" dirty="0">
                          <a:solidFill>
                            <a:srgbClr val="000000"/>
                          </a:solidFill>
                          <a:latin typeface="+mn-ea"/>
                          <a:ea typeface="+mn-ea"/>
                          <a:cs typeface="Arial"/>
                        </a:rPr>
                        <a:t>CLINS 1.14.0</a:t>
                      </a:r>
                      <a:r>
                        <a:rPr lang="ja-JP" altLang="en-US" sz="900" b="0" i="0" u="none" strike="noStrike" kern="1200" noProof="0" dirty="0">
                          <a:solidFill>
                            <a:srgbClr val="000000"/>
                          </a:solidFill>
                          <a:latin typeface="+mn-ea"/>
                          <a:ea typeface="+mn-ea"/>
                          <a:cs typeface="Arial"/>
                        </a:rPr>
                        <a:t>への変更に伴うアドオンチェック対応について、変更内容の取り込み可能期限を開発事業者に確認し、確認結果を厚労省に連携する。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10/19】</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458E7D8-C096-7328-3581-F5AA8403A499}"/>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)(2/8)</a:t>
            </a:r>
            <a:endParaRPr lang="ja-JP" altLang="en-US" sz="2000">
              <a:solidFill>
                <a:schemeClr val="tx2">
                  <a:lumMod val="75000"/>
                </a:schemeClr>
              </a:solidFill>
            </a:endParaRPr>
          </a:p>
        </p:txBody>
      </p:sp>
      <p:sp>
        <p:nvSpPr>
          <p:cNvPr id="8" name="ACNコメント_No6"/>
          <p:cNvSpPr/>
          <p:nvPr/>
        </p:nvSpPr>
        <p:spPr>
          <a:xfrm>
            <a:off x="10056000" y="911916"/>
            <a:ext cx="2700000" cy="1425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【内部向けコメント】（No.6）</a:t>
            </a:r>
          </a:p>
          <a:p>
            <a:pPr algn="l"/>
            <a:r>
              <a:rPr sz="900" b="0">
                <a:solidFill>
                  <a:srgbClr val="000000"/>
                </a:solidFill>
              </a:rPr>
              <a:t>10/5の開発課題検討会で発生したToDoのうち、期限が10/13までのもの（#1224〜#1228・#1231〜#1233。#1229・#1230は10/5の議事要旨で削除済み）の扱い（クローズ・延伸）が記載されていません。会議内では取り扱われていなかったと認識していますが、扱いをご確認いただけますでしょうか。</a:t>
            </a:r>
          </a:p>
        </p:txBody>
      </p:sp>
      <p:cxnSp>
        <p:nvCxnSpPr>
          <p:cNvPr id="9" name="ACNコメント線_No6"/>
          <p:cNvCxnSpPr/>
          <p:nvPr/>
        </p:nvCxnSpPr>
        <p:spPr>
          <a:xfrm flipH="1">
            <a:off x="2448337" y="1111916"/>
            <a:ext cx="7607663" cy="512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752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3A3E-3D48-5950-F439-D64CF22CBD62}"/>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C737508F-2CA3-EE6B-1290-0CC365EEAEFA}"/>
              </a:ext>
            </a:extLst>
          </p:cNvPr>
          <p:cNvGraphicFramePr>
            <a:graphicFrameLocks noGrp="1"/>
          </p:cNvGraphicFramePr>
          <p:nvPr>
            <p:extLst>
              <p:ext uri="{D42A27DB-BD31-4B8C-83A1-F6EECF244321}">
                <p14:modId xmlns:p14="http://schemas.microsoft.com/office/powerpoint/2010/main" val="3524024633"/>
              </p:ext>
            </p:extLst>
          </p:nvPr>
        </p:nvGraphicFramePr>
        <p:xfrm>
          <a:off x="453000" y="843756"/>
          <a:ext cx="9000001" cy="5579076"/>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6105063">
                  <a:extLst>
                    <a:ext uri="{9D8B030D-6E8A-4147-A177-3AD203B41FA5}">
                      <a16:colId xmlns:a16="http://schemas.microsoft.com/office/drawing/2014/main" val="99914978"/>
                    </a:ext>
                  </a:extLst>
                </a:gridCol>
                <a:gridCol w="1299601">
                  <a:extLst>
                    <a:ext uri="{9D8B030D-6E8A-4147-A177-3AD203B41FA5}">
                      <a16:colId xmlns:a16="http://schemas.microsoft.com/office/drawing/2014/main" val="2028788276"/>
                    </a:ext>
                  </a:extLst>
                </a:gridCol>
              </a:tblGrid>
              <a:tr h="139399">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3461845">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8256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18256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b="0" i="0" u="none" strike="noStrike"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の対応期限を延伸する。</a:t>
                      </a:r>
                      <a:r>
                        <a:rPr kumimoji="1" lang="en-US" altLang="ja-JP" sz="900" b="0" i="0" u="none" strike="noStrike" kern="1200">
                          <a:solidFill>
                            <a:srgbClr val="000000"/>
                          </a:solidFill>
                          <a:latin typeface="+mn-ea"/>
                          <a:ea typeface="+mn-ea"/>
                          <a:cs typeface="+mn-cs"/>
                        </a:rPr>
                        <a:t>(6</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#784(</a:t>
                      </a:r>
                      <a:r>
                        <a:rPr kumimoji="1" lang="ja-JP" altLang="en-US" sz="900" b="0" kern="1200">
                          <a:solidFill>
                            <a:srgbClr val="000000"/>
                          </a:solidFill>
                          <a:latin typeface="+mn-ea"/>
                          <a:ea typeface="+mn-ea"/>
                          <a:cs typeface="+mn-cs"/>
                        </a:rPr>
                        <a:t>令和</a:t>
                      </a:r>
                      <a:r>
                        <a:rPr kumimoji="1" lang="en-US" altLang="ja-JP" sz="900" b="0" kern="1200">
                          <a:solidFill>
                            <a:srgbClr val="000000"/>
                          </a:solidFill>
                          <a:latin typeface="+mn-ea"/>
                          <a:ea typeface="+mn-ea"/>
                          <a:cs typeface="+mn-cs"/>
                        </a:rPr>
                        <a:t>9</a:t>
                      </a:r>
                      <a:r>
                        <a:rPr kumimoji="1" lang="ja-JP" altLang="en-US" sz="900" b="0" kern="1200">
                          <a:solidFill>
                            <a:srgbClr val="000000"/>
                          </a:solidFill>
                          <a:latin typeface="+mn-ea"/>
                          <a:ea typeface="+mn-ea"/>
                          <a:cs typeface="+mn-cs"/>
                        </a:rPr>
                        <a:t>年度以降に検証用ツールの更新停止</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接続検証環境の利用への移行</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するかを判断するにあたって、モデルベンダー・</a:t>
                      </a:r>
                      <a:r>
                        <a:rPr kumimoji="1" lang="en-US" altLang="ja-JP" sz="900" b="0" kern="1200">
                          <a:solidFill>
                            <a:srgbClr val="000000"/>
                          </a:solidFill>
                          <a:latin typeface="+mn-ea"/>
                          <a:ea typeface="+mn-ea"/>
                          <a:cs typeface="+mn-cs"/>
                        </a:rPr>
                        <a:t>JAHIS</a:t>
                      </a:r>
                      <a:r>
                        <a:rPr kumimoji="1" lang="ja-JP" altLang="en-US" sz="900" b="0" kern="1200">
                          <a:solidFill>
                            <a:srgbClr val="000000"/>
                          </a:solidFill>
                          <a:latin typeface="+mn-ea"/>
                          <a:ea typeface="+mn-ea"/>
                          <a:cs typeface="+mn-cs"/>
                        </a:rPr>
                        <a:t>に対して、</a:t>
                      </a:r>
                      <a:r>
                        <a:rPr kumimoji="1" lang="ja-JP" altLang="en-US" sz="900" b="0" kern="1200">
                          <a:solidFill>
                            <a:srgbClr val="000000"/>
                          </a:solidFill>
                          <a:highlight>
                            <a:srgbClr val="FFFF00"/>
                          </a:highlight>
                          <a:latin typeface="+mn-ea"/>
                          <a:ea typeface="+mn-ea"/>
                          <a:cs typeface="+mn-cs"/>
                        </a:rPr>
                        <a:t>以下を調査する。</a:t>
                      </a:r>
                      <a:r>
                        <a:rPr kumimoji="1" lang="ja-JP" altLang="en-US" sz="900" b="0" kern="1200">
                          <a:solidFill>
                            <a:srgbClr val="000000"/>
                          </a:solidFill>
                          <a:latin typeface="+mn-ea"/>
                          <a:ea typeface="+mn-ea"/>
                          <a:cs typeface="+mn-cs"/>
                        </a:rPr>
                        <a:t>その際に、ソースコードをどのように活用することを想定しているかも確認する。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今後の方針の検討材料としていた</a:t>
                      </a:r>
                      <a:r>
                        <a:rPr kumimoji="1" lang="en-US" altLang="ja-JP" sz="900" b="0" kern="1200">
                          <a:solidFill>
                            <a:srgbClr val="000000"/>
                          </a:solidFill>
                          <a:latin typeface="+mn-ea"/>
                          <a:ea typeface="+mn-ea"/>
                          <a:cs typeface="+mn-cs"/>
                        </a:rPr>
                        <a:t>9/30</a:t>
                      </a:r>
                      <a:r>
                        <a:rPr kumimoji="1" lang="ja-JP" altLang="en-US" sz="900" b="0" kern="1200">
                          <a:solidFill>
                            <a:srgbClr val="000000"/>
                          </a:solidFill>
                          <a:latin typeface="+mn-ea"/>
                          <a:ea typeface="+mn-ea"/>
                          <a:cs typeface="+mn-cs"/>
                        </a:rPr>
                        <a:t>締め切りのアンケートの締め切り日が</a:t>
                      </a:r>
                      <a:r>
                        <a:rPr kumimoji="1" lang="en-US" altLang="ja-JP" sz="900" b="0" kern="1200">
                          <a:solidFill>
                            <a:srgbClr val="000000"/>
                          </a:solidFill>
                          <a:latin typeface="+mn-ea"/>
                          <a:ea typeface="+mn-ea"/>
                          <a:cs typeface="+mn-cs"/>
                        </a:rPr>
                        <a:t>10/13</a:t>
                      </a:r>
                      <a:r>
                        <a:rPr kumimoji="1" lang="ja-JP" altLang="en-US" sz="900" b="0" kern="1200">
                          <a:solidFill>
                            <a:srgbClr val="000000"/>
                          </a:solidFill>
                          <a:latin typeface="+mn-ea"/>
                          <a:ea typeface="+mn-ea"/>
                          <a:cs typeface="+mn-cs"/>
                        </a:rPr>
                        <a:t>に変更となったため。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#1178(</a:t>
                      </a: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ID163</a:t>
                      </a:r>
                      <a:r>
                        <a:rPr kumimoji="1" lang="ja-JP" altLang="en-US" sz="900" b="0" kern="1200">
                          <a:solidFill>
                            <a:srgbClr val="000000"/>
                          </a:solidFill>
                          <a:latin typeface="+mn-ea"/>
                          <a:ea typeface="+mn-ea"/>
                          <a:cs typeface="+mn-cs"/>
                        </a:rPr>
                        <a:t>(ログ・統計機能の改修)について、調達時に整理した要件の一部が開発段階にて抜け漏れている事象が確認されたことから、開発事業者における要件定義から開発着手までのプロセスを確認し、確認結果を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#1193(</a:t>
                      </a:r>
                      <a:r>
                        <a:rPr kumimoji="1" lang="en-US" altLang="ja-JP" sz="900" b="0" kern="1200">
                          <a:solidFill>
                            <a:srgbClr val="000000"/>
                          </a:solidFill>
                          <a:highlight>
                            <a:srgbClr val="FFFF00"/>
                          </a:highlight>
                          <a:latin typeface="+mn-ea"/>
                          <a:ea typeface="+mn-ea"/>
                          <a:cs typeface="+mn-cs"/>
                        </a:rPr>
                        <a:t>ToDo#1192</a:t>
                      </a:r>
                      <a:r>
                        <a:rPr kumimoji="1" lang="ja-JP" altLang="en-US" sz="900" b="0" kern="1200">
                          <a:solidFill>
                            <a:srgbClr val="000000"/>
                          </a:solidFill>
                          <a:highlight>
                            <a:srgbClr val="FFFF00"/>
                          </a:highlight>
                          <a:latin typeface="+mn-ea"/>
                          <a:ea typeface="+mn-ea"/>
                          <a:cs typeface="+mn-cs"/>
                        </a:rPr>
                        <a:t>で報告された基金からの見積もり結果</a:t>
                      </a:r>
                      <a:r>
                        <a:rPr kumimoji="1" lang="ja-JP" altLang="en-US" sz="900" b="0" kern="1200">
                          <a:solidFill>
                            <a:srgbClr val="000000"/>
                          </a:solidFill>
                          <a:latin typeface="+mn-ea"/>
                          <a:ea typeface="+mn-ea"/>
                          <a:cs typeface="+mn-cs"/>
                        </a:rPr>
                        <a:t>を踏まえ、標準マスタの</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値の変更によるエラーに対する恒久対応の方針を決定する。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2026/10/12</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標準マスタにおける</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値の変更によるエラーの恒久対応について、運用フローの整理結果に基づき、</a:t>
                      </a:r>
                      <a:r>
                        <a:rPr kumimoji="1" lang="ja-JP" altLang="en-US" sz="900" b="0" kern="1200">
                          <a:solidFill>
                            <a:srgbClr val="000000"/>
                          </a:solidFill>
                          <a:highlight>
                            <a:srgbClr val="FFFF00"/>
                          </a:highlight>
                          <a:latin typeface="+mn-ea"/>
                          <a:ea typeface="+mn-ea"/>
                          <a:cs typeface="+mn-cs"/>
                        </a:rPr>
                        <a:t>パターン②～④の各方式で見積もりを実施する方針となったため。</a:t>
                      </a:r>
                      <a:r>
                        <a:rPr kumimoji="1" lang="ja-JP" altLang="en-US" sz="900" b="0" kern="1200">
                          <a:solidFill>
                            <a:srgbClr val="000000"/>
                          </a:solidFill>
                          <a:latin typeface="+mn-ea"/>
                          <a:ea typeface="+mn-ea"/>
                          <a:cs typeface="+mn-cs"/>
                        </a:rPr>
                        <a:t>​</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#1210(BI</a:t>
                      </a:r>
                      <a:r>
                        <a:rPr kumimoji="1" lang="ja-JP" altLang="en-US" sz="900" b="0" kern="1200">
                          <a:solidFill>
                            <a:srgbClr val="000000"/>
                          </a:solidFill>
                          <a:latin typeface="+mn-ea"/>
                          <a:ea typeface="+mn-ea"/>
                          <a:cs typeface="+mn-cs"/>
                        </a:rPr>
                        <a:t>ツール活用に係る案件を起票し、厚労省に説明する。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ID225(BI</a:t>
                      </a:r>
                      <a:r>
                        <a:rPr kumimoji="1" lang="ja-JP" altLang="en-US" sz="900" b="0" kern="1200">
                          <a:solidFill>
                            <a:srgbClr val="000000"/>
                          </a:solidFill>
                          <a:latin typeface="+mn-ea"/>
                          <a:ea typeface="+mn-ea"/>
                          <a:cs typeface="+mn-cs"/>
                        </a:rPr>
                        <a:t>基盤活用による臨床情報の可視化</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について厚労省から受けた照会事項への回答を別途会議を調整し、説明することとなったため。​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#1211(BI</a:t>
                      </a:r>
                      <a:r>
                        <a:rPr kumimoji="1" lang="ja-JP" altLang="en-US" sz="900" b="0" kern="1200">
                          <a:solidFill>
                            <a:srgbClr val="000000"/>
                          </a:solidFill>
                          <a:latin typeface="+mn-ea"/>
                          <a:ea typeface="+mn-ea"/>
                          <a:cs typeface="+mn-cs"/>
                        </a:rPr>
                        <a:t>ツール活用に係る案件を起票するにあたり、開発事業者と基金にて調整したデータ連携スコープについて厚労省に説明する。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2026/10/26</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案件</a:t>
                      </a:r>
                      <a:r>
                        <a:rPr kumimoji="1" lang="en-US" altLang="ja-JP" sz="900" b="0" kern="1200">
                          <a:solidFill>
                            <a:srgbClr val="000000"/>
                          </a:solidFill>
                          <a:latin typeface="+mn-ea"/>
                          <a:ea typeface="+mn-ea"/>
                          <a:cs typeface="+mn-cs"/>
                        </a:rPr>
                        <a:t>ID225(BI</a:t>
                      </a:r>
                      <a:r>
                        <a:rPr kumimoji="1" lang="ja-JP" altLang="en-US" sz="900" b="0" kern="1200">
                          <a:solidFill>
                            <a:srgbClr val="000000"/>
                          </a:solidFill>
                          <a:latin typeface="+mn-ea"/>
                          <a:ea typeface="+mn-ea"/>
                          <a:cs typeface="+mn-cs"/>
                        </a:rPr>
                        <a:t>基盤活用による臨床情報の可視化</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について厚労省から受けた照会事項への回答を別途会議を調整し、説明することとなったため。​</a:t>
                      </a: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(続)</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3959E60E-3900-9CFE-2737-BD816D967BD4}"/>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)(3/8)</a:t>
            </a:r>
            <a:endParaRPr lang="ja-JP" altLang="en-US" sz="2000">
              <a:solidFill>
                <a:schemeClr val="tx2">
                  <a:lumMod val="75000"/>
                </a:schemeClr>
              </a:solidFill>
            </a:endParaRPr>
          </a:p>
        </p:txBody>
      </p:sp>
      <p:sp>
        <p:nvSpPr>
          <p:cNvPr id="8" name="ACNコメント_No2"/>
          <p:cNvSpPr/>
          <p:nvPr/>
        </p:nvSpPr>
        <p:spPr>
          <a:xfrm>
            <a:off x="10056000" y="1483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【内部向けコメント】（No.2）</a:t>
            </a:r>
          </a:p>
          <a:p>
            <a:pPr algn="l"/>
            <a:r>
              <a:rPr sz="900" b="0">
                <a:solidFill>
                  <a:srgbClr val="000000"/>
                </a:solidFill>
              </a:rPr>
              <a:t>細かい点で恐れ入りますが、「以下を調査する」とありますが、調査項目が記載されていないため、項目を記載いただくか「…について調査する」等に修正いただけますでしょうか。</a:t>
            </a:r>
          </a:p>
        </p:txBody>
      </p:sp>
      <p:cxnSp>
        <p:nvCxnSpPr>
          <p:cNvPr id="9" name="ACNコメント線_No2"/>
          <p:cNvCxnSpPr/>
          <p:nvPr/>
        </p:nvCxnSpPr>
        <p:spPr>
          <a:xfrm flipH="1">
            <a:off x="3967084" y="1683916"/>
            <a:ext cx="6088916"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3"/>
          <p:cNvSpPr/>
          <p:nvPr/>
        </p:nvSpPr>
        <p:spPr>
          <a:xfrm>
            <a:off x="10056000" y="3271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【内部向けコメント】（No.3）</a:t>
            </a:r>
          </a:p>
          <a:p>
            <a:pPr algn="l"/>
            <a:r>
              <a:rPr sz="900" b="0">
                <a:solidFill>
                  <a:srgbClr val="000000"/>
                </a:solidFill>
              </a:rPr>
              <a:t>#1192は9/28に取り下げ（#1198と同内容のため）、#1198は10/5に取り下げ（#1219で後続対応）となっているため、参照先のToDo番号をご確認いただけますでしょうか。</a:t>
            </a:r>
          </a:p>
        </p:txBody>
      </p:sp>
      <p:cxnSp>
        <p:nvCxnSpPr>
          <p:cNvPr id="11" name="ACNコメント線_No3"/>
          <p:cNvCxnSpPr/>
          <p:nvPr/>
        </p:nvCxnSpPr>
        <p:spPr>
          <a:xfrm flipH="1">
            <a:off x="2985597" y="3471416"/>
            <a:ext cx="7070403"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2" name="ACNコメント_No4"/>
          <p:cNvSpPr/>
          <p:nvPr/>
        </p:nvSpPr>
        <p:spPr>
          <a:xfrm>
            <a:off x="10056000" y="4327416"/>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【内部向けコメント】（No.4）</a:t>
            </a:r>
          </a:p>
          <a:p>
            <a:pPr algn="l"/>
            <a:r>
              <a:rPr sz="900" b="0">
                <a:solidFill>
                  <a:srgbClr val="000000"/>
                </a:solidFill>
              </a:rPr>
              <a:t>会議では「パターン②～④の見積もり結果を厚労省にまだ共有できていないため、共有したうえで厚労省に検討いただく」との説明でした。背景を「見積もり結果の厚労省への共有が完了していないため。」等に修正いただけますでしょうか。</a:t>
            </a:r>
          </a:p>
        </p:txBody>
      </p:sp>
      <p:cxnSp>
        <p:nvCxnSpPr>
          <p:cNvPr id="13" name="ACNコメント線_No4"/>
          <p:cNvCxnSpPr/>
          <p:nvPr/>
        </p:nvCxnSpPr>
        <p:spPr>
          <a:xfrm flipH="1">
            <a:off x="3041254" y="4527416"/>
            <a:ext cx="7014746" cy="100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795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04B52-409F-68C5-E3F3-49DAFFFFD80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7A56179-5B5F-8398-2297-03960A659944}"/>
              </a:ext>
            </a:extLst>
          </p:cNvPr>
          <p:cNvGraphicFramePr>
            <a:graphicFrameLocks noGrp="1"/>
          </p:cNvGraphicFramePr>
          <p:nvPr>
            <p:extLst>
              <p:ext uri="{D42A27DB-BD31-4B8C-83A1-F6EECF244321}">
                <p14:modId xmlns:p14="http://schemas.microsoft.com/office/powerpoint/2010/main" val="4030013892"/>
              </p:ext>
            </p:extLst>
          </p:nvPr>
        </p:nvGraphicFramePr>
        <p:xfrm>
          <a:off x="453000" y="843756"/>
          <a:ext cx="9000001" cy="2835876"/>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724063">
                  <a:extLst>
                    <a:ext uri="{9D8B030D-6E8A-4147-A177-3AD203B41FA5}">
                      <a16:colId xmlns:a16="http://schemas.microsoft.com/office/drawing/2014/main" val="99914978"/>
                    </a:ext>
                  </a:extLst>
                </a:gridCol>
                <a:gridCol w="1680601">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731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87313"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b="0" i="0" u="none" strike="noStrike"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#1213(</a:t>
                      </a:r>
                      <a:r>
                        <a:rPr kumimoji="1" lang="ja-JP" altLang="en-US" sz="900" b="0" kern="1200">
                          <a:solidFill>
                            <a:srgbClr val="000000"/>
                          </a:solidFill>
                          <a:latin typeface="+mn-ea"/>
                          <a:ea typeface="+mn-ea"/>
                          <a:cs typeface="+mn-cs"/>
                        </a:rPr>
                        <a:t>「②ステークホルダーへのデータ共有」について、厚労省職員の端末で</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ツールへアクセスする際のネットワーク形式を確認し、結果を基金に連携する。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2026/10/13</a:t>
                      </a:r>
                      <a:r>
                        <a:rPr kumimoji="1" lang="ja-JP" altLang="en-US" sz="900" b="0" kern="1200">
                          <a:solidFill>
                            <a:schemeClr val="tx1"/>
                          </a:solidFill>
                          <a:latin typeface="+mn-ea"/>
                          <a:ea typeface="+mn-ea"/>
                          <a:cs typeface="+mn-cs"/>
                        </a:rPr>
                        <a:t>→</a:t>
                      </a:r>
                      <a:r>
                        <a:rPr kumimoji="1" lang="en-US" altLang="ja-JP" sz="900" b="0" kern="1200">
                          <a:solidFill>
                            <a:schemeClr val="tx1"/>
                          </a:solidFill>
                          <a:latin typeface="+mn-ea"/>
                          <a:ea typeface="+mn-ea"/>
                          <a:cs typeface="+mn-cs"/>
                        </a:rPr>
                        <a:t>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highlight>
                            <a:srgbClr val="FFFF00"/>
                          </a:highlight>
                          <a:latin typeface="+mn-ea"/>
                          <a:ea typeface="+mn-ea"/>
                          <a:cs typeface="+mn-cs"/>
                        </a:rPr>
                        <a:t>厚労省内での確認作業(</a:t>
                      </a:r>
                      <a:r>
                        <a:rPr kumimoji="1" lang="en-US" altLang="ja-JP" sz="900" b="0" kern="1200">
                          <a:solidFill>
                            <a:srgbClr val="000000"/>
                          </a:solidFill>
                          <a:highlight>
                            <a:srgbClr val="FFFF00"/>
                          </a:highlight>
                          <a:latin typeface="+mn-ea"/>
                          <a:ea typeface="+mn-ea"/>
                          <a:cs typeface="+mn-cs"/>
                        </a:rPr>
                        <a:t>DX</a:t>
                      </a:r>
                      <a:r>
                        <a:rPr kumimoji="1" lang="ja-JP" altLang="en-US" sz="900" b="0" kern="1200">
                          <a:solidFill>
                            <a:srgbClr val="000000"/>
                          </a:solidFill>
                          <a:highlight>
                            <a:srgbClr val="FFFF00"/>
                          </a:highlight>
                          <a:latin typeface="+mn-ea"/>
                          <a:ea typeface="+mn-ea"/>
                          <a:cs typeface="+mn-cs"/>
                        </a:rPr>
                        <a:t>機構への更問含む)に時間を要しているため。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kern="1200">
                        <a:solidFill>
                          <a:srgbClr val="000000"/>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6</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を取り下げる。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6700" marR="0" lvl="0" indent="-171450" algn="l" defTabSz="843930" rtl="0" eaLnBrk="1" fontAlgn="base" latinLnBrk="0" hangingPunct="1">
                        <a:lnSpc>
                          <a:spcPct val="12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#1206(</a:t>
                      </a:r>
                      <a:r>
                        <a:rPr kumimoji="1" lang="ja-JP" altLang="en-US" sz="900" kern="1200">
                          <a:solidFill>
                            <a:schemeClr val="tx1"/>
                          </a:solidFill>
                          <a:latin typeface="+mn-ea"/>
                          <a:ea typeface="+mn-ea"/>
                          <a:cs typeface="+mn-cs"/>
                        </a:rPr>
                        <a:t>医療機関で承継が発生した場合の患者サマリーの出力仕様の改修について、厚労省提示予定のあるべき姿を踏まえ、改修スケジュール及びマイナポータルを除く費用の見積もりを開発事業者より取得し、厚労省に報告する。</a:t>
                      </a:r>
                      <a:r>
                        <a:rPr kumimoji="1" lang="en-US" altLang="ja-JP" sz="900" kern="1200">
                          <a:solidFill>
                            <a:schemeClr val="tx1"/>
                          </a:solidFill>
                          <a:latin typeface="+mn-ea"/>
                          <a:ea typeface="+mn-ea"/>
                          <a:cs typeface="+mn-cs"/>
                        </a:rPr>
                        <a:t>)</a:t>
                      </a:r>
                      <a:br>
                        <a:rPr kumimoji="1" lang="ja-JP" altLang="en-US" sz="900" kern="1200"/>
                      </a:b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取り下げの背景</a:t>
                      </a:r>
                      <a:br>
                        <a:rPr kumimoji="1" lang="en-US" altLang="ja-JP" sz="900" kern="1200">
                          <a:solidFill>
                            <a:schemeClr val="tx1"/>
                          </a:solidFill>
                          <a:latin typeface="+mn-ea"/>
                          <a:ea typeface="+mn-ea"/>
                          <a:cs typeface="+mn-cs"/>
                        </a:rPr>
                      </a:br>
                      <a:r>
                        <a:rPr kumimoji="1" lang="en-US" altLang="ja-JP" sz="900" kern="1200">
                          <a:solidFill>
                            <a:schemeClr val="tx1"/>
                          </a:solidFill>
                          <a:latin typeface="+mn-ea"/>
                          <a:ea typeface="+mn-ea"/>
                          <a:cs typeface="+mn-cs"/>
                        </a:rPr>
                        <a:t>10/20</a:t>
                      </a:r>
                      <a:r>
                        <a:rPr kumimoji="1" lang="ja-JP" altLang="en-US" sz="900" kern="1200">
                          <a:solidFill>
                            <a:schemeClr val="tx1"/>
                          </a:solidFill>
                          <a:latin typeface="+mn-ea"/>
                          <a:ea typeface="+mn-ea"/>
                          <a:cs typeface="+mn-cs"/>
                        </a:rPr>
                        <a:t>調達委員会に付議予定であり、</a:t>
                      </a:r>
                      <a:r>
                        <a:rPr kumimoji="1" lang="en-US" altLang="ja-JP" sz="900" kern="1200">
                          <a:solidFill>
                            <a:schemeClr val="tx1"/>
                          </a:solidFill>
                          <a:latin typeface="+mn-ea"/>
                          <a:ea typeface="+mn-ea"/>
                          <a:cs typeface="+mn-cs"/>
                        </a:rPr>
                        <a:t>令和9年度</a:t>
                      </a:r>
                      <a:r>
                        <a:rPr kumimoji="1" lang="ja-JP" altLang="en-US" sz="900" kern="1200">
                          <a:solidFill>
                            <a:schemeClr val="tx1"/>
                          </a:solidFill>
                          <a:latin typeface="+mn-ea"/>
                          <a:ea typeface="+mn-ea"/>
                          <a:cs typeface="+mn-cs"/>
                        </a:rPr>
                        <a:t>案件として後続の対応を進めるため。</a:t>
                      </a:r>
                      <a:endParaRPr kumimoji="1" lang="en-US" altLang="ja-JP" sz="900" kern="120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1" i="0" u="sng"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E22A17B6-FD51-32E6-674D-D4C11FE40FA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)(4/8)</a:t>
            </a:r>
            <a:endParaRPr lang="ja-JP" altLang="en-US" sz="2000">
              <a:solidFill>
                <a:schemeClr val="tx2">
                  <a:lumMod val="75000"/>
                </a:schemeClr>
              </a:solidFill>
            </a:endParaRPr>
          </a:p>
        </p:txBody>
      </p:sp>
      <p:sp>
        <p:nvSpPr>
          <p:cNvPr id="8" name="ACNコメント_No5"/>
          <p:cNvSpPr/>
          <p:nvPr/>
        </p:nvSpPr>
        <p:spPr>
          <a:xfrm>
            <a:off x="10056000" y="1912916"/>
            <a:ext cx="2700000" cy="853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【内部向けコメント】（No.5）</a:t>
            </a:r>
          </a:p>
          <a:p>
            <a:pPr algn="l"/>
            <a:r>
              <a:rPr sz="900" b="0">
                <a:solidFill>
                  <a:srgbClr val="000000"/>
                </a:solidFill>
              </a:rPr>
              <a:t>会議では、#1210・#1211と同様に「10/16で調整中の別会議の結果を踏まえて対応する」との説明でした。背景をご確認いただけますでしょうか。</a:t>
            </a:r>
          </a:p>
        </p:txBody>
      </p:sp>
      <p:cxnSp>
        <p:nvCxnSpPr>
          <p:cNvPr id="9" name="ACNコメント線_No5"/>
          <p:cNvCxnSpPr/>
          <p:nvPr/>
        </p:nvCxnSpPr>
        <p:spPr>
          <a:xfrm flipH="1">
            <a:off x="2368377" y="2112916"/>
            <a:ext cx="7687623" cy="226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0924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3442433986"/>
              </p:ext>
            </p:extLst>
          </p:nvPr>
        </p:nvGraphicFramePr>
        <p:xfrm>
          <a:off x="453000" y="829318"/>
          <a:ext cx="9000000" cy="5276368"/>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4206240">
                  <a:extLst>
                    <a:ext uri="{9D8B030D-6E8A-4147-A177-3AD203B41FA5}">
                      <a16:colId xmlns:a16="http://schemas.microsoft.com/office/drawing/2014/main" val="99914978"/>
                    </a:ext>
                  </a:extLst>
                </a:gridCol>
                <a:gridCol w="2670537">
                  <a:extLst>
                    <a:ext uri="{9D8B030D-6E8A-4147-A177-3AD203B41FA5}">
                      <a16:colId xmlns:a16="http://schemas.microsoft.com/office/drawing/2014/main" val="2028788276"/>
                    </a:ext>
                  </a:extLst>
                </a:gridCol>
              </a:tblGrid>
              <a:tr h="0">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9394603"/>
                  </a:ext>
                </a:extLst>
              </a:tr>
              <a:tr h="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年度案件の概況</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755467"/>
                  </a:ext>
                </a:extLst>
              </a:tr>
              <a:tr h="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r>
                        <a:rPr kumimoji="1" lang="en-US" altLang="ja-JP" sz="900" b="0">
                          <a:latin typeface="+mn-ea"/>
                          <a:ea typeface="+mn-ea"/>
                        </a:rPr>
                        <a:t>(</a:t>
                      </a:r>
                      <a:r>
                        <a:rPr kumimoji="1" lang="ja-JP" altLang="en-US" sz="900" b="0">
                          <a:latin typeface="+mn-ea"/>
                          <a:ea typeface="+mn-ea"/>
                        </a:rPr>
                        <a:t>続</a:t>
                      </a:r>
                      <a:r>
                        <a:rPr kumimoji="1" lang="en-US" altLang="ja-JP" sz="900" b="0">
                          <a:latin typeface="+mn-ea"/>
                          <a:ea typeface="+mn-ea"/>
                        </a:rPr>
                        <a:t>)​​</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．令和9年度開発向け要件整理案件の実施内容・進め方について</a:t>
                      </a:r>
                      <a:endParaRPr kumimoji="1" lang="en-US" altLang="ja-JP" sz="900" b="1" i="0" u="sng" strike="noStrike" kern="1200">
                        <a:solidFill>
                          <a:srgbClr val="000000"/>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1" i="0" u="none" strike="noStrike" kern="1200">
                          <a:solidFill>
                            <a:srgbClr val="000000"/>
                          </a:solidFill>
                          <a:latin typeface="+mn-ea"/>
                          <a:ea typeface="+mn-ea"/>
                          <a:cs typeface="+mn-cs"/>
                        </a:rPr>
                        <a:t>■実施内容</a:t>
                      </a:r>
                      <a:endParaRPr kumimoji="1" lang="en-US" altLang="ja-JP" sz="900" b="1" i="0" u="none" strike="noStrik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chemeClr val="tx1"/>
                          </a:solidFill>
                          <a:latin typeface="+mn-ea"/>
                          <a:ea typeface="+mn-ea"/>
                          <a:cs typeface="+mn-cs"/>
                        </a:rPr>
                        <a:t>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年度開発向け要件整理案件については、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P15-16</a:t>
                      </a:r>
                      <a:r>
                        <a:rPr kumimoji="1" lang="ja-JP" altLang="en-US" sz="900" b="0" i="0" u="none" strike="noStrike" kern="1200">
                          <a:solidFill>
                            <a:schemeClr val="tx1"/>
                          </a:solidFill>
                          <a:latin typeface="+mn-ea"/>
                          <a:ea typeface="+mn-ea"/>
                          <a:cs typeface="+mn-cs"/>
                        </a:rPr>
                        <a:t>の実施内容を踏まえて要件整理を進める方針とする。なお、</a:t>
                      </a:r>
                      <a:r>
                        <a:rPr kumimoji="1" lang="en-US" altLang="ja-JP" sz="900" b="0" i="0" u="none" strike="noStrike" kern="1200">
                          <a:solidFill>
                            <a:schemeClr val="tx1"/>
                          </a:solidFill>
                          <a:latin typeface="+mn-ea"/>
                          <a:ea typeface="+mn-ea"/>
                          <a:cs typeface="+mn-cs"/>
                        </a:rPr>
                        <a:t>(1)～(4)</a:t>
                      </a:r>
                      <a:r>
                        <a:rPr kumimoji="1" lang="ja-JP" altLang="en-US" sz="900" b="0" i="0" u="none" strike="noStrike" kern="1200">
                          <a:solidFill>
                            <a:schemeClr val="tx1"/>
                          </a:solidFill>
                          <a:latin typeface="+mn-ea"/>
                          <a:ea typeface="+mn-ea"/>
                          <a:cs typeface="+mn-cs"/>
                        </a:rPr>
                        <a:t>の記載粒度は機能定義書相当とする。</a:t>
                      </a:r>
                      <a:endParaRPr kumimoji="1" lang="en-US" altLang="ja-JP" sz="900" b="0" i="0" u="none" strike="noStrik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chemeClr val="tx1"/>
                          </a:solidFill>
                          <a:latin typeface="+mn-ea"/>
                          <a:ea typeface="+mn-ea"/>
                          <a:cs typeface="+mn-cs"/>
                        </a:rPr>
                        <a:t>要件整理案件の成果物については、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P18</a:t>
                      </a:r>
                      <a:r>
                        <a:rPr kumimoji="1" lang="ja-JP" altLang="en-US" sz="900" b="0" i="0" u="none" strike="noStrike" kern="1200">
                          <a:solidFill>
                            <a:schemeClr val="tx1"/>
                          </a:solidFill>
                          <a:latin typeface="+mn-ea"/>
                          <a:ea typeface="+mn-ea"/>
                          <a:cs typeface="+mn-cs"/>
                        </a:rPr>
                        <a:t>の内容を基調とする。</a:t>
                      </a:r>
                      <a:endParaRPr kumimoji="1" lang="en-US" altLang="ja-JP" sz="900" b="0" i="0" u="none" strike="noStrik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1" i="0" u="none" strike="noStrike" kern="1200">
                          <a:solidFill>
                            <a:schemeClr val="tx1"/>
                          </a:solidFill>
                          <a:latin typeface="+mn-ea"/>
                          <a:ea typeface="+mn-ea"/>
                          <a:cs typeface="+mn-cs"/>
                        </a:rPr>
                        <a:t>■スケジュール・進め方</a:t>
                      </a:r>
                      <a:endParaRPr kumimoji="1" lang="en-US" altLang="ja-JP" sz="900" b="1"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a:t>
                      </a:r>
                      <a:r>
                        <a:rPr kumimoji="1" lang="en-US" altLang="ja-JP" sz="900" b="0" u="none" kern="1200">
                          <a:solidFill>
                            <a:schemeClr val="tx1"/>
                          </a:solidFill>
                          <a:latin typeface="+mn-ea"/>
                          <a:ea typeface="+mn-ea"/>
                          <a:cs typeface="+mn-cs"/>
                        </a:rPr>
                        <a:t>12</a:t>
                      </a:r>
                      <a:r>
                        <a:rPr kumimoji="1" lang="ja-JP" altLang="en-US" sz="900" b="0" u="none" kern="1200">
                          <a:solidFill>
                            <a:schemeClr val="tx1"/>
                          </a:solidFill>
                          <a:latin typeface="+mn-ea"/>
                          <a:ea typeface="+mn-ea"/>
                          <a:cs typeface="+mn-cs"/>
                        </a:rPr>
                        <a:t>月リリース対象案件は、要件整理結果及び見積もり結果を踏まえて精査し、令和8年度3月の調達委員会で付議する方針とする。詳細なスケジュールは</a:t>
                      </a:r>
                      <a:r>
                        <a:rPr kumimoji="1" lang="en-US" altLang="ja-JP" sz="900" b="0" i="0" u="none" strike="noStrike" kern="1200">
                          <a:solidFill>
                            <a:schemeClr val="tx1"/>
                          </a:solidFill>
                          <a:latin typeface="+mn-ea"/>
                          <a:ea typeface="+mn-ea"/>
                          <a:cs typeface="+mn-cs"/>
                        </a:rPr>
                        <a:t>10/13</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_20261013.pptx</a:t>
                      </a:r>
                      <a:r>
                        <a:rPr kumimoji="1" lang="ja-JP" altLang="en-US" sz="900" b="0" i="0" u="none" strike="noStrike" kern="1200">
                          <a:solidFill>
                            <a:schemeClr val="tx1"/>
                          </a:solidFill>
                          <a:latin typeface="+mn-ea"/>
                          <a:ea typeface="+mn-ea"/>
                          <a:cs typeface="+mn-cs"/>
                        </a:rPr>
                        <a:t>」の</a:t>
                      </a:r>
                      <a:r>
                        <a:rPr kumimoji="1" lang="en-US" altLang="ja-JP" sz="900" b="0" u="none" kern="1200">
                          <a:solidFill>
                            <a:schemeClr val="tx1"/>
                          </a:solidFill>
                          <a:latin typeface="+mn-ea"/>
                          <a:ea typeface="+mn-ea"/>
                          <a:cs typeface="+mn-cs"/>
                        </a:rPr>
                        <a:t>P17</a:t>
                      </a:r>
                      <a:r>
                        <a:rPr kumimoji="1" lang="ja-JP" altLang="en-US" sz="900" b="0" u="none" kern="1200">
                          <a:solidFill>
                            <a:schemeClr val="tx1"/>
                          </a:solidFill>
                          <a:latin typeface="+mn-ea"/>
                          <a:ea typeface="+mn-ea"/>
                          <a:cs typeface="+mn-cs"/>
                        </a:rPr>
                        <a:t>に記載。</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の調達委員会時点で概要を提示可能な案件について、以下の方針で進める。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u="none" kern="1200">
                          <a:solidFill>
                            <a:schemeClr val="tx1"/>
                          </a:solidFill>
                          <a:latin typeface="+mn-ea"/>
                          <a:ea typeface="+mn-ea"/>
                          <a:cs typeface="+mn-cs"/>
                        </a:rPr>
                        <a:t>優先度「高」・「中」の案件は、開発事業者による要件整理の着手前(</a:t>
                      </a:r>
                      <a:r>
                        <a:rPr kumimoji="1" lang="en-US" altLang="ja-JP" sz="900" b="0" u="none" kern="1200">
                          <a:solidFill>
                            <a:schemeClr val="tx1"/>
                          </a:solidFill>
                          <a:highlight>
                            <a:srgbClr val="FFFF00"/>
                          </a:highlight>
                          <a:latin typeface="+mn-ea"/>
                          <a:ea typeface="+mn-ea"/>
                          <a:cs typeface="+mn-cs"/>
                        </a:rPr>
                        <a:t>11/16</a:t>
                      </a:r>
                      <a:r>
                        <a:rPr kumimoji="1" lang="ja-JP" altLang="en-US" sz="900" b="0" u="none" kern="1200">
                          <a:solidFill>
                            <a:schemeClr val="tx1"/>
                          </a:solidFill>
                          <a:highlight>
                            <a:srgbClr val="FFFF00"/>
                          </a:highlight>
                          <a:latin typeface="+mn-ea"/>
                          <a:ea typeface="+mn-ea"/>
                          <a:cs typeface="+mn-cs"/>
                        </a:rPr>
                        <a:t>開発課題検討会を目安</a:t>
                      </a:r>
                      <a:r>
                        <a:rPr kumimoji="1" lang="ja-JP" altLang="en-US" sz="900" b="0" u="none" kern="1200">
                          <a:solidFill>
                            <a:schemeClr val="tx1"/>
                          </a:solidFill>
                          <a:latin typeface="+mn-ea"/>
                          <a:ea typeface="+mn-ea"/>
                          <a:cs typeface="+mn-cs"/>
                        </a:rPr>
                        <a:t>)に厚労省から要求事項を連携する。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u="none" kern="1200">
                          <a:solidFill>
                            <a:schemeClr val="tx1"/>
                          </a:solidFill>
                          <a:latin typeface="+mn-ea"/>
                          <a:ea typeface="+mn-ea"/>
                          <a:cs typeface="+mn-cs"/>
                        </a:rPr>
                        <a:t>各案件の要件の認識齟齬や検討漏れを防止するため、中間成果物を厚労省・</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機構の双方で確認するプロセスとする。なお、中間成果物の提示時期は令和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年度</a:t>
                      </a:r>
                      <a:r>
                        <a:rPr kumimoji="1" lang="en-US" altLang="ja-JP" sz="900" b="0" u="none" kern="1200">
                          <a:solidFill>
                            <a:schemeClr val="tx1"/>
                          </a:solidFill>
                          <a:latin typeface="+mn-ea"/>
                          <a:ea typeface="+mn-ea"/>
                          <a:cs typeface="+mn-cs"/>
                        </a:rPr>
                        <a:t>1</a:t>
                      </a:r>
                      <a:r>
                        <a:rPr kumimoji="1" lang="ja-JP" altLang="en-US" sz="900" b="0" u="none" kern="1200">
                          <a:solidFill>
                            <a:schemeClr val="tx1"/>
                          </a:solidFill>
                          <a:latin typeface="+mn-ea"/>
                          <a:ea typeface="+mn-ea"/>
                          <a:cs typeface="+mn-cs"/>
                        </a:rPr>
                        <a:t>月中旬を目安とし、要件整理が完了した案件から随時確認する。</a:t>
                      </a:r>
                      <a:endParaRPr kumimoji="1" lang="en-US" altLang="ja-JP" sz="900" b="0" u="none" kern="1200">
                        <a:solidFill>
                          <a:schemeClr val="tx1"/>
                        </a:solidFill>
                        <a:latin typeface="+mn-ea"/>
                        <a:ea typeface="+mn-ea"/>
                        <a:cs typeface="+mn-cs"/>
                      </a:endParaRPr>
                    </a:p>
                    <a:p>
                      <a:pPr marL="265113" marR="0" lvl="1" indent="-77788"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ID215(</a:t>
                      </a:r>
                      <a:r>
                        <a:rPr kumimoji="1" lang="ja-JP" altLang="en-US" sz="900" b="0" u="none" kern="1200">
                          <a:solidFill>
                            <a:schemeClr val="tx1"/>
                          </a:solidFill>
                          <a:latin typeface="+mn-ea"/>
                          <a:ea typeface="+mn-ea"/>
                          <a:cs typeface="+mn-cs"/>
                        </a:rPr>
                        <a:t>保険医療機関(歯科)の診療情報提供書</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は最優先とし、厚労省による要求事項の提示及び開発事業者による要件整理を最優先で進める。令和8年度1月公開予定の技術解説書に歯科の診療情報提供書の内容</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暫定</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を記載予定であることを踏まえて、当該案件の中間成果物の提示時期は令和8年度12月中旬を目安とする。確定できていない内容についても、開発事業者は「未確定」と明記した上で中間成果物に記載する。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ja-JP" altLang="en-US" sz="900" b="0" u="none" kern="1200">
                        <a:solidFill>
                          <a:schemeClr val="tx1"/>
                        </a:solidFill>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1365043"/>
                  </a:ext>
                </a:extLst>
              </a:tr>
              <a:tr h="0">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受入テストシナリオの厚労省レビューに向けた事前説明の内容確認</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．受入テストシナリオの厚労省レビューに向けた事前説明の内容確認について</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受入テストシナリオの厚労省レビューに向けた事前説明の資料は</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r>
                        <a:rPr kumimoji="0" lang="ja-JP" altLang="en-US" sz="900" b="0" i="0" u="none" strike="noStrike" kern="0" cap="none" spc="0" normalizeH="0" baseline="0" noProof="0">
                          <a:ln>
                            <a:noFill/>
                          </a:ln>
                          <a:solidFill>
                            <a:srgbClr val="000000"/>
                          </a:solidFill>
                          <a:effectLst/>
                          <a:uLnTx/>
                          <a:uFillTx/>
                          <a:latin typeface="+mn-ea"/>
                          <a:ea typeface="+mn-ea"/>
                          <a:cs typeface="+mn-cs"/>
                        </a:rPr>
                        <a:t>開発課題検討会別紙</a:t>
                      </a:r>
                      <a:r>
                        <a:rPr kumimoji="0" lang="en-US" altLang="ja-JP" sz="900" b="0" i="0" u="none" strike="noStrike" kern="0" cap="none" spc="0" normalizeH="0" baseline="0" noProof="0">
                          <a:ln>
                            <a:noFill/>
                          </a:ln>
                          <a:solidFill>
                            <a:srgbClr val="000000"/>
                          </a:solidFill>
                          <a:effectLst/>
                          <a:uLnTx/>
                          <a:uFillTx/>
                          <a:latin typeface="+mn-ea"/>
                          <a:ea typeface="+mn-ea"/>
                          <a:cs typeface="+mn-cs"/>
                        </a:rPr>
                        <a:t>1</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の構成とする。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80975"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別紙</a:t>
                      </a:r>
                      <a:r>
                        <a:rPr kumimoji="0" lang="en-US" altLang="ja-JP" sz="900" b="0" i="0" u="none" strike="noStrike" kern="0" cap="none" spc="0" normalizeH="0" baseline="0" noProof="0">
                          <a:ln>
                            <a:noFill/>
                          </a:ln>
                          <a:solidFill>
                            <a:srgbClr val="000000"/>
                          </a:solidFill>
                          <a:effectLst/>
                          <a:uLnTx/>
                          <a:uFillTx/>
                          <a:latin typeface="+mn-ea"/>
                          <a:ea typeface="+mn-ea"/>
                          <a:cs typeface="+mn-cs"/>
                        </a:rPr>
                        <a:t>_</a:t>
                      </a: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a:t>
                      </a:r>
                      <a:r>
                        <a:rPr kumimoji="0" lang="en-US" altLang="ja-JP" sz="900" b="0" i="0" u="none" strike="noStrike" kern="0" cap="none" spc="0" normalizeH="0" baseline="0" noProof="0">
                          <a:ln>
                            <a:noFill/>
                          </a:ln>
                          <a:solidFill>
                            <a:srgbClr val="000000"/>
                          </a:solidFill>
                          <a:effectLst/>
                          <a:uLnTx/>
                          <a:uFillTx/>
                          <a:latin typeface="+mn-ea"/>
                          <a:ea typeface="+mn-ea"/>
                          <a:cs typeface="+mn-cs"/>
                        </a:rPr>
                        <a:t>_</a:t>
                      </a:r>
                      <a:r>
                        <a:rPr kumimoji="0" lang="ja-JP" altLang="en-US" sz="900" b="0" i="0" u="none" strike="noStrike" kern="0" cap="none" spc="0" normalizeH="0" baseline="0" noProof="0">
                          <a:ln>
                            <a:noFill/>
                          </a:ln>
                          <a:solidFill>
                            <a:srgbClr val="000000"/>
                          </a:solidFill>
                          <a:effectLst/>
                          <a:uLnTx/>
                          <a:uFillTx/>
                          <a:latin typeface="+mn-ea"/>
                          <a:ea typeface="+mn-ea"/>
                          <a:cs typeface="+mn-cs"/>
                        </a:rPr>
                        <a:t>案件別シナリオ作成方針（厚労省説明用）</a:t>
                      </a:r>
                      <a:r>
                        <a:rPr kumimoji="0" lang="en-US" altLang="ja-JP" sz="900" b="0" i="0" u="none" strike="noStrike" kern="0" cap="none" spc="0" normalizeH="0" baseline="0" noProof="0">
                          <a:ln>
                            <a:noFill/>
                          </a:ln>
                          <a:solidFill>
                            <a:srgbClr val="000000"/>
                          </a:solidFill>
                          <a:effectLst/>
                          <a:uLnTx/>
                          <a:uFillTx/>
                          <a:latin typeface="+mn-ea"/>
                          <a:ea typeface="+mn-ea"/>
                          <a:cs typeface="+mn-cs"/>
                        </a:rPr>
                        <a:t>_20261009.xlsx</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受入テストシナリオの厚労省レビューに向けた事前説明は、</a:t>
                      </a:r>
                      <a:r>
                        <a:rPr kumimoji="0" lang="en-US" altLang="ja-JP" sz="900" b="0" i="0" u="none" strike="noStrike" kern="0" cap="none" spc="0" normalizeH="0" baseline="0" noProof="0">
                          <a:ln>
                            <a:noFill/>
                          </a:ln>
                          <a:solidFill>
                            <a:srgbClr val="000000"/>
                          </a:solidFill>
                          <a:effectLst/>
                          <a:uLnTx/>
                          <a:uFillTx/>
                          <a:latin typeface="+mn-ea"/>
                          <a:ea typeface="+mn-ea"/>
                          <a:cs typeface="+mn-cs"/>
                        </a:rPr>
                        <a:t>10/19</a:t>
                      </a:r>
                      <a:r>
                        <a:rPr kumimoji="0" lang="ja-JP" altLang="en-US" sz="900" b="0" i="0" u="none" strike="noStrike" kern="0" cap="none" spc="0" normalizeH="0" baseline="0" noProof="0">
                          <a:ln>
                            <a:noFill/>
                          </a:ln>
                          <a:solidFill>
                            <a:srgbClr val="000000"/>
                          </a:solidFill>
                          <a:effectLst/>
                          <a:uLnTx/>
                          <a:uFillTx/>
                          <a:latin typeface="+mn-ea"/>
                          <a:ea typeface="+mn-ea"/>
                          <a:cs typeface="+mn-cs"/>
                        </a:rPr>
                        <a:t>の開発課題検討会内で実施する。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5519564"/>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)(5/8)</a:t>
            </a:r>
            <a:endParaRPr lang="ja-JP" altLang="en-US" sz="2000">
              <a:solidFill>
                <a:schemeClr val="tx2">
                  <a:lumMod val="75000"/>
                </a:schemeClr>
              </a:solidFill>
            </a:endParaRPr>
          </a:p>
        </p:txBody>
      </p:sp>
      <p:sp>
        <p:nvSpPr>
          <p:cNvPr id="8" name="ACNコメント_No7"/>
          <p:cNvSpPr/>
          <p:nvPr/>
        </p:nvSpPr>
        <p:spPr>
          <a:xfrm>
            <a:off x="10056000" y="3296858"/>
            <a:ext cx="2700000" cy="1282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【内部向けコメント】（No.7）</a:t>
            </a:r>
          </a:p>
          <a:p>
            <a:pPr algn="l"/>
            <a:r>
              <a:rPr sz="900" b="0">
                <a:solidFill>
                  <a:srgbClr val="000000"/>
                </a:solidFill>
              </a:rPr>
              <a:t>会議資料P17では「要件整理着手前（11月2週目を目安）」、会議内でも「11月中旬、具体的には第2週を目途」との説明でした。11/16は第3週の月曜のため、ご確認いただけますでしょうか。あわせて、厚労省の行動（要求事項の連携）のため、ToDo欄への記載もご検討いただけますでしょうか。</a:t>
            </a:r>
          </a:p>
        </p:txBody>
      </p:sp>
      <p:cxnSp>
        <p:nvCxnSpPr>
          <p:cNvPr id="9" name="ACNコメント線_No7"/>
          <p:cNvCxnSpPr/>
          <p:nvPr/>
        </p:nvCxnSpPr>
        <p:spPr>
          <a:xfrm flipH="1">
            <a:off x="6188103" y="3496858"/>
            <a:ext cx="3867897" cy="441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8"/>
          <p:cNvSpPr/>
          <p:nvPr/>
        </p:nvSpPr>
        <p:spPr>
          <a:xfrm>
            <a:off x="10056000" y="5373000"/>
            <a:ext cx="2700000" cy="1425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【内部向けコメント】（No.8）</a:t>
            </a:r>
          </a:p>
          <a:p>
            <a:pPr algn="l"/>
            <a:r>
              <a:rPr sz="900" b="0">
                <a:solidFill>
                  <a:srgbClr val="000000"/>
                </a:solidFill>
              </a:rPr>
              <a:t>会議では「DX機構側が試験項目を提示し、厚労省がシナリオを確認して、気になる点・未実施と思われる項目を指摘する」進め方で合意したと認識しています。合意形成事項への追記をご検討いただけますでしょうか。なお、10/19に実施する点は会議内では厚労省で確認中としていたため、確定したかもご確認いただけますでしょうか。</a:t>
            </a:r>
          </a:p>
        </p:txBody>
      </p:sp>
      <p:cxnSp>
        <p:nvCxnSpPr>
          <p:cNvPr id="11" name="ACNコメント線_No8"/>
          <p:cNvCxnSpPr/>
          <p:nvPr/>
        </p:nvCxnSpPr>
        <p:spPr>
          <a:xfrm flipH="1">
            <a:off x="2976223" y="5573000"/>
            <a:ext cx="7079777" cy="1316298"/>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523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44FA-1039-2EC0-4FA0-3C879E9DF9D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2EDC25F3-A412-E392-7392-DC8883C05272}"/>
              </a:ext>
            </a:extLst>
          </p:cNvPr>
          <p:cNvGraphicFramePr>
            <a:graphicFrameLocks noGrp="1"/>
          </p:cNvGraphicFramePr>
          <p:nvPr>
            <p:extLst>
              <p:ext uri="{D42A27DB-BD31-4B8C-83A1-F6EECF244321}">
                <p14:modId xmlns:p14="http://schemas.microsoft.com/office/powerpoint/2010/main" val="348662805"/>
              </p:ext>
            </p:extLst>
          </p:nvPr>
        </p:nvGraphicFramePr>
        <p:xfrm>
          <a:off x="453000" y="829318"/>
          <a:ext cx="9000000" cy="4956708"/>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2910177">
                  <a:extLst>
                    <a:ext uri="{9D8B030D-6E8A-4147-A177-3AD203B41FA5}">
                      <a16:colId xmlns:a16="http://schemas.microsoft.com/office/drawing/2014/main" val="99914978"/>
                    </a:ext>
                  </a:extLst>
                </a:gridCol>
                <a:gridCol w="3966600">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医介連携におけるランニングコスト按分のための統計ログ出力機能の集計期間</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ja-JP" altLang="ja-JP" sz="900">
                          <a:effectLst/>
                        </a:rPr>
                        <a:t>医療機関間連携にて用いている既存の統計ログファイルを</a:t>
                      </a:r>
                      <a:r>
                        <a:rPr lang="ja-JP" altLang="en-US" sz="900">
                          <a:effectLst/>
                        </a:rPr>
                        <a:t>ベースに、</a:t>
                      </a:r>
                      <a:r>
                        <a:rPr lang="ja-JP" altLang="ja-JP" sz="900">
                          <a:effectLst/>
                        </a:rPr>
                        <a:t>医療介護連携</a:t>
                      </a:r>
                      <a:r>
                        <a:rPr lang="ja-JP" altLang="en-US" sz="900">
                          <a:effectLst/>
                        </a:rPr>
                        <a:t>向けの</a:t>
                      </a:r>
                      <a:r>
                        <a:rPr lang="ja-JP" altLang="ja-JP" sz="900">
                          <a:effectLst/>
                        </a:rPr>
                        <a:t>追加・変更等を反映した統計ログファイル一覧を</a:t>
                      </a:r>
                      <a:r>
                        <a:rPr lang="ja-JP" altLang="en-US" sz="900">
                          <a:effectLst/>
                        </a:rPr>
                        <a:t>作成し、</a:t>
                      </a:r>
                      <a:r>
                        <a:rPr lang="ja-JP" altLang="ja-JP" sz="900">
                          <a:effectLst/>
                        </a:rPr>
                        <a:t>厚労省に連携する</a:t>
                      </a:r>
                      <a:r>
                        <a:rPr lang="ja-JP" altLang="en-US" sz="900">
                          <a:effectLst/>
                        </a:rPr>
                        <a:t>。</a:t>
                      </a:r>
                      <a:r>
                        <a:rPr kumimoji="1" lang="en-US" altLang="ja-JP" sz="900" b="0" u="none" kern="1200">
                          <a:solidFill>
                            <a:schemeClr val="tx1"/>
                          </a:solidFill>
                          <a:latin typeface="+mn-ea"/>
                          <a:ea typeface="+mn-ea"/>
                          <a:cs typeface="+mn-cs"/>
                        </a:rPr>
                        <a:t>【DX機構 10/14】</a:t>
                      </a:r>
                      <a:br>
                        <a:rPr kumimoji="1" lang="en-US" altLang="ja-JP" sz="900" b="0" u="none" kern="1200">
                          <a:solidFill>
                            <a:srgbClr val="000000"/>
                          </a:solidFill>
                          <a:latin typeface="+mn-ea"/>
                          <a:ea typeface="+mn-ea"/>
                          <a:cs typeface="+mn-cs"/>
                        </a:rPr>
                      </a:br>
                      <a:endParaRPr kumimoji="1" lang="en-US" altLang="ja-JP" sz="900" b="0" u="none" kern="1200">
                        <a:solidFill>
                          <a:srgbClr val="000000"/>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機構から厚労省に連携する医療介護連携向けの統計ログファイル一覧に対する追加ファイルの要否を確認する。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介護事業所宛て診療情報提供書の電子的連携における電子カルテ情報共有サービスのランニングコストの按分算出に向け、電子カルテ情報共有サービスにおける</a:t>
                      </a:r>
                      <a:r>
                        <a:rPr kumimoji="1" lang="en-US" altLang="ja-JP" sz="900" b="0" u="none" kern="1200">
                          <a:solidFill>
                            <a:schemeClr val="tx1"/>
                          </a:solidFill>
                          <a:latin typeface="+mn-ea"/>
                          <a:ea typeface="+mn-ea"/>
                          <a:cs typeface="+mn-cs"/>
                        </a:rPr>
                        <a:t>IF</a:t>
                      </a:r>
                      <a:r>
                        <a:rPr kumimoji="1" lang="ja-JP" altLang="en-US" sz="900" b="0" u="none" kern="1200">
                          <a:solidFill>
                            <a:schemeClr val="tx1"/>
                          </a:solidFill>
                          <a:latin typeface="+mn-ea"/>
                          <a:ea typeface="+mn-ea"/>
                          <a:cs typeface="+mn-cs"/>
                        </a:rPr>
                        <a:t>処理件数の集計算出をいつまでに開始すべきか検討し、その結果を</a:t>
                      </a:r>
                      <a:r>
                        <a:rPr kumimoji="1" lang="en-US" altLang="ja-JP" sz="900" b="0" u="none" kern="1200">
                          <a:solidFill>
                            <a:schemeClr val="tx1"/>
                          </a:solidFill>
                          <a:latin typeface="+mn-ea"/>
                          <a:ea typeface="+mn-ea"/>
                          <a:cs typeface="+mn-cs"/>
                        </a:rPr>
                        <a:t>DX機構に連携する</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介護事業所宛て診療情報提供書の電子的連携における電子カルテ情報共有サービスのランニングコストの按分算出に向け、電子カルテ情報共有サービスでの</a:t>
                      </a:r>
                      <a:r>
                        <a:rPr kumimoji="1" lang="en-US" altLang="ja-JP" sz="900" b="0" u="none" kern="1200">
                          <a:solidFill>
                            <a:schemeClr val="tx1"/>
                          </a:solidFill>
                          <a:latin typeface="+mn-ea"/>
                          <a:ea typeface="+mn-ea"/>
                          <a:cs typeface="+mn-cs"/>
                        </a:rPr>
                        <a:t>IF処理件数</a:t>
                      </a:r>
                      <a:r>
                        <a:rPr kumimoji="1" lang="ja-JP" altLang="en-US" sz="900" b="0" u="none" kern="1200">
                          <a:solidFill>
                            <a:schemeClr val="tx1"/>
                          </a:solidFill>
                          <a:latin typeface="+mn-ea"/>
                          <a:ea typeface="+mn-ea"/>
                          <a:cs typeface="+mn-cs"/>
                        </a:rPr>
                        <a:t>の集計期間をどの程度とするか検討し、検討結果を</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機構に連携する。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10/19】</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4419682"/>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口頭同意に係る体制整備状況に係る医療機関の自己申告について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noProof="0" dirty="0">
                          <a:solidFill>
                            <a:schemeClr val="tx1"/>
                          </a:solidFill>
                          <a:latin typeface="+mn-ea"/>
                          <a:ea typeface="+mn-ea"/>
                          <a:cs typeface="+mn-cs"/>
                        </a:rPr>
                        <a:t>医療機関が口頭同意の体制整備状況を自己申告する媒体としてポータルサイトを用いる場合の開発フィージビリティについて、以下を開発事業者に確認し、確認結果を厚労省に連携する。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【DX</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機構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10/19】</a:t>
                      </a:r>
                      <a:endParaRPr kumimoji="1" lang="en-US" altLang="ja-JP" sz="900" b="0" kern="1200" noProof="0" dirty="0">
                        <a:solidFill>
                          <a:schemeClr val="tx1"/>
                        </a:solidFill>
                        <a:latin typeface="+mn-ea"/>
                        <a:ea typeface="+mn-ea"/>
                        <a:cs typeface="+mn-cs"/>
                      </a:endParaRPr>
                    </a:p>
                    <a:p>
                      <a:pPr marL="269875" marR="0" lvl="1" indent="-87313"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運用開始日登録画面へのチェックボックスの追加可否及び令和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月リリースでの対応可否を確認する。難しい場合は令和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9</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12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月リリース以前での対応可否を確認する。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9875" marR="0" lvl="1" indent="-87313"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一括申請画面へのチェックボックスの追加※可否及び令和</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年度</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月リリースでの対応可否を確認する。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670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当該チェックボックスにチェックが入っていない場合は、運用開始日を登録できないよう制御する。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26670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82563"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noProof="0" dirty="0">
                          <a:solidFill>
                            <a:schemeClr val="tx1"/>
                          </a:solidFill>
                          <a:latin typeface="+mn-ea"/>
                          <a:ea typeface="+mn-ea"/>
                          <a:cs typeface="+mn-cs"/>
                        </a:rPr>
                        <a:t>口頭同意の体制整備状況の担保方法として、利用規約への記載で足りるか、ポータルサイト上のチェックボックスにチェックを入れてもらうような明示的な確認が必要かを確認し、確認結果を</a:t>
                      </a:r>
                      <a:r>
                        <a:rPr kumimoji="1" lang="en-US" altLang="ja-JP" sz="900" b="0" kern="1200" noProof="0" dirty="0">
                          <a:solidFill>
                            <a:schemeClr val="tx1"/>
                          </a:solidFill>
                          <a:latin typeface="+mn-ea"/>
                          <a:ea typeface="+mn-ea"/>
                          <a:cs typeface="+mn-cs"/>
                        </a:rPr>
                        <a:t>DX</a:t>
                      </a:r>
                      <a:r>
                        <a:rPr kumimoji="1" lang="ja-JP" altLang="en-US" sz="900" b="0" kern="1200" noProof="0" dirty="0">
                          <a:solidFill>
                            <a:schemeClr val="tx1"/>
                          </a:solidFill>
                          <a:latin typeface="+mn-ea"/>
                          <a:ea typeface="+mn-ea"/>
                          <a:cs typeface="+mn-cs"/>
                        </a:rPr>
                        <a:t>機構に連携する。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厚労省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10/19】</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572021"/>
                  </a:ext>
                </a:extLst>
              </a:tr>
            </a:tbl>
          </a:graphicData>
        </a:graphic>
      </p:graphicFrame>
      <p:sp>
        <p:nvSpPr>
          <p:cNvPr id="4" name="タイトル 1">
            <a:extLst>
              <a:ext uri="{FF2B5EF4-FFF2-40B4-BE49-F238E27FC236}">
                <a16:creationId xmlns:a16="http://schemas.microsoft.com/office/drawing/2014/main" id="{220951DB-754E-1B07-3928-C43AF6A2B032}"/>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)(6/8)</a:t>
            </a:r>
            <a:endParaRPr lang="ja-JP" altLang="en-US" sz="2000">
              <a:solidFill>
                <a:schemeClr val="tx2">
                  <a:lumMod val="75000"/>
                </a:schemeClr>
              </a:solidFill>
            </a:endParaRPr>
          </a:p>
        </p:txBody>
      </p:sp>
      <p:sp>
        <p:nvSpPr>
          <p:cNvPr id="8" name="ACNコメント_No9"/>
          <p:cNvSpPr/>
          <p:nvPr/>
        </p:nvSpPr>
        <p:spPr>
          <a:xfrm>
            <a:off x="10056000" y="611478"/>
            <a:ext cx="2700000" cy="1139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【内部向けコメント】（No.9）</a:t>
            </a:r>
          </a:p>
          <a:p>
            <a:pPr algn="l"/>
            <a:r>
              <a:rPr sz="900" b="0">
                <a:solidFill>
                  <a:srgbClr val="000000"/>
                </a:solidFill>
              </a:rPr>
              <a:t>会議では厚労省から、集計は1か月単位（日次は不要、年次はその積み上げ）とし、当初は暫定の内容で開始して順次修正する考え方が示されました。集計期間を検討するToDo（4つ目）との関係も含め、合意形成事項への記載をご検討いただけますでしょうか。</a:t>
            </a:r>
          </a:p>
        </p:txBody>
      </p:sp>
      <p:cxnSp>
        <p:nvCxnSpPr>
          <p:cNvPr id="9" name="ACNコメント線_No9"/>
          <p:cNvCxnSpPr/>
          <p:nvPr/>
        </p:nvCxnSpPr>
        <p:spPr>
          <a:xfrm flipH="1">
            <a:off x="5886400" y="811478"/>
            <a:ext cx="4169600" cy="3695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97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B7EA-03D4-204C-E101-19B2F72CE864}"/>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13FEB492-530C-4600-57BF-00DD03D53FFB}"/>
              </a:ext>
            </a:extLst>
          </p:cNvPr>
          <p:cNvGraphicFramePr>
            <a:graphicFrameLocks noGrp="1"/>
          </p:cNvGraphicFramePr>
          <p:nvPr>
            <p:extLst>
              <p:ext uri="{D42A27DB-BD31-4B8C-83A1-F6EECF244321}">
                <p14:modId xmlns:p14="http://schemas.microsoft.com/office/powerpoint/2010/main" val="135027167"/>
              </p:ext>
            </p:extLst>
          </p:nvPr>
        </p:nvGraphicFramePr>
        <p:xfrm>
          <a:off x="453000" y="829319"/>
          <a:ext cx="9000000" cy="5976475"/>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4190337">
                  <a:extLst>
                    <a:ext uri="{9D8B030D-6E8A-4147-A177-3AD203B41FA5}">
                      <a16:colId xmlns:a16="http://schemas.microsoft.com/office/drawing/2014/main" val="99914978"/>
                    </a:ext>
                  </a:extLst>
                </a:gridCol>
                <a:gridCol w="2686440">
                  <a:extLst>
                    <a:ext uri="{9D8B030D-6E8A-4147-A177-3AD203B41FA5}">
                      <a16:colId xmlns:a16="http://schemas.microsoft.com/office/drawing/2014/main" val="2028788276"/>
                    </a:ext>
                  </a:extLst>
                </a:gridCol>
              </a:tblGrid>
              <a:tr h="216507">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645728">
                <a:tc>
                  <a:txBody>
                    <a:bodyPr/>
                    <a:lstStyle/>
                    <a:p>
                      <a:pPr lvl="0" algn="ctr">
                        <a:lnSpc>
                          <a:spcPts val="1200"/>
                        </a:lnSpc>
                        <a:buNone/>
                      </a:pPr>
                      <a:r>
                        <a:rPr lang="en-US" altLang="ja-JP" sz="900" b="0" i="0">
                          <a:solidFill>
                            <a:srgbClr val="000000"/>
                          </a:solidFill>
                          <a:effectLst/>
                          <a:latin typeface="+mn-ea"/>
                          <a:ea typeface="+mn-ea"/>
                        </a:rPr>
                        <a:t>9</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lang="ja-JP" altLang="ja-JP" sz="900"/>
                        <a:t>血液型の共有停止に向けたモデル期間データの論理削除・登録抑止に係る</a:t>
                      </a:r>
                      <a:r>
                        <a:rPr lang="ja-JP" altLang="en-US" sz="900"/>
                        <a:t>ご依頼</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モデル期間中に登録された血液型データを含む</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単位のデータについて、以下の対応を行う。</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①</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 </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全国的な運用開始</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1/</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25)</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時点：</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 </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単位で論理削除する。</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② </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3月リリース</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時点：</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 案件ID210</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血液型に関する情報を共有対象外とする改修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の</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実装後に、</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論理</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削除した</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データ</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Bundle ID単位</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ja-JP" sz="900" b="0" i="0" u="none" strike="noStrike" kern="1200" cap="none" spc="0" normalizeH="0" baseline="0" noProof="0" dirty="0">
                          <a:ln>
                            <a:noFill/>
                          </a:ln>
                          <a:solidFill>
                            <a:prstClr val="black"/>
                          </a:solidFill>
                          <a:effectLst/>
                          <a:uLnTx/>
                          <a:uFillTx/>
                          <a:latin typeface="Meiryo UI"/>
                          <a:ea typeface="+mn-ea"/>
                          <a:cs typeface="+mn-cs"/>
                        </a:rPr>
                        <a:t>を復活させる。</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82563" marR="0" lvl="1" indent="0" algn="l" defTabSz="843930" rtl="0" eaLnBrk="1" fontAlgn="base"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b="0" i="0" u="none" strike="noStrike" kern="0" cap="none" spc="0" normalizeH="0" baseline="0" noProof="0" dirty="0">
                          <a:ln>
                            <a:noFill/>
                          </a:ln>
                          <a:solidFill>
                            <a:srgbClr val="000000"/>
                          </a:solidFill>
                          <a:effectLst/>
                          <a:highlight>
                            <a:srgbClr val="FFFF00"/>
                          </a:highlight>
                          <a:uLnTx/>
                          <a:uFillTx/>
                          <a:latin typeface="+mn-ea"/>
                          <a:ea typeface="+mn-ea"/>
                          <a:cs typeface="+mn-cs"/>
                        </a:rPr>
                        <a:t>Bundle ID</a:t>
                      </a:r>
                      <a:r>
                        <a:rPr kumimoji="0" lang="ja-JP" altLang="en-US" sz="900" b="0" i="0" u="none" strike="noStrike" kern="0" cap="none" spc="0" normalizeH="0" baseline="0" noProof="0" dirty="0">
                          <a:ln>
                            <a:noFill/>
                          </a:ln>
                          <a:solidFill>
                            <a:srgbClr val="000000"/>
                          </a:solidFill>
                          <a:effectLst/>
                          <a:highlight>
                            <a:srgbClr val="FFFF00"/>
                          </a:highlight>
                          <a:uLnTx/>
                          <a:uFillTx/>
                          <a:latin typeface="+mn-ea"/>
                          <a:ea typeface="+mn-ea"/>
                          <a:cs typeface="+mn-cs"/>
                        </a:rPr>
                        <a:t>単位で論理削除を実施するにあたり</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JLAC</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コードマスタから血液型に係る項目(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項目：血液型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-ABO</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-Rh</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)を削除する。本対応に伴い、</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月リリースまでの挙動は以下のとおりとなる。</a:t>
                      </a: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・血液型に係る検査項目が登録された場合、エラーが返却される。</a:t>
                      </a: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・エラー返却により、血液型データは登録できない状態となる。</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7800" marR="0" lvl="1"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3</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月リリースで案件</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ID210(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血液型に関する情報を共有対象外とする改修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を実装した後は、</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JLAC</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コードマスタに血液型に係る項目(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項目：血液型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-ABO</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、血液型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-Rh</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)を再登録し、血液型データを登録できる状態に戻す。</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prstClr val="black"/>
                          </a:solidFill>
                          <a:effectLst/>
                          <a:uLnTx/>
                          <a:uFillTx/>
                          <a:latin typeface="Meiryo UI"/>
                          <a:ea typeface="+mn-ea"/>
                          <a:cs typeface="+mn-cs"/>
                        </a:rPr>
                        <a:t>血液型の共有停止に向けて、モデル期間中に登録された血液型データを含むデータを、全国的な運用開始(</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1/25</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)時点で</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Bundle ID</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単位で論理削除する作業について、必要な対応期間を開発事業者に確認し、確認結果を厚労省に連携する。</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【DX</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機構 </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10/26】</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4454011"/>
                  </a:ext>
                </a:extLst>
              </a:tr>
              <a:tr h="3524647">
                <a:tc>
                  <a:txBody>
                    <a:bodyPr/>
                    <a:lstStyle/>
                    <a:p>
                      <a:pPr lvl="0" algn="ctr">
                        <a:lnSpc>
                          <a:spcPts val="1200"/>
                        </a:lnSpc>
                        <a:buNone/>
                      </a:pPr>
                      <a:r>
                        <a:rPr lang="en-US" altLang="ja-JP" sz="900" b="0" i="0">
                          <a:solidFill>
                            <a:srgbClr val="000000"/>
                          </a:solidFill>
                          <a:effectLst/>
                          <a:latin typeface="+mn-ea"/>
                          <a:ea typeface="+mn-ea"/>
                        </a:rPr>
                        <a:t>10</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lang="ja-JP" altLang="en-US" sz="900">
                          <a:latin typeface="Meiryo UI" panose="020B0604030504040204" pitchFamily="50" charset="-128"/>
                          <a:ea typeface="Meiryo UI" panose="020B0604030504040204" pitchFamily="50" charset="-128"/>
                        </a:rPr>
                        <a:t>案件台帳の更新箇所の報告(</a:t>
                      </a:r>
                      <a:r>
                        <a:rPr lang="en-US" altLang="ja-JP" sz="900">
                          <a:latin typeface="Meiryo UI" panose="020B0604030504040204" pitchFamily="50" charset="-128"/>
                          <a:ea typeface="Meiryo UI" panose="020B0604030504040204" pitchFamily="50" charset="-128"/>
                        </a:rPr>
                        <a:t>1005</a:t>
                      </a:r>
                      <a:r>
                        <a:rPr lang="ja-JP" altLang="en-US" sz="900">
                          <a:latin typeface="Meiryo UI" panose="020B0604030504040204" pitchFamily="50" charset="-128"/>
                          <a:ea typeface="Meiryo UI" panose="020B0604030504040204" pitchFamily="50" charset="-128"/>
                        </a:rPr>
                        <a:t>断面)</a:t>
                      </a:r>
                      <a:endParaRPr kumimoji="1" lang="ja-JP" altLang="en-US" sz="900" b="0">
                        <a:latin typeface="+mn-ea"/>
                        <a:ea typeface="+mn-ea"/>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4</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案件について、背景等及びリリース希望時期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ID011(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帳票の表示件数の拡張</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ID148(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ID149(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「職域診療所」へのサービス導入</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情報</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情報の登録・閲覧)</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ID159(</a:t>
                      </a:r>
                      <a:r>
                        <a:rPr lang="ja-JP" altLang="ja-JP" sz="900" b="0" i="0" u="none" strike="noStrike" dirty="0">
                          <a:solidFill>
                            <a:srgbClr val="000000"/>
                          </a:solidFill>
                          <a:effectLst/>
                          <a:latin typeface="Meiryo UI" panose="020B0604030504040204" pitchFamily="50" charset="-128"/>
                          <a:ea typeface="Meiryo UI" panose="020B0604030504040204" pitchFamily="50" charset="-128"/>
                        </a:rPr>
                        <a:t>「健診実施機関(単独)」へのサービス導入</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2</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医療機関等検索の検索キーの追加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ID178(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文書・臨床情報・患者サマリーの保存期間の延長</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以下の</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案件について、リリース希望時期</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9</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年度以降→「令和</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10</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年度以降」</a:t>
                      </a:r>
                      <a:r>
                        <a:rPr kumimoji="1" lang="en-US" altLang="ja-JP" sz="900" b="0" i="0" u="none" strike="noStrike" kern="1200" cap="none" spc="0" normalizeH="0" baseline="0" noProof="0" dirty="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n-ea"/>
                          <a:cs typeface="+mn-cs"/>
                        </a:rPr>
                        <a:t>を更新。</a:t>
                      </a:r>
                      <a:endParaRPr kumimoji="1" lang="en-US" altLang="ja-JP" sz="900" b="0" i="0" u="none" strike="noStrike" kern="1200" cap="none" spc="0" normalizeH="0" baseline="0" noProof="0" dirty="0">
                        <a:ln>
                          <a:noFill/>
                        </a:ln>
                        <a:solidFill>
                          <a:prstClr val="black"/>
                        </a:solidFill>
                        <a:effectLst/>
                        <a:uLnTx/>
                        <a:uFillTx/>
                        <a:latin typeface="Meiryo UI"/>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ID015(</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健診結果報告書の医療扶助対応</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ID037(</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服薬状況等のフィードバック情報の連携機能の追加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ID038(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看護情報</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訪問看護指示書等</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ID040(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蘇生処置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(DNR/ACP)</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ID041(</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透析の連携機能の追加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ID050(</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オプトアウト</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ID053(PHR</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事業者向けのマイナポ</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API(RESTful)</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を新規構築する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ID094(</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死亡した患者の長期保存フラグのついた情報の削除</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ID152(</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栄養情報の連携機能の追加</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171450" marR="0" lvl="1"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b="0" i="0" u="none" strike="noStrike" kern="0" cap="none" spc="0" normalizeH="0" baseline="0" noProof="0" dirty="0">
                          <a:ln>
                            <a:noFill/>
                          </a:ln>
                          <a:solidFill>
                            <a:srgbClr val="000000"/>
                          </a:solidFill>
                          <a:effectLst/>
                          <a:uLnTx/>
                          <a:uFillTx/>
                          <a:latin typeface="+mn-ea"/>
                          <a:ea typeface="+mn-ea"/>
                          <a:cs typeface="+mn-cs"/>
                        </a:rPr>
                        <a:t>ID154(</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傷病名・修飾語マスタの</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UTF-8</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対応</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p>
                    <a:p>
                      <a:pPr marL="0" marR="0" lvl="1"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dirty="0" err="1">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010209"/>
                  </a:ext>
                </a:extLst>
              </a:tr>
            </a:tbl>
          </a:graphicData>
        </a:graphic>
      </p:graphicFrame>
      <p:sp>
        <p:nvSpPr>
          <p:cNvPr id="4" name="タイトル 1">
            <a:extLst>
              <a:ext uri="{FF2B5EF4-FFF2-40B4-BE49-F238E27FC236}">
                <a16:creationId xmlns:a16="http://schemas.microsoft.com/office/drawing/2014/main" id="{F0ED6D83-34B7-E442-A1E4-37388C2D86F1}"/>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)(7/8)</a:t>
            </a:r>
            <a:endParaRPr lang="ja-JP" altLang="en-US" sz="2000">
              <a:solidFill>
                <a:schemeClr val="tx2">
                  <a:lumMod val="75000"/>
                </a:schemeClr>
              </a:solidFill>
            </a:endParaRPr>
          </a:p>
        </p:txBody>
      </p:sp>
      <p:sp>
        <p:nvSpPr>
          <p:cNvPr id="8" name="ACNコメント_No10"/>
          <p:cNvSpPr/>
          <p:nvPr/>
        </p:nvSpPr>
        <p:spPr>
          <a:xfrm>
            <a:off x="10056000" y="1397979"/>
            <a:ext cx="2700000" cy="1568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【内部向けコメント】（No.10）</a:t>
            </a:r>
          </a:p>
          <a:p>
            <a:pPr algn="l"/>
            <a:r>
              <a:rPr sz="900" b="0">
                <a:solidFill>
                  <a:srgbClr val="000000"/>
                </a:solidFill>
              </a:rPr>
              <a:t>JLACコードマスタからの血液型2項目の削除は、論理削除のためではなく、1/18以降の血液型データの登録を止めるための対応（厚労省側資料P6）と認識しています。「1/18以降、血液型データの登録を抑止するため、…削除する」等の記載をご検討いただけますでしょうか。また、会議では対応可否・作業期間はDX機構で確認中だったため、合意形成事項としてよいかもご確認いただけますでしょうか。</a:t>
            </a:r>
          </a:p>
        </p:txBody>
      </p:sp>
      <p:cxnSp>
        <p:nvCxnSpPr>
          <p:cNvPr id="9" name="ACNコメント線_No10"/>
          <p:cNvCxnSpPr/>
          <p:nvPr/>
        </p:nvCxnSpPr>
        <p:spPr>
          <a:xfrm flipH="1">
            <a:off x="2896263" y="1597979"/>
            <a:ext cx="7159737" cy="584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0" name="ACNコメント_No11"/>
          <p:cNvSpPr/>
          <p:nvPr/>
        </p:nvSpPr>
        <p:spPr>
          <a:xfrm>
            <a:off x="10056000" y="5207419"/>
            <a:ext cx="2700000" cy="996000"/>
          </a:xfrm>
          <a:prstGeom prst="rect">
            <a:avLst/>
          </a:prstGeom>
          <a:solidFill>
            <a:srgbClr val="E4DCF0"/>
          </a:solidFill>
          <a:ln w="9525">
            <a:solidFill>
              <a:srgbClr val="7F6F9F"/>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54000" bIns="54000"/>
          <a:lstStyle/>
          <a:p>
            <a:pPr algn="l"/>
            <a:r>
              <a:rPr sz="900" b="1">
                <a:solidFill>
                  <a:srgbClr val="000000"/>
                </a:solidFill>
              </a:rPr>
              <a:t>【内部向けコメント】（No.11）</a:t>
            </a:r>
          </a:p>
          <a:p>
            <a:pPr algn="l"/>
            <a:r>
              <a:rPr sz="900" b="0">
                <a:solidFill>
                  <a:srgbClr val="000000"/>
                </a:solidFill>
              </a:rPr>
              <a:t>厚労省側資料P9の取り下げ7件（ID035・039・044・045・151・179・187）は会議内で報告されましたが、議事要旨に記載がありません。記載要否をご確認いただけますでしょうか。</a:t>
            </a:r>
          </a:p>
        </p:txBody>
      </p:sp>
      <p:cxnSp>
        <p:nvCxnSpPr>
          <p:cNvPr id="11" name="ACNコメント線_No11"/>
          <p:cNvCxnSpPr/>
          <p:nvPr/>
        </p:nvCxnSpPr>
        <p:spPr>
          <a:xfrm flipH="1">
            <a:off x="2976223" y="5407419"/>
            <a:ext cx="7079777" cy="29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719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6EE7-FDDE-8C76-F8A7-8E25974D843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15956D8D-5474-1909-018B-29DDED3105CB}"/>
              </a:ext>
            </a:extLst>
          </p:cNvPr>
          <p:cNvGraphicFramePr>
            <a:graphicFrameLocks noGrp="1"/>
          </p:cNvGraphicFramePr>
          <p:nvPr>
            <p:extLst>
              <p:ext uri="{D42A27DB-BD31-4B8C-83A1-F6EECF244321}">
                <p14:modId xmlns:p14="http://schemas.microsoft.com/office/powerpoint/2010/main" val="242313480"/>
              </p:ext>
            </p:extLst>
          </p:nvPr>
        </p:nvGraphicFramePr>
        <p:xfrm>
          <a:off x="453000" y="829319"/>
          <a:ext cx="9000000" cy="746372"/>
        </p:xfrm>
        <a:graphic>
          <a:graphicData uri="http://schemas.openxmlformats.org/drawingml/2006/table">
            <a:tbl>
              <a:tblPr/>
              <a:tblGrid>
                <a:gridCol w="405741">
                  <a:extLst>
                    <a:ext uri="{9D8B030D-6E8A-4147-A177-3AD203B41FA5}">
                      <a16:colId xmlns:a16="http://schemas.microsoft.com/office/drawing/2014/main" val="3484704196"/>
                    </a:ext>
                  </a:extLst>
                </a:gridCol>
                <a:gridCol w="1717482">
                  <a:extLst>
                    <a:ext uri="{9D8B030D-6E8A-4147-A177-3AD203B41FA5}">
                      <a16:colId xmlns:a16="http://schemas.microsoft.com/office/drawing/2014/main" val="3863879091"/>
                    </a:ext>
                  </a:extLst>
                </a:gridCol>
                <a:gridCol w="3490622">
                  <a:extLst>
                    <a:ext uri="{9D8B030D-6E8A-4147-A177-3AD203B41FA5}">
                      <a16:colId xmlns:a16="http://schemas.microsoft.com/office/drawing/2014/main" val="99914978"/>
                    </a:ext>
                  </a:extLst>
                </a:gridCol>
                <a:gridCol w="3386155">
                  <a:extLst>
                    <a:ext uri="{9D8B030D-6E8A-4147-A177-3AD203B41FA5}">
                      <a16:colId xmlns:a16="http://schemas.microsoft.com/office/drawing/2014/main" val="2028788276"/>
                    </a:ext>
                  </a:extLst>
                </a:gridCol>
              </a:tblGrid>
              <a:tr h="216507">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25104">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chemeClr val="bg1">
                            <a:lumMod val="85000"/>
                          </a:schemeClr>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ja-JP" sz="900" b="0" i="0" u="none" strike="noStrike" kern="0" cap="none" spc="0" normalizeH="0" baseline="0" noProof="0" dirty="0" err="1">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3372043"/>
                  </a:ext>
                </a:extLst>
              </a:tr>
            </a:tbl>
          </a:graphicData>
        </a:graphic>
      </p:graphicFrame>
      <p:sp>
        <p:nvSpPr>
          <p:cNvPr id="4" name="タイトル 1">
            <a:extLst>
              <a:ext uri="{FF2B5EF4-FFF2-40B4-BE49-F238E27FC236}">
                <a16:creationId xmlns:a16="http://schemas.microsoft.com/office/drawing/2014/main" id="{DB2F3015-E59A-E9D4-D9BB-716776BAB634}"/>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)(8/8)</a:t>
            </a:r>
            <a:endParaRPr lang="ja-JP" altLang="en-US" sz="2000">
              <a:solidFill>
                <a:schemeClr val="tx2">
                  <a:lumMod val="75000"/>
                </a:schemeClr>
              </a:solidFill>
            </a:endParaRPr>
          </a:p>
        </p:txBody>
      </p:sp>
    </p:spTree>
    <p:extLst>
      <p:ext uri="{BB962C8B-B14F-4D97-AF65-F5344CB8AC3E}">
        <p14:creationId xmlns:p14="http://schemas.microsoft.com/office/powerpoint/2010/main" val="23138634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DB2A77A-2111-4C72-B531-0B85A633FB10}"/>
</file>

<file path=customXml/itemProps2.xml><?xml version="1.0" encoding="utf-8"?>
<ds:datastoreItem xmlns:ds="http://schemas.openxmlformats.org/officeDocument/2006/customXml" ds:itemID="{7DFC45B0-ED2F-41BA-ACFD-1CA1156CEE17}"/>
</file>

<file path=customXml/itemProps3.xml><?xml version="1.0" encoding="utf-8"?>
<ds:datastoreItem xmlns:ds="http://schemas.openxmlformats.org/officeDocument/2006/customXml" ds:itemID="{762E4C16-8D72-4A95-A947-EE63743A5B76}"/>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3156</Words>
  <Application>Microsoft Office PowerPoint</Application>
  <PresentationFormat>A4 210 x 297 mm</PresentationFormat>
  <Paragraphs>207</Paragraphs>
  <Slides>9</Slides>
  <Notes>9</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9</vt:i4>
      </vt:variant>
    </vt:vector>
  </HeadingPairs>
  <TitlesOfParts>
    <vt:vector size="20" baseType="lpstr">
      <vt:lpstr>Meiryo UI</vt:lpstr>
      <vt:lpstr>ＭＳ Ｐゴシック</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議事要旨(案)(1/8)</vt:lpstr>
      <vt:lpstr>開発課題検討会の共有 議事要旨(案)(2/8)</vt:lpstr>
      <vt:lpstr>開発課題検討会の共有 議事要旨(案)(3/8)</vt:lpstr>
      <vt:lpstr>開発課題検討会の共有 議事要旨(案)(4/8)</vt:lpstr>
      <vt:lpstr>開発課題検討会の共有 議事要旨(案)(5/8)</vt:lpstr>
      <vt:lpstr>開発課題検討会の共有 議事要旨(案)(6/8)</vt:lpstr>
      <vt:lpstr>開発課題検討会の共有 議事要旨(案)(7/8)</vt:lpstr>
      <vt:lpstr>開発課題検討会の共有 議事要旨(案)(8/8)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2026-10-14T01:50:22Z</dcterms:created>
  <dcterms:modified xsi:type="dcterms:W3CDTF">2026-10-14T01:50:26Z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0x010100AD26169CDAAF6B41B8B557D8EAD22A36</vt:lpwstr>
  </property>
</Properties>
</file>