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Authors.xml" ContentType="application/vnd.openxmlformats-officedocument.presentationml.commentAuthors+xml"/>
  <Override PartName="/ppt/theme/theme1.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theme/theme4.xml" ContentType="application/vnd.openxmlformats-officedocument.theme+xml"/>
  <Override PartName="/ppt/authors.xml" ContentType="application/vnd.ms-powerpoint.authors+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ags/tag1.xml" ContentType="application/vnd.openxmlformats-officedocument.presentationml.tags+xml"/>
  <Override PartName="/ppt/tags/tag3.xml" ContentType="application/vnd.openxmlformats-officedocument.presentationml.tags+xml"/>
  <Override PartName="/ppt/tags/tag2.xml" ContentType="application/vnd.openxmlformats-officedocument.presentationml.tags+xml"/>
  <Override PartName="/docProps/app.xml" ContentType="application/vnd.openxmlformats-officedocument.extended-properties+xml"/>
  <Override PartName="/docMetadata/LabelInfo.xml" ContentType="application/vnd.ms-office.classificationlabels+xml"/>
  <Override PartName="/docProps/core.xml" ContentType="application/vnd.openxmlformats-package.core-properties+xml"/>
  <Override PartName="/ppt/tags/tag5.xml" ContentType="application/vnd.openxmlformats-officedocument.presentationml.tags+xml"/>
  <Override PartName="/ppt/tags/tag4.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officeDocument/2006/relationships/custom-properties" Target="docProps/custom.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18" r:id="rId1"/>
    <p:sldMasterId id="2147483782" r:id="rId2"/>
    <p:sldMasterId id="2147483811" r:id="rId3"/>
  </p:sldMasterIdLst>
  <p:notesMasterIdLst>
    <p:notesMasterId r:id="rId13"/>
  </p:notesMasterIdLst>
  <p:sldIdLst>
    <p:sldId id="2147483633" r:id="rId4"/>
    <p:sldId id="2147483646" r:id="rId5"/>
    <p:sldId id="259" r:id="rId6"/>
    <p:sldId id="257" r:id="rId7"/>
    <p:sldId id="258" r:id="rId8"/>
    <p:sldId id="2147483647" r:id="rId9"/>
    <p:sldId id="256" r:id="rId10"/>
    <p:sldId id="261" r:id="rId11"/>
    <p:sldId id="260" r:id="rId12"/>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元ネタ" id="{CBD88B9B-7B1E-4B64-AF58-A6C778C0E855}">
          <p14:sldIdLst>
            <p14:sldId id="2147483633"/>
            <p14:sldId id="2147483646"/>
            <p14:sldId id="259"/>
            <p14:sldId id="257"/>
            <p14:sldId id="258"/>
            <p14:sldId id="2147483647"/>
            <p14:sldId id="256"/>
            <p14:sldId id="261"/>
            <p14:sldId id="260"/>
          </p14:sldIdLst>
        </p14:section>
      </p14:sectionLst>
    </p:ext>
    <p:ext uri="{EFAFB233-063F-42B5-8137-9DF3F51BA10A}">
      <p15:sldGuideLst xmlns:p15="http://schemas.microsoft.com/office/powerpoint/2012/main">
        <p15:guide id="1" orient="horz" pos="2160" userDrawn="1">
          <p15:clr>
            <a:srgbClr val="A4A3A4"/>
          </p15:clr>
        </p15:guide>
        <p15:guide id="2" pos="2850" userDrawn="1">
          <p15:clr>
            <a:srgbClr val="A4A3A4"/>
          </p15:clr>
        </p15:guide>
        <p15:guide id="3" pos="1548" userDrawn="1">
          <p15:clr>
            <a:srgbClr val="A4A3A4"/>
          </p15:clr>
        </p15:guide>
        <p15:guide id="4" pos="5798" userDrawn="1">
          <p15:clr>
            <a:srgbClr val="A4A3A4"/>
          </p15:clr>
        </p15:guide>
        <p15:guide id="5" pos="228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9" name="作成者"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FFF00"/>
    <a:srgbClr val="FFFFFF"/>
    <a:srgbClr val="DCAFFF"/>
    <a:srgbClr val="FFFF99"/>
    <a:srgbClr val="7F7F7F"/>
    <a:srgbClr val="0070C0"/>
    <a:srgbClr val="65A9D9"/>
    <a:srgbClr val="D3EBDD"/>
    <a:srgbClr val="993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8034E78-7F5D-4C2E-B375-FC64B27BC917}" styleName="スタイル (濃色)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1052" y="344"/>
      </p:cViewPr>
      <p:guideLst>
        <p:guide orient="horz" pos="2160"/>
        <p:guide pos="2850"/>
        <p:guide pos="1548"/>
        <p:guide pos="5798"/>
        <p:guide pos="228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customXml" Target="../customXml/item2.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presProps" Target="presProps.xml"/><Relationship Id="rId10" Type="http://schemas.openxmlformats.org/officeDocument/2006/relationships/slide" Target="slides/slide7.xml"/><Relationship Id="rId19" Type="http://schemas.microsoft.com/office/2018/10/relationships/authors" Target="author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commentAuthors" Target="commentAuthors.xml"/><Relationship Id="rId22"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44A5029F-57BE-43E3-9C03-B6FF93903E43}" type="datetimeFigureOut">
              <a:rPr kumimoji="1" lang="ja-JP" altLang="en-US" smtClean="0"/>
              <a:t>2026/10/14</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94B835EC-ACD9-4FA2-8966-5C69F0553117}" type="slidenum">
              <a:rPr kumimoji="1" lang="ja-JP" altLang="en-US" smtClean="0"/>
              <a:t>‹#›</a:t>
            </a:fld>
            <a:endParaRPr kumimoji="1" lang="ja-JP" altLang="en-US"/>
          </a:p>
        </p:txBody>
      </p:sp>
    </p:spTree>
    <p:extLst>
      <p:ext uri="{BB962C8B-B14F-4D97-AF65-F5344CB8AC3E}">
        <p14:creationId xmlns:p14="http://schemas.microsoft.com/office/powerpoint/2010/main" val="17529059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609900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DAE36-75C9-8A1E-EA02-C4A5E94712A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6D2879D-BC24-6BBE-9EF3-DBDD3BB19081}"/>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2FE57E02-B020-D978-807D-7A0503B9DC4F}"/>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32F17AC-71A8-7181-4A55-BE615F20C9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963836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0CDED-F737-11AC-5BB6-2894FB69305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51D0D16-D62E-D6DD-54CE-AE7ED0E99BF8}"/>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97544634-5ED8-F9A5-DF1B-ED8841FE82E0}"/>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F421A68-D03E-80F1-16EB-94EB2637597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420542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DC8FD-775A-FC97-F807-8D8C1119293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E4A1AA-B4E6-EA4A-A89E-C9C853BFD092}"/>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6D77AD38-6E01-6ABD-ADFC-3664AFE44626}"/>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3A559F3-3BA4-6CCA-AE6C-4D082D66B87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4281989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3307D-163F-E7C9-9E12-2BD46B94238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5B51B48-3CC7-8664-D50F-6DFFE56101EE}"/>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A63FF755-8F05-0D16-C163-9C7E2D2873A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1F4FC03-5A00-DCA5-0B93-573F4AF0A4C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2022510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40443-BDCE-B903-B25A-65CB02885A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D6E87-C23E-CDD1-BE78-517E593FFE50}"/>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15A8AFE5-508B-08CD-38B8-2C36879CB13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D6D2089-0E0C-B9F2-7C32-62DE7E6D0B6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5087515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77B56-690A-B24D-762F-206287E43F5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FBCFD1-66D3-730A-CFAB-2A4798DC8325}"/>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65554980-FE69-AFBE-170A-711418BCB66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177E34-4F62-B145-2D3F-4B60B8006D3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530542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70ECB-AE72-A74D-CB18-8435B8061F9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9AA87EE-1B11-F261-A616-F81FD2F9E6D8}"/>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D92A7EB4-10AD-9D9D-9847-9CC5997320A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F7D9F62-D0CD-F6E0-8174-DE4066677E8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6353279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220FF-0110-9E22-B240-5011401C47A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4DC6E24-7F7D-9EE4-541C-761BA4321EC0}"/>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B0B82C87-4277-178E-F8D5-2DE152E063E5}"/>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A03957E-F9DB-3E58-5124-D46F1ECE6CC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616237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アジェンダ">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5DC67AB3-4EF6-29EA-F9FE-CA7E125529D3}"/>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12" name="テキスト プレースホルダー 11">
            <a:extLst>
              <a:ext uri="{FF2B5EF4-FFF2-40B4-BE49-F238E27FC236}">
                <a16:creationId xmlns:a16="http://schemas.microsoft.com/office/drawing/2014/main" id="{91B12CBA-77B6-1522-2BEA-9FED5DFB4833}"/>
              </a:ext>
            </a:extLst>
          </p:cNvPr>
          <p:cNvSpPr>
            <a:spLocks noGrp="1"/>
          </p:cNvSpPr>
          <p:nvPr>
            <p:ph type="body" sz="quarter" idx="10"/>
          </p:nvPr>
        </p:nvSpPr>
        <p:spPr>
          <a:xfrm>
            <a:off x="507340" y="774374"/>
            <a:ext cx="8891323" cy="4598842"/>
          </a:xfrm>
          <a:prstGeom prst="rect">
            <a:avLst/>
          </a:prstGeom>
        </p:spPr>
        <p:txBody>
          <a:bodyPr lIns="36000" tIns="36000" rIns="36000" bIns="36000" anchor="t">
            <a:noAutofit/>
          </a:bodyPr>
          <a:lstStyle>
            <a:lvl1pPr marL="342900" indent="-342900" algn="l">
              <a:buFont typeface="+mj-lt"/>
              <a:buAutoNum type="arabicPeriod"/>
              <a:defRPr sz="1600">
                <a:latin typeface="+mj-ea"/>
                <a:ea typeface="+mj-ea"/>
              </a:defRPr>
            </a:lvl1pPr>
            <a:lvl2pPr marL="541338" indent="-187325" algn="l">
              <a:buFont typeface="+mj-lt"/>
              <a:buAutoNum type="alphaLcPeriod"/>
              <a:defRPr sz="1600">
                <a:latin typeface="+mj-ea"/>
                <a:ea typeface="+mj-ea"/>
              </a:defRPr>
            </a:lvl2pPr>
            <a:lvl3pPr marL="1282075" indent="-400050" algn="l">
              <a:buFont typeface="+mj-lt"/>
              <a:buAutoNum type="romanLcPeriod"/>
              <a:defRPr sz="1600">
                <a:latin typeface="+mj-ea"/>
                <a:ea typeface="+mj-ea"/>
              </a:defRPr>
            </a:lvl3pPr>
            <a:lvl4pPr algn="l">
              <a:defRPr sz="1600"/>
            </a:lvl4pPr>
            <a:lvl5pPr algn="l">
              <a:defRPr sz="16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Tree>
    <p:extLst>
      <p:ext uri="{BB962C8B-B14F-4D97-AF65-F5344CB8AC3E}">
        <p14:creationId xmlns:p14="http://schemas.microsoft.com/office/powerpoint/2010/main" val="20373721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44" userDrawn="1">
          <p15:clr>
            <a:srgbClr val="FBAE40"/>
          </p15:clr>
        </p15:guide>
        <p15:guide id="3" pos="651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41720054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44" userDrawn="1">
          <p15:clr>
            <a:srgbClr val="FBAE40"/>
          </p15:clr>
        </p15:guide>
        <p15:guide id="3" pos="651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EOL">
    <p:bg>
      <p:bgPr>
        <a:solidFill>
          <a:srgbClr val="CBDDF5"/>
        </a:solidFill>
        <a:effectLst/>
      </p:bgPr>
    </p:bg>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6961E19B-A07D-8306-F59B-FF89AF5CCDF8}"/>
              </a:ext>
            </a:extLst>
          </p:cNvPr>
          <p:cNvSpPr/>
          <p:nvPr/>
        </p:nvSpPr>
        <p:spPr>
          <a:xfrm>
            <a:off x="110151" y="692697"/>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8" name="テキスト プレースホルダー 11">
            <a:extLst>
              <a:ext uri="{FF2B5EF4-FFF2-40B4-BE49-F238E27FC236}">
                <a16:creationId xmlns:a16="http://schemas.microsoft.com/office/drawing/2014/main" id="{E8A546FC-8BA3-143C-C33F-CA251DE07AA6}"/>
              </a:ext>
            </a:extLst>
          </p:cNvPr>
          <p:cNvSpPr>
            <a:spLocks noGrp="1"/>
          </p:cNvSpPr>
          <p:nvPr>
            <p:ph type="body" sz="quarter" idx="10" hasCustomPrompt="1"/>
          </p:nvPr>
        </p:nvSpPr>
        <p:spPr>
          <a:xfrm>
            <a:off x="507340" y="2708276"/>
            <a:ext cx="8891323" cy="720725"/>
          </a:xfrm>
          <a:prstGeom prst="rect">
            <a:avLst/>
          </a:prstGeom>
        </p:spPr>
        <p:txBody>
          <a:bodyPr lIns="36000" tIns="36000" rIns="36000" bIns="36000" anchor="ctr">
            <a:noAutofit/>
          </a:bodyPr>
          <a:lstStyle>
            <a:lvl1pPr algn="ctr">
              <a:defRPr sz="4800" b="1">
                <a:latin typeface="+mj-ea"/>
                <a:ea typeface="+mj-ea"/>
              </a:defRPr>
            </a:lvl1pPr>
            <a:lvl2pPr>
              <a:defRPr sz="2400">
                <a:latin typeface="+mj-ea"/>
                <a:ea typeface="+mj-ea"/>
              </a:defRPr>
            </a:lvl2pPr>
            <a:lvl3pPr>
              <a:defRPr sz="2400">
                <a:latin typeface="+mj-ea"/>
                <a:ea typeface="+mj-ea"/>
              </a:defRPr>
            </a:lvl3pPr>
            <a:lvl4pPr>
              <a:defRPr sz="2400">
                <a:latin typeface="+mj-ea"/>
                <a:ea typeface="+mj-ea"/>
              </a:defRPr>
            </a:lvl4pPr>
            <a:lvl5pPr>
              <a:defRPr sz="2400">
                <a:latin typeface="+mj-ea"/>
                <a:ea typeface="+mj-ea"/>
              </a:defRPr>
            </a:lvl5pPr>
          </a:lstStyle>
          <a:p>
            <a:pPr lvl="0"/>
            <a:r>
              <a:rPr kumimoji="1" lang="en-US" altLang="ja-JP"/>
              <a:t>EOF</a:t>
            </a:r>
          </a:p>
        </p:txBody>
      </p:sp>
    </p:spTree>
    <p:extLst>
      <p:ext uri="{BB962C8B-B14F-4D97-AF65-F5344CB8AC3E}">
        <p14:creationId xmlns:p14="http://schemas.microsoft.com/office/powerpoint/2010/main" val="1544684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6516" userDrawn="1">
          <p15:clr>
            <a:srgbClr val="FBAE40"/>
          </p15:clr>
        </p15:guide>
        <p15:guide id="3" pos="24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fld id="{48F63A3B-78C7-47BE-AE5E-E10140E04643}" type="slidenum">
              <a:rPr lang="en-US" smtClean="0"/>
              <a:pPr/>
              <a:t>‹#›</a:t>
            </a:fld>
            <a:endParaRPr lang="en-US"/>
          </a:p>
        </p:txBody>
      </p:sp>
    </p:spTree>
    <p:extLst>
      <p:ext uri="{BB962C8B-B14F-4D97-AF65-F5344CB8AC3E}">
        <p14:creationId xmlns:p14="http://schemas.microsoft.com/office/powerpoint/2010/main" val="64800238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49612270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1376294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p:nvSpPr>
        <p:spPr>
          <a:xfrm>
            <a:off x="0" y="0"/>
            <a:ext cx="1579278" cy="241476"/>
          </a:xfrm>
          <a:prstGeom prst="rect">
            <a:avLst/>
          </a:prstGeom>
        </p:spPr>
        <p:txBody>
          <a:bodyPr wrap="none">
            <a:spAutoFit/>
          </a:bodyPr>
          <a:lstStyle/>
          <a:p>
            <a:r>
              <a:rPr lang="en-US" altLang="ja-JP" sz="969" i="0">
                <a:latin typeface="+mj-ea"/>
                <a:ea typeface="+mj-ea"/>
              </a:rPr>
              <a:t>Ⅲ</a:t>
            </a:r>
            <a:r>
              <a:rPr lang="ja-JP" altLang="en-US" sz="969"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501186365"/>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50442556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44075847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375698"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a:t>
            </a:r>
            <a:r>
              <a:rPr lang="en-US" altLang="ja-JP" sz="969" i="0">
                <a:latin typeface="+mj-ea"/>
                <a:ea typeface="+mj-ea"/>
              </a:rPr>
              <a:t>(</a:t>
            </a:r>
            <a:r>
              <a:rPr lang="ja-JP" altLang="en-US" sz="969" i="0">
                <a:latin typeface="+mj-ea"/>
                <a:ea typeface="+mj-ea"/>
              </a:rPr>
              <a:t>案</a:t>
            </a:r>
            <a:r>
              <a:rPr lang="en-US" altLang="ja-JP" sz="969" i="0">
                <a:latin typeface="+mj-ea"/>
                <a:ea typeface="+mj-ea"/>
              </a:rPr>
              <a:t>)</a:t>
            </a:r>
            <a:endParaRPr lang="ja-JP" altLang="en-US" sz="969" i="0">
              <a:latin typeface="+mj-ea"/>
              <a:ea typeface="+mj-ea"/>
            </a:endParaRP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1386906685"/>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p:nvSpPr>
        <p:spPr>
          <a:xfrm>
            <a:off x="0" y="0"/>
            <a:ext cx="1375698" cy="241476"/>
          </a:xfrm>
          <a:prstGeom prst="rect">
            <a:avLst/>
          </a:prstGeom>
        </p:spPr>
        <p:txBody>
          <a:bodyPr wrap="none">
            <a:spAutoFit/>
          </a:bodyPr>
          <a:lstStyle/>
          <a:p>
            <a:r>
              <a:rPr lang="en-US" altLang="ja-JP" sz="969" i="0">
                <a:latin typeface="+mj-ea"/>
                <a:ea typeface="+mj-ea"/>
              </a:rPr>
              <a:t>Ⅶ</a:t>
            </a:r>
            <a:r>
              <a:rPr lang="ja-JP" altLang="en-US" sz="969" i="0">
                <a:latin typeface="+mj-ea"/>
                <a:ea typeface="+mj-ea"/>
              </a:rPr>
              <a:t>章　技術解説書</a:t>
            </a:r>
            <a:r>
              <a:rPr lang="en-US" altLang="ja-JP" sz="969" i="0">
                <a:latin typeface="+mj-ea"/>
                <a:ea typeface="+mj-ea"/>
              </a:rPr>
              <a:t>(</a:t>
            </a:r>
            <a:r>
              <a:rPr lang="ja-JP" altLang="en-US" sz="969" i="0">
                <a:latin typeface="+mj-ea"/>
                <a:ea typeface="+mj-ea"/>
              </a:rPr>
              <a:t>案</a:t>
            </a:r>
            <a:r>
              <a:rPr lang="en-US" altLang="ja-JP" sz="969" i="0">
                <a:latin typeface="+mj-ea"/>
                <a:ea typeface="+mj-ea"/>
              </a:rPr>
              <a:t>)</a:t>
            </a:r>
            <a:endParaRPr lang="ja-JP" altLang="en-US" sz="969" i="0">
              <a:latin typeface="+mj-ea"/>
              <a:ea typeface="+mj-ea"/>
            </a:endParaRP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04274843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1807887720"/>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370807"/>
          </a:xfrm>
        </p:spPr>
        <p:txBody>
          <a:bodyPr wrap="square" lIns="288000">
            <a:spAutoFit/>
          </a:bodyPr>
          <a:lstStyle>
            <a:lvl1pPr marL="0" indent="0">
              <a:spcAft>
                <a:spcPts val="369"/>
              </a:spcAft>
              <a:buNone/>
              <a:defRPr lang="ja-JP" altLang="en-US" sz="1477" spc="138" smtClean="0">
                <a:solidFill>
                  <a:schemeClr val="tx1"/>
                </a:solidFill>
              </a:defRPr>
            </a:lvl1pPr>
            <a:lvl2pPr marL="211021" indent="0">
              <a:spcAft>
                <a:spcPts val="369"/>
              </a:spcAft>
              <a:buNone/>
              <a:defRPr lang="ja-JP" altLang="en-US" sz="1477" smtClean="0">
                <a:solidFill>
                  <a:schemeClr val="tx1"/>
                </a:solidFill>
                <a:latin typeface="+mn-lt"/>
                <a:ea typeface="+mn-ea"/>
              </a:defRPr>
            </a:lvl2pPr>
            <a:lvl3pPr marL="633062" indent="0">
              <a:spcAft>
                <a:spcPts val="369"/>
              </a:spcAft>
              <a:buNone/>
              <a:defRPr lang="ja-JP" altLang="en-US" sz="1477" smtClean="0">
                <a:solidFill>
                  <a:schemeClr val="tx1"/>
                </a:solidFill>
                <a:latin typeface="+mn-lt"/>
                <a:ea typeface="+mn-ea"/>
              </a:defRPr>
            </a:lvl3pPr>
            <a:lvl4pPr marL="1055103" indent="0">
              <a:spcAft>
                <a:spcPts val="369"/>
              </a:spcAft>
              <a:buNone/>
              <a:defRPr lang="ja-JP" altLang="en-US" sz="1477" smtClean="0">
                <a:solidFill>
                  <a:schemeClr val="tx1"/>
                </a:solidFill>
                <a:latin typeface="+mn-lt"/>
                <a:ea typeface="+mn-ea"/>
              </a:defRPr>
            </a:lvl4pPr>
            <a:lvl5pPr marL="1477145" indent="0">
              <a:spcAft>
                <a:spcPts val="369"/>
              </a:spcAft>
              <a:buNone/>
              <a:defRPr lang="ja-JP" altLang="en-US" sz="1477">
                <a:solidFill>
                  <a:schemeClr val="tx1"/>
                </a:solidFill>
                <a:latin typeface="+mn-lt"/>
                <a:ea typeface="+mn-ea"/>
              </a:defRPr>
            </a:lvl5pPr>
          </a:lstStyle>
          <a:p>
            <a:pPr marL="0" lvl="0" defTabSz="422041"/>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0" y="6379367"/>
            <a:ext cx="3757975" cy="263263"/>
          </a:xfrm>
        </p:spPr>
        <p:txBody>
          <a:bodyPr/>
          <a:lstStyle/>
          <a:p>
            <a:pPr>
              <a:defRPr/>
            </a:pPr>
            <a:r>
              <a:rPr lang="en-AU"/>
              <a:t>Copyright©272</a:t>
            </a:r>
            <a:r>
              <a:rPr lang="en-US" altLang="ja-JP"/>
              <a:t>2</a:t>
            </a:r>
            <a:r>
              <a:rPr lang="en-AU" err="1"/>
              <a:t>AccentureAllRightsReserved</a:t>
            </a:r>
            <a:r>
              <a:rPr lang="en-AU"/>
              <a:t>.</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2"/>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3572271009"/>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26277399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31882541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909058675"/>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48523455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46"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256402346"/>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B5F514-B7F3-0B8E-B1D6-F8A16F8C61D7}"/>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F1B213-BAAA-CD06-A1C6-B95158E72468}"/>
              </a:ext>
            </a:extLst>
          </p:cNvPr>
          <p:cNvSpPr>
            <a:spLocks noGrp="1"/>
          </p:cNvSpPr>
          <p:nvPr>
            <p:ph idx="1"/>
          </p:nvPr>
        </p:nvSpPr>
        <p:spPr>
          <a:xfrm>
            <a:off x="681038" y="1825625"/>
            <a:ext cx="8543925"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233793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oleObject" Target="../embeddings/oleObject1.bin"/><Relationship Id="rId5" Type="http://schemas.openxmlformats.org/officeDocument/2006/relationships/tags" Target="../tags/tag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oleObject" Target="../embeddings/oleObject2.bin"/><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ags" Target="../tags/tag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theme" Target="../theme/theme2.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tags" Target="../tags/tag3.xml"/><Relationship Id="rId3" Type="http://schemas.openxmlformats.org/officeDocument/2006/relationships/slideLayout" Target="../slideLayouts/slideLayout16.xml"/><Relationship Id="rId7" Type="http://schemas.openxmlformats.org/officeDocument/2006/relationships/theme" Target="../theme/theme3.xml"/><Relationship Id="rId12" Type="http://schemas.openxmlformats.org/officeDocument/2006/relationships/image" Target="../media/image2.emf"/><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oleObject" Target="../embeddings/oleObject3.bin"/><Relationship Id="rId5" Type="http://schemas.openxmlformats.org/officeDocument/2006/relationships/slideLayout" Target="../slideLayouts/slideLayout18.xml"/><Relationship Id="rId10" Type="http://schemas.openxmlformats.org/officeDocument/2006/relationships/tags" Target="../tags/tag5.xml"/><Relationship Id="rId4" Type="http://schemas.openxmlformats.org/officeDocument/2006/relationships/slideLayout" Target="../slideLayouts/slideLayout17.xml"/><Relationship Id="rId9"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A3C7E29-81B3-D0EB-3901-9FD8B70B0C1D}"/>
              </a:ext>
            </a:extLst>
          </p:cNvPr>
          <p:cNvGraphicFramePr>
            <a:graphicFrameLocks noChangeAspect="1"/>
          </p:cNvGraphicFramePr>
          <p:nvPr userDrawn="1">
            <p:custDataLst>
              <p:tags r:id="rId5"/>
            </p:custDataLst>
            <p:extLst>
              <p:ext uri="{D42A27DB-BD31-4B8C-83A1-F6EECF244321}">
                <p14:modId xmlns:p14="http://schemas.microsoft.com/office/powerpoint/2010/main" val="31275839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6" imgW="405" imgH="405" progId="TCLayout.ActiveDocument.1">
                  <p:embed/>
                </p:oleObj>
              </mc:Choice>
              <mc:Fallback>
                <p:oleObj name="think-cellスライド" r:id="rId6" imgW="405" imgH="405" progId="TCLayout.ActiveDocument.1">
                  <p:embed/>
                  <p:pic>
                    <p:nvPicPr>
                      <p:cNvPr id="3" name="think-cell data - do not delete" hidden="1">
                        <a:extLst>
                          <a:ext uri="{FF2B5EF4-FFF2-40B4-BE49-F238E27FC236}">
                            <a16:creationId xmlns:a16="http://schemas.microsoft.com/office/drawing/2014/main" id="{4A3C7E29-81B3-D0EB-3901-9FD8B70B0C1D}"/>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userDrawn="1"/>
        </p:nvSpPr>
        <p:spPr>
          <a:xfrm>
            <a:off x="9271620" y="6521052"/>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900"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447501"/>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7" y="-447501"/>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a:cxnSpLocks/>
          </p:cNvCxnSpPr>
          <p:nvPr userDrawn="1"/>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a:cxnSpLocks/>
          </p:cNvCxnSpPr>
          <p:nvPr userDrawn="1"/>
        </p:nvCxnSpPr>
        <p:spPr bwMode="auto">
          <a:xfrm>
            <a:off x="9412426"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userDrawn="1"/>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userDrawn="1"/>
        </p:nvSpPr>
        <p:spPr>
          <a:xfrm>
            <a:off x="9243477"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a:cxnSpLocks/>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0"/>
            <a:ext cx="8892000"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grpSp>
    </p:spTree>
    <p:extLst>
      <p:ext uri="{BB962C8B-B14F-4D97-AF65-F5344CB8AC3E}">
        <p14:creationId xmlns:p14="http://schemas.microsoft.com/office/powerpoint/2010/main" val="1712580275"/>
      </p:ext>
    </p:extLst>
  </p:cSld>
  <p:clrMap bg1="lt1" tx1="dk1" bg2="lt2" tx2="dk2" accent1="accent1" accent2="accent2" accent3="accent3" accent4="accent4" accent5="accent5" accent6="accent6" hlink="hlink" folHlink="folHlink"/>
  <p:sldLayoutIdLst>
    <p:sldLayoutId id="2147483719" r:id="rId1"/>
    <p:sldLayoutId id="2147483759" r:id="rId2"/>
    <p:sldLayoutId id="2147483727" r:id="rId3"/>
  </p:sldLayoutIdLst>
  <p:hf sldNum="0" hd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729DEFB-54AB-BCEB-2F35-CD9CB7E7F691}"/>
              </a:ext>
            </a:extLst>
          </p:cNvPr>
          <p:cNvGraphicFramePr>
            <a:graphicFrameLocks noChangeAspect="1"/>
          </p:cNvGraphicFramePr>
          <p:nvPr userDrawn="1">
            <p:custDataLst>
              <p:tags r:id="rId12"/>
            </p:custDataLst>
            <p:extLst>
              <p:ext uri="{D42A27DB-BD31-4B8C-83A1-F6EECF244321}">
                <p14:modId xmlns:p14="http://schemas.microsoft.com/office/powerpoint/2010/main" val="652577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3" imgW="405" imgH="405" progId="TCLayout.ActiveDocument.1">
                  <p:embed/>
                </p:oleObj>
              </mc:Choice>
              <mc:Fallback>
                <p:oleObj name="think-cellスライド" r:id="rId13" imgW="405" imgH="405" progId="TCLayout.ActiveDocument.1">
                  <p:embed/>
                  <p:pic>
                    <p:nvPicPr>
                      <p:cNvPr id="3" name="think-cell data - do not delete" hidden="1">
                        <a:extLst>
                          <a:ext uri="{FF2B5EF4-FFF2-40B4-BE49-F238E27FC236}">
                            <a16:creationId xmlns:a16="http://schemas.microsoft.com/office/drawing/2014/main" id="{A729DEFB-54AB-BCEB-2F35-CD9CB7E7F691}"/>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574907"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376518"/>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413558" y="-376518"/>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8"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p:nvSpPr>
        <p:spPr>
          <a:xfrm>
            <a:off x="-536528" y="1233656"/>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8" y="1628308"/>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8" y="2022960"/>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8" y="2417612"/>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6" tIns="42203" rIns="84406" bIns="42203" numCol="1" spcCol="0" rtlCol="0" fromWordArt="0" anchor="ctr" anchorCtr="0" forceAA="0" compatLnSpc="1">
            <a:prstTxWarp prst="textNoShape">
              <a:avLst/>
            </a:prstTxWarp>
            <a:noAutofit/>
          </a:bodyPr>
          <a:lstStyle/>
          <a:p>
            <a:pPr defTabSz="843987"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2"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Tree>
    <p:extLst>
      <p:ext uri="{BB962C8B-B14F-4D97-AF65-F5344CB8AC3E}">
        <p14:creationId xmlns:p14="http://schemas.microsoft.com/office/powerpoint/2010/main" val="1833124152"/>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Lst>
  <p:hf hd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D37800-827B-46F8-DF58-F3EAC1F7B0AA}"/>
              </a:ext>
            </a:extLst>
          </p:cNvPr>
          <p:cNvGraphicFramePr>
            <a:graphicFrameLocks noChangeAspect="1"/>
          </p:cNvGraphicFramePr>
          <p:nvPr userDrawn="1">
            <p:custDataLst>
              <p:tags r:id="rId8"/>
            </p:custDataLst>
            <p:extLst>
              <p:ext uri="{D42A27DB-BD31-4B8C-83A1-F6EECF244321}">
                <p14:modId xmlns:p14="http://schemas.microsoft.com/office/powerpoint/2010/main" val="1457617614"/>
              </p:ext>
            </p:ext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スライド" r:id="rId11" imgW="360" imgH="360" progId="TCLayout.ActiveDocument.1">
                  <p:embed/>
                </p:oleObj>
              </mc:Choice>
              <mc:Fallback>
                <p:oleObj name="think-cellスライド" r:id="rId11" imgW="360" imgH="360" progId="TCLayout.ActiveDocument.1">
                  <p:embed/>
                  <p:pic>
                    <p:nvPicPr>
                      <p:cNvPr id="3" name="think-cell data - do not delete" hidden="1">
                        <a:extLst>
                          <a:ext uri="{FF2B5EF4-FFF2-40B4-BE49-F238E27FC236}">
                            <a16:creationId xmlns:a16="http://schemas.microsoft.com/office/drawing/2014/main" id="{58D37800-827B-46F8-DF58-F3EAC1F7B0AA}"/>
                          </a:ext>
                        </a:extLst>
                      </p:cNvPr>
                      <p:cNvPicPr/>
                      <p:nvPr/>
                    </p:nvPicPr>
                    <p:blipFill>
                      <a:blip r:embed="rId12"/>
                      <a:stretch>
                        <a:fillRect/>
                      </a:stretch>
                    </p:blipFill>
                    <p:spPr>
                      <a:xfrm>
                        <a:off x="1588" y="1589"/>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009450" y="6453376"/>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796" rtl="0" eaLnBrk="1" fontAlgn="auto" latinLnBrk="0" hangingPunct="1">
              <a:lnSpc>
                <a:spcPct val="100000"/>
              </a:lnSpc>
              <a:spcBef>
                <a:spcPts val="0"/>
              </a:spcBef>
              <a:spcAft>
                <a:spcPts val="0"/>
              </a:spcAft>
              <a:buClrTx/>
              <a:buSzTx/>
              <a:buFontTx/>
              <a:buNone/>
              <a:tabLst/>
              <a:defRPr/>
            </a:pPr>
            <a:fld id="{EF2F7A32-C1EA-4F7E-B0A2-7FCB5BFE90DE}" type="slidenum">
              <a:rPr kumimoji="0" lang="en-GB" sz="7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685796" rtl="0" eaLnBrk="1" fontAlgn="auto" latinLnBrk="0" hangingPunct="1">
                <a:lnSpc>
                  <a:spcPct val="100000"/>
                </a:lnSpc>
                <a:spcBef>
                  <a:spcPts val="0"/>
                </a:spcBef>
                <a:spcAft>
                  <a:spcPts val="0"/>
                </a:spcAft>
                <a:buClrTx/>
                <a:buSzTx/>
                <a:buFontTx/>
                <a:buNone/>
                <a:tabLst/>
                <a:defRPr/>
              </a:pPr>
              <a:t>‹#›</a:t>
            </a:fld>
            <a:endParaRPr kumimoji="0" lang="en-GB" sz="675"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3" y="-447501"/>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8" y="-447501"/>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3" y="7012040"/>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9" y="7012040"/>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3" y="266705"/>
            <a:ext cx="8915399"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1"/>
            <a:ext cx="8892000"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grpSp>
      <p:sp>
        <p:nvSpPr>
          <p:cNvPr id="13" name="AcnSubjectTitle_ID_13" hidden="1">
            <a:extLst>
              <a:ext uri="{FF2B5EF4-FFF2-40B4-BE49-F238E27FC236}">
                <a16:creationId xmlns:a16="http://schemas.microsoft.com/office/drawing/2014/main" id="{80CE973F-CC52-F6DE-E743-68E029CAB8DA}"/>
              </a:ext>
            </a:extLst>
          </p:cNvPr>
          <p:cNvSpPr txBox="1"/>
          <p:nvPr userDrawn="1">
            <p:custDataLst>
              <p:tags r:id="rId9"/>
            </p:custDataLst>
          </p:nvPr>
        </p:nvSpPr>
        <p:spPr bwMode="gray">
          <a:xfrm>
            <a:off x="179388" y="1420813"/>
            <a:ext cx="6985000" cy="269680"/>
          </a:xfrm>
          <a:prstGeom prst="rect">
            <a:avLst/>
          </a:prstGeom>
          <a:noFill/>
        </p:spPr>
        <p:txBody>
          <a:bodyPr vert="horz" wrap="square" lIns="36000" tIns="36000" rIns="36000" bIns="36000" rtlCol="0" anchor="ctr">
            <a:spAutoFit/>
          </a:bodyPr>
          <a:lstStyle/>
          <a:p>
            <a:pPr algn="l" defTabSz="914400" fontAlgn="base">
              <a:lnSpc>
                <a:spcPct val="80000"/>
              </a:lnSpc>
              <a:spcBef>
                <a:spcPct val="0"/>
              </a:spcBef>
              <a:spcAft>
                <a:spcPct val="0"/>
              </a:spcAft>
              <a:buFontTx/>
              <a:buNone/>
            </a:pPr>
            <a:r>
              <a:rPr kumimoji="1" lang="en-US" altLang="ja-JP" sz="1600" b="1" i="0" err="1">
                <a:solidFill>
                  <a:schemeClr val="tx1"/>
                </a:solidFill>
                <a:latin typeface="Meiryo UI" panose="020B0604030504040204" pitchFamily="50" charset="-128"/>
                <a:ea typeface="Meiryo UI" panose="020B0604030504040204" pitchFamily="50" charset="-128"/>
              </a:rPr>
              <a:t>SubjectTitle</a:t>
            </a:r>
            <a:endParaRPr kumimoji="1" lang="ja-JP" altLang="en-US" sz="1600" b="1" i="0">
              <a:solidFill>
                <a:schemeClr val="tx1"/>
              </a:solidFill>
              <a:latin typeface="Meiryo UI" panose="020B0604030504040204" pitchFamily="50" charset="-128"/>
              <a:ea typeface="Meiryo UI" panose="020B0604030504040204" pitchFamily="50" charset="-128"/>
            </a:endParaRPr>
          </a:p>
        </p:txBody>
      </p:sp>
      <p:sp>
        <p:nvSpPr>
          <p:cNvPr id="17" name="AcnFootnote_ID_17" hidden="1">
            <a:extLst>
              <a:ext uri="{FF2B5EF4-FFF2-40B4-BE49-F238E27FC236}">
                <a16:creationId xmlns:a16="http://schemas.microsoft.com/office/drawing/2014/main" id="{8766CB3F-02BB-8D4F-CC0C-78CAF99C6587}"/>
              </a:ext>
            </a:extLst>
          </p:cNvPr>
          <p:cNvSpPr txBox="1"/>
          <p:nvPr userDrawn="1">
            <p:custDataLst>
              <p:tags r:id="rId10"/>
            </p:custDataLst>
          </p:nvPr>
        </p:nvSpPr>
        <p:spPr bwMode="gray">
          <a:xfrm>
            <a:off x="179388" y="6254750"/>
            <a:ext cx="8780463" cy="349702"/>
          </a:xfrm>
          <a:prstGeom prst="rect">
            <a:avLst/>
          </a:prstGeom>
          <a:noFill/>
        </p:spPr>
        <p:txBody>
          <a:bodyPr vert="horz" wrap="square" lIns="36000" tIns="36000" rIns="36000" bIns="36000" rtlCol="0" anchor="b">
            <a:spAutoFit/>
          </a:bodyPr>
          <a:lstStyle/>
          <a:p>
            <a:pPr marL="538163" indent="-538163" algn="l" defTabSz="914400" fontAlgn="base">
              <a:lnSpc>
                <a:spcPct val="80000"/>
              </a:lnSpc>
              <a:spcBef>
                <a:spcPct val="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	Footnote</a:t>
            </a:r>
          </a:p>
          <a:p>
            <a:pPr marL="538163" indent="-538163" algn="l" defTabSz="914400" fontAlgn="base">
              <a:lnSpc>
                <a:spcPct val="80000"/>
              </a:lnSpc>
              <a:spcBef>
                <a:spcPct val="2000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Source:	Source</a:t>
            </a:r>
            <a:endParaRPr kumimoji="1" lang="ja-JP" altLang="en-US" sz="1000" b="0" i="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814671536"/>
      </p:ext>
    </p:extLst>
  </p:cSld>
  <p:clrMap bg1="lt1" tx1="dk1" bg2="lt2" tx2="dk2" accent1="accent1" accent2="accent2" accent3="accent3" accent4="accent4" accent5="accent5" accent6="accent6" hlink="hlink" folHlink="folHlink"/>
  <p:sldLayoutIdLst>
    <p:sldLayoutId id="2147483812" r:id="rId1"/>
    <p:sldLayoutId id="2147483813" r:id="rId2"/>
    <p:sldLayoutId id="2147483814" r:id="rId3"/>
    <p:sldLayoutId id="2147483815" r:id="rId4"/>
    <p:sldLayoutId id="2147483816" r:id="rId5"/>
    <p:sldLayoutId id="2147483817" r:id="rId6"/>
  </p:sldLayoutIdLst>
  <p:hf sldNum="0" hdr="0" dt="0"/>
  <p:txStyles>
    <p:titleStyle>
      <a:lvl1pPr algn="ctr" defTabSz="571394" rtl="0" eaLnBrk="1" fontAlgn="base" hangingPunct="1">
        <a:spcBef>
          <a:spcPct val="0"/>
        </a:spcBef>
        <a:spcAft>
          <a:spcPct val="0"/>
        </a:spcAft>
        <a:defRPr kumimoji="1" sz="1200">
          <a:solidFill>
            <a:schemeClr val="bg1"/>
          </a:solidFill>
          <a:latin typeface="+mj-ea"/>
          <a:ea typeface="+mj-ea"/>
          <a:cs typeface="+mj-cs"/>
        </a:defRPr>
      </a:lvl1pPr>
      <a:lvl2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2pPr>
      <a:lvl3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3pPr>
      <a:lvl4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4pPr>
      <a:lvl5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5pPr>
      <a:lvl6pPr marL="342836"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685673"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028509"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371345"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050">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p:bodyStyle>
    <p:otherStyle>
      <a:defPPr>
        <a:defRPr lang="ja-JP"/>
      </a:defPPr>
      <a:lvl1pPr marL="0" algn="l" defTabSz="685673" rtl="0" eaLnBrk="1" latinLnBrk="0" hangingPunct="1">
        <a:defRPr kumimoji="1" sz="1351" kern="1200">
          <a:solidFill>
            <a:schemeClr val="tx1"/>
          </a:solidFill>
          <a:latin typeface="+mn-lt"/>
          <a:ea typeface="+mn-ea"/>
          <a:cs typeface="+mn-cs"/>
        </a:defRPr>
      </a:lvl1pPr>
      <a:lvl2pPr marL="342836" algn="l" defTabSz="685673" rtl="0" eaLnBrk="1" latinLnBrk="0" hangingPunct="1">
        <a:defRPr kumimoji="1" sz="1351" kern="1200">
          <a:solidFill>
            <a:schemeClr val="tx1"/>
          </a:solidFill>
          <a:latin typeface="+mn-lt"/>
          <a:ea typeface="+mn-ea"/>
          <a:cs typeface="+mn-cs"/>
        </a:defRPr>
      </a:lvl2pPr>
      <a:lvl3pPr marL="685673" algn="l" defTabSz="685673" rtl="0" eaLnBrk="1" latinLnBrk="0" hangingPunct="1">
        <a:defRPr kumimoji="1" sz="1351" kern="1200">
          <a:solidFill>
            <a:schemeClr val="tx1"/>
          </a:solidFill>
          <a:latin typeface="+mn-lt"/>
          <a:ea typeface="+mn-ea"/>
          <a:cs typeface="+mn-cs"/>
        </a:defRPr>
      </a:lvl3pPr>
      <a:lvl4pPr marL="1028509" algn="l" defTabSz="685673" rtl="0" eaLnBrk="1" latinLnBrk="0" hangingPunct="1">
        <a:defRPr kumimoji="1" sz="1351" kern="1200">
          <a:solidFill>
            <a:schemeClr val="tx1"/>
          </a:solidFill>
          <a:latin typeface="+mn-lt"/>
          <a:ea typeface="+mn-ea"/>
          <a:cs typeface="+mn-cs"/>
        </a:defRPr>
      </a:lvl4pPr>
      <a:lvl5pPr marL="1371345" algn="l" defTabSz="685673" rtl="0" eaLnBrk="1" latinLnBrk="0" hangingPunct="1">
        <a:defRPr kumimoji="1" sz="1351" kern="1200">
          <a:solidFill>
            <a:schemeClr val="tx1"/>
          </a:solidFill>
          <a:latin typeface="+mn-lt"/>
          <a:ea typeface="+mn-ea"/>
          <a:cs typeface="+mn-cs"/>
        </a:defRPr>
      </a:lvl5pPr>
      <a:lvl6pPr marL="1714181" algn="l" defTabSz="685673" rtl="0" eaLnBrk="1" latinLnBrk="0" hangingPunct="1">
        <a:defRPr kumimoji="1" sz="1351" kern="1200">
          <a:solidFill>
            <a:schemeClr val="tx1"/>
          </a:solidFill>
          <a:latin typeface="+mn-lt"/>
          <a:ea typeface="+mn-ea"/>
          <a:cs typeface="+mn-cs"/>
        </a:defRPr>
      </a:lvl6pPr>
      <a:lvl7pPr marL="2057017" algn="l" defTabSz="685673" rtl="0" eaLnBrk="1" latinLnBrk="0" hangingPunct="1">
        <a:defRPr kumimoji="1" sz="1351" kern="1200">
          <a:solidFill>
            <a:schemeClr val="tx1"/>
          </a:solidFill>
          <a:latin typeface="+mn-lt"/>
          <a:ea typeface="+mn-ea"/>
          <a:cs typeface="+mn-cs"/>
        </a:defRPr>
      </a:lvl7pPr>
      <a:lvl8pPr marL="2399854" algn="l" defTabSz="685673" rtl="0" eaLnBrk="1" latinLnBrk="0" hangingPunct="1">
        <a:defRPr kumimoji="1" sz="1351" kern="1200">
          <a:solidFill>
            <a:schemeClr val="tx1"/>
          </a:solidFill>
          <a:latin typeface="+mn-lt"/>
          <a:ea typeface="+mn-ea"/>
          <a:cs typeface="+mn-cs"/>
        </a:defRPr>
      </a:lvl8pPr>
      <a:lvl9pPr marL="2742689" algn="l" defTabSz="685673" rtl="0" eaLnBrk="1" latinLnBrk="0" hangingPunct="1">
        <a:defRPr kumimoji="1"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コンテンツ プレースホルダー 2">
            <a:extLst>
              <a:ext uri="{FF2B5EF4-FFF2-40B4-BE49-F238E27FC236}">
                <a16:creationId xmlns:a16="http://schemas.microsoft.com/office/drawing/2014/main" id="{C08FAB9E-26D0-3AC7-F538-D195A6F89516}"/>
              </a:ext>
            </a:extLst>
          </p:cNvPr>
          <p:cNvSpPr>
            <a:spLocks noGrp="1"/>
          </p:cNvSpPr>
          <p:nvPr>
            <p:ph idx="1"/>
          </p:nvPr>
        </p:nvSpPr>
        <p:spPr>
          <a:xfrm>
            <a:off x="1616840" y="3156055"/>
            <a:ext cx="6269126" cy="569252"/>
          </a:xfrm>
        </p:spPr>
        <p:txBody>
          <a:bodyPr anchor="ctr"/>
          <a:lstStyle/>
          <a:p>
            <a:pPr algn="ctr"/>
            <a:r>
              <a:rPr lang="ja-JP" altLang="en-US" sz="4000" b="1"/>
              <a:t>開発課題検討会</a:t>
            </a:r>
            <a:endParaRPr kumimoji="1" lang="ja-JP" altLang="en-US" sz="4000" b="1"/>
          </a:p>
        </p:txBody>
      </p:sp>
      <p:sp>
        <p:nvSpPr>
          <p:cNvPr id="7" name="コンテンツ プレースホルダー 1">
            <a:extLst>
              <a:ext uri="{FF2B5EF4-FFF2-40B4-BE49-F238E27FC236}">
                <a16:creationId xmlns:a16="http://schemas.microsoft.com/office/drawing/2014/main" id="{36BC66CB-47C6-E685-0669-F41E7D041B9F}"/>
              </a:ext>
            </a:extLst>
          </p:cNvPr>
          <p:cNvSpPr txBox="1">
            <a:spLocks/>
          </p:cNvSpPr>
          <p:nvPr/>
        </p:nvSpPr>
        <p:spPr bwMode="auto">
          <a:xfrm>
            <a:off x="2452555" y="4270206"/>
            <a:ext cx="4597696" cy="417786"/>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marL="0" indent="0" algn="l" rtl="0" eaLnBrk="1" fontAlgn="base" hangingPunct="1">
              <a:spcBef>
                <a:spcPts val="0"/>
              </a:spcBef>
              <a:spcAft>
                <a:spcPct val="0"/>
              </a:spcAft>
              <a:defRPr kumimoji="1" sz="1400">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a:lstStyle>
          <a:p>
            <a:pPr marL="0" marR="0" lvl="0" indent="0" algn="ctr" defTabSz="914400" rtl="0" eaLnBrk="1" fontAlgn="base" latinLnBrk="0" hangingPunct="1">
              <a:lnSpc>
                <a:spcPct val="100000"/>
              </a:lnSpc>
              <a:spcBef>
                <a:spcPts val="0"/>
              </a:spcBef>
              <a:spcAft>
                <a:spcPct val="0"/>
              </a:spcAft>
              <a:buClrTx/>
              <a:buSzTx/>
              <a:buFontTx/>
              <a:buNone/>
              <a:tabLst/>
              <a:defRPr/>
            </a:pPr>
            <a:r>
              <a:rPr lang="en-US" altLang="ja-JP" sz="1800" kern="0">
                <a:solidFill>
                  <a:prstClr val="black"/>
                </a:solidFill>
                <a:latin typeface="Meiryo UI"/>
                <a:ea typeface="Meiryo UI"/>
              </a:rPr>
              <a:t>2026/10/13</a:t>
            </a:r>
            <a:r>
              <a:rPr kumimoji="1" lang="ja-JP" altLang="en-US" sz="1800" b="0" i="0" u="none" strike="noStrike" kern="0" cap="none" spc="0" normalizeH="0" baseline="0" noProof="0">
                <a:ln>
                  <a:noFill/>
                </a:ln>
                <a:solidFill>
                  <a:prstClr val="black"/>
                </a:solidFill>
                <a:effectLst/>
                <a:uLnTx/>
                <a:uFillTx/>
                <a:latin typeface="Meiryo UI"/>
                <a:ea typeface="Meiryo UI"/>
                <a:cs typeface="+mn-cs"/>
              </a:rPr>
              <a:t>　</a:t>
            </a:r>
            <a:r>
              <a:rPr lang="en-US" altLang="ja-JP" sz="1800" kern="0">
                <a:solidFill>
                  <a:prstClr val="black"/>
                </a:solidFill>
                <a:latin typeface="Meiryo UI"/>
                <a:ea typeface="Meiryo UI"/>
              </a:rPr>
              <a:t>14:10</a:t>
            </a:r>
            <a:r>
              <a:rPr kumimoji="1" lang="ja-JP" altLang="en-US" sz="1800" b="0" i="0" u="none" strike="noStrike" kern="0" cap="none" spc="0" normalizeH="0" baseline="0" noProof="0">
                <a:ln>
                  <a:noFill/>
                </a:ln>
                <a:solidFill>
                  <a:prstClr val="black"/>
                </a:solidFill>
                <a:effectLst/>
                <a:uLnTx/>
                <a:uFillTx/>
                <a:latin typeface="Meiryo UI"/>
                <a:ea typeface="Meiryo UI"/>
                <a:cs typeface="+mn-cs"/>
              </a:rPr>
              <a:t>～</a:t>
            </a:r>
            <a:r>
              <a:rPr lang="en-US" altLang="ja-JP" sz="1800" kern="0">
                <a:solidFill>
                  <a:prstClr val="black"/>
                </a:solidFill>
                <a:latin typeface="Meiryo UI"/>
                <a:ea typeface="Meiryo UI"/>
              </a:rPr>
              <a:t>15:30</a:t>
            </a:r>
            <a:endParaRPr kumimoji="1" lang="en-US" altLang="ja-JP" sz="1800" b="0" i="0" u="none" strike="noStrike" kern="0" cap="none" spc="0" normalizeH="0" baseline="0" noProof="0">
              <a:ln>
                <a:noFill/>
              </a:ln>
              <a:solidFill>
                <a:prstClr val="black"/>
              </a:solidFill>
              <a:effectLst/>
              <a:uLnTx/>
              <a:uFillTx/>
              <a:latin typeface="Meiryo UI"/>
              <a:ea typeface="Meiryo UI"/>
              <a:cs typeface="+mn-cs"/>
            </a:endParaRPr>
          </a:p>
        </p:txBody>
      </p:sp>
      <p:sp>
        <p:nvSpPr>
          <p:cNvPr id="8" name="テキスト ボックス 7">
            <a:extLst>
              <a:ext uri="{FF2B5EF4-FFF2-40B4-BE49-F238E27FC236}">
                <a16:creationId xmlns:a16="http://schemas.microsoft.com/office/drawing/2014/main" id="{6EC9C8E1-A5BC-2816-80C0-CE0B35B2610E}"/>
              </a:ext>
            </a:extLst>
          </p:cNvPr>
          <p:cNvSpPr txBox="1"/>
          <p:nvPr/>
        </p:nvSpPr>
        <p:spPr>
          <a:xfrm>
            <a:off x="2103638" y="2662058"/>
            <a:ext cx="529553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a:ln>
                  <a:noFill/>
                </a:ln>
                <a:solidFill>
                  <a:prstClr val="black"/>
                </a:solidFill>
                <a:effectLst/>
                <a:uLnTx/>
                <a:uFillTx/>
                <a:latin typeface="Arial"/>
                <a:ea typeface="Meiryo UI"/>
                <a:cs typeface="+mn-cs"/>
              </a:rPr>
              <a:t>電子カルテ情報共有サービス</a:t>
            </a:r>
          </a:p>
        </p:txBody>
      </p:sp>
      <p:sp>
        <p:nvSpPr>
          <p:cNvPr id="2" name="正方形/長方形 1">
            <a:extLst>
              <a:ext uri="{FF2B5EF4-FFF2-40B4-BE49-F238E27FC236}">
                <a16:creationId xmlns:a16="http://schemas.microsoft.com/office/drawing/2014/main" id="{D77F32AC-E8EA-D8CD-9EA1-984BF86B25C3}"/>
              </a:ext>
            </a:extLst>
          </p:cNvPr>
          <p:cNvSpPr/>
          <p:nvPr/>
        </p:nvSpPr>
        <p:spPr>
          <a:xfrm>
            <a:off x="7543800" y="110359"/>
            <a:ext cx="1915510" cy="748862"/>
          </a:xfrm>
          <a:prstGeom prst="rect">
            <a:avLst/>
          </a:prstGeom>
          <a:solidFill>
            <a:schemeClr val="accent6">
              <a:lumMod val="20000"/>
              <a:lumOff val="80000"/>
            </a:schemeClr>
          </a:solidFill>
          <a:ln>
            <a:solidFill>
              <a:schemeClr val="tx1"/>
            </a:solidFill>
          </a:ln>
        </p:spPr>
        <p:txBody>
          <a:bodyPr rtlCol="0" anchor="ctr"/>
          <a:lstStyle/>
          <a:p>
            <a:pPr algn="ctr" fontAlgn="base">
              <a:spcBef>
                <a:spcPct val="20000"/>
              </a:spcBef>
              <a:spcAft>
                <a:spcPct val="0"/>
              </a:spcAft>
            </a:pPr>
            <a:r>
              <a:rPr kumimoji="1" lang="ja-JP" altLang="en-US" sz="2000">
                <a:latin typeface="+mj-ea"/>
                <a:ea typeface="+mj-ea"/>
              </a:rPr>
              <a:t>議事要旨</a:t>
            </a:r>
          </a:p>
        </p:txBody>
      </p:sp>
    </p:spTree>
    <p:extLst>
      <p:ext uri="{BB962C8B-B14F-4D97-AF65-F5344CB8AC3E}">
        <p14:creationId xmlns:p14="http://schemas.microsoft.com/office/powerpoint/2010/main" val="964767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241FE-E4DF-4ACB-7283-2B8EF3EBC8ED}"/>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AFD4A716-E655-AEEF-238C-4B317B60C6FE}"/>
              </a:ext>
            </a:extLst>
          </p:cNvPr>
          <p:cNvGraphicFramePr>
            <a:graphicFrameLocks noGrp="1"/>
          </p:cNvGraphicFramePr>
          <p:nvPr>
            <p:extLst>
              <p:ext uri="{D42A27DB-BD31-4B8C-83A1-F6EECF244321}">
                <p14:modId xmlns:p14="http://schemas.microsoft.com/office/powerpoint/2010/main" val="277681234"/>
              </p:ext>
            </p:extLst>
          </p:nvPr>
        </p:nvGraphicFramePr>
        <p:xfrm>
          <a:off x="453000" y="843756"/>
          <a:ext cx="9000001" cy="4937760"/>
        </p:xfrm>
        <a:graphic>
          <a:graphicData uri="http://schemas.openxmlformats.org/drawingml/2006/table">
            <a:tbl>
              <a:tblPr/>
              <a:tblGrid>
                <a:gridCol w="473868">
                  <a:extLst>
                    <a:ext uri="{9D8B030D-6E8A-4147-A177-3AD203B41FA5}">
                      <a16:colId xmlns:a16="http://schemas.microsoft.com/office/drawing/2014/main" val="3484704196"/>
                    </a:ext>
                  </a:extLst>
                </a:gridCol>
                <a:gridCol w="1121469">
                  <a:extLst>
                    <a:ext uri="{9D8B030D-6E8A-4147-A177-3AD203B41FA5}">
                      <a16:colId xmlns:a16="http://schemas.microsoft.com/office/drawing/2014/main" val="3863879091"/>
                    </a:ext>
                  </a:extLst>
                </a:gridCol>
                <a:gridCol w="5724063">
                  <a:extLst>
                    <a:ext uri="{9D8B030D-6E8A-4147-A177-3AD203B41FA5}">
                      <a16:colId xmlns:a16="http://schemas.microsoft.com/office/drawing/2014/main" val="99914978"/>
                    </a:ext>
                  </a:extLst>
                </a:gridCol>
                <a:gridCol w="1680601">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err="1">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183680">
                <a:tc>
                  <a:txBody>
                    <a:bodyPr/>
                    <a:lstStyle/>
                    <a:p>
                      <a:pPr algn="ctr" fontAlgn="base">
                        <a:lnSpc>
                          <a:spcPts val="1200"/>
                        </a:lnSpc>
                      </a:pPr>
                      <a:r>
                        <a:rPr lang="en-US" sz="900" b="0" i="0">
                          <a:solidFill>
                            <a:srgbClr val="000000"/>
                          </a:solidFill>
                          <a:effectLst/>
                          <a:latin typeface="+mn-ea"/>
                          <a:ea typeface="+mn-ea"/>
                        </a:rPr>
                        <a:t>1</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マスタスケジュールの確認</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特になし</a:t>
                      </a:r>
                      <a:endParaRPr kumimoji="1" lang="en-US" altLang="ja-JP" sz="900" b="0" i="0" u="none" strike="noStrike" kern="120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a:lnSpc>
                          <a:spcPct val="100000"/>
                        </a:lnSpc>
                        <a:spcBef>
                          <a:spcPts val="0"/>
                        </a:spcBef>
                        <a:spcAft>
                          <a:spcPts val="0"/>
                        </a:spcAft>
                        <a:buClrTx/>
                        <a:buSzTx/>
                        <a:buFont typeface="Wingdings" panose="05000000000000000000" pitchFamily="2" charset="2"/>
                        <a:buChar char="ü"/>
                      </a:pPr>
                      <a:r>
                        <a:rPr lang="ja-JP" altLang="en-US" sz="900" kern="1200">
                          <a:solidFill>
                            <a:schemeClr val="tx1"/>
                          </a:solidFill>
                          <a:latin typeface="+mn-ea"/>
                          <a:ea typeface="+mn-ea"/>
                          <a:cs typeface="+mn-cs"/>
                        </a:rPr>
                        <a:t>特になし</a:t>
                      </a:r>
                      <a:endParaRPr lang="en-US"/>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1875067"/>
                  </a:ext>
                </a:extLst>
              </a:tr>
              <a:tr h="540000">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1</a:t>
                      </a:r>
                      <a:r>
                        <a:rPr kumimoji="1" lang="ja-JP" altLang="en-US" sz="900" b="1" i="0" u="sng" strike="noStrike" kern="1200">
                          <a:solidFill>
                            <a:srgbClr val="000000"/>
                          </a:solidFill>
                          <a:latin typeface="+mn-ea"/>
                          <a:ea typeface="+mn-ea"/>
                          <a:cs typeface="+mn-cs"/>
                        </a:rPr>
                        <a:t>．案件の記載変更​</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kern="1200">
                          <a:solidFill>
                            <a:schemeClr val="tx1"/>
                          </a:solidFill>
                          <a:latin typeface="+mn-ea"/>
                          <a:ea typeface="+mn-ea"/>
                          <a:cs typeface="+mn-cs"/>
                        </a:rPr>
                        <a:t>下記案件の記載を変更する。</a:t>
                      </a:r>
                      <a:r>
                        <a:rPr kumimoji="1" lang="en-US" altLang="ja-JP" sz="900" b="0" i="0" u="none" strike="noStrike" kern="1200">
                          <a:solidFill>
                            <a:srgbClr val="000000"/>
                          </a:solidFill>
                          <a:latin typeface="+mn-ea"/>
                          <a:ea typeface="+mn-ea"/>
                          <a:cs typeface="+mn-cs"/>
                        </a:rPr>
                        <a:t>(3</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 </a:t>
                      </a:r>
                    </a:p>
                    <a:p>
                      <a:pPr marL="269875"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i="0" u="none" strike="noStrike" kern="1200">
                          <a:solidFill>
                            <a:srgbClr val="000000"/>
                          </a:solidFill>
                          <a:latin typeface="+mn-ea"/>
                          <a:ea typeface="+mn-ea"/>
                          <a:cs typeface="+mn-cs"/>
                        </a:rPr>
                        <a:t>ID192</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サポートするプロファイルバージョンの終了</a:t>
                      </a:r>
                      <a:r>
                        <a:rPr kumimoji="1" lang="en-US" altLang="ja-JP" sz="900" kern="1200">
                          <a:solidFill>
                            <a:schemeClr val="tx1"/>
                          </a:solidFill>
                          <a:latin typeface="+mn-ea"/>
                          <a:ea typeface="+mn-ea"/>
                          <a:cs typeface="+mn-cs"/>
                        </a:rPr>
                        <a:t>(</a:t>
                      </a:r>
                      <a:r>
                        <a:rPr lang="ja-JP" altLang="en-US" sz="900" b="0" i="0" u="none" strike="noStrike" kern="1200" cap="none" spc="0" normalizeH="0" baseline="0" noProof="0">
                          <a:ln>
                            <a:noFill/>
                          </a:ln>
                          <a:solidFill>
                            <a:srgbClr val="000000"/>
                          </a:solidFill>
                          <a:effectLst/>
                          <a:uLnTx/>
                          <a:uFillTx/>
                        </a:rPr>
                        <a:t>令和9年3月末</a:t>
                      </a:r>
                      <a:r>
                        <a:rPr kumimoji="1" lang="en-US" altLang="ja-JP" sz="900" kern="1200">
                          <a:solidFill>
                            <a:schemeClr val="tx1"/>
                          </a:solidFill>
                          <a:latin typeface="+mn-ea"/>
                          <a:ea typeface="+mn-ea"/>
                          <a:cs typeface="+mn-cs"/>
                        </a:rPr>
                        <a:t>))</a:t>
                      </a:r>
                      <a:br>
                        <a:rPr kumimoji="1" lang="en-US" altLang="ja-JP" sz="900" kern="1200">
                          <a:solidFill>
                            <a:srgbClr val="000000"/>
                          </a:solidFill>
                          <a:latin typeface="+mn-ea"/>
                          <a:ea typeface="+mn-ea"/>
                          <a:cs typeface="+mn-cs"/>
                        </a:rPr>
                      </a:br>
                      <a:r>
                        <a:rPr kumimoji="1" lang="ja-JP" altLang="en-US" sz="900" kern="1200">
                          <a:solidFill>
                            <a:schemeClr val="tx1"/>
                          </a:solidFill>
                          <a:latin typeface="+mn-ea"/>
                          <a:ea typeface="+mn-ea"/>
                          <a:cs typeface="+mn-cs"/>
                        </a:rPr>
                        <a:t>■変更点</a:t>
                      </a:r>
                      <a:endParaRPr kumimoji="1" lang="en-US" altLang="ja-JP" sz="900" kern="1200">
                        <a:solidFill>
                          <a:schemeClr val="tx1"/>
                        </a:solidFill>
                        <a:latin typeface="+mn-ea"/>
                        <a:ea typeface="+mn-ea"/>
                        <a:cs typeface="+mn-cs"/>
                      </a:endParaRPr>
                    </a:p>
                    <a:p>
                      <a:pPr marL="448945" marR="0" lvl="1" indent="-17780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r>
                        <a:rPr kumimoji="1" lang="ja-JP" altLang="en-US" sz="900" kern="1200">
                          <a:solidFill>
                            <a:schemeClr val="tx1"/>
                          </a:solidFill>
                          <a:latin typeface="+mn-ea"/>
                          <a:ea typeface="+mn-ea"/>
                          <a:cs typeface="+mn-cs"/>
                        </a:rPr>
                        <a:t>案件名称</a:t>
                      </a:r>
                      <a:r>
                        <a:rPr kumimoji="1" lang="en-US" altLang="ja-JP" sz="900" kern="1200">
                          <a:solidFill>
                            <a:schemeClr val="tx1"/>
                          </a:solidFill>
                          <a:latin typeface="+mn-ea"/>
                          <a:ea typeface="+mn-ea"/>
                          <a:cs typeface="+mn-cs"/>
                        </a:rPr>
                        <a:t>：3</a:t>
                      </a:r>
                      <a:r>
                        <a:rPr kumimoji="1" lang="ja-JP" altLang="en-US" sz="900" kern="1200">
                          <a:solidFill>
                            <a:schemeClr val="tx1"/>
                          </a:solidFill>
                          <a:latin typeface="+mn-ea"/>
                          <a:ea typeface="+mn-ea"/>
                          <a:cs typeface="+mn-cs"/>
                        </a:rPr>
                        <a:t>月リリース対象だが案件名に「令和8年9月末」の記載があったため、当該記載「令和9年3月末」に修正。</a:t>
                      </a:r>
                    </a:p>
                    <a:p>
                      <a:pPr marL="269875" marR="0" lvl="1" indent="-1727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i="0" u="none" strike="noStrike" kern="1200">
                          <a:solidFill>
                            <a:srgbClr val="000000"/>
                          </a:solidFill>
                          <a:latin typeface="+mn-ea"/>
                          <a:ea typeface="+mn-ea"/>
                          <a:cs typeface="+mn-cs"/>
                        </a:rPr>
                        <a:t>ID195</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アレルギー等情報の症状の項目名称の変更</a:t>
                      </a:r>
                      <a:r>
                        <a:rPr kumimoji="1" lang="en-US" altLang="ja-JP" sz="900" kern="1200">
                          <a:solidFill>
                            <a:schemeClr val="tx1"/>
                          </a:solidFill>
                          <a:latin typeface="+mn-ea"/>
                          <a:ea typeface="+mn-ea"/>
                          <a:cs typeface="+mn-cs"/>
                        </a:rPr>
                        <a:t>)</a:t>
                      </a:r>
                      <a:br>
                        <a:rPr kumimoji="1" lang="ja-JP" altLang="en-US" sz="900" kern="1200"/>
                      </a:br>
                      <a:r>
                        <a:rPr kumimoji="1" lang="ja-JP" altLang="en-US" sz="900" kern="1200">
                          <a:solidFill>
                            <a:schemeClr val="tx1"/>
                          </a:solidFill>
                          <a:latin typeface="+mn-ea"/>
                          <a:ea typeface="+mn-ea"/>
                          <a:cs typeface="+mn-cs"/>
                        </a:rPr>
                        <a:t>■変更点</a:t>
                      </a:r>
                      <a:endParaRPr kumimoji="1" lang="en-US" altLang="ja-JP" sz="900" kern="1200">
                        <a:solidFill>
                          <a:schemeClr val="tx1"/>
                        </a:solidFill>
                        <a:latin typeface="+mn-ea"/>
                        <a:ea typeface="+mn-ea"/>
                        <a:cs typeface="+mn-cs"/>
                      </a:endParaRPr>
                    </a:p>
                    <a:p>
                      <a:pPr marL="448945" marR="0" lvl="1" indent="-17780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r>
                        <a:rPr lang="ja-JP" altLang="en-US" sz="900" b="0" i="0" u="none" strike="noStrike" kern="1200" cap="none" spc="0" normalizeH="0" baseline="0" noProof="0">
                          <a:ln>
                            <a:noFill/>
                          </a:ln>
                          <a:solidFill>
                            <a:srgbClr val="000000"/>
                          </a:solidFill>
                          <a:effectLst/>
                          <a:uLnTx/>
                          <a:uFillTx/>
                        </a:rPr>
                        <a:t>要求事項：「</a:t>
                      </a:r>
                      <a:r>
                        <a:rPr lang="ja-JP" altLang="ja-JP" sz="900" b="0" i="0" u="none" strike="noStrike" kern="1200" cap="none" spc="0" normalizeH="0" baseline="0" noProof="0">
                          <a:ln>
                            <a:noFill/>
                          </a:ln>
                          <a:solidFill>
                            <a:srgbClr val="000000"/>
                          </a:solidFill>
                          <a:effectLst/>
                          <a:uLnTx/>
                          <a:uFillTx/>
                        </a:rPr>
                        <a:t>診断・症状・所見等</a:t>
                      </a:r>
                      <a:r>
                        <a:rPr lang="ja-JP" altLang="en-US" sz="900" b="0" i="0" u="none" strike="noStrike" kern="1200" cap="none" spc="0" normalizeH="0" baseline="0" noProof="0">
                          <a:ln>
                            <a:noFill/>
                          </a:ln>
                          <a:solidFill>
                            <a:srgbClr val="000000"/>
                          </a:solidFill>
                          <a:effectLst/>
                          <a:uLnTx/>
                          <a:uFillTx/>
                        </a:rPr>
                        <a:t>」欄に</a:t>
                      </a:r>
                      <a:r>
                        <a:rPr lang="ja-JP" altLang="ja-JP" sz="900" b="0" i="0" u="none" strike="noStrike" kern="1200" cap="none" spc="0" normalizeH="0" baseline="0" noProof="0">
                          <a:ln>
                            <a:noFill/>
                          </a:ln>
                          <a:solidFill>
                            <a:srgbClr val="000000"/>
                          </a:solidFill>
                          <a:effectLst/>
                          <a:uLnTx/>
                          <a:uFillTx/>
                        </a:rPr>
                        <a:t>は当初より詳細な記載が行われる可能性がある</a:t>
                      </a:r>
                      <a:r>
                        <a:rPr lang="ja-JP" altLang="en-US" sz="900" b="0" i="0" u="none" strike="noStrike" kern="1200" cap="none" spc="0" normalizeH="0" baseline="0" noProof="0">
                          <a:ln>
                            <a:noFill/>
                          </a:ln>
                          <a:solidFill>
                            <a:srgbClr val="000000"/>
                          </a:solidFill>
                          <a:effectLst/>
                          <a:uLnTx/>
                          <a:uFillTx/>
                        </a:rPr>
                        <a:t>ことから</a:t>
                      </a:r>
                      <a:r>
                        <a:rPr lang="ja-JP" altLang="ja-JP" sz="900" b="0" i="0" u="none" strike="noStrike" kern="1200" cap="none" spc="0" normalizeH="0" baseline="0" noProof="0">
                          <a:ln>
                            <a:noFill/>
                          </a:ln>
                          <a:solidFill>
                            <a:srgbClr val="000000"/>
                          </a:solidFill>
                          <a:effectLst/>
                          <a:uLnTx/>
                          <a:uFillTx/>
                        </a:rPr>
                        <a:t>、</a:t>
                      </a:r>
                      <a:r>
                        <a:rPr lang="ja-JP" altLang="en-US" sz="900" b="0" i="0" u="none" strike="noStrike" kern="1200" cap="none" spc="0" normalizeH="0" baseline="0" noProof="0">
                          <a:ln>
                            <a:noFill/>
                          </a:ln>
                          <a:solidFill>
                            <a:srgbClr val="000000"/>
                          </a:solidFill>
                          <a:effectLst/>
                          <a:uLnTx/>
                          <a:uFillTx/>
                        </a:rPr>
                        <a:t>「</a:t>
                      </a:r>
                      <a:r>
                        <a:rPr lang="ja-JP" altLang="ja-JP" sz="900" b="0" i="0" u="none" strike="noStrike" kern="1200" cap="none" spc="0" normalizeH="0" baseline="0" noProof="0">
                          <a:ln>
                            <a:noFill/>
                          </a:ln>
                          <a:solidFill>
                            <a:srgbClr val="000000"/>
                          </a:solidFill>
                          <a:effectLst/>
                          <a:uLnTx/>
                          <a:uFillTx/>
                        </a:rPr>
                        <a:t>薬剤名・アレルギー物質</a:t>
                      </a:r>
                      <a:r>
                        <a:rPr lang="ja-JP" altLang="en-US" sz="900" b="0" i="0" u="none" strike="noStrike" kern="1200" cap="none" spc="0" normalizeH="0" baseline="0" noProof="0">
                          <a:ln>
                            <a:noFill/>
                          </a:ln>
                          <a:solidFill>
                            <a:srgbClr val="000000"/>
                          </a:solidFill>
                          <a:effectLst/>
                          <a:uLnTx/>
                          <a:uFillTx/>
                        </a:rPr>
                        <a:t>」</a:t>
                      </a:r>
                      <a:r>
                        <a:rPr lang="ja-JP" altLang="ja-JP" sz="900" b="0" i="0" u="none" strike="noStrike" kern="1200" cap="none" spc="0" normalizeH="0" baseline="0" noProof="0">
                          <a:ln>
                            <a:noFill/>
                          </a:ln>
                          <a:solidFill>
                            <a:srgbClr val="000000"/>
                          </a:solidFill>
                          <a:effectLst/>
                          <a:uLnTx/>
                          <a:uFillTx/>
                        </a:rPr>
                        <a:t>の列を狭め、</a:t>
                      </a:r>
                      <a:r>
                        <a:rPr lang="ja-JP" altLang="en-US" sz="900" b="0" i="0" u="none" strike="noStrike" kern="1200" cap="none" spc="0" normalizeH="0" baseline="0" noProof="0">
                          <a:ln>
                            <a:noFill/>
                          </a:ln>
                          <a:solidFill>
                            <a:srgbClr val="000000"/>
                          </a:solidFill>
                          <a:effectLst/>
                          <a:uLnTx/>
                          <a:uFillTx/>
                        </a:rPr>
                        <a:t>「</a:t>
                      </a:r>
                      <a:r>
                        <a:rPr lang="ja-JP" altLang="ja-JP" sz="900" b="0" i="0" u="none" strike="noStrike" kern="1200" cap="none" spc="0" normalizeH="0" baseline="0" noProof="0">
                          <a:ln>
                            <a:noFill/>
                          </a:ln>
                          <a:solidFill>
                            <a:srgbClr val="000000"/>
                          </a:solidFill>
                          <a:effectLst/>
                          <a:uLnTx/>
                          <a:uFillTx/>
                        </a:rPr>
                        <a:t>診断・症状・所見等</a:t>
                      </a:r>
                      <a:r>
                        <a:rPr lang="ja-JP" altLang="en-US" sz="900" b="0" i="0" u="none" strike="noStrike" kern="1200" cap="none" spc="0" normalizeH="0" baseline="0" noProof="0">
                          <a:ln>
                            <a:noFill/>
                          </a:ln>
                          <a:solidFill>
                            <a:srgbClr val="000000"/>
                          </a:solidFill>
                          <a:effectLst/>
                          <a:uLnTx/>
                          <a:uFillTx/>
                        </a:rPr>
                        <a:t>」</a:t>
                      </a:r>
                      <a:r>
                        <a:rPr lang="ja-JP" altLang="ja-JP" sz="900" b="0" i="0" u="none" strike="noStrike" kern="1200" cap="none" spc="0" normalizeH="0" baseline="0" noProof="0">
                          <a:ln>
                            <a:noFill/>
                          </a:ln>
                          <a:solidFill>
                            <a:srgbClr val="000000"/>
                          </a:solidFill>
                          <a:effectLst/>
                          <a:uLnTx/>
                          <a:uFillTx/>
                        </a:rPr>
                        <a:t>の表示枠の横幅をさらに広げる</a:t>
                      </a:r>
                      <a:r>
                        <a:rPr lang="ja-JP" altLang="en-US" sz="900" b="0" i="0" u="none" strike="noStrike" kern="1200" cap="none" spc="0" normalizeH="0" baseline="0" noProof="0">
                          <a:ln>
                            <a:noFill/>
                          </a:ln>
                          <a:solidFill>
                            <a:srgbClr val="000000"/>
                          </a:solidFill>
                          <a:effectLst/>
                          <a:uLnTx/>
                          <a:uFillTx/>
                        </a:rPr>
                        <a:t>改修が、</a:t>
                      </a:r>
                      <a:r>
                        <a:rPr lang="ja-JP" altLang="ja-JP" sz="900" b="0" i="0" u="none" strike="noStrike" kern="1200" cap="none" spc="0" normalizeH="0" baseline="0" noProof="0">
                          <a:ln>
                            <a:noFill/>
                          </a:ln>
                          <a:solidFill>
                            <a:srgbClr val="000000"/>
                          </a:solidFill>
                          <a:effectLst/>
                          <a:uLnTx/>
                          <a:uFillTx/>
                        </a:rPr>
                        <a:t>3月リリースにて行</a:t>
                      </a:r>
                      <a:r>
                        <a:rPr lang="ja-JP" altLang="en-US" sz="900" b="0" i="0" u="none" strike="noStrike" kern="1200" cap="none" spc="0" normalizeH="0" baseline="0" noProof="0">
                          <a:ln>
                            <a:noFill/>
                          </a:ln>
                          <a:solidFill>
                            <a:srgbClr val="000000"/>
                          </a:solidFill>
                          <a:effectLst/>
                          <a:uLnTx/>
                          <a:uFillTx/>
                        </a:rPr>
                        <a:t>われる旨を追記</a:t>
                      </a:r>
                      <a:r>
                        <a:rPr lang="ja-JP" altLang="ja-JP" sz="900" b="0" i="0" u="none" strike="noStrike" kern="1200" cap="none" spc="0" normalizeH="0" baseline="0" noProof="0">
                          <a:ln>
                            <a:noFill/>
                          </a:ln>
                          <a:solidFill>
                            <a:srgbClr val="000000"/>
                          </a:solidFill>
                          <a:effectLst/>
                          <a:uLnTx/>
                          <a:uFillTx/>
                        </a:rPr>
                        <a:t>。</a:t>
                      </a:r>
                      <a:endParaRPr kumimoji="1" lang="ja-JP" altLang="en-US" sz="900" b="0" i="0" u="none" strike="noStrike" kern="1200" cap="none" spc="0" normalizeH="0" baseline="0" noProof="0">
                        <a:ln>
                          <a:noFill/>
                        </a:ln>
                        <a:solidFill>
                          <a:srgbClr val="000000"/>
                        </a:solidFill>
                        <a:effectLst/>
                        <a:uLnTx/>
                        <a:uFillTx/>
                      </a:endParaRPr>
                    </a:p>
                    <a:p>
                      <a:pPr marL="448945" marR="0" lvl="1" indent="-17780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r>
                        <a:rPr kumimoji="1" lang="ja-JP" altLang="en-US" sz="900" kern="1200">
                          <a:solidFill>
                            <a:schemeClr val="tx1"/>
                          </a:solidFill>
                          <a:latin typeface="+mn-ea"/>
                          <a:ea typeface="+mn-ea"/>
                          <a:cs typeface="+mn-cs"/>
                        </a:rPr>
                        <a:t>リリース希望時期</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令和</a:t>
                      </a:r>
                      <a:r>
                        <a:rPr kumimoji="1" lang="en-US" altLang="ja-JP" sz="900" kern="1200">
                          <a:solidFill>
                            <a:schemeClr val="tx1"/>
                          </a:solidFill>
                          <a:latin typeface="+mn-ea"/>
                          <a:ea typeface="+mn-ea"/>
                          <a:cs typeface="+mn-cs"/>
                        </a:rPr>
                        <a:t>8</a:t>
                      </a:r>
                      <a:r>
                        <a:rPr kumimoji="1" lang="ja-JP" altLang="en-US" sz="900" kern="1200">
                          <a:solidFill>
                            <a:schemeClr val="tx1"/>
                          </a:solidFill>
                          <a:latin typeface="+mn-ea"/>
                          <a:ea typeface="+mn-ea"/>
                          <a:cs typeface="+mn-cs"/>
                        </a:rPr>
                        <a:t>年度</a:t>
                      </a:r>
                      <a:r>
                        <a:rPr kumimoji="1" lang="en-US" altLang="ja-JP" sz="900" kern="1200">
                          <a:solidFill>
                            <a:schemeClr val="tx1"/>
                          </a:solidFill>
                          <a:latin typeface="+mn-ea"/>
                          <a:ea typeface="+mn-ea"/>
                          <a:cs typeface="+mn-cs"/>
                        </a:rPr>
                        <a:t>3</a:t>
                      </a:r>
                      <a:r>
                        <a:rPr kumimoji="1" lang="ja-JP" altLang="en-US" sz="900" kern="1200">
                          <a:solidFill>
                            <a:schemeClr val="tx1"/>
                          </a:solidFill>
                          <a:latin typeface="+mn-ea"/>
                          <a:ea typeface="+mn-ea"/>
                          <a:cs typeface="+mn-cs"/>
                        </a:rPr>
                        <a:t>月の追記。</a:t>
                      </a:r>
                      <a:endParaRPr kumimoji="1" lang="en-US" altLang="ja-JP" sz="900" kern="1200">
                        <a:solidFill>
                          <a:schemeClr val="tx1"/>
                        </a:solidFill>
                        <a:latin typeface="+mn-ea"/>
                        <a:ea typeface="+mn-ea"/>
                        <a:cs typeface="+mn-cs"/>
                      </a:endParaRPr>
                    </a:p>
                    <a:p>
                      <a:pPr marL="269875" marR="0" lvl="1" indent="-1727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i="0" u="none" strike="noStrike" kern="1200">
                          <a:solidFill>
                            <a:srgbClr val="000000"/>
                          </a:solidFill>
                          <a:latin typeface="+mn-ea"/>
                          <a:ea typeface="+mn-ea"/>
                          <a:cs typeface="+mn-cs"/>
                        </a:rPr>
                        <a:t>ID210</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血液型に関する情報を共有対象外とする改修</a:t>
                      </a:r>
                      <a:r>
                        <a:rPr kumimoji="1" lang="en-US" altLang="ja-JP" sz="900" kern="1200">
                          <a:solidFill>
                            <a:schemeClr val="tx1"/>
                          </a:solidFill>
                          <a:latin typeface="+mn-ea"/>
                          <a:ea typeface="+mn-ea"/>
                          <a:cs typeface="+mn-cs"/>
                        </a:rPr>
                        <a:t>)</a:t>
                      </a:r>
                      <a:br>
                        <a:rPr kumimoji="1" lang="ja-JP" altLang="en-US" sz="900" kern="1200"/>
                      </a:br>
                      <a:r>
                        <a:rPr kumimoji="1" lang="ja-JP" altLang="en-US" sz="900" kern="1200">
                          <a:solidFill>
                            <a:schemeClr val="tx1"/>
                          </a:solidFill>
                          <a:latin typeface="+mn-ea"/>
                          <a:ea typeface="+mn-ea"/>
                          <a:cs typeface="+mn-cs"/>
                        </a:rPr>
                        <a:t>■変更点</a:t>
                      </a:r>
                      <a:endParaRPr kumimoji="1" lang="en-US" altLang="ja-JP" sz="900" kern="1200">
                        <a:solidFill>
                          <a:schemeClr val="tx1"/>
                        </a:solidFill>
                        <a:latin typeface="+mn-ea"/>
                        <a:ea typeface="+mn-ea"/>
                        <a:cs typeface="+mn-cs"/>
                      </a:endParaRPr>
                    </a:p>
                    <a:p>
                      <a:pPr marL="448945" marR="0" lvl="1" indent="-17780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r>
                        <a:rPr kumimoji="1" lang="ja-JP" altLang="en-US" sz="900" kern="1200">
                          <a:solidFill>
                            <a:schemeClr val="tx1"/>
                          </a:solidFill>
                          <a:latin typeface="+mn-ea"/>
                          <a:ea typeface="+mn-ea"/>
                          <a:cs typeface="+mn-cs"/>
                        </a:rPr>
                        <a:t>備考欄：</a:t>
                      </a:r>
                      <a:r>
                        <a:rPr kumimoji="1" lang="ja-JP" altLang="en-US" sz="900" b="0" i="0" u="none" strike="noStrike" kern="1200" cap="none" spc="0" normalizeH="0" baseline="0" noProof="0">
                          <a:ln>
                            <a:noFill/>
                          </a:ln>
                          <a:solidFill>
                            <a:srgbClr val="000000"/>
                          </a:solidFill>
                          <a:effectLst/>
                          <a:uLnTx/>
                          <a:uFillTx/>
                        </a:rPr>
                        <a:t>モデル期間中に登録された血液型の検査結果の論理削除に係る検討の進捗を追記。</a:t>
                      </a:r>
                      <a:endParaRPr kumimoji="1" lang="en-US" altLang="ja-JP" sz="900" b="0" i="0" u="none" strike="noStrike" kern="1200" cap="none" spc="0" normalizeH="0" baseline="0" noProof="0">
                        <a:ln>
                          <a:noFill/>
                        </a:ln>
                        <a:solidFill>
                          <a:srgbClr val="000000"/>
                        </a:solidFill>
                        <a:effectLst/>
                        <a:uLnTx/>
                        <a:uFillTx/>
                      </a:endParaRPr>
                    </a:p>
                    <a:p>
                      <a:pPr marL="449263" marR="0" lvl="1" indent="-17780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endParaRPr kumimoji="1" lang="en-US" altLang="ja-JP" sz="900" b="0" i="0" u="none" strike="noStrike" kern="1200" cap="none" spc="0" normalizeH="0" baseline="0" noProof="0">
                        <a:ln>
                          <a:noFill/>
                        </a:ln>
                        <a:solidFill>
                          <a:srgbClr val="000000"/>
                        </a:solidFill>
                        <a:effectLst/>
                        <a:uLnTx/>
                        <a:uFillTx/>
                        <a:latin typeface="+mn-lt"/>
                        <a:ea typeface="+mn-ea"/>
                        <a:cs typeface="+mn-cs"/>
                      </a:endParaRPr>
                    </a:p>
                    <a:p>
                      <a:pPr marL="0" marR="0" lvl="1" indent="0" algn="l" defTabSz="843930" rtl="0" eaLnBrk="1" fontAlgn="base" latinLnBrk="0" hangingPunct="1">
                        <a:lnSpc>
                          <a:spcPct val="100000"/>
                        </a:lnSpc>
                        <a:spcBef>
                          <a:spcPts val="0"/>
                        </a:spcBef>
                        <a:spcAft>
                          <a:spcPts val="0"/>
                        </a:spcAft>
                        <a:buClrTx/>
                        <a:buSzTx/>
                        <a:buFont typeface="Meiryo UI" panose="020B0604030504040204" pitchFamily="50" charset="-128"/>
                        <a:buNone/>
                        <a:tabLst/>
                        <a:defRPr/>
                      </a:pPr>
                      <a:r>
                        <a:rPr kumimoji="1" lang="en-US" altLang="ja-JP" sz="900" b="1" i="0" u="sng" strike="noStrike" kern="1200">
                          <a:solidFill>
                            <a:srgbClr val="000000"/>
                          </a:solidFill>
                          <a:latin typeface="+mn-ea"/>
                          <a:ea typeface="+mn-ea"/>
                          <a:cs typeface="+mn-cs"/>
                        </a:rPr>
                        <a:t>2</a:t>
                      </a:r>
                      <a:r>
                        <a:rPr kumimoji="1" lang="ja-JP" altLang="en-US" sz="900" b="1" i="0" u="sng" strike="noStrike" kern="1200">
                          <a:solidFill>
                            <a:srgbClr val="000000"/>
                          </a:solidFill>
                          <a:latin typeface="+mn-ea"/>
                          <a:ea typeface="+mn-ea"/>
                          <a:cs typeface="+mn-cs"/>
                        </a:rPr>
                        <a:t>．案件の取り下げ​</a:t>
                      </a:r>
                      <a:endParaRPr kumimoji="1" lang="en-US" altLang="ja-JP" sz="900" kern="1200">
                        <a:solidFill>
                          <a:schemeClr val="tx1"/>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kern="1200">
                          <a:solidFill>
                            <a:schemeClr val="tx1"/>
                          </a:solidFill>
                          <a:latin typeface="+mn-ea"/>
                          <a:ea typeface="+mn-ea"/>
                          <a:cs typeface="+mn-cs"/>
                        </a:rPr>
                        <a:t>下記案件を取り下げる。</a:t>
                      </a:r>
                      <a:r>
                        <a:rPr kumimoji="1" lang="en-US" altLang="ja-JP" sz="900" b="0" i="0" u="none" strike="noStrike" kern="1200">
                          <a:solidFill>
                            <a:srgbClr val="000000"/>
                          </a:solidFill>
                          <a:latin typeface="+mn-ea"/>
                          <a:ea typeface="+mn-ea"/>
                          <a:cs typeface="+mn-cs"/>
                        </a:rPr>
                        <a:t>(1</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 </a:t>
                      </a:r>
                    </a:p>
                    <a:p>
                      <a:pPr marL="269875"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i="0" u="none" strike="noStrike" kern="1200">
                          <a:solidFill>
                            <a:srgbClr val="000000"/>
                          </a:solidFill>
                          <a:latin typeface="+mn-ea"/>
                          <a:ea typeface="+mn-ea"/>
                          <a:cs typeface="+mn-cs"/>
                        </a:rPr>
                        <a:t>ID226</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患者サマリ</a:t>
                      </a:r>
                      <a:r>
                        <a:rPr kumimoji="1" lang="en-US" altLang="ja-JP" sz="900" kern="1200">
                          <a:solidFill>
                            <a:schemeClr val="tx1"/>
                          </a:solidFill>
                          <a:latin typeface="+mn-ea"/>
                          <a:ea typeface="+mn-ea"/>
                          <a:cs typeface="+mn-cs"/>
                        </a:rPr>
                        <a:t>ー</a:t>
                      </a:r>
                      <a:r>
                        <a:rPr kumimoji="1" lang="ja-JP" altLang="en-US" sz="900" kern="1200">
                          <a:solidFill>
                            <a:schemeClr val="tx1"/>
                          </a:solidFill>
                          <a:latin typeface="+mn-ea"/>
                          <a:ea typeface="+mn-ea"/>
                          <a:cs typeface="+mn-cs"/>
                        </a:rPr>
                        <a:t>への</a:t>
                      </a:r>
                      <a:r>
                        <a:rPr kumimoji="1" lang="en-US" altLang="ja-JP" sz="900" kern="1200">
                          <a:solidFill>
                            <a:schemeClr val="tx1"/>
                          </a:solidFill>
                          <a:latin typeface="+mn-ea"/>
                          <a:ea typeface="+mn-ea"/>
                          <a:cs typeface="+mn-cs"/>
                        </a:rPr>
                        <a:t>PDF</a:t>
                      </a:r>
                      <a:r>
                        <a:rPr kumimoji="1" lang="ja-JP" altLang="en-US" sz="900" kern="1200">
                          <a:solidFill>
                            <a:schemeClr val="tx1"/>
                          </a:solidFill>
                          <a:latin typeface="+mn-ea"/>
                          <a:ea typeface="+mn-ea"/>
                          <a:cs typeface="+mn-cs"/>
                        </a:rPr>
                        <a:t>の添付機能</a:t>
                      </a:r>
                      <a:r>
                        <a:rPr kumimoji="1" lang="en-US" altLang="ja-JP" sz="900" kern="1200">
                          <a:solidFill>
                            <a:schemeClr val="tx1"/>
                          </a:solidFill>
                          <a:latin typeface="+mn-ea"/>
                          <a:ea typeface="+mn-ea"/>
                          <a:cs typeface="+mn-cs"/>
                        </a:rPr>
                        <a:t>)</a:t>
                      </a:r>
                      <a:br>
                        <a:rPr kumimoji="1" lang="en-US" altLang="ja-JP" sz="900" kern="1200">
                          <a:solidFill>
                            <a:srgbClr val="000000"/>
                          </a:solidFill>
                          <a:latin typeface="+mn-ea"/>
                          <a:ea typeface="+mn-ea"/>
                          <a:cs typeface="+mn-cs"/>
                        </a:rPr>
                      </a:br>
                      <a:r>
                        <a:rPr kumimoji="1" lang="ja-JP" altLang="en-US" sz="900" kern="1200">
                          <a:solidFill>
                            <a:schemeClr val="tx1"/>
                          </a:solidFill>
                          <a:latin typeface="+mn-ea"/>
                          <a:ea typeface="+mn-ea"/>
                          <a:cs typeface="+mn-cs"/>
                        </a:rPr>
                        <a:t>■取り下げの背景</a:t>
                      </a:r>
                      <a:endParaRPr kumimoji="1" lang="en-US" altLang="ja-JP" sz="900" kern="1200">
                        <a:solidFill>
                          <a:schemeClr val="tx1"/>
                        </a:solidFill>
                        <a:latin typeface="+mn-ea"/>
                        <a:ea typeface="+mn-ea"/>
                        <a:cs typeface="+mn-cs"/>
                      </a:endParaRPr>
                    </a:p>
                    <a:p>
                      <a:pPr marL="448945" marR="0" lvl="1" indent="-17780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r>
                        <a:rPr kumimoji="1" lang="ja-JP" altLang="en-US" sz="900" kern="1200">
                          <a:solidFill>
                            <a:schemeClr val="tx1"/>
                          </a:solidFill>
                          <a:latin typeface="+mn-ea"/>
                          <a:ea typeface="+mn-ea"/>
                          <a:cs typeface="+mn-cs"/>
                        </a:rPr>
                        <a:t>医師会との調整を踏まえて、厚労省にて検討の結果、開発不要と判断されたため。</a:t>
                      </a:r>
                      <a:endParaRPr kumimoji="1" lang="en-US" altLang="ja-JP" sz="900" kern="1200">
                        <a:solidFill>
                          <a:schemeClr val="tx1"/>
                        </a:solidFill>
                        <a:latin typeface="+mn-ea"/>
                        <a:ea typeface="+mn-ea"/>
                        <a:cs typeface="+mn-cs"/>
                      </a:endParaRPr>
                    </a:p>
                    <a:p>
                      <a:pPr marL="271463" marR="0" lvl="1" indent="0" algn="l" defTabSz="843930" rtl="0" eaLnBrk="1" fontAlgn="base" latinLnBrk="0" hangingPunct="1">
                        <a:lnSpc>
                          <a:spcPct val="100000"/>
                        </a:lnSpc>
                        <a:spcBef>
                          <a:spcPts val="0"/>
                        </a:spcBef>
                        <a:spcAft>
                          <a:spcPts val="0"/>
                        </a:spcAft>
                        <a:buClrTx/>
                        <a:buSzTx/>
                        <a:buFont typeface="Meiryo UI" panose="020B0604030504040204" pitchFamily="50" charset="-128"/>
                        <a:buNone/>
                        <a:tabLst/>
                        <a:defRPr/>
                      </a:pPr>
                      <a:endParaRPr kumimoji="1" lang="en-US" altLang="ja-JP" sz="900" b="0" i="0" u="none" strike="noStrike" kern="1200">
                        <a:solidFill>
                          <a:schemeClr val="tx1"/>
                        </a:solidFill>
                        <a:latin typeface="+mn-ea"/>
                        <a:ea typeface="+mn-ea"/>
                        <a:cs typeface="+mn-cs"/>
                      </a:endParaRPr>
                    </a:p>
                    <a:p>
                      <a:pPr marL="0" marR="0" lvl="1" indent="0" algn="l" defTabSz="843930" rtl="0" eaLnBrk="1" fontAlgn="base" latinLnBrk="0" hangingPunct="1">
                        <a:lnSpc>
                          <a:spcPct val="100000"/>
                        </a:lnSpc>
                        <a:spcBef>
                          <a:spcPts val="0"/>
                        </a:spcBef>
                        <a:spcAft>
                          <a:spcPts val="0"/>
                        </a:spcAft>
                        <a:buClrTx/>
                        <a:buSzTx/>
                        <a:buFont typeface="Meiryo UI" panose="020B0604030504040204" pitchFamily="50" charset="-128"/>
                        <a:buNone/>
                        <a:tabLst/>
                        <a:defRPr/>
                      </a:pPr>
                      <a:r>
                        <a:rPr kumimoji="1" lang="en-US" altLang="ja-JP" sz="900" b="1" i="0" u="sng" strike="noStrike" kern="1200">
                          <a:solidFill>
                            <a:srgbClr val="000000"/>
                          </a:solidFill>
                          <a:latin typeface="+mn-ea"/>
                          <a:ea typeface="+mn-ea"/>
                          <a:cs typeface="+mn-cs"/>
                        </a:rPr>
                        <a:t>3</a:t>
                      </a:r>
                      <a:r>
                        <a:rPr kumimoji="1" lang="ja-JP" altLang="en-US" sz="900" b="1" i="0" u="sng" strike="noStrike" kern="1200">
                          <a:solidFill>
                            <a:srgbClr val="000000"/>
                          </a:solidFill>
                          <a:latin typeface="+mn-ea"/>
                          <a:ea typeface="+mn-ea"/>
                          <a:cs typeface="+mn-cs"/>
                        </a:rPr>
                        <a:t>．課題の期限延伸</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下記課題の対応期限を延伸する。</a:t>
                      </a:r>
                      <a:r>
                        <a:rPr kumimoji="1" lang="en-US" altLang="ja-JP" sz="900" b="0" i="0" u="none" strike="noStrike" kern="1200">
                          <a:solidFill>
                            <a:srgbClr val="000000"/>
                          </a:solidFill>
                          <a:latin typeface="+mn-ea"/>
                          <a:ea typeface="+mn-ea"/>
                          <a:cs typeface="+mn-cs"/>
                        </a:rPr>
                        <a:t>(1</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 </a:t>
                      </a:r>
                      <a:endParaRPr kumimoji="1" lang="en-US" altLang="ja-JP" sz="900" kern="1200">
                        <a:solidFill>
                          <a:schemeClr val="tx1"/>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#24(</a:t>
                      </a:r>
                      <a:r>
                        <a:rPr kumimoji="1" lang="ja-JP" altLang="en-US" sz="900" kern="1200">
                          <a:solidFill>
                            <a:schemeClr val="tx1"/>
                          </a:solidFill>
                          <a:latin typeface="+mn-ea"/>
                          <a:ea typeface="+mn-ea"/>
                          <a:cs typeface="+mn-cs"/>
                        </a:rPr>
                        <a:t>検証用ツールの公開及びソースコードの公開をいつまで実施するかを検討する</a:t>
                      </a:r>
                      <a:r>
                        <a:rPr kumimoji="1" lang="en-US" altLang="ja-JP" sz="900" kern="1200">
                          <a:solidFill>
                            <a:schemeClr val="tx1"/>
                          </a:solidFill>
                          <a:latin typeface="+mn-ea"/>
                          <a:ea typeface="+mn-ea"/>
                          <a:cs typeface="+mn-cs"/>
                        </a:rPr>
                        <a:t>)</a:t>
                      </a:r>
                      <a:br>
                        <a:rPr kumimoji="1" lang="en-US" altLang="ja-JP" sz="900" kern="1200">
                          <a:solidFill>
                            <a:srgbClr val="000000"/>
                          </a:solidFill>
                          <a:latin typeface="+mn-ea"/>
                          <a:ea typeface="+mn-ea"/>
                          <a:cs typeface="+mn-cs"/>
                        </a:rPr>
                      </a:b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延伸期限</a:t>
                      </a:r>
                      <a:br>
                        <a:rPr kumimoji="1" lang="ja-JP" altLang="en-US" sz="900" kern="1200">
                          <a:solidFill>
                            <a:srgbClr val="000000"/>
                          </a:solidFill>
                          <a:latin typeface="+mn-ea"/>
                          <a:ea typeface="+mn-ea"/>
                          <a:cs typeface="+mn-cs"/>
                        </a:rPr>
                      </a:br>
                      <a:r>
                        <a:rPr kumimoji="1" lang="en-US" altLang="ja-JP" sz="900" kern="1200">
                          <a:solidFill>
                            <a:schemeClr val="tx1"/>
                          </a:solidFill>
                          <a:latin typeface="+mn-ea"/>
                          <a:ea typeface="+mn-ea"/>
                          <a:cs typeface="+mn-cs"/>
                        </a:rPr>
                        <a:t>2026/10/12</a:t>
                      </a:r>
                      <a:r>
                        <a:rPr kumimoji="1" lang="ja-JP" altLang="en-US" sz="900" kern="1200">
                          <a:solidFill>
                            <a:schemeClr val="tx1"/>
                          </a:solidFill>
                          <a:latin typeface="+mn-ea"/>
                          <a:ea typeface="+mn-ea"/>
                          <a:cs typeface="+mn-cs"/>
                        </a:rPr>
                        <a:t>→</a:t>
                      </a:r>
                      <a:r>
                        <a:rPr kumimoji="1" lang="en-US" altLang="ja-JP" sz="900" kern="1200">
                          <a:solidFill>
                            <a:schemeClr val="tx1"/>
                          </a:solidFill>
                          <a:latin typeface="+mn-ea"/>
                          <a:ea typeface="+mn-ea"/>
                          <a:cs typeface="+mn-cs"/>
                        </a:rPr>
                        <a:t>2026/10/19</a:t>
                      </a:r>
                      <a:br>
                        <a:rPr kumimoji="1" lang="en-US" altLang="ja-JP" sz="900" kern="1200">
                          <a:solidFill>
                            <a:srgbClr val="000000"/>
                          </a:solidFill>
                          <a:latin typeface="+mn-ea"/>
                          <a:ea typeface="+mn-ea"/>
                          <a:cs typeface="+mn-cs"/>
                        </a:rPr>
                      </a:b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期限延伸の背景</a:t>
                      </a:r>
                      <a:br>
                        <a:rPr kumimoji="1" lang="en-US" altLang="ja-JP" sz="900" kern="1200">
                          <a:solidFill>
                            <a:srgbClr val="000000"/>
                          </a:solidFill>
                          <a:latin typeface="+mn-ea"/>
                          <a:ea typeface="+mn-ea"/>
                          <a:cs typeface="+mn-cs"/>
                        </a:rPr>
                      </a:br>
                      <a:r>
                        <a:rPr kumimoji="1" lang="ja-JP" altLang="en-US" sz="900" kern="1200">
                          <a:solidFill>
                            <a:schemeClr val="tx1"/>
                          </a:solidFill>
                          <a:latin typeface="+mn-ea"/>
                          <a:ea typeface="+mn-ea"/>
                          <a:cs typeface="+mn-cs"/>
                        </a:rPr>
                        <a:t>今後の方針の検討材料としてい</a:t>
                      </a:r>
                      <a:r>
                        <a:rPr lang="ja-JP" altLang="en-US" sz="900" kern="1200">
                          <a:solidFill>
                            <a:schemeClr val="tx1"/>
                          </a:solidFill>
                          <a:latin typeface="+mn-ea"/>
                          <a:ea typeface="+mn-ea"/>
                          <a:cs typeface="+mn-cs"/>
                        </a:rPr>
                        <a:t>た</a:t>
                      </a:r>
                      <a:r>
                        <a:rPr kumimoji="1" lang="ja-JP" altLang="en-US" sz="900" kern="1200">
                          <a:solidFill>
                            <a:schemeClr val="tx1"/>
                          </a:solidFill>
                          <a:latin typeface="+mn-ea"/>
                          <a:ea typeface="+mn-ea"/>
                          <a:cs typeface="+mn-cs"/>
                        </a:rPr>
                        <a:t>アンケートの締め切り日が</a:t>
                      </a:r>
                      <a:r>
                        <a:rPr kumimoji="1" lang="en-US" altLang="ja-JP" sz="900" kern="1200">
                          <a:solidFill>
                            <a:schemeClr val="tx1"/>
                          </a:solidFill>
                          <a:latin typeface="+mn-ea"/>
                          <a:ea typeface="+mn-ea"/>
                          <a:cs typeface="+mn-cs"/>
                        </a:rPr>
                        <a:t>9/30</a:t>
                      </a:r>
                      <a:r>
                        <a:rPr kumimoji="1" lang="ja-JP" altLang="en-US" sz="900" kern="1200">
                          <a:solidFill>
                            <a:schemeClr val="tx1"/>
                          </a:solidFill>
                          <a:latin typeface="+mn-ea"/>
                          <a:ea typeface="+mn-ea"/>
                          <a:cs typeface="+mn-cs"/>
                        </a:rPr>
                        <a:t>から</a:t>
                      </a:r>
                      <a:r>
                        <a:rPr kumimoji="1" lang="en-US" altLang="ja-JP" sz="900" kern="1200">
                          <a:solidFill>
                            <a:schemeClr val="tx1"/>
                          </a:solidFill>
                          <a:latin typeface="+mn-ea"/>
                          <a:ea typeface="+mn-ea"/>
                          <a:cs typeface="+mn-cs"/>
                        </a:rPr>
                        <a:t>10/13</a:t>
                      </a:r>
                      <a:r>
                        <a:rPr kumimoji="1" lang="ja-JP" altLang="en-US" sz="900" kern="1200">
                          <a:solidFill>
                            <a:schemeClr val="tx1"/>
                          </a:solidFill>
                          <a:latin typeface="+mn-ea"/>
                          <a:ea typeface="+mn-ea"/>
                          <a:cs typeface="+mn-cs"/>
                        </a:rPr>
                        <a:t>に変更となったため。</a:t>
                      </a:r>
                      <a:endParaRPr kumimoji="1" lang="en-US" altLang="ja-JP" sz="900" b="1" i="0" u="sng" strike="noStrike" kern="1200">
                        <a:solidFill>
                          <a:srgbClr val="000000"/>
                        </a:solidFill>
                        <a:latin typeface="+mn-ea"/>
                        <a:ea typeface="+mn-ea"/>
                        <a:cs typeface="+mn-cs"/>
                      </a:endParaRPr>
                    </a:p>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b="0" i="0" u="none" strike="noStrike" kern="1200">
                        <a:solidFill>
                          <a:srgbClr val="000000"/>
                        </a:solidFill>
                        <a:latin typeface="+mn-ea"/>
                        <a:ea typeface="+mn-ea"/>
                        <a:cs typeface="+mn-cs"/>
                      </a:endParaRPr>
                    </a:p>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r>
                        <a:rPr kumimoji="1" lang="ja-JP" altLang="en-US" sz="900" b="0" i="0" u="none" strike="noStrike" kern="1200">
                          <a:solidFill>
                            <a:srgbClr val="000000"/>
                          </a:solidFill>
                          <a:latin typeface="+mn-ea"/>
                          <a:ea typeface="+mn-ea"/>
                          <a:cs typeface="+mn-cs"/>
                        </a:rPr>
                        <a:t>(続)</a:t>
                      </a:r>
                      <a:endParaRPr kumimoji="1" lang="en-US" altLang="ja-JP" sz="900" b="0" i="0" u="none" strike="noStrike" kern="1200" noProof="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特になし</a:t>
                      </a:r>
                      <a:endParaRPr lang="en-US" altLang="ja-JP" sz="900" b="0" i="0" u="none" strike="noStrike" kern="1200" noProof="0" dirty="0">
                        <a:solidFill>
                          <a:srgbClr val="000000"/>
                        </a:solidFill>
                        <a:latin typeface="+mn-ea"/>
                        <a:ea typeface="+mn-ea"/>
                        <a:cs typeface="Arial"/>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CB73C7C7-5DE4-25B9-E37A-4419A1201A23}"/>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)(1/8)</a:t>
            </a:r>
            <a:endParaRPr lang="ja-JP" altLang="en-US" sz="2000">
              <a:solidFill>
                <a:schemeClr val="tx2">
                  <a:lumMod val="75000"/>
                </a:schemeClr>
              </a:solidFill>
            </a:endParaRPr>
          </a:p>
        </p:txBody>
      </p:sp>
    </p:spTree>
    <p:extLst>
      <p:ext uri="{BB962C8B-B14F-4D97-AF65-F5344CB8AC3E}">
        <p14:creationId xmlns:p14="http://schemas.microsoft.com/office/powerpoint/2010/main" val="2310079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00141-CECD-206B-15A4-45A64C9A586B}"/>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01777464-4BDE-7DAE-64F3-CDF1D628D2D5}"/>
              </a:ext>
            </a:extLst>
          </p:cNvPr>
          <p:cNvGraphicFramePr>
            <a:graphicFrameLocks noGrp="1"/>
          </p:cNvGraphicFramePr>
          <p:nvPr>
            <p:extLst>
              <p:ext uri="{D42A27DB-BD31-4B8C-83A1-F6EECF244321}">
                <p14:modId xmlns:p14="http://schemas.microsoft.com/office/powerpoint/2010/main" val="1353857867"/>
              </p:ext>
            </p:extLst>
          </p:nvPr>
        </p:nvGraphicFramePr>
        <p:xfrm>
          <a:off x="453000" y="843756"/>
          <a:ext cx="9000001" cy="3302220"/>
        </p:xfrm>
        <a:graphic>
          <a:graphicData uri="http://schemas.openxmlformats.org/drawingml/2006/table">
            <a:tbl>
              <a:tblPr/>
              <a:tblGrid>
                <a:gridCol w="473868">
                  <a:extLst>
                    <a:ext uri="{9D8B030D-6E8A-4147-A177-3AD203B41FA5}">
                      <a16:colId xmlns:a16="http://schemas.microsoft.com/office/drawing/2014/main" val="3484704196"/>
                    </a:ext>
                  </a:extLst>
                </a:gridCol>
                <a:gridCol w="1121469">
                  <a:extLst>
                    <a:ext uri="{9D8B030D-6E8A-4147-A177-3AD203B41FA5}">
                      <a16:colId xmlns:a16="http://schemas.microsoft.com/office/drawing/2014/main" val="3863879091"/>
                    </a:ext>
                  </a:extLst>
                </a:gridCol>
                <a:gridCol w="4625074">
                  <a:extLst>
                    <a:ext uri="{9D8B030D-6E8A-4147-A177-3AD203B41FA5}">
                      <a16:colId xmlns:a16="http://schemas.microsoft.com/office/drawing/2014/main" val="99914978"/>
                    </a:ext>
                  </a:extLst>
                </a:gridCol>
                <a:gridCol w="2779590">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err="1">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540000">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r>
                        <a:rPr kumimoji="1" lang="ja-JP" altLang="en-US" sz="900" b="0" i="0" u="none" strike="noStrike" kern="1200">
                          <a:solidFill>
                            <a:srgbClr val="000000"/>
                          </a:solidFill>
                          <a:latin typeface="+mn-ea"/>
                          <a:ea typeface="+mn-ea"/>
                          <a:cs typeface="+mn-cs"/>
                        </a:rPr>
                        <a:t>(続)</a:t>
                      </a:r>
                      <a:endParaRPr kumimoji="1" lang="en-US" altLang="ja-JP" sz="900" b="0" i="0" u="none" strike="noStrike" kern="1200">
                        <a:solidFill>
                          <a:srgbClr val="000000"/>
                        </a:solidFill>
                        <a:latin typeface="+mn-ea"/>
                        <a:ea typeface="+mn-ea"/>
                        <a:cs typeface="+mn-cs"/>
                      </a:endParaRPr>
                    </a:p>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b="0" i="0" u="none" strike="noStrike" kern="1200">
                        <a:solidFill>
                          <a:srgbClr val="000000"/>
                        </a:solidFill>
                        <a:latin typeface="+mn-ea"/>
                        <a:ea typeface="+mn-ea"/>
                        <a:cs typeface="+mn-cs"/>
                      </a:endParaRPr>
                    </a:p>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r>
                        <a:rPr kumimoji="1" lang="en-US" altLang="ja-JP" sz="900" b="1" i="0" u="sng" strike="noStrike" kern="1200">
                          <a:solidFill>
                            <a:srgbClr val="000000"/>
                          </a:solidFill>
                          <a:latin typeface="+mn-ea"/>
                          <a:ea typeface="+mn-ea"/>
                          <a:cs typeface="+mn-cs"/>
                        </a:rPr>
                        <a:t>4</a:t>
                      </a:r>
                      <a:r>
                        <a:rPr kumimoji="1" lang="ja-JP" altLang="en-US" sz="900" b="1" i="0" u="sng" strike="noStrike" kern="1200">
                          <a:solidFill>
                            <a:srgbClr val="000000"/>
                          </a:solidFill>
                          <a:latin typeface="+mn-ea"/>
                          <a:ea typeface="+mn-ea"/>
                          <a:cs typeface="+mn-cs"/>
                        </a:rPr>
                        <a:t>．</a:t>
                      </a:r>
                      <a:r>
                        <a:rPr kumimoji="1" lang="en-US" altLang="ja-JP" sz="900" b="1" i="0" u="sng" strike="noStrike" kern="1200">
                          <a:solidFill>
                            <a:srgbClr val="000000"/>
                          </a:solidFill>
                          <a:latin typeface="+mn-ea"/>
                          <a:ea typeface="+mn-ea"/>
                          <a:cs typeface="+mn-cs"/>
                        </a:rPr>
                        <a:t>ToDo</a:t>
                      </a:r>
                      <a:r>
                        <a:rPr kumimoji="1" lang="ja-JP" altLang="en-US" sz="900" b="1" i="0" u="sng" strike="noStrike" kern="1200">
                          <a:solidFill>
                            <a:srgbClr val="000000"/>
                          </a:solidFill>
                          <a:latin typeface="+mn-ea"/>
                          <a:ea typeface="+mn-ea"/>
                          <a:cs typeface="+mn-cs"/>
                        </a:rPr>
                        <a:t>のクローズ</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下記</a:t>
                      </a:r>
                      <a:r>
                        <a:rPr kumimoji="1" lang="en-US" altLang="ja-JP" sz="900" b="0" i="0" u="none" strike="noStrike" kern="1200">
                          <a:solidFill>
                            <a:srgbClr val="000000"/>
                          </a:solidFill>
                          <a:latin typeface="+mn-ea"/>
                          <a:ea typeface="+mn-ea"/>
                          <a:cs typeface="+mn-cs"/>
                        </a:rPr>
                        <a:t>ToDo</a:t>
                      </a:r>
                      <a:r>
                        <a:rPr kumimoji="1" lang="ja-JP" altLang="en-US" sz="900" b="0" i="0" u="none" strike="noStrike" kern="1200">
                          <a:solidFill>
                            <a:srgbClr val="000000"/>
                          </a:solidFill>
                          <a:latin typeface="+mn-ea"/>
                          <a:ea typeface="+mn-ea"/>
                          <a:cs typeface="+mn-cs"/>
                        </a:rPr>
                        <a:t>をクローズとする。</a:t>
                      </a:r>
                      <a:r>
                        <a:rPr kumimoji="1" lang="en-US" altLang="ja-JP" sz="900" b="0" i="0" u="none" strike="noStrike" kern="1200">
                          <a:solidFill>
                            <a:srgbClr val="000000"/>
                          </a:solidFill>
                          <a:latin typeface="+mn-ea"/>
                          <a:ea typeface="+mn-ea"/>
                          <a:cs typeface="+mn-cs"/>
                        </a:rPr>
                        <a:t>(6</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#1056(</a:t>
                      </a:r>
                      <a:r>
                        <a:rPr lang="ja-JP" altLang="en-US" sz="900" b="0">
                          <a:latin typeface="+mn-ea"/>
                          <a:ea typeface="+mn-ea"/>
                        </a:rPr>
                        <a:t>電カル共有サービスの利用を健診実施機関</a:t>
                      </a:r>
                      <a:r>
                        <a:rPr lang="en-US" altLang="ja-JP" sz="900" b="0">
                          <a:latin typeface="+mn-ea"/>
                          <a:ea typeface="+mn-ea"/>
                        </a:rPr>
                        <a:t>(</a:t>
                      </a:r>
                      <a:r>
                        <a:rPr lang="ja-JP" altLang="en-US" sz="900" b="0">
                          <a:latin typeface="+mn-ea"/>
                          <a:ea typeface="+mn-ea"/>
                        </a:rPr>
                        <a:t>単独</a:t>
                      </a:r>
                      <a:r>
                        <a:rPr lang="en-US" altLang="ja-JP" sz="900" b="0">
                          <a:latin typeface="+mn-ea"/>
                          <a:ea typeface="+mn-ea"/>
                        </a:rPr>
                        <a:t>)</a:t>
                      </a:r>
                      <a:r>
                        <a:rPr lang="ja-JP" altLang="en-US" sz="900" b="0">
                          <a:latin typeface="+mn-ea"/>
                          <a:ea typeface="+mn-ea"/>
                        </a:rPr>
                        <a:t>に拡大する検討において、「健診文書の登録」を行う上での業務要件を、業務フロー図、機能要件として機能一覧、外部</a:t>
                      </a:r>
                      <a:r>
                        <a:rPr lang="en-US" altLang="ja-JP" sz="900" b="0">
                          <a:latin typeface="+mn-ea"/>
                          <a:ea typeface="+mn-ea"/>
                        </a:rPr>
                        <a:t>IF</a:t>
                      </a:r>
                      <a:r>
                        <a:rPr lang="ja-JP" altLang="en-US" sz="900" b="0">
                          <a:latin typeface="+mn-ea"/>
                          <a:ea typeface="+mn-ea"/>
                        </a:rPr>
                        <a:t>一覧、システムフロー図を用いて整理し、整理結果を基金に連携する。</a:t>
                      </a:r>
                      <a:r>
                        <a:rPr lang="en-US" altLang="ja-JP" sz="900" b="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#1196(</a:t>
                      </a:r>
                      <a:r>
                        <a:rPr lang="ja-JP" altLang="en-US" sz="900" b="0">
                          <a:latin typeface="+mn-ea"/>
                          <a:ea typeface="+mn-ea"/>
                        </a:rPr>
                        <a:t>ポータルサイト一括申請に係る前提条件について、厚労省からの確認結果</a:t>
                      </a:r>
                      <a:r>
                        <a:rPr lang="en-US" altLang="ja-JP" sz="900" b="0">
                          <a:latin typeface="+mn-ea"/>
                          <a:ea typeface="+mn-ea"/>
                        </a:rPr>
                        <a:t>(ToDo#1175)</a:t>
                      </a:r>
                      <a:r>
                        <a:rPr lang="ja-JP" altLang="en-US" sz="900" b="0">
                          <a:latin typeface="+mn-ea"/>
                          <a:ea typeface="+mn-ea"/>
                        </a:rPr>
                        <a:t>を確認し、厚労省からの追加照会事項に回答する。</a:t>
                      </a:r>
                      <a:r>
                        <a:rPr lang="en-US" altLang="ja-JP" sz="900" b="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#1202(</a:t>
                      </a:r>
                      <a:r>
                        <a:rPr lang="ja-JP" altLang="en-US" sz="900" b="0">
                          <a:latin typeface="+mn-ea"/>
                          <a:ea typeface="+mn-ea"/>
                        </a:rPr>
                        <a:t>パンくずリストの設定を中心としたポータルサイトを改善する推進体制について、厚労省から提示される体制案と基金の体制を照らし合わせて確認し、確認結果を厚労省に連携する。</a:t>
                      </a:r>
                      <a:r>
                        <a:rPr lang="en-US" altLang="ja-JP" sz="900" b="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#1215(</a:t>
                      </a:r>
                      <a:r>
                        <a:rPr lang="ja-JP" altLang="en-US" sz="900" b="0">
                          <a:latin typeface="+mn-ea"/>
                          <a:ea typeface="+mn-ea"/>
                        </a:rPr>
                        <a:t>受入テストシナリオの厚労省レビュー時に、基金より厚労省に対して当該シナリオに関する説明の可否を確認し、結果を厚労省に連携する。</a:t>
                      </a:r>
                      <a:r>
                        <a:rPr lang="en-US" altLang="ja-JP" sz="900" b="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#1217(</a:t>
                      </a:r>
                      <a:r>
                        <a:rPr lang="ja-JP" altLang="en-US" sz="900" b="0">
                          <a:latin typeface="+mn-ea"/>
                          <a:ea typeface="+mn-ea"/>
                        </a:rPr>
                        <a:t>患者サマリーの運用整理に関する問い合わせ結果について書面にて確認し、確認結果を厚労省に連携する。</a:t>
                      </a:r>
                      <a:r>
                        <a:rPr lang="en-US" altLang="ja-JP" sz="900" b="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#1222(</a:t>
                      </a:r>
                      <a:r>
                        <a:rPr lang="ja-JP" altLang="en-US" sz="900" b="0">
                          <a:latin typeface="+mn-ea"/>
                          <a:ea typeface="+mn-ea"/>
                        </a:rPr>
                        <a:t>厚労省より提示いただいた令和</a:t>
                      </a:r>
                      <a:r>
                        <a:rPr lang="en-US" altLang="ja-JP" sz="900" b="0">
                          <a:latin typeface="+mn-ea"/>
                          <a:ea typeface="+mn-ea"/>
                        </a:rPr>
                        <a:t>9</a:t>
                      </a:r>
                      <a:r>
                        <a:rPr lang="ja-JP" altLang="en-US" sz="900" b="0">
                          <a:latin typeface="+mn-ea"/>
                          <a:ea typeface="+mn-ea"/>
                        </a:rPr>
                        <a:t>年度のプロファイル更新の取り込みスケジュールのドラフト版について、開発事業者と認識合わせを行い、確認結果を厚労省に連携する。</a:t>
                      </a:r>
                      <a:r>
                        <a:rPr lang="en-US" altLang="ja-JP" sz="900" b="0">
                          <a:latin typeface="+mn-ea"/>
                          <a:ea typeface="+mn-ea"/>
                        </a:rPr>
                        <a:t>)</a:t>
                      </a:r>
                    </a:p>
                    <a:p>
                      <a:pPr marL="8890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b="0" i="0" u="sng" strike="noStrike" kern="1200">
                        <a:solidFill>
                          <a:srgbClr val="000000"/>
                        </a:solidFill>
                        <a:latin typeface="+mn-ea"/>
                        <a:ea typeface="+mn-ea"/>
                        <a:cs typeface="+mn-cs"/>
                      </a:endParaRPr>
                    </a:p>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br>
                        <a:rPr kumimoji="1" lang="en-US" altLang="ja-JP" sz="900" b="1" i="0" u="sng" strike="noStrike" kern="1200">
                          <a:solidFill>
                            <a:srgbClr val="000000"/>
                          </a:solidFill>
                          <a:latin typeface="+mn-ea"/>
                          <a:ea typeface="+mn-ea"/>
                          <a:cs typeface="+mn-cs"/>
                        </a:rPr>
                      </a:br>
                      <a:r>
                        <a:rPr kumimoji="1" lang="ja-JP" altLang="en-US" sz="900" b="0" i="0" u="none" strike="noStrike" kern="1200">
                          <a:solidFill>
                            <a:srgbClr val="000000"/>
                          </a:solidFill>
                          <a:latin typeface="+mn-ea"/>
                          <a:ea typeface="+mn-ea"/>
                          <a:cs typeface="+mn-cs"/>
                        </a:rPr>
                        <a:t>(続)</a:t>
                      </a:r>
                      <a:endParaRPr kumimoji="1" lang="en-US" altLang="ja-JP" sz="900" b="0" i="0" u="none" strike="noStrike" kern="1200">
                        <a:solidFill>
                          <a:srgbClr val="000000"/>
                        </a:solidFill>
                        <a:latin typeface="+mn-ea"/>
                        <a:ea typeface="+mn-ea"/>
                        <a:cs typeface="+mn-cs"/>
                      </a:endParaRPr>
                    </a:p>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b="0" i="0" u="none" strike="noStrike" kern="1200" noProof="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en-US" altLang="ja-JP" sz="900" b="0" i="0" u="none" strike="noStrike" kern="1200" noProof="0" dirty="0">
                          <a:solidFill>
                            <a:srgbClr val="000000"/>
                          </a:solidFill>
                          <a:latin typeface="+mn-ea"/>
                          <a:ea typeface="+mn-ea"/>
                          <a:cs typeface="Arial"/>
                        </a:rPr>
                        <a:t>CLINS 1.14.0</a:t>
                      </a:r>
                      <a:r>
                        <a:rPr lang="ja-JP" altLang="en-US" sz="900" b="0" i="0" u="none" strike="noStrike" kern="1200" noProof="0" dirty="0">
                          <a:solidFill>
                            <a:srgbClr val="000000"/>
                          </a:solidFill>
                          <a:latin typeface="+mn-ea"/>
                          <a:ea typeface="+mn-ea"/>
                          <a:cs typeface="Arial"/>
                        </a:rPr>
                        <a:t>への変更に伴うアドオンチェック対応について、変更内容の取り込み可能期限を開発事業者に確認し、確認結果を厚労省に連携する。</a:t>
                      </a:r>
                      <a:r>
                        <a:rPr lang="en-US" altLang="ja-JP" sz="900" b="0" i="0" u="none" strike="noStrike" kern="1200" noProof="0" dirty="0">
                          <a:solidFill>
                            <a:srgbClr val="000000"/>
                          </a:solidFill>
                          <a:latin typeface="+mn-ea"/>
                          <a:ea typeface="+mn-ea"/>
                          <a:cs typeface="Arial"/>
                        </a:rPr>
                        <a:t>【DX</a:t>
                      </a:r>
                      <a:r>
                        <a:rPr lang="ja-JP" altLang="en-US" sz="900" b="0" i="0" u="none" strike="noStrike" kern="1200" noProof="0" dirty="0">
                          <a:solidFill>
                            <a:srgbClr val="000000"/>
                          </a:solidFill>
                          <a:latin typeface="+mn-ea"/>
                          <a:ea typeface="+mn-ea"/>
                          <a:cs typeface="Arial"/>
                        </a:rPr>
                        <a:t>機構 </a:t>
                      </a:r>
                      <a:r>
                        <a:rPr lang="en-US" altLang="ja-JP" sz="900" b="0" i="0" u="none" strike="noStrike" kern="1200" noProof="0" dirty="0">
                          <a:solidFill>
                            <a:srgbClr val="000000"/>
                          </a:solidFill>
                          <a:latin typeface="+mn-ea"/>
                          <a:ea typeface="+mn-ea"/>
                          <a:cs typeface="Arial"/>
                        </a:rPr>
                        <a:t>10/19】</a:t>
                      </a: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endParaRPr lang="en-US" altLang="ja-JP" sz="900" b="0" i="0" u="none" strike="noStrike" kern="1200" noProof="0" dirty="0">
                        <a:solidFill>
                          <a:srgbClr val="000000"/>
                        </a:solidFill>
                        <a:latin typeface="+mn-ea"/>
                        <a:ea typeface="+mn-ea"/>
                        <a:cs typeface="Arial"/>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0458E7D8-C096-7328-3581-F5AA8403A499}"/>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)(2/8)</a:t>
            </a:r>
            <a:endParaRPr lang="ja-JP" altLang="en-US" sz="2000">
              <a:solidFill>
                <a:schemeClr val="tx2">
                  <a:lumMod val="75000"/>
                </a:schemeClr>
              </a:solidFill>
            </a:endParaRPr>
          </a:p>
        </p:txBody>
      </p:sp>
    </p:spTree>
    <p:extLst>
      <p:ext uri="{BB962C8B-B14F-4D97-AF65-F5344CB8AC3E}">
        <p14:creationId xmlns:p14="http://schemas.microsoft.com/office/powerpoint/2010/main" val="2547521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B3A3E-3D48-5950-F439-D64CF22CBD62}"/>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C737508F-2CA3-EE6B-1290-0CC365EEAEFA}"/>
              </a:ext>
            </a:extLst>
          </p:cNvPr>
          <p:cNvGraphicFramePr>
            <a:graphicFrameLocks noGrp="1"/>
          </p:cNvGraphicFramePr>
          <p:nvPr>
            <p:extLst>
              <p:ext uri="{D42A27DB-BD31-4B8C-83A1-F6EECF244321}">
                <p14:modId xmlns:p14="http://schemas.microsoft.com/office/powerpoint/2010/main" val="3524024633"/>
              </p:ext>
            </p:extLst>
          </p:nvPr>
        </p:nvGraphicFramePr>
        <p:xfrm>
          <a:off x="453000" y="843756"/>
          <a:ext cx="9000001" cy="5579076"/>
        </p:xfrm>
        <a:graphic>
          <a:graphicData uri="http://schemas.openxmlformats.org/drawingml/2006/table">
            <a:tbl>
              <a:tblPr/>
              <a:tblGrid>
                <a:gridCol w="473868">
                  <a:extLst>
                    <a:ext uri="{9D8B030D-6E8A-4147-A177-3AD203B41FA5}">
                      <a16:colId xmlns:a16="http://schemas.microsoft.com/office/drawing/2014/main" val="3484704196"/>
                    </a:ext>
                  </a:extLst>
                </a:gridCol>
                <a:gridCol w="1121469">
                  <a:extLst>
                    <a:ext uri="{9D8B030D-6E8A-4147-A177-3AD203B41FA5}">
                      <a16:colId xmlns:a16="http://schemas.microsoft.com/office/drawing/2014/main" val="3863879091"/>
                    </a:ext>
                  </a:extLst>
                </a:gridCol>
                <a:gridCol w="6105063">
                  <a:extLst>
                    <a:ext uri="{9D8B030D-6E8A-4147-A177-3AD203B41FA5}">
                      <a16:colId xmlns:a16="http://schemas.microsoft.com/office/drawing/2014/main" val="99914978"/>
                    </a:ext>
                  </a:extLst>
                </a:gridCol>
                <a:gridCol w="1299601">
                  <a:extLst>
                    <a:ext uri="{9D8B030D-6E8A-4147-A177-3AD203B41FA5}">
                      <a16:colId xmlns:a16="http://schemas.microsoft.com/office/drawing/2014/main" val="2028788276"/>
                    </a:ext>
                  </a:extLst>
                </a:gridCol>
              </a:tblGrid>
              <a:tr h="139399">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err="1">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3461845">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82563"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0" i="0" u="none" strike="noStrike" kern="1200">
                          <a:solidFill>
                            <a:srgbClr val="000000"/>
                          </a:solidFill>
                          <a:latin typeface="+mn-ea"/>
                          <a:ea typeface="+mn-ea"/>
                          <a:cs typeface="+mn-cs"/>
                        </a:rPr>
                        <a:t>(</a:t>
                      </a:r>
                      <a:r>
                        <a:rPr kumimoji="1" lang="ja-JP" altLang="en-US" sz="900" b="0" i="0" u="none" strike="noStrike" kern="1200">
                          <a:solidFill>
                            <a:srgbClr val="000000"/>
                          </a:solidFill>
                          <a:latin typeface="+mn-ea"/>
                          <a:ea typeface="+mn-ea"/>
                          <a:cs typeface="+mn-cs"/>
                        </a:rPr>
                        <a:t>続</a:t>
                      </a:r>
                      <a:r>
                        <a:rPr kumimoji="1" lang="en-US" altLang="ja-JP" sz="900" b="0" i="0" u="none" strike="noStrike" kern="1200">
                          <a:solidFill>
                            <a:srgbClr val="000000"/>
                          </a:solidFill>
                          <a:latin typeface="+mn-ea"/>
                          <a:ea typeface="+mn-ea"/>
                          <a:cs typeface="+mn-cs"/>
                        </a:rPr>
                        <a:t>)</a:t>
                      </a:r>
                    </a:p>
                    <a:p>
                      <a:pPr marL="182563"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endParaRPr kumimoji="1" lang="en-US" altLang="ja-JP" sz="900" b="0" i="0" u="none" strike="noStrike" kern="1200">
                        <a:solidFill>
                          <a:srgbClr val="000000"/>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5</a:t>
                      </a:r>
                      <a:r>
                        <a:rPr kumimoji="1" lang="ja-JP" altLang="en-US" sz="900" b="1" i="0" u="sng" strike="noStrike" kern="1200">
                          <a:solidFill>
                            <a:srgbClr val="000000"/>
                          </a:solidFill>
                          <a:latin typeface="+mn-ea"/>
                          <a:ea typeface="+mn-ea"/>
                          <a:cs typeface="+mn-cs"/>
                        </a:rPr>
                        <a:t>．</a:t>
                      </a:r>
                      <a:r>
                        <a:rPr kumimoji="1" lang="en-US" altLang="ja-JP" sz="900" b="1" i="0" u="sng" strike="noStrike" kern="1200">
                          <a:solidFill>
                            <a:srgbClr val="000000"/>
                          </a:solidFill>
                          <a:latin typeface="+mn-ea"/>
                          <a:ea typeface="+mn-ea"/>
                          <a:cs typeface="+mn-cs"/>
                        </a:rPr>
                        <a:t>ToDo</a:t>
                      </a:r>
                      <a:r>
                        <a:rPr kumimoji="1" lang="ja-JP" altLang="en-US" sz="900" b="1" i="0" u="sng" strike="noStrike" kern="1200">
                          <a:solidFill>
                            <a:srgbClr val="000000"/>
                          </a:solidFill>
                          <a:latin typeface="+mn-ea"/>
                          <a:ea typeface="+mn-ea"/>
                          <a:cs typeface="+mn-cs"/>
                        </a:rPr>
                        <a:t>の期限延伸</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下記</a:t>
                      </a:r>
                      <a:r>
                        <a:rPr kumimoji="1" lang="en-US" altLang="ja-JP" sz="900" b="0" i="0" u="none" strike="noStrike" kern="1200">
                          <a:solidFill>
                            <a:srgbClr val="000000"/>
                          </a:solidFill>
                          <a:latin typeface="+mn-ea"/>
                          <a:ea typeface="+mn-ea"/>
                          <a:cs typeface="+mn-cs"/>
                        </a:rPr>
                        <a:t>ToDo</a:t>
                      </a:r>
                      <a:r>
                        <a:rPr kumimoji="1" lang="ja-JP" altLang="en-US" sz="900" b="0" i="0" u="none" strike="noStrike" kern="1200">
                          <a:solidFill>
                            <a:srgbClr val="000000"/>
                          </a:solidFill>
                          <a:latin typeface="+mn-ea"/>
                          <a:ea typeface="+mn-ea"/>
                          <a:cs typeface="+mn-cs"/>
                        </a:rPr>
                        <a:t>の対応期限を延伸する。</a:t>
                      </a:r>
                      <a:r>
                        <a:rPr kumimoji="1" lang="en-US" altLang="ja-JP" sz="900" b="0" i="0" u="none" strike="noStrike" kern="1200">
                          <a:solidFill>
                            <a:srgbClr val="000000"/>
                          </a:solidFill>
                          <a:latin typeface="+mn-ea"/>
                          <a:ea typeface="+mn-ea"/>
                          <a:cs typeface="+mn-cs"/>
                        </a:rPr>
                        <a:t>(6</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endParaRPr kumimoji="1" lang="en-US" altLang="ja-JP" sz="900" kern="1200">
                        <a:solidFill>
                          <a:schemeClr val="tx1"/>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#784(</a:t>
                      </a:r>
                      <a:r>
                        <a:rPr kumimoji="1" lang="ja-JP" altLang="en-US" sz="900" b="0" kern="1200">
                          <a:solidFill>
                            <a:srgbClr val="000000"/>
                          </a:solidFill>
                          <a:latin typeface="+mn-ea"/>
                          <a:ea typeface="+mn-ea"/>
                          <a:cs typeface="+mn-cs"/>
                        </a:rPr>
                        <a:t>令和</a:t>
                      </a:r>
                      <a:r>
                        <a:rPr kumimoji="1" lang="en-US" altLang="ja-JP" sz="900" b="0" kern="1200">
                          <a:solidFill>
                            <a:srgbClr val="000000"/>
                          </a:solidFill>
                          <a:latin typeface="+mn-ea"/>
                          <a:ea typeface="+mn-ea"/>
                          <a:cs typeface="+mn-cs"/>
                        </a:rPr>
                        <a:t>9</a:t>
                      </a:r>
                      <a:r>
                        <a:rPr kumimoji="1" lang="ja-JP" altLang="en-US" sz="900" b="0" kern="1200">
                          <a:solidFill>
                            <a:srgbClr val="000000"/>
                          </a:solidFill>
                          <a:latin typeface="+mn-ea"/>
                          <a:ea typeface="+mn-ea"/>
                          <a:cs typeface="+mn-cs"/>
                        </a:rPr>
                        <a:t>年度以降に検証用ツールの更新停止</a:t>
                      </a:r>
                      <a:r>
                        <a:rPr kumimoji="1" lang="en-US" altLang="ja-JP" sz="900" b="0" kern="1200">
                          <a:solidFill>
                            <a:srgbClr val="000000"/>
                          </a:solidFill>
                          <a:latin typeface="+mn-ea"/>
                          <a:ea typeface="+mn-ea"/>
                          <a:cs typeface="+mn-cs"/>
                        </a:rPr>
                        <a:t>(</a:t>
                      </a:r>
                      <a:r>
                        <a:rPr kumimoji="1" lang="ja-JP" altLang="en-US" sz="900" b="0" kern="1200">
                          <a:solidFill>
                            <a:srgbClr val="000000"/>
                          </a:solidFill>
                          <a:latin typeface="+mn-ea"/>
                          <a:ea typeface="+mn-ea"/>
                          <a:cs typeface="+mn-cs"/>
                        </a:rPr>
                        <a:t>接続検証環境の利用への移行</a:t>
                      </a:r>
                      <a:r>
                        <a:rPr kumimoji="1" lang="en-US" altLang="ja-JP" sz="900" b="0" kern="1200">
                          <a:solidFill>
                            <a:srgbClr val="000000"/>
                          </a:solidFill>
                          <a:latin typeface="+mn-ea"/>
                          <a:ea typeface="+mn-ea"/>
                          <a:cs typeface="+mn-cs"/>
                        </a:rPr>
                        <a:t>)</a:t>
                      </a:r>
                      <a:r>
                        <a:rPr kumimoji="1" lang="ja-JP" altLang="en-US" sz="900" b="0" kern="1200">
                          <a:solidFill>
                            <a:srgbClr val="000000"/>
                          </a:solidFill>
                          <a:latin typeface="+mn-ea"/>
                          <a:ea typeface="+mn-ea"/>
                          <a:cs typeface="+mn-cs"/>
                        </a:rPr>
                        <a:t>するかを判断するにあたって、モデルベンダー・</a:t>
                      </a:r>
                      <a:r>
                        <a:rPr kumimoji="1" lang="en-US" altLang="ja-JP" sz="900" b="0" kern="1200">
                          <a:solidFill>
                            <a:srgbClr val="000000"/>
                          </a:solidFill>
                          <a:latin typeface="+mn-ea"/>
                          <a:ea typeface="+mn-ea"/>
                          <a:cs typeface="+mn-cs"/>
                        </a:rPr>
                        <a:t>JAHIS</a:t>
                      </a:r>
                      <a:r>
                        <a:rPr kumimoji="1" lang="ja-JP" altLang="en-US" sz="900" b="0" kern="1200">
                          <a:solidFill>
                            <a:srgbClr val="000000"/>
                          </a:solidFill>
                          <a:latin typeface="+mn-ea"/>
                          <a:ea typeface="+mn-ea"/>
                          <a:cs typeface="+mn-cs"/>
                        </a:rPr>
                        <a:t>に対して、以下を調査する。その際に、ソースコードをどのように活用することを想定しているかも確認する。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2026/10/12</a:t>
                      </a:r>
                      <a:r>
                        <a:rPr kumimoji="1" lang="ja-JP" altLang="en-US" sz="900" b="0" kern="1200">
                          <a:solidFill>
                            <a:schemeClr val="tx1"/>
                          </a:solidFill>
                          <a:latin typeface="+mn-ea"/>
                          <a:ea typeface="+mn-ea"/>
                          <a:cs typeface="+mn-cs"/>
                        </a:rPr>
                        <a:t>→</a:t>
                      </a:r>
                      <a:r>
                        <a:rPr kumimoji="1" lang="en-US" altLang="ja-JP" sz="900" b="0" kern="1200">
                          <a:solidFill>
                            <a:schemeClr val="tx1"/>
                          </a:solidFill>
                          <a:latin typeface="+mn-ea"/>
                          <a:ea typeface="+mn-ea"/>
                          <a:cs typeface="+mn-cs"/>
                        </a:rPr>
                        <a:t>2026/10/19</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今後の方針の検討材料としていた</a:t>
                      </a:r>
                      <a:r>
                        <a:rPr kumimoji="1" lang="en-US" altLang="ja-JP" sz="900" b="0" kern="1200">
                          <a:solidFill>
                            <a:srgbClr val="000000"/>
                          </a:solidFill>
                          <a:latin typeface="+mn-ea"/>
                          <a:ea typeface="+mn-ea"/>
                          <a:cs typeface="+mn-cs"/>
                        </a:rPr>
                        <a:t>9/30</a:t>
                      </a:r>
                      <a:r>
                        <a:rPr kumimoji="1" lang="ja-JP" altLang="en-US" sz="900" b="0" kern="1200">
                          <a:solidFill>
                            <a:srgbClr val="000000"/>
                          </a:solidFill>
                          <a:latin typeface="+mn-ea"/>
                          <a:ea typeface="+mn-ea"/>
                          <a:cs typeface="+mn-cs"/>
                        </a:rPr>
                        <a:t>締め切りのアンケートの締め切り日が</a:t>
                      </a:r>
                      <a:r>
                        <a:rPr kumimoji="1" lang="en-US" altLang="ja-JP" sz="900" b="0" kern="1200">
                          <a:solidFill>
                            <a:srgbClr val="000000"/>
                          </a:solidFill>
                          <a:latin typeface="+mn-ea"/>
                          <a:ea typeface="+mn-ea"/>
                          <a:cs typeface="+mn-cs"/>
                        </a:rPr>
                        <a:t>10/13</a:t>
                      </a:r>
                      <a:r>
                        <a:rPr kumimoji="1" lang="ja-JP" altLang="en-US" sz="900" b="0" kern="1200">
                          <a:solidFill>
                            <a:srgbClr val="000000"/>
                          </a:solidFill>
                          <a:latin typeface="+mn-ea"/>
                          <a:ea typeface="+mn-ea"/>
                          <a:cs typeface="+mn-cs"/>
                        </a:rPr>
                        <a:t>に変更となったため。</a:t>
                      </a:r>
                      <a:endParaRPr kumimoji="1" lang="en-US" altLang="ja-JP" sz="900" b="0" kern="120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#1178(</a:t>
                      </a:r>
                      <a:r>
                        <a:rPr kumimoji="1" lang="ja-JP" altLang="en-US" sz="900" b="0" kern="1200">
                          <a:solidFill>
                            <a:srgbClr val="000000"/>
                          </a:solidFill>
                          <a:latin typeface="+mn-ea"/>
                          <a:ea typeface="+mn-ea"/>
                          <a:cs typeface="+mn-cs"/>
                        </a:rPr>
                        <a:t>案件</a:t>
                      </a:r>
                      <a:r>
                        <a:rPr kumimoji="1" lang="en-US" altLang="ja-JP" sz="900" b="0" kern="1200">
                          <a:solidFill>
                            <a:srgbClr val="000000"/>
                          </a:solidFill>
                          <a:latin typeface="+mn-ea"/>
                          <a:ea typeface="+mn-ea"/>
                          <a:cs typeface="+mn-cs"/>
                        </a:rPr>
                        <a:t>ID163</a:t>
                      </a:r>
                      <a:r>
                        <a:rPr kumimoji="1" lang="ja-JP" altLang="en-US" sz="900" b="0" kern="1200">
                          <a:solidFill>
                            <a:srgbClr val="000000"/>
                          </a:solidFill>
                          <a:latin typeface="+mn-ea"/>
                          <a:ea typeface="+mn-ea"/>
                          <a:cs typeface="+mn-cs"/>
                        </a:rPr>
                        <a:t>(ログ・統計機能の改修)について、調達時に整理した要件の一部が開発段階にて抜け漏れている事象が確認されたことから、開発事業者における要件定義から開発着手までのプロセスを確認し、確認結果を厚労省に説明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2026/10/12</a:t>
                      </a:r>
                      <a:r>
                        <a:rPr kumimoji="1" lang="ja-JP" altLang="en-US" sz="900" b="0" kern="1200">
                          <a:solidFill>
                            <a:schemeClr val="tx1"/>
                          </a:solidFill>
                          <a:latin typeface="+mn-ea"/>
                          <a:ea typeface="+mn-ea"/>
                          <a:cs typeface="+mn-cs"/>
                        </a:rPr>
                        <a:t>→</a:t>
                      </a:r>
                      <a:r>
                        <a:rPr kumimoji="1" lang="en-US" altLang="ja-JP" sz="900" b="0" kern="1200">
                          <a:solidFill>
                            <a:schemeClr val="tx1"/>
                          </a:solidFill>
                          <a:latin typeface="+mn-ea"/>
                          <a:ea typeface="+mn-ea"/>
                          <a:cs typeface="+mn-cs"/>
                        </a:rPr>
                        <a:t>2026/10/26</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DX</a:t>
                      </a:r>
                      <a:r>
                        <a:rPr kumimoji="1" lang="ja-JP" altLang="en-US" sz="900" b="0" kern="1200">
                          <a:solidFill>
                            <a:srgbClr val="000000"/>
                          </a:solidFill>
                          <a:latin typeface="+mn-ea"/>
                          <a:ea typeface="+mn-ea"/>
                          <a:cs typeface="+mn-cs"/>
                        </a:rPr>
                        <a:t>機構内で確認中のため。​</a:t>
                      </a:r>
                      <a:endParaRPr kumimoji="1" lang="en-US" altLang="ja-JP" sz="900" b="0" kern="120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#1193(ToDo#1192</a:t>
                      </a:r>
                      <a:r>
                        <a:rPr kumimoji="1" lang="ja-JP" altLang="en-US" sz="900" b="0" kern="1200">
                          <a:solidFill>
                            <a:srgbClr val="000000"/>
                          </a:solidFill>
                          <a:latin typeface="+mn-ea"/>
                          <a:ea typeface="+mn-ea"/>
                          <a:cs typeface="+mn-cs"/>
                        </a:rPr>
                        <a:t>で報告された基金からの見積もり結果を踏まえ、標準マスタの</a:t>
                      </a:r>
                      <a:r>
                        <a:rPr kumimoji="1" lang="en-US" altLang="ja-JP" sz="900" b="0" kern="1200">
                          <a:solidFill>
                            <a:srgbClr val="000000"/>
                          </a:solidFill>
                          <a:latin typeface="+mn-ea"/>
                          <a:ea typeface="+mn-ea"/>
                          <a:cs typeface="+mn-cs"/>
                        </a:rPr>
                        <a:t>display</a:t>
                      </a:r>
                      <a:r>
                        <a:rPr kumimoji="1" lang="ja-JP" altLang="en-US" sz="900" b="0" kern="1200">
                          <a:solidFill>
                            <a:srgbClr val="000000"/>
                          </a:solidFill>
                          <a:latin typeface="+mn-ea"/>
                          <a:ea typeface="+mn-ea"/>
                          <a:cs typeface="+mn-cs"/>
                        </a:rPr>
                        <a:t>値の変更によるエラーに対する恒久対応の方針を決定する。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2026/10/12</a:t>
                      </a:r>
                      <a:r>
                        <a:rPr kumimoji="1" lang="ja-JP" altLang="en-US" sz="900" b="0" kern="1200">
                          <a:solidFill>
                            <a:schemeClr val="tx1"/>
                          </a:solidFill>
                          <a:latin typeface="+mn-ea"/>
                          <a:ea typeface="+mn-ea"/>
                          <a:cs typeface="+mn-cs"/>
                        </a:rPr>
                        <a:t>→</a:t>
                      </a:r>
                      <a:r>
                        <a:rPr kumimoji="1" lang="en-US" altLang="ja-JP" sz="900" b="0" kern="1200">
                          <a:solidFill>
                            <a:schemeClr val="tx1"/>
                          </a:solidFill>
                          <a:latin typeface="+mn-ea"/>
                          <a:ea typeface="+mn-ea"/>
                          <a:cs typeface="+mn-cs"/>
                        </a:rPr>
                        <a:t>2026/10/26</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標準マスタにおける</a:t>
                      </a:r>
                      <a:r>
                        <a:rPr kumimoji="1" lang="en-US" altLang="ja-JP" sz="900" b="0" kern="1200">
                          <a:solidFill>
                            <a:srgbClr val="000000"/>
                          </a:solidFill>
                          <a:latin typeface="+mn-ea"/>
                          <a:ea typeface="+mn-ea"/>
                          <a:cs typeface="+mn-cs"/>
                        </a:rPr>
                        <a:t>1</a:t>
                      </a:r>
                      <a:r>
                        <a:rPr kumimoji="1" lang="ja-JP" altLang="en-US" sz="900" b="0" kern="1200">
                          <a:solidFill>
                            <a:srgbClr val="000000"/>
                          </a:solidFill>
                          <a:latin typeface="+mn-ea"/>
                          <a:ea typeface="+mn-ea"/>
                          <a:cs typeface="+mn-cs"/>
                        </a:rPr>
                        <a:t>つの</a:t>
                      </a:r>
                      <a:r>
                        <a:rPr kumimoji="1" lang="en-US" altLang="ja-JP" sz="900" b="0" kern="1200">
                          <a:solidFill>
                            <a:srgbClr val="000000"/>
                          </a:solidFill>
                          <a:latin typeface="+mn-ea"/>
                          <a:ea typeface="+mn-ea"/>
                          <a:cs typeface="+mn-cs"/>
                        </a:rPr>
                        <a:t>code</a:t>
                      </a:r>
                      <a:r>
                        <a:rPr kumimoji="1" lang="ja-JP" altLang="en-US" sz="900" b="0" kern="1200">
                          <a:solidFill>
                            <a:srgbClr val="000000"/>
                          </a:solidFill>
                          <a:latin typeface="+mn-ea"/>
                          <a:ea typeface="+mn-ea"/>
                          <a:cs typeface="+mn-cs"/>
                        </a:rPr>
                        <a:t>に対する</a:t>
                      </a:r>
                      <a:r>
                        <a:rPr kumimoji="1" lang="en-US" altLang="ja-JP" sz="900" b="0" kern="1200">
                          <a:solidFill>
                            <a:srgbClr val="000000"/>
                          </a:solidFill>
                          <a:latin typeface="+mn-ea"/>
                          <a:ea typeface="+mn-ea"/>
                          <a:cs typeface="+mn-cs"/>
                        </a:rPr>
                        <a:t>display</a:t>
                      </a:r>
                      <a:r>
                        <a:rPr kumimoji="1" lang="ja-JP" altLang="en-US" sz="900" b="0" kern="1200">
                          <a:solidFill>
                            <a:srgbClr val="000000"/>
                          </a:solidFill>
                          <a:latin typeface="+mn-ea"/>
                          <a:ea typeface="+mn-ea"/>
                          <a:cs typeface="+mn-cs"/>
                        </a:rPr>
                        <a:t>値の変更によるエラーの恒久対応について、運用フローの整理結果に基づき、パターン②～④の各方式で見積もりを実施する方針となったため。​</a:t>
                      </a:r>
                      <a:endParaRPr kumimoji="1" lang="en-US" altLang="ja-JP" sz="900" b="0" kern="120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#1210(BI</a:t>
                      </a:r>
                      <a:r>
                        <a:rPr kumimoji="1" lang="ja-JP" altLang="en-US" sz="900" b="0" kern="1200">
                          <a:solidFill>
                            <a:srgbClr val="000000"/>
                          </a:solidFill>
                          <a:latin typeface="+mn-ea"/>
                          <a:ea typeface="+mn-ea"/>
                          <a:cs typeface="+mn-cs"/>
                        </a:rPr>
                        <a:t>ツール活用に係る案件を起票し、厚労省に説明する。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2026/10/13</a:t>
                      </a:r>
                      <a:r>
                        <a:rPr kumimoji="1" lang="ja-JP" altLang="en-US" sz="900" b="0" kern="1200">
                          <a:solidFill>
                            <a:schemeClr val="tx1"/>
                          </a:solidFill>
                          <a:latin typeface="+mn-ea"/>
                          <a:ea typeface="+mn-ea"/>
                          <a:cs typeface="+mn-cs"/>
                        </a:rPr>
                        <a:t>→</a:t>
                      </a:r>
                      <a:r>
                        <a:rPr kumimoji="1" lang="en-US" altLang="ja-JP" sz="900" b="0" kern="1200">
                          <a:solidFill>
                            <a:schemeClr val="tx1"/>
                          </a:solidFill>
                          <a:latin typeface="+mn-ea"/>
                          <a:ea typeface="+mn-ea"/>
                          <a:cs typeface="+mn-cs"/>
                        </a:rPr>
                        <a:t>2026/10/26</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案件</a:t>
                      </a:r>
                      <a:r>
                        <a:rPr kumimoji="1" lang="en-US" altLang="ja-JP" sz="900" b="0" kern="1200">
                          <a:solidFill>
                            <a:srgbClr val="000000"/>
                          </a:solidFill>
                          <a:latin typeface="+mn-ea"/>
                          <a:ea typeface="+mn-ea"/>
                          <a:cs typeface="+mn-cs"/>
                        </a:rPr>
                        <a:t>ID225(BI</a:t>
                      </a:r>
                      <a:r>
                        <a:rPr kumimoji="1" lang="ja-JP" altLang="en-US" sz="900" b="0" kern="1200">
                          <a:solidFill>
                            <a:srgbClr val="000000"/>
                          </a:solidFill>
                          <a:latin typeface="+mn-ea"/>
                          <a:ea typeface="+mn-ea"/>
                          <a:cs typeface="+mn-cs"/>
                        </a:rPr>
                        <a:t>基盤活用による臨床情報の可視化</a:t>
                      </a:r>
                      <a:r>
                        <a:rPr kumimoji="1" lang="en-US" altLang="ja-JP" sz="900" b="0" kern="1200">
                          <a:solidFill>
                            <a:srgbClr val="000000"/>
                          </a:solidFill>
                          <a:latin typeface="+mn-ea"/>
                          <a:ea typeface="+mn-ea"/>
                          <a:cs typeface="+mn-cs"/>
                        </a:rPr>
                        <a:t>)</a:t>
                      </a:r>
                      <a:r>
                        <a:rPr kumimoji="1" lang="ja-JP" altLang="en-US" sz="900" b="0" kern="1200">
                          <a:solidFill>
                            <a:srgbClr val="000000"/>
                          </a:solidFill>
                          <a:latin typeface="+mn-ea"/>
                          <a:ea typeface="+mn-ea"/>
                          <a:cs typeface="+mn-cs"/>
                        </a:rPr>
                        <a:t>について厚労省から受けた照会事項への回答を別途会議を調整し、説明することとなったため。​</a:t>
                      </a:r>
                      <a:endParaRPr kumimoji="1" lang="en-US" altLang="ja-JP" sz="900" b="0" kern="120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#1211(BI</a:t>
                      </a:r>
                      <a:r>
                        <a:rPr kumimoji="1" lang="ja-JP" altLang="en-US" sz="900" b="0" kern="1200">
                          <a:solidFill>
                            <a:srgbClr val="000000"/>
                          </a:solidFill>
                          <a:latin typeface="+mn-ea"/>
                          <a:ea typeface="+mn-ea"/>
                          <a:cs typeface="+mn-cs"/>
                        </a:rPr>
                        <a:t>ツール活用に係る案件を起票するにあたり、開発事業者と基金にて調整したデータ連携スコープについて厚労省に説明する。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2026/10/13</a:t>
                      </a:r>
                      <a:r>
                        <a:rPr kumimoji="1" lang="ja-JP" altLang="en-US" sz="900" b="0" kern="1200">
                          <a:solidFill>
                            <a:schemeClr val="tx1"/>
                          </a:solidFill>
                          <a:latin typeface="+mn-ea"/>
                          <a:ea typeface="+mn-ea"/>
                          <a:cs typeface="+mn-cs"/>
                        </a:rPr>
                        <a:t>→</a:t>
                      </a:r>
                      <a:r>
                        <a:rPr kumimoji="1" lang="en-US" altLang="ja-JP" sz="900" b="0" kern="1200">
                          <a:solidFill>
                            <a:schemeClr val="tx1"/>
                          </a:solidFill>
                          <a:latin typeface="+mn-ea"/>
                          <a:ea typeface="+mn-ea"/>
                          <a:cs typeface="+mn-cs"/>
                        </a:rPr>
                        <a:t>2026/10/26</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案件</a:t>
                      </a:r>
                      <a:r>
                        <a:rPr kumimoji="1" lang="en-US" altLang="ja-JP" sz="900" b="0" kern="1200">
                          <a:solidFill>
                            <a:srgbClr val="000000"/>
                          </a:solidFill>
                          <a:latin typeface="+mn-ea"/>
                          <a:ea typeface="+mn-ea"/>
                          <a:cs typeface="+mn-cs"/>
                        </a:rPr>
                        <a:t>ID225(BI</a:t>
                      </a:r>
                      <a:r>
                        <a:rPr kumimoji="1" lang="ja-JP" altLang="en-US" sz="900" b="0" kern="1200">
                          <a:solidFill>
                            <a:srgbClr val="000000"/>
                          </a:solidFill>
                          <a:latin typeface="+mn-ea"/>
                          <a:ea typeface="+mn-ea"/>
                          <a:cs typeface="+mn-cs"/>
                        </a:rPr>
                        <a:t>基盤活用による臨床情報の可視化</a:t>
                      </a:r>
                      <a:r>
                        <a:rPr kumimoji="1" lang="en-US" altLang="ja-JP" sz="900" b="0" kern="1200">
                          <a:solidFill>
                            <a:srgbClr val="000000"/>
                          </a:solidFill>
                          <a:latin typeface="+mn-ea"/>
                          <a:ea typeface="+mn-ea"/>
                          <a:cs typeface="+mn-cs"/>
                        </a:rPr>
                        <a:t>)</a:t>
                      </a:r>
                      <a:r>
                        <a:rPr kumimoji="1" lang="ja-JP" altLang="en-US" sz="900" b="0" kern="1200">
                          <a:solidFill>
                            <a:srgbClr val="000000"/>
                          </a:solidFill>
                          <a:latin typeface="+mn-ea"/>
                          <a:ea typeface="+mn-ea"/>
                          <a:cs typeface="+mn-cs"/>
                        </a:rPr>
                        <a:t>について厚労省から受けた照会事項への回答を別途会議を調整し、説明することとなったため。​</a:t>
                      </a:r>
                      <a:endParaRPr kumimoji="1" lang="en-US" altLang="ja-JP" sz="900" b="0" kern="1200">
                        <a:solidFill>
                          <a:srgbClr val="000000"/>
                        </a:solidFill>
                        <a:latin typeface="+mn-ea"/>
                        <a:ea typeface="+mn-ea"/>
                        <a:cs typeface="+mn-cs"/>
                      </a:endParaRPr>
                    </a:p>
                    <a:p>
                      <a:pPr marL="8890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br>
                        <a:rPr kumimoji="1" lang="en-US" altLang="ja-JP" sz="900" b="1" i="0" u="sng" strike="noStrike" kern="1200">
                          <a:solidFill>
                            <a:srgbClr val="000000"/>
                          </a:solidFill>
                          <a:latin typeface="+mn-ea"/>
                          <a:ea typeface="+mn-ea"/>
                          <a:cs typeface="+mn-cs"/>
                        </a:rPr>
                      </a:br>
                      <a:r>
                        <a:rPr kumimoji="1" lang="ja-JP" altLang="en-US" sz="900" b="0" i="0" u="none" strike="noStrike" kern="1200">
                          <a:solidFill>
                            <a:srgbClr val="000000"/>
                          </a:solidFill>
                          <a:latin typeface="+mn-ea"/>
                          <a:ea typeface="+mn-ea"/>
                          <a:cs typeface="+mn-cs"/>
                        </a:rPr>
                        <a:t>(続)</a:t>
                      </a:r>
                      <a:endParaRPr kumimoji="1" lang="en-US" altLang="ja-JP" sz="900" b="0" i="0" u="none" strike="noStrike" kern="120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特になし</a:t>
                      </a:r>
                      <a:endParaRPr lang="en-US" altLang="ja-JP" sz="900" b="0" i="0" u="none" strike="noStrike" kern="1200" noProof="0" dirty="0">
                        <a:solidFill>
                          <a:srgbClr val="000000"/>
                        </a:solidFill>
                        <a:latin typeface="+mn-ea"/>
                        <a:ea typeface="+mn-ea"/>
                        <a:cs typeface="Arial"/>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3959E60E-3900-9CFE-2737-BD816D967BD4}"/>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)(3/8)</a:t>
            </a:r>
            <a:endParaRPr lang="ja-JP" altLang="en-US" sz="2000">
              <a:solidFill>
                <a:schemeClr val="tx2">
                  <a:lumMod val="75000"/>
                </a:schemeClr>
              </a:solidFill>
            </a:endParaRPr>
          </a:p>
        </p:txBody>
      </p:sp>
    </p:spTree>
    <p:extLst>
      <p:ext uri="{BB962C8B-B14F-4D97-AF65-F5344CB8AC3E}">
        <p14:creationId xmlns:p14="http://schemas.microsoft.com/office/powerpoint/2010/main" val="567950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04B52-409F-68C5-E3F3-49DAFFFFD80E}"/>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E7A56179-5B5F-8398-2297-03960A659944}"/>
              </a:ext>
            </a:extLst>
          </p:cNvPr>
          <p:cNvGraphicFramePr>
            <a:graphicFrameLocks noGrp="1"/>
          </p:cNvGraphicFramePr>
          <p:nvPr>
            <p:extLst>
              <p:ext uri="{D42A27DB-BD31-4B8C-83A1-F6EECF244321}">
                <p14:modId xmlns:p14="http://schemas.microsoft.com/office/powerpoint/2010/main" val="4030013892"/>
              </p:ext>
            </p:extLst>
          </p:nvPr>
        </p:nvGraphicFramePr>
        <p:xfrm>
          <a:off x="453000" y="843756"/>
          <a:ext cx="9000001" cy="2835876"/>
        </p:xfrm>
        <a:graphic>
          <a:graphicData uri="http://schemas.openxmlformats.org/drawingml/2006/table">
            <a:tbl>
              <a:tblPr/>
              <a:tblGrid>
                <a:gridCol w="473868">
                  <a:extLst>
                    <a:ext uri="{9D8B030D-6E8A-4147-A177-3AD203B41FA5}">
                      <a16:colId xmlns:a16="http://schemas.microsoft.com/office/drawing/2014/main" val="3484704196"/>
                    </a:ext>
                  </a:extLst>
                </a:gridCol>
                <a:gridCol w="1121469">
                  <a:extLst>
                    <a:ext uri="{9D8B030D-6E8A-4147-A177-3AD203B41FA5}">
                      <a16:colId xmlns:a16="http://schemas.microsoft.com/office/drawing/2014/main" val="3863879091"/>
                    </a:ext>
                  </a:extLst>
                </a:gridCol>
                <a:gridCol w="5724063">
                  <a:extLst>
                    <a:ext uri="{9D8B030D-6E8A-4147-A177-3AD203B41FA5}">
                      <a16:colId xmlns:a16="http://schemas.microsoft.com/office/drawing/2014/main" val="99914978"/>
                    </a:ext>
                  </a:extLst>
                </a:gridCol>
                <a:gridCol w="1680601">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err="1">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540000">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87313"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0" i="0" u="none" strike="noStrike" kern="1200">
                          <a:solidFill>
                            <a:srgbClr val="000000"/>
                          </a:solidFill>
                          <a:latin typeface="+mn-ea"/>
                          <a:ea typeface="+mn-ea"/>
                          <a:cs typeface="+mn-cs"/>
                        </a:rPr>
                        <a:t>(</a:t>
                      </a:r>
                      <a:r>
                        <a:rPr kumimoji="1" lang="ja-JP" altLang="en-US" sz="900" b="0" i="0" u="none" strike="noStrike" kern="1200">
                          <a:solidFill>
                            <a:srgbClr val="000000"/>
                          </a:solidFill>
                          <a:latin typeface="+mn-ea"/>
                          <a:ea typeface="+mn-ea"/>
                          <a:cs typeface="+mn-cs"/>
                        </a:rPr>
                        <a:t>続</a:t>
                      </a:r>
                      <a:r>
                        <a:rPr kumimoji="1" lang="en-US" altLang="ja-JP" sz="900" b="0" i="0" u="none" strike="noStrike" kern="1200">
                          <a:solidFill>
                            <a:srgbClr val="000000"/>
                          </a:solidFill>
                          <a:latin typeface="+mn-ea"/>
                          <a:ea typeface="+mn-ea"/>
                          <a:cs typeface="+mn-cs"/>
                        </a:rPr>
                        <a:t>)</a:t>
                      </a:r>
                    </a:p>
                    <a:p>
                      <a:pPr marL="87313"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endParaRPr kumimoji="1" lang="en-US" altLang="ja-JP" sz="900" b="0" i="0" u="none" strike="noStrike" kern="1200">
                        <a:solidFill>
                          <a:srgbClr val="000000"/>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5</a:t>
                      </a:r>
                      <a:r>
                        <a:rPr kumimoji="1" lang="ja-JP" altLang="en-US" sz="900" b="1" i="0" u="sng" strike="noStrike" kern="1200">
                          <a:solidFill>
                            <a:srgbClr val="000000"/>
                          </a:solidFill>
                          <a:latin typeface="+mn-ea"/>
                          <a:ea typeface="+mn-ea"/>
                          <a:cs typeface="+mn-cs"/>
                        </a:rPr>
                        <a:t>．</a:t>
                      </a:r>
                      <a:r>
                        <a:rPr kumimoji="1" lang="en-US" altLang="ja-JP" sz="900" b="1" i="0" u="sng" strike="noStrike" kern="1200">
                          <a:solidFill>
                            <a:srgbClr val="000000"/>
                          </a:solidFill>
                          <a:latin typeface="+mn-ea"/>
                          <a:ea typeface="+mn-ea"/>
                          <a:cs typeface="+mn-cs"/>
                        </a:rPr>
                        <a:t>ToDo</a:t>
                      </a:r>
                      <a:r>
                        <a:rPr kumimoji="1" lang="ja-JP" altLang="en-US" sz="900" b="1" i="0" u="sng" strike="noStrike" kern="1200">
                          <a:solidFill>
                            <a:srgbClr val="000000"/>
                          </a:solidFill>
                          <a:latin typeface="+mn-ea"/>
                          <a:ea typeface="+mn-ea"/>
                          <a:cs typeface="+mn-cs"/>
                        </a:rPr>
                        <a:t>の期限延伸</a:t>
                      </a:r>
                      <a:endParaRPr kumimoji="1" lang="en-US" altLang="ja-JP" sz="900" b="1" i="0" u="sng" strike="noStrike" kern="120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#1213(</a:t>
                      </a:r>
                      <a:r>
                        <a:rPr kumimoji="1" lang="ja-JP" altLang="en-US" sz="900" b="0" kern="1200">
                          <a:solidFill>
                            <a:srgbClr val="000000"/>
                          </a:solidFill>
                          <a:latin typeface="+mn-ea"/>
                          <a:ea typeface="+mn-ea"/>
                          <a:cs typeface="+mn-cs"/>
                        </a:rPr>
                        <a:t>「②ステークホルダーへのデータ共有」について、厚労省職員の端末で</a:t>
                      </a:r>
                      <a:r>
                        <a:rPr kumimoji="1" lang="en-US" altLang="ja-JP" sz="900" b="0" kern="1200">
                          <a:solidFill>
                            <a:srgbClr val="000000"/>
                          </a:solidFill>
                          <a:latin typeface="+mn-ea"/>
                          <a:ea typeface="+mn-ea"/>
                          <a:cs typeface="+mn-cs"/>
                        </a:rPr>
                        <a:t>BI</a:t>
                      </a:r>
                      <a:r>
                        <a:rPr kumimoji="1" lang="ja-JP" altLang="en-US" sz="900" b="0" kern="1200">
                          <a:solidFill>
                            <a:srgbClr val="000000"/>
                          </a:solidFill>
                          <a:latin typeface="+mn-ea"/>
                          <a:ea typeface="+mn-ea"/>
                          <a:cs typeface="+mn-cs"/>
                        </a:rPr>
                        <a:t>ツールへアクセスする際のネットワーク形式を確認し、結果を基金に連携する。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2026/10/13</a:t>
                      </a:r>
                      <a:r>
                        <a:rPr kumimoji="1" lang="ja-JP" altLang="en-US" sz="900" b="0" kern="1200">
                          <a:solidFill>
                            <a:schemeClr val="tx1"/>
                          </a:solidFill>
                          <a:latin typeface="+mn-ea"/>
                          <a:ea typeface="+mn-ea"/>
                          <a:cs typeface="+mn-cs"/>
                        </a:rPr>
                        <a:t>→</a:t>
                      </a:r>
                      <a:r>
                        <a:rPr kumimoji="1" lang="en-US" altLang="ja-JP" sz="900" b="0" kern="1200">
                          <a:solidFill>
                            <a:schemeClr val="tx1"/>
                          </a:solidFill>
                          <a:latin typeface="+mn-ea"/>
                          <a:ea typeface="+mn-ea"/>
                          <a:cs typeface="+mn-cs"/>
                        </a:rPr>
                        <a:t>2026/10/19</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厚労省内での確認作業(</a:t>
                      </a:r>
                      <a:r>
                        <a:rPr kumimoji="1" lang="en-US" altLang="ja-JP" sz="900" b="0" kern="1200">
                          <a:solidFill>
                            <a:srgbClr val="000000"/>
                          </a:solidFill>
                          <a:latin typeface="+mn-ea"/>
                          <a:ea typeface="+mn-ea"/>
                          <a:cs typeface="+mn-cs"/>
                        </a:rPr>
                        <a:t>DX</a:t>
                      </a:r>
                      <a:r>
                        <a:rPr kumimoji="1" lang="ja-JP" altLang="en-US" sz="900" b="0" kern="1200">
                          <a:solidFill>
                            <a:srgbClr val="000000"/>
                          </a:solidFill>
                          <a:latin typeface="+mn-ea"/>
                          <a:ea typeface="+mn-ea"/>
                          <a:cs typeface="+mn-cs"/>
                        </a:rPr>
                        <a:t>機構への更問含む)に時間を要しているため。</a:t>
                      </a:r>
                      <a:endParaRPr kumimoji="1" lang="en-US" altLang="ja-JP" sz="900" b="0" kern="120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900" b="0" kern="1200">
                        <a:solidFill>
                          <a:srgbClr val="000000"/>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6</a:t>
                      </a:r>
                      <a:r>
                        <a:rPr kumimoji="1" lang="ja-JP" altLang="en-US" sz="900" b="1" i="0" u="sng" strike="noStrike" kern="1200">
                          <a:solidFill>
                            <a:srgbClr val="000000"/>
                          </a:solidFill>
                          <a:latin typeface="+mn-ea"/>
                          <a:ea typeface="+mn-ea"/>
                          <a:cs typeface="+mn-cs"/>
                        </a:rPr>
                        <a:t>．</a:t>
                      </a:r>
                      <a:r>
                        <a:rPr kumimoji="1" lang="en-US" altLang="ja-JP" sz="900" b="1" i="0" u="sng" strike="noStrike" kern="1200">
                          <a:solidFill>
                            <a:srgbClr val="000000"/>
                          </a:solidFill>
                          <a:latin typeface="+mn-ea"/>
                          <a:ea typeface="+mn-ea"/>
                          <a:cs typeface="+mn-cs"/>
                        </a:rPr>
                        <a:t>ToDo</a:t>
                      </a:r>
                      <a:r>
                        <a:rPr kumimoji="1" lang="ja-JP" altLang="en-US" sz="900" b="1" i="0" u="sng" strike="noStrike" kern="1200">
                          <a:solidFill>
                            <a:srgbClr val="000000"/>
                          </a:solidFill>
                          <a:latin typeface="+mn-ea"/>
                          <a:ea typeface="+mn-ea"/>
                          <a:cs typeface="+mn-cs"/>
                        </a:rPr>
                        <a:t>の取り下げ</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下記</a:t>
                      </a:r>
                      <a:r>
                        <a:rPr kumimoji="1" lang="en-US" altLang="ja-JP" sz="900" b="0" i="0" u="none" strike="noStrike" kern="1200">
                          <a:solidFill>
                            <a:srgbClr val="000000"/>
                          </a:solidFill>
                          <a:latin typeface="+mn-ea"/>
                          <a:ea typeface="+mn-ea"/>
                          <a:cs typeface="+mn-cs"/>
                        </a:rPr>
                        <a:t>ToDo</a:t>
                      </a:r>
                      <a:r>
                        <a:rPr kumimoji="1" lang="ja-JP" altLang="en-US" sz="900" b="0" i="0" u="none" strike="noStrike" kern="1200">
                          <a:solidFill>
                            <a:srgbClr val="000000"/>
                          </a:solidFill>
                          <a:latin typeface="+mn-ea"/>
                          <a:ea typeface="+mn-ea"/>
                          <a:cs typeface="+mn-cs"/>
                        </a:rPr>
                        <a:t>を取り下げる。</a:t>
                      </a:r>
                      <a:r>
                        <a:rPr kumimoji="1" lang="en-US" altLang="ja-JP" sz="900" b="0" i="0" u="none" strike="noStrike" kern="1200">
                          <a:solidFill>
                            <a:srgbClr val="000000"/>
                          </a:solidFill>
                          <a:latin typeface="+mn-ea"/>
                          <a:ea typeface="+mn-ea"/>
                          <a:cs typeface="+mn-cs"/>
                        </a:rPr>
                        <a:t>(1</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p>
                    <a:p>
                      <a:pPr marL="266700" marR="0" lvl="0" indent="-171450" algn="l" defTabSz="843930" rtl="0" eaLnBrk="1" fontAlgn="base" latinLnBrk="0" hangingPunct="1">
                        <a:lnSpc>
                          <a:spcPct val="12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#1206(</a:t>
                      </a:r>
                      <a:r>
                        <a:rPr kumimoji="1" lang="ja-JP" altLang="en-US" sz="900" kern="1200">
                          <a:solidFill>
                            <a:schemeClr val="tx1"/>
                          </a:solidFill>
                          <a:latin typeface="+mn-ea"/>
                          <a:ea typeface="+mn-ea"/>
                          <a:cs typeface="+mn-cs"/>
                        </a:rPr>
                        <a:t>医療機関で承継が発生した場合の患者サマリーの出力仕様の改修について、厚労省提示予定のあるべき姿を踏まえ、改修スケジュール及びマイナポータルを除く費用の見積もりを開発事業者より取得し、厚労省に報告する。</a:t>
                      </a:r>
                      <a:r>
                        <a:rPr kumimoji="1" lang="en-US" altLang="ja-JP" sz="900" kern="1200">
                          <a:solidFill>
                            <a:schemeClr val="tx1"/>
                          </a:solidFill>
                          <a:latin typeface="+mn-ea"/>
                          <a:ea typeface="+mn-ea"/>
                          <a:cs typeface="+mn-cs"/>
                        </a:rPr>
                        <a:t>)</a:t>
                      </a:r>
                      <a:br>
                        <a:rPr kumimoji="1" lang="ja-JP" altLang="en-US" sz="900" kern="1200"/>
                      </a:b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取り下げの背景</a:t>
                      </a:r>
                      <a:br>
                        <a:rPr kumimoji="1" lang="en-US" altLang="ja-JP" sz="900" kern="1200">
                          <a:solidFill>
                            <a:schemeClr val="tx1"/>
                          </a:solidFill>
                          <a:latin typeface="+mn-ea"/>
                          <a:ea typeface="+mn-ea"/>
                          <a:cs typeface="+mn-cs"/>
                        </a:rPr>
                      </a:br>
                      <a:r>
                        <a:rPr kumimoji="1" lang="en-US" altLang="ja-JP" sz="900" kern="1200">
                          <a:solidFill>
                            <a:schemeClr val="tx1"/>
                          </a:solidFill>
                          <a:latin typeface="+mn-ea"/>
                          <a:ea typeface="+mn-ea"/>
                          <a:cs typeface="+mn-cs"/>
                        </a:rPr>
                        <a:t>10/20</a:t>
                      </a:r>
                      <a:r>
                        <a:rPr kumimoji="1" lang="ja-JP" altLang="en-US" sz="900" kern="1200">
                          <a:solidFill>
                            <a:schemeClr val="tx1"/>
                          </a:solidFill>
                          <a:latin typeface="+mn-ea"/>
                          <a:ea typeface="+mn-ea"/>
                          <a:cs typeface="+mn-cs"/>
                        </a:rPr>
                        <a:t>調達委員会に付議予定であり、</a:t>
                      </a:r>
                      <a:r>
                        <a:rPr kumimoji="1" lang="en-US" altLang="ja-JP" sz="900" kern="1200">
                          <a:solidFill>
                            <a:schemeClr val="tx1"/>
                          </a:solidFill>
                          <a:latin typeface="+mn-ea"/>
                          <a:ea typeface="+mn-ea"/>
                          <a:cs typeface="+mn-cs"/>
                        </a:rPr>
                        <a:t>令和9年度</a:t>
                      </a:r>
                      <a:r>
                        <a:rPr kumimoji="1" lang="ja-JP" altLang="en-US" sz="900" kern="1200">
                          <a:solidFill>
                            <a:schemeClr val="tx1"/>
                          </a:solidFill>
                          <a:latin typeface="+mn-ea"/>
                          <a:ea typeface="+mn-ea"/>
                          <a:cs typeface="+mn-cs"/>
                        </a:rPr>
                        <a:t>案件として後続の対応を進めるため。</a:t>
                      </a:r>
                      <a:endParaRPr kumimoji="1" lang="en-US" altLang="ja-JP" sz="900" kern="1200">
                        <a:solidFill>
                          <a:schemeClr val="tx1"/>
                        </a:solidFill>
                        <a:latin typeface="+mn-ea"/>
                        <a:ea typeface="+mn-ea"/>
                        <a:cs typeface="+mn-cs"/>
                      </a:endParaRPr>
                    </a:p>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b="1" i="0" u="sng" strike="noStrike" kern="120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特になし</a:t>
                      </a:r>
                      <a:endParaRPr lang="en-US" altLang="ja-JP" sz="900" b="0" i="0" u="none" strike="noStrike" kern="1200" noProof="0" dirty="0">
                        <a:solidFill>
                          <a:srgbClr val="000000"/>
                        </a:solidFill>
                        <a:latin typeface="+mn-ea"/>
                        <a:ea typeface="+mn-ea"/>
                        <a:cs typeface="Arial"/>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E22A17B6-FD51-32E6-674D-D4C11FE40FA7}"/>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)(4/8)</a:t>
            </a:r>
            <a:endParaRPr lang="ja-JP" altLang="en-US" sz="2000">
              <a:solidFill>
                <a:schemeClr val="tx2">
                  <a:lumMod val="75000"/>
                </a:schemeClr>
              </a:solidFill>
            </a:endParaRPr>
          </a:p>
        </p:txBody>
      </p:sp>
    </p:spTree>
    <p:extLst>
      <p:ext uri="{BB962C8B-B14F-4D97-AF65-F5344CB8AC3E}">
        <p14:creationId xmlns:p14="http://schemas.microsoft.com/office/powerpoint/2010/main" val="18509245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8C5A0-68C9-1532-5AC3-B2CF14A3804E}"/>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8167E8D1-794B-1054-6A8A-AAC111B2148A}"/>
              </a:ext>
            </a:extLst>
          </p:cNvPr>
          <p:cNvGraphicFramePr>
            <a:graphicFrameLocks noGrp="1"/>
          </p:cNvGraphicFramePr>
          <p:nvPr>
            <p:extLst>
              <p:ext uri="{D42A27DB-BD31-4B8C-83A1-F6EECF244321}">
                <p14:modId xmlns:p14="http://schemas.microsoft.com/office/powerpoint/2010/main" val="3442433986"/>
              </p:ext>
            </p:extLst>
          </p:nvPr>
        </p:nvGraphicFramePr>
        <p:xfrm>
          <a:off x="453000" y="829318"/>
          <a:ext cx="9000000" cy="5276368"/>
        </p:xfrm>
        <a:graphic>
          <a:graphicData uri="http://schemas.openxmlformats.org/drawingml/2006/table">
            <a:tbl>
              <a:tblPr/>
              <a:tblGrid>
                <a:gridCol w="405741">
                  <a:extLst>
                    <a:ext uri="{9D8B030D-6E8A-4147-A177-3AD203B41FA5}">
                      <a16:colId xmlns:a16="http://schemas.microsoft.com/office/drawing/2014/main" val="3484704196"/>
                    </a:ext>
                  </a:extLst>
                </a:gridCol>
                <a:gridCol w="1717482">
                  <a:extLst>
                    <a:ext uri="{9D8B030D-6E8A-4147-A177-3AD203B41FA5}">
                      <a16:colId xmlns:a16="http://schemas.microsoft.com/office/drawing/2014/main" val="3863879091"/>
                    </a:ext>
                  </a:extLst>
                </a:gridCol>
                <a:gridCol w="4206240">
                  <a:extLst>
                    <a:ext uri="{9D8B030D-6E8A-4147-A177-3AD203B41FA5}">
                      <a16:colId xmlns:a16="http://schemas.microsoft.com/office/drawing/2014/main" val="99914978"/>
                    </a:ext>
                  </a:extLst>
                </a:gridCol>
                <a:gridCol w="2670537">
                  <a:extLst>
                    <a:ext uri="{9D8B030D-6E8A-4147-A177-3AD203B41FA5}">
                      <a16:colId xmlns:a16="http://schemas.microsoft.com/office/drawing/2014/main" val="2028788276"/>
                    </a:ext>
                  </a:extLst>
                </a:gridCol>
              </a:tblGrid>
              <a:tr h="0">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err="1">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0">
                <a:tc>
                  <a:txBody>
                    <a:bodyPr/>
                    <a:lstStyle/>
                    <a:p>
                      <a:pPr algn="ctr" fontAlgn="base">
                        <a:lnSpc>
                          <a:spcPts val="1200"/>
                        </a:lnSpc>
                      </a:pPr>
                      <a:r>
                        <a:rPr lang="en-US" altLang="ja-JP" sz="900" b="0" i="0">
                          <a:solidFill>
                            <a:srgbClr val="000000"/>
                          </a:solidFill>
                          <a:effectLst/>
                          <a:latin typeface="+mn-ea"/>
                          <a:ea typeface="+mn-ea"/>
                        </a:rPr>
                        <a:t>3</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令和</a:t>
                      </a:r>
                      <a:r>
                        <a:rPr kumimoji="1" lang="en-US" altLang="ja-JP" sz="900" b="0" i="0" kern="1200">
                          <a:solidFill>
                            <a:srgbClr val="000000"/>
                          </a:solidFill>
                          <a:effectLst/>
                          <a:latin typeface="+mn-ea"/>
                          <a:ea typeface="+mn-ea"/>
                          <a:cs typeface="+mn-cs"/>
                        </a:rPr>
                        <a:t>8</a:t>
                      </a:r>
                      <a:r>
                        <a:rPr kumimoji="1" lang="ja-JP" altLang="en-US" sz="900" b="0" i="0" kern="1200">
                          <a:solidFill>
                            <a:srgbClr val="000000"/>
                          </a:solidFill>
                          <a:effectLst/>
                          <a:latin typeface="+mn-ea"/>
                          <a:ea typeface="+mn-ea"/>
                          <a:cs typeface="+mn-cs"/>
                        </a:rPr>
                        <a:t>年度案件の概況</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特になし</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特になし</a:t>
                      </a:r>
                      <a:endParaRPr kumimoji="1" lang="en-US" altLang="ja-JP" sz="900" b="0" u="none" kern="1200">
                        <a:solidFill>
                          <a:schemeClr val="tx1"/>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39394603"/>
                  </a:ext>
                </a:extLst>
              </a:tr>
              <a:tr h="0">
                <a:tc>
                  <a:txBody>
                    <a:bodyPr/>
                    <a:lstStyle/>
                    <a:p>
                      <a:pPr lvl="0" algn="ctr">
                        <a:lnSpc>
                          <a:spcPts val="1200"/>
                        </a:lnSpc>
                        <a:buNone/>
                      </a:pPr>
                      <a:r>
                        <a:rPr lang="en-US" altLang="ja-JP" sz="900" b="0" i="0">
                          <a:solidFill>
                            <a:srgbClr val="000000"/>
                          </a:solidFill>
                          <a:effectLst/>
                          <a:latin typeface="+mn-ea"/>
                          <a:ea typeface="+mn-ea"/>
                        </a:rPr>
                        <a:t>4</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令和</a:t>
                      </a:r>
                      <a:r>
                        <a:rPr kumimoji="1" lang="en-US" altLang="ja-JP" sz="900" b="0">
                          <a:latin typeface="+mn-ea"/>
                          <a:ea typeface="+mn-ea"/>
                        </a:rPr>
                        <a:t>9</a:t>
                      </a:r>
                      <a:r>
                        <a:rPr kumimoji="1" lang="ja-JP" altLang="en-US" sz="900" b="0">
                          <a:latin typeface="+mn-ea"/>
                          <a:ea typeface="+mn-ea"/>
                        </a:rPr>
                        <a:t>年度案件の概況</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特になし</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特になし</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755467"/>
                  </a:ext>
                </a:extLst>
              </a:tr>
              <a:tr h="0">
                <a:tc>
                  <a:txBody>
                    <a:bodyPr/>
                    <a:lstStyle/>
                    <a:p>
                      <a:pPr lvl="0" algn="ctr">
                        <a:lnSpc>
                          <a:spcPts val="1200"/>
                        </a:lnSpc>
                        <a:buNone/>
                      </a:pPr>
                      <a:r>
                        <a:rPr lang="en-US" altLang="ja-JP" sz="900" b="0" i="0">
                          <a:solidFill>
                            <a:srgbClr val="000000"/>
                          </a:solidFill>
                          <a:effectLst/>
                          <a:latin typeface="+mn-ea"/>
                          <a:ea typeface="+mn-ea"/>
                        </a:rPr>
                        <a:t>5</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令和</a:t>
                      </a:r>
                      <a:r>
                        <a:rPr kumimoji="1" lang="en-US" altLang="ja-JP" sz="900" b="0">
                          <a:latin typeface="+mn-ea"/>
                          <a:ea typeface="+mn-ea"/>
                        </a:rPr>
                        <a:t>9</a:t>
                      </a:r>
                      <a:r>
                        <a:rPr kumimoji="1" lang="ja-JP" altLang="en-US" sz="900" b="0">
                          <a:latin typeface="+mn-ea"/>
                          <a:ea typeface="+mn-ea"/>
                        </a:rPr>
                        <a:t>年度開発向け要件整理案件の実施内容・進め方</a:t>
                      </a:r>
                      <a:r>
                        <a:rPr kumimoji="1" lang="en-US" altLang="ja-JP" sz="900" b="0">
                          <a:latin typeface="+mn-ea"/>
                          <a:ea typeface="+mn-ea"/>
                        </a:rPr>
                        <a:t>(</a:t>
                      </a:r>
                      <a:r>
                        <a:rPr kumimoji="1" lang="ja-JP" altLang="en-US" sz="900" b="0">
                          <a:latin typeface="+mn-ea"/>
                          <a:ea typeface="+mn-ea"/>
                        </a:rPr>
                        <a:t>続</a:t>
                      </a:r>
                      <a:r>
                        <a:rPr kumimoji="1" lang="en-US" altLang="ja-JP" sz="900" b="0">
                          <a:latin typeface="+mn-ea"/>
                          <a:ea typeface="+mn-ea"/>
                        </a:rPr>
                        <a:t>)​​</a:t>
                      </a:r>
                      <a:endParaRPr kumimoji="1" lang="ja-JP" altLang="en-US" sz="900" b="0">
                        <a:latin typeface="+mn-ea"/>
                        <a:ea typeface="+mn-ea"/>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1" indent="0" algn="l" defTabSz="843930" rtl="0" eaLnBrk="1" fontAlgn="base" latinLnBrk="0" hangingPunct="1">
                        <a:lnSpc>
                          <a:spcPct val="100000"/>
                        </a:lnSpc>
                        <a:spcBef>
                          <a:spcPts val="0"/>
                        </a:spcBef>
                        <a:spcAft>
                          <a:spcPts val="0"/>
                        </a:spcAft>
                        <a:buClrTx/>
                        <a:buSzTx/>
                        <a:buFont typeface="Meiryo UI" panose="020B0604030504040204" pitchFamily="50" charset="-128"/>
                        <a:buNone/>
                        <a:tabLst/>
                        <a:defRPr/>
                      </a:pPr>
                      <a:r>
                        <a:rPr kumimoji="1" lang="en-US" altLang="ja-JP" sz="900" b="1" u="sng" kern="1200">
                          <a:solidFill>
                            <a:schemeClr val="tx1"/>
                          </a:solidFill>
                          <a:latin typeface="+mn-ea"/>
                          <a:ea typeface="+mn-ea"/>
                          <a:cs typeface="+mn-cs"/>
                        </a:rPr>
                        <a:t>1</a:t>
                      </a:r>
                      <a:r>
                        <a:rPr kumimoji="1" lang="ja-JP" altLang="en-US" sz="900" b="1" i="0" u="sng" strike="noStrike" kern="1200">
                          <a:solidFill>
                            <a:srgbClr val="000000"/>
                          </a:solidFill>
                          <a:latin typeface="+mn-ea"/>
                          <a:ea typeface="+mn-ea"/>
                          <a:cs typeface="+mn-cs"/>
                        </a:rPr>
                        <a:t>．令和9年度開発向け要件整理案件の実施内容・進め方について</a:t>
                      </a:r>
                      <a:endParaRPr kumimoji="1" lang="en-US" altLang="ja-JP" sz="900" b="1" i="0" u="sng" strike="noStrike" kern="1200">
                        <a:solidFill>
                          <a:srgbClr val="000000"/>
                        </a:solidFill>
                        <a:latin typeface="+mn-ea"/>
                        <a:ea typeface="+mn-ea"/>
                        <a:cs typeface="+mn-cs"/>
                      </a:endParaRPr>
                    </a:p>
                    <a:p>
                      <a:pPr marL="0" marR="0" lvl="1" indent="0" algn="l" defTabSz="843930" rtl="0" eaLnBrk="1" fontAlgn="base" latinLnBrk="0" hangingPunct="1">
                        <a:lnSpc>
                          <a:spcPct val="100000"/>
                        </a:lnSpc>
                        <a:spcBef>
                          <a:spcPts val="0"/>
                        </a:spcBef>
                        <a:spcAft>
                          <a:spcPts val="0"/>
                        </a:spcAft>
                        <a:buClrTx/>
                        <a:buSzTx/>
                        <a:buFont typeface="Meiryo UI" panose="020B0604030504040204" pitchFamily="50" charset="-128"/>
                        <a:buNone/>
                        <a:tabLst/>
                        <a:defRPr/>
                      </a:pPr>
                      <a:r>
                        <a:rPr kumimoji="1" lang="ja-JP" altLang="en-US" sz="900" b="1" i="0" u="none" strike="noStrike" kern="1200">
                          <a:solidFill>
                            <a:srgbClr val="000000"/>
                          </a:solidFill>
                          <a:latin typeface="+mn-ea"/>
                          <a:ea typeface="+mn-ea"/>
                          <a:cs typeface="+mn-cs"/>
                        </a:rPr>
                        <a:t>■実施内容</a:t>
                      </a:r>
                      <a:endParaRPr kumimoji="1" lang="en-US" altLang="ja-JP" sz="900" b="1" i="0" u="none" strike="noStrike"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chemeClr val="tx1"/>
                          </a:solidFill>
                          <a:latin typeface="+mn-ea"/>
                          <a:ea typeface="+mn-ea"/>
                          <a:cs typeface="+mn-cs"/>
                        </a:rPr>
                        <a:t>令和</a:t>
                      </a:r>
                      <a:r>
                        <a:rPr kumimoji="1" lang="en-US" altLang="ja-JP" sz="900" b="0" i="0" u="none" strike="noStrike" kern="1200">
                          <a:solidFill>
                            <a:schemeClr val="tx1"/>
                          </a:solidFill>
                          <a:latin typeface="+mn-ea"/>
                          <a:ea typeface="+mn-ea"/>
                          <a:cs typeface="+mn-cs"/>
                        </a:rPr>
                        <a:t>9</a:t>
                      </a:r>
                      <a:r>
                        <a:rPr kumimoji="1" lang="ja-JP" altLang="en-US" sz="900" b="0" i="0" u="none" strike="noStrike" kern="1200">
                          <a:solidFill>
                            <a:schemeClr val="tx1"/>
                          </a:solidFill>
                          <a:latin typeface="+mn-ea"/>
                          <a:ea typeface="+mn-ea"/>
                          <a:cs typeface="+mn-cs"/>
                        </a:rPr>
                        <a:t>年度開発向け要件整理案件については、</a:t>
                      </a:r>
                      <a:r>
                        <a:rPr kumimoji="1" lang="en-US" altLang="ja-JP" sz="900" b="0" i="0" u="none" strike="noStrike" kern="1200">
                          <a:solidFill>
                            <a:schemeClr val="tx1"/>
                          </a:solidFill>
                          <a:latin typeface="+mn-ea"/>
                          <a:ea typeface="+mn-ea"/>
                          <a:cs typeface="+mn-cs"/>
                        </a:rPr>
                        <a:t>10/13</a:t>
                      </a:r>
                      <a:r>
                        <a:rPr kumimoji="1" lang="ja-JP" altLang="en-US" sz="900" b="0" i="0" u="none" strike="noStrike" kern="1200">
                          <a:solidFill>
                            <a:schemeClr val="tx1"/>
                          </a:solidFill>
                          <a:latin typeface="+mn-ea"/>
                          <a:ea typeface="+mn-ea"/>
                          <a:cs typeface="+mn-cs"/>
                        </a:rPr>
                        <a:t>開発課題検討会資料「開発課題検討会</a:t>
                      </a:r>
                      <a:r>
                        <a:rPr kumimoji="1" lang="en-US" altLang="ja-JP" sz="900" b="0" i="0" u="none" strike="noStrike" kern="1200">
                          <a:solidFill>
                            <a:schemeClr val="tx1"/>
                          </a:solidFill>
                          <a:latin typeface="+mn-ea"/>
                          <a:ea typeface="+mn-ea"/>
                          <a:cs typeface="+mn-cs"/>
                        </a:rPr>
                        <a:t>_20261013.pptx</a:t>
                      </a:r>
                      <a:r>
                        <a:rPr kumimoji="1" lang="ja-JP" altLang="en-US" sz="900" b="0" i="0" u="none" strike="noStrike" kern="1200">
                          <a:solidFill>
                            <a:schemeClr val="tx1"/>
                          </a:solidFill>
                          <a:latin typeface="+mn-ea"/>
                          <a:ea typeface="+mn-ea"/>
                          <a:cs typeface="+mn-cs"/>
                        </a:rPr>
                        <a:t>」の</a:t>
                      </a:r>
                      <a:r>
                        <a:rPr kumimoji="1" lang="en-US" altLang="ja-JP" sz="900" b="0" i="0" u="none" strike="noStrike" kern="1200">
                          <a:solidFill>
                            <a:schemeClr val="tx1"/>
                          </a:solidFill>
                          <a:latin typeface="+mn-ea"/>
                          <a:ea typeface="+mn-ea"/>
                          <a:cs typeface="+mn-cs"/>
                        </a:rPr>
                        <a:t>P15-16</a:t>
                      </a:r>
                      <a:r>
                        <a:rPr kumimoji="1" lang="ja-JP" altLang="en-US" sz="900" b="0" i="0" u="none" strike="noStrike" kern="1200">
                          <a:solidFill>
                            <a:schemeClr val="tx1"/>
                          </a:solidFill>
                          <a:latin typeface="+mn-ea"/>
                          <a:ea typeface="+mn-ea"/>
                          <a:cs typeface="+mn-cs"/>
                        </a:rPr>
                        <a:t>の実施内容を踏まえて要件整理を進める方針とする。なお、</a:t>
                      </a:r>
                      <a:r>
                        <a:rPr kumimoji="1" lang="en-US" altLang="ja-JP" sz="900" b="0" i="0" u="none" strike="noStrike" kern="1200">
                          <a:solidFill>
                            <a:schemeClr val="tx1"/>
                          </a:solidFill>
                          <a:latin typeface="+mn-ea"/>
                          <a:ea typeface="+mn-ea"/>
                          <a:cs typeface="+mn-cs"/>
                        </a:rPr>
                        <a:t>(1)～(4)</a:t>
                      </a:r>
                      <a:r>
                        <a:rPr kumimoji="1" lang="ja-JP" altLang="en-US" sz="900" b="0" i="0" u="none" strike="noStrike" kern="1200">
                          <a:solidFill>
                            <a:schemeClr val="tx1"/>
                          </a:solidFill>
                          <a:latin typeface="+mn-ea"/>
                          <a:ea typeface="+mn-ea"/>
                          <a:cs typeface="+mn-cs"/>
                        </a:rPr>
                        <a:t>の記載粒度は機能定義書相当とする。</a:t>
                      </a:r>
                      <a:endParaRPr kumimoji="1" lang="en-US" altLang="ja-JP" sz="900" b="0" i="0" u="none" strike="noStrike"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chemeClr val="tx1"/>
                          </a:solidFill>
                          <a:latin typeface="+mn-ea"/>
                          <a:ea typeface="+mn-ea"/>
                          <a:cs typeface="+mn-cs"/>
                        </a:rPr>
                        <a:t>要件整理案件の成果物については、</a:t>
                      </a:r>
                      <a:r>
                        <a:rPr kumimoji="1" lang="en-US" altLang="ja-JP" sz="900" b="0" i="0" u="none" strike="noStrike" kern="1200">
                          <a:solidFill>
                            <a:schemeClr val="tx1"/>
                          </a:solidFill>
                          <a:latin typeface="+mn-ea"/>
                          <a:ea typeface="+mn-ea"/>
                          <a:cs typeface="+mn-cs"/>
                        </a:rPr>
                        <a:t>10/13</a:t>
                      </a:r>
                      <a:r>
                        <a:rPr kumimoji="1" lang="ja-JP" altLang="en-US" sz="900" b="0" i="0" u="none" strike="noStrike" kern="1200">
                          <a:solidFill>
                            <a:schemeClr val="tx1"/>
                          </a:solidFill>
                          <a:latin typeface="+mn-ea"/>
                          <a:ea typeface="+mn-ea"/>
                          <a:cs typeface="+mn-cs"/>
                        </a:rPr>
                        <a:t>開発課題検討会資料「開発課題検討会</a:t>
                      </a:r>
                      <a:r>
                        <a:rPr kumimoji="1" lang="en-US" altLang="ja-JP" sz="900" b="0" i="0" u="none" strike="noStrike" kern="1200">
                          <a:solidFill>
                            <a:schemeClr val="tx1"/>
                          </a:solidFill>
                          <a:latin typeface="+mn-ea"/>
                          <a:ea typeface="+mn-ea"/>
                          <a:cs typeface="+mn-cs"/>
                        </a:rPr>
                        <a:t>_20261013.pptx</a:t>
                      </a:r>
                      <a:r>
                        <a:rPr kumimoji="1" lang="ja-JP" altLang="en-US" sz="900" b="0" i="0" u="none" strike="noStrike" kern="1200">
                          <a:solidFill>
                            <a:schemeClr val="tx1"/>
                          </a:solidFill>
                          <a:latin typeface="+mn-ea"/>
                          <a:ea typeface="+mn-ea"/>
                          <a:cs typeface="+mn-cs"/>
                        </a:rPr>
                        <a:t>」の</a:t>
                      </a:r>
                      <a:r>
                        <a:rPr kumimoji="1" lang="en-US" altLang="ja-JP" sz="900" b="0" i="0" u="none" strike="noStrike" kern="1200">
                          <a:solidFill>
                            <a:schemeClr val="tx1"/>
                          </a:solidFill>
                          <a:latin typeface="+mn-ea"/>
                          <a:ea typeface="+mn-ea"/>
                          <a:cs typeface="+mn-cs"/>
                        </a:rPr>
                        <a:t>P18</a:t>
                      </a:r>
                      <a:r>
                        <a:rPr kumimoji="1" lang="ja-JP" altLang="en-US" sz="900" b="0" i="0" u="none" strike="noStrike" kern="1200">
                          <a:solidFill>
                            <a:schemeClr val="tx1"/>
                          </a:solidFill>
                          <a:latin typeface="+mn-ea"/>
                          <a:ea typeface="+mn-ea"/>
                          <a:cs typeface="+mn-cs"/>
                        </a:rPr>
                        <a:t>の内容を基調とする。</a:t>
                      </a:r>
                      <a:endParaRPr kumimoji="1" lang="en-US" altLang="ja-JP" sz="900" b="0" i="0" u="none" strike="noStrike" kern="1200">
                        <a:solidFill>
                          <a:schemeClr val="tx1"/>
                        </a:solidFill>
                        <a:latin typeface="+mn-ea"/>
                        <a:ea typeface="+mn-ea"/>
                        <a:cs typeface="+mn-cs"/>
                      </a:endParaRPr>
                    </a:p>
                    <a:p>
                      <a:pPr marL="0" marR="0" lvl="1" indent="0" algn="l" defTabSz="843930" rtl="0" eaLnBrk="1" fontAlgn="base" latinLnBrk="0" hangingPunct="1">
                        <a:lnSpc>
                          <a:spcPct val="100000"/>
                        </a:lnSpc>
                        <a:spcBef>
                          <a:spcPts val="0"/>
                        </a:spcBef>
                        <a:spcAft>
                          <a:spcPts val="0"/>
                        </a:spcAft>
                        <a:buClrTx/>
                        <a:buSzTx/>
                        <a:buFont typeface="Meiryo UI" panose="020B0604030504040204" pitchFamily="50" charset="-128"/>
                        <a:buNone/>
                        <a:tabLst/>
                        <a:defRPr/>
                      </a:pPr>
                      <a:r>
                        <a:rPr kumimoji="1" lang="ja-JP" altLang="en-US" sz="900" b="1" i="0" u="none" strike="noStrike" kern="1200">
                          <a:solidFill>
                            <a:schemeClr val="tx1"/>
                          </a:solidFill>
                          <a:latin typeface="+mn-ea"/>
                          <a:ea typeface="+mn-ea"/>
                          <a:cs typeface="+mn-cs"/>
                        </a:rPr>
                        <a:t>■スケジュール・進め方</a:t>
                      </a:r>
                      <a:endParaRPr kumimoji="1" lang="en-US" altLang="ja-JP" sz="900" b="1" u="none"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令和</a:t>
                      </a:r>
                      <a:r>
                        <a:rPr kumimoji="1" lang="en-US" altLang="ja-JP" sz="900" b="0" u="none" kern="1200">
                          <a:solidFill>
                            <a:schemeClr val="tx1"/>
                          </a:solidFill>
                          <a:latin typeface="+mn-ea"/>
                          <a:ea typeface="+mn-ea"/>
                          <a:cs typeface="+mn-cs"/>
                        </a:rPr>
                        <a:t>9</a:t>
                      </a:r>
                      <a:r>
                        <a:rPr kumimoji="1" lang="ja-JP" altLang="en-US" sz="900" b="0" u="none" kern="1200">
                          <a:solidFill>
                            <a:schemeClr val="tx1"/>
                          </a:solidFill>
                          <a:latin typeface="+mn-ea"/>
                          <a:ea typeface="+mn-ea"/>
                          <a:cs typeface="+mn-cs"/>
                        </a:rPr>
                        <a:t>年度</a:t>
                      </a:r>
                      <a:r>
                        <a:rPr kumimoji="1" lang="en-US" altLang="ja-JP" sz="900" b="0" u="none" kern="1200">
                          <a:solidFill>
                            <a:schemeClr val="tx1"/>
                          </a:solidFill>
                          <a:latin typeface="+mn-ea"/>
                          <a:ea typeface="+mn-ea"/>
                          <a:cs typeface="+mn-cs"/>
                        </a:rPr>
                        <a:t>12</a:t>
                      </a:r>
                      <a:r>
                        <a:rPr kumimoji="1" lang="ja-JP" altLang="en-US" sz="900" b="0" u="none" kern="1200">
                          <a:solidFill>
                            <a:schemeClr val="tx1"/>
                          </a:solidFill>
                          <a:latin typeface="+mn-ea"/>
                          <a:ea typeface="+mn-ea"/>
                          <a:cs typeface="+mn-cs"/>
                        </a:rPr>
                        <a:t>月リリース対象案件は、要件整理結果及び見積もり結果を踏まえて精査し、令和8年度3月の調達委員会で付議する方針とする。詳細なスケジュールは</a:t>
                      </a:r>
                      <a:r>
                        <a:rPr kumimoji="1" lang="en-US" altLang="ja-JP" sz="900" b="0" i="0" u="none" strike="noStrike" kern="1200">
                          <a:solidFill>
                            <a:schemeClr val="tx1"/>
                          </a:solidFill>
                          <a:latin typeface="+mn-ea"/>
                          <a:ea typeface="+mn-ea"/>
                          <a:cs typeface="+mn-cs"/>
                        </a:rPr>
                        <a:t>10/13</a:t>
                      </a:r>
                      <a:r>
                        <a:rPr kumimoji="1" lang="ja-JP" altLang="en-US" sz="900" b="0" i="0" u="none" strike="noStrike" kern="1200">
                          <a:solidFill>
                            <a:schemeClr val="tx1"/>
                          </a:solidFill>
                          <a:latin typeface="+mn-ea"/>
                          <a:ea typeface="+mn-ea"/>
                          <a:cs typeface="+mn-cs"/>
                        </a:rPr>
                        <a:t>開発課題検討会資料「開発課題検討会</a:t>
                      </a:r>
                      <a:r>
                        <a:rPr kumimoji="1" lang="en-US" altLang="ja-JP" sz="900" b="0" i="0" u="none" strike="noStrike" kern="1200">
                          <a:solidFill>
                            <a:schemeClr val="tx1"/>
                          </a:solidFill>
                          <a:latin typeface="+mn-ea"/>
                          <a:ea typeface="+mn-ea"/>
                          <a:cs typeface="+mn-cs"/>
                        </a:rPr>
                        <a:t>_20261013.pptx</a:t>
                      </a:r>
                      <a:r>
                        <a:rPr kumimoji="1" lang="ja-JP" altLang="en-US" sz="900" b="0" i="0" u="none" strike="noStrike" kern="1200">
                          <a:solidFill>
                            <a:schemeClr val="tx1"/>
                          </a:solidFill>
                          <a:latin typeface="+mn-ea"/>
                          <a:ea typeface="+mn-ea"/>
                          <a:cs typeface="+mn-cs"/>
                        </a:rPr>
                        <a:t>」の</a:t>
                      </a:r>
                      <a:r>
                        <a:rPr kumimoji="1" lang="en-US" altLang="ja-JP" sz="900" b="0" u="none" kern="1200">
                          <a:solidFill>
                            <a:schemeClr val="tx1"/>
                          </a:solidFill>
                          <a:latin typeface="+mn-ea"/>
                          <a:ea typeface="+mn-ea"/>
                          <a:cs typeface="+mn-cs"/>
                        </a:rPr>
                        <a:t>P17</a:t>
                      </a:r>
                      <a:r>
                        <a:rPr kumimoji="1" lang="ja-JP" altLang="en-US" sz="900" b="0" u="none" kern="1200">
                          <a:solidFill>
                            <a:schemeClr val="tx1"/>
                          </a:solidFill>
                          <a:latin typeface="+mn-ea"/>
                          <a:ea typeface="+mn-ea"/>
                          <a:cs typeface="+mn-cs"/>
                        </a:rPr>
                        <a:t>に記載。</a:t>
                      </a:r>
                      <a:endParaRPr kumimoji="1" lang="en-US" altLang="ja-JP" sz="900" b="0" u="none"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endParaRPr kumimoji="1" lang="en-US" altLang="ja-JP" sz="900" b="0" u="none"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en-US" altLang="ja-JP" sz="900" b="0" u="none" kern="1200">
                          <a:solidFill>
                            <a:schemeClr val="tx1"/>
                          </a:solidFill>
                          <a:latin typeface="+mn-ea"/>
                          <a:ea typeface="+mn-ea"/>
                          <a:cs typeface="+mn-cs"/>
                        </a:rPr>
                        <a:t>10/20</a:t>
                      </a:r>
                      <a:r>
                        <a:rPr kumimoji="1" lang="ja-JP" altLang="en-US" sz="900" b="0" u="none" kern="1200">
                          <a:solidFill>
                            <a:schemeClr val="tx1"/>
                          </a:solidFill>
                          <a:latin typeface="+mn-ea"/>
                          <a:ea typeface="+mn-ea"/>
                          <a:cs typeface="+mn-cs"/>
                        </a:rPr>
                        <a:t>の調達委員会時点で概要を提示可能な案件について、以下の方針で進める。</a:t>
                      </a:r>
                      <a:endParaRPr kumimoji="1" lang="en-US" altLang="ja-JP" sz="900" b="0" u="none" kern="1200">
                        <a:solidFill>
                          <a:schemeClr val="tx1"/>
                        </a:solidFill>
                        <a:latin typeface="+mn-ea"/>
                        <a:ea typeface="+mn-ea"/>
                        <a:cs typeface="+mn-cs"/>
                      </a:endParaRPr>
                    </a:p>
                    <a:p>
                      <a:pPr marL="265113" marR="0" lvl="1" indent="-77788"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900" b="0" u="none" kern="1200">
                          <a:solidFill>
                            <a:schemeClr val="tx1"/>
                          </a:solidFill>
                          <a:latin typeface="+mn-ea"/>
                          <a:ea typeface="+mn-ea"/>
                          <a:cs typeface="+mn-cs"/>
                        </a:rPr>
                        <a:t>優先度「高」・「中」の案件は、開発事業者による要件整理の着手前(</a:t>
                      </a:r>
                      <a:r>
                        <a:rPr kumimoji="1" lang="en-US" altLang="ja-JP" sz="900" b="0" u="none" kern="1200">
                          <a:solidFill>
                            <a:schemeClr val="tx1"/>
                          </a:solidFill>
                          <a:latin typeface="+mn-ea"/>
                          <a:ea typeface="+mn-ea"/>
                          <a:cs typeface="+mn-cs"/>
                        </a:rPr>
                        <a:t>11/16</a:t>
                      </a:r>
                      <a:r>
                        <a:rPr kumimoji="1" lang="ja-JP" altLang="en-US" sz="900" b="0" u="none" kern="1200">
                          <a:solidFill>
                            <a:schemeClr val="tx1"/>
                          </a:solidFill>
                          <a:latin typeface="+mn-ea"/>
                          <a:ea typeface="+mn-ea"/>
                          <a:cs typeface="+mn-cs"/>
                        </a:rPr>
                        <a:t>開発課題検討会を目安)に厚労省から要求事項を連携する。</a:t>
                      </a:r>
                      <a:endParaRPr kumimoji="1" lang="en-US" altLang="ja-JP" sz="900" b="0" u="none" kern="1200">
                        <a:solidFill>
                          <a:schemeClr val="tx1"/>
                        </a:solidFill>
                        <a:latin typeface="+mn-ea"/>
                        <a:ea typeface="+mn-ea"/>
                        <a:cs typeface="+mn-cs"/>
                      </a:endParaRPr>
                    </a:p>
                    <a:p>
                      <a:pPr marL="265113" marR="0" lvl="1" indent="-77788"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900" b="0" u="none" kern="1200">
                          <a:solidFill>
                            <a:schemeClr val="tx1"/>
                          </a:solidFill>
                          <a:latin typeface="+mn-ea"/>
                          <a:ea typeface="+mn-ea"/>
                          <a:cs typeface="+mn-cs"/>
                        </a:rPr>
                        <a:t>各案件の要件の認識齟齬や検討漏れを防止するため、中間成果物を厚労省・</a:t>
                      </a:r>
                      <a:r>
                        <a:rPr kumimoji="1" lang="en-US" altLang="ja-JP" sz="900" b="0" u="none" kern="1200">
                          <a:solidFill>
                            <a:schemeClr val="tx1"/>
                          </a:solidFill>
                          <a:latin typeface="+mn-ea"/>
                          <a:ea typeface="+mn-ea"/>
                          <a:cs typeface="+mn-cs"/>
                        </a:rPr>
                        <a:t>DX</a:t>
                      </a:r>
                      <a:r>
                        <a:rPr kumimoji="1" lang="ja-JP" altLang="en-US" sz="900" b="0" u="none" kern="1200">
                          <a:solidFill>
                            <a:schemeClr val="tx1"/>
                          </a:solidFill>
                          <a:latin typeface="+mn-ea"/>
                          <a:ea typeface="+mn-ea"/>
                          <a:cs typeface="+mn-cs"/>
                        </a:rPr>
                        <a:t>機構の双方で確認するプロセスとする。なお、中間成果物の提示時期は令和</a:t>
                      </a:r>
                      <a:r>
                        <a:rPr kumimoji="1" lang="en-US" altLang="ja-JP" sz="900" b="0" u="none" kern="1200">
                          <a:solidFill>
                            <a:schemeClr val="tx1"/>
                          </a:solidFill>
                          <a:latin typeface="+mn-ea"/>
                          <a:ea typeface="+mn-ea"/>
                          <a:cs typeface="+mn-cs"/>
                        </a:rPr>
                        <a:t>8</a:t>
                      </a:r>
                      <a:r>
                        <a:rPr kumimoji="1" lang="ja-JP" altLang="en-US" sz="900" b="0" u="none" kern="1200">
                          <a:solidFill>
                            <a:schemeClr val="tx1"/>
                          </a:solidFill>
                          <a:latin typeface="+mn-ea"/>
                          <a:ea typeface="+mn-ea"/>
                          <a:cs typeface="+mn-cs"/>
                        </a:rPr>
                        <a:t>年度</a:t>
                      </a:r>
                      <a:r>
                        <a:rPr kumimoji="1" lang="en-US" altLang="ja-JP" sz="900" b="0" u="none" kern="1200">
                          <a:solidFill>
                            <a:schemeClr val="tx1"/>
                          </a:solidFill>
                          <a:latin typeface="+mn-ea"/>
                          <a:ea typeface="+mn-ea"/>
                          <a:cs typeface="+mn-cs"/>
                        </a:rPr>
                        <a:t>1</a:t>
                      </a:r>
                      <a:r>
                        <a:rPr kumimoji="1" lang="ja-JP" altLang="en-US" sz="900" b="0" u="none" kern="1200">
                          <a:solidFill>
                            <a:schemeClr val="tx1"/>
                          </a:solidFill>
                          <a:latin typeface="+mn-ea"/>
                          <a:ea typeface="+mn-ea"/>
                          <a:cs typeface="+mn-cs"/>
                        </a:rPr>
                        <a:t>月中旬を目安とし、要件整理が完了した案件から随時確認する。</a:t>
                      </a:r>
                      <a:endParaRPr kumimoji="1" lang="en-US" altLang="ja-JP" sz="900" b="0" u="none" kern="1200">
                        <a:solidFill>
                          <a:schemeClr val="tx1"/>
                        </a:solidFill>
                        <a:latin typeface="+mn-ea"/>
                        <a:ea typeface="+mn-ea"/>
                        <a:cs typeface="+mn-cs"/>
                      </a:endParaRPr>
                    </a:p>
                    <a:p>
                      <a:pPr marL="265113" marR="0" lvl="1" indent="-77788"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900" b="0" u="none"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案件</a:t>
                      </a:r>
                      <a:r>
                        <a:rPr kumimoji="1" lang="en-US" altLang="ja-JP" sz="900" b="0" u="none" kern="1200">
                          <a:solidFill>
                            <a:schemeClr val="tx1"/>
                          </a:solidFill>
                          <a:latin typeface="+mn-ea"/>
                          <a:ea typeface="+mn-ea"/>
                          <a:cs typeface="+mn-cs"/>
                        </a:rPr>
                        <a:t>ID215(</a:t>
                      </a:r>
                      <a:r>
                        <a:rPr kumimoji="1" lang="ja-JP" altLang="en-US" sz="900" b="0" u="none" kern="1200">
                          <a:solidFill>
                            <a:schemeClr val="tx1"/>
                          </a:solidFill>
                          <a:latin typeface="+mn-ea"/>
                          <a:ea typeface="+mn-ea"/>
                          <a:cs typeface="+mn-cs"/>
                        </a:rPr>
                        <a:t>保険医療機関(歯科)の診療情報提供書</a:t>
                      </a:r>
                      <a:r>
                        <a:rPr kumimoji="1" lang="en-US" altLang="ja-JP" sz="900" b="0" u="none" kern="1200">
                          <a:solidFill>
                            <a:schemeClr val="tx1"/>
                          </a:solidFill>
                          <a:latin typeface="+mn-ea"/>
                          <a:ea typeface="+mn-ea"/>
                          <a:cs typeface="+mn-cs"/>
                        </a:rPr>
                        <a:t>)</a:t>
                      </a:r>
                      <a:r>
                        <a:rPr kumimoji="1" lang="ja-JP" altLang="en-US" sz="900" b="0" u="none" kern="1200">
                          <a:solidFill>
                            <a:schemeClr val="tx1"/>
                          </a:solidFill>
                          <a:latin typeface="+mn-ea"/>
                          <a:ea typeface="+mn-ea"/>
                          <a:cs typeface="+mn-cs"/>
                        </a:rPr>
                        <a:t>は最優先とし、厚労省による要求事項の提示及び開発事業者による要件整理を最優先で進める。令和8年度1月公開予定の技術解説書に歯科の診療情報提供書の内容</a:t>
                      </a:r>
                      <a:r>
                        <a:rPr kumimoji="1" lang="en-US" altLang="ja-JP" sz="900" b="0" u="none" kern="1200">
                          <a:solidFill>
                            <a:schemeClr val="tx1"/>
                          </a:solidFill>
                          <a:latin typeface="+mn-ea"/>
                          <a:ea typeface="+mn-ea"/>
                          <a:cs typeface="+mn-cs"/>
                        </a:rPr>
                        <a:t>(</a:t>
                      </a:r>
                      <a:r>
                        <a:rPr kumimoji="1" lang="ja-JP" altLang="en-US" sz="900" b="0" u="none" kern="1200">
                          <a:solidFill>
                            <a:schemeClr val="tx1"/>
                          </a:solidFill>
                          <a:latin typeface="+mn-ea"/>
                          <a:ea typeface="+mn-ea"/>
                          <a:cs typeface="+mn-cs"/>
                        </a:rPr>
                        <a:t>暫定</a:t>
                      </a:r>
                      <a:r>
                        <a:rPr kumimoji="1" lang="en-US" altLang="ja-JP" sz="900" b="0" u="none" kern="1200">
                          <a:solidFill>
                            <a:schemeClr val="tx1"/>
                          </a:solidFill>
                          <a:latin typeface="+mn-ea"/>
                          <a:ea typeface="+mn-ea"/>
                          <a:cs typeface="+mn-cs"/>
                        </a:rPr>
                        <a:t>)</a:t>
                      </a:r>
                      <a:r>
                        <a:rPr kumimoji="1" lang="ja-JP" altLang="en-US" sz="900" b="0" u="none" kern="1200">
                          <a:solidFill>
                            <a:schemeClr val="tx1"/>
                          </a:solidFill>
                          <a:latin typeface="+mn-ea"/>
                          <a:ea typeface="+mn-ea"/>
                          <a:cs typeface="+mn-cs"/>
                        </a:rPr>
                        <a:t>を記載予定であることを踏まえて、当該案件の中間成果物の提示時期は令和8年度12月中旬を目安とする。確定できていない内容についても、開発事業者は「未確定」と明記した上で中間成果物に記載する。</a:t>
                      </a:r>
                      <a:endParaRPr kumimoji="1" lang="en-US" altLang="ja-JP" sz="900" b="0" u="none"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endParaRPr kumimoji="1" lang="ja-JP" altLang="en-US" sz="900" b="0" u="none" kern="1200">
                        <a:solidFill>
                          <a:schemeClr val="tx1"/>
                        </a:solidFill>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特になし</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41365043"/>
                  </a:ext>
                </a:extLst>
              </a:tr>
              <a:tr h="0">
                <a:tc>
                  <a:txBody>
                    <a:bodyPr/>
                    <a:lstStyle/>
                    <a:p>
                      <a:pPr lvl="0" algn="ctr">
                        <a:lnSpc>
                          <a:spcPts val="1200"/>
                        </a:lnSpc>
                        <a:buNone/>
                      </a:pPr>
                      <a:r>
                        <a:rPr lang="en-US" altLang="ja-JP" sz="900" b="0" i="0">
                          <a:solidFill>
                            <a:srgbClr val="000000"/>
                          </a:solidFill>
                          <a:effectLst/>
                          <a:latin typeface="+mn-ea"/>
                          <a:ea typeface="+mn-ea"/>
                        </a:rPr>
                        <a:t>6</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受入テストシナリオの厚労省レビューに向けた事前説明の内容確認</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1" indent="0" algn="l" defTabSz="843930" rtl="0" eaLnBrk="1" fontAlgn="base" latinLnBrk="0" hangingPunct="1">
                        <a:lnSpc>
                          <a:spcPct val="10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1</a:t>
                      </a:r>
                      <a:r>
                        <a:rPr kumimoji="1" lang="ja-JP" altLang="en-US" sz="900" b="1" i="0" u="sng" strike="noStrike" kern="1200">
                          <a:solidFill>
                            <a:srgbClr val="000000"/>
                          </a:solidFill>
                          <a:latin typeface="+mn-ea"/>
                          <a:ea typeface="+mn-ea"/>
                          <a:cs typeface="+mn-cs"/>
                        </a:rPr>
                        <a:t>．受入テストシナリオの厚労省レビューに向けた事前説明の内容確認について</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受入テストシナリオの厚労省レビューに向けた事前説明の資料は</a:t>
                      </a:r>
                      <a:r>
                        <a:rPr kumimoji="0" lang="en-US" altLang="ja-JP" sz="900" b="0" i="0" u="none" strike="noStrike" kern="0" cap="none" spc="0" normalizeH="0" baseline="0" noProof="0">
                          <a:ln>
                            <a:noFill/>
                          </a:ln>
                          <a:solidFill>
                            <a:srgbClr val="000000"/>
                          </a:solidFill>
                          <a:effectLst/>
                          <a:uLnTx/>
                          <a:uFillTx/>
                          <a:latin typeface="+mn-ea"/>
                          <a:ea typeface="+mn-ea"/>
                          <a:cs typeface="+mn-cs"/>
                        </a:rPr>
                        <a:t>10/13</a:t>
                      </a:r>
                      <a:r>
                        <a:rPr kumimoji="0" lang="ja-JP" altLang="en-US" sz="900" b="0" i="0" u="none" strike="noStrike" kern="0" cap="none" spc="0" normalizeH="0" baseline="0" noProof="0">
                          <a:ln>
                            <a:noFill/>
                          </a:ln>
                          <a:solidFill>
                            <a:srgbClr val="000000"/>
                          </a:solidFill>
                          <a:effectLst/>
                          <a:uLnTx/>
                          <a:uFillTx/>
                          <a:latin typeface="+mn-ea"/>
                          <a:ea typeface="+mn-ea"/>
                          <a:cs typeface="+mn-cs"/>
                        </a:rPr>
                        <a:t>開発課題検討会別紙</a:t>
                      </a:r>
                      <a:r>
                        <a:rPr kumimoji="0" lang="en-US" altLang="ja-JP" sz="900" b="0" i="0" u="none" strike="noStrike" kern="0" cap="none" spc="0" normalizeH="0" baseline="0" noProof="0">
                          <a:ln>
                            <a:noFill/>
                          </a:ln>
                          <a:solidFill>
                            <a:srgbClr val="000000"/>
                          </a:solidFill>
                          <a:effectLst/>
                          <a:uLnTx/>
                          <a:uFillTx/>
                          <a:latin typeface="+mn-ea"/>
                          <a:ea typeface="+mn-ea"/>
                          <a:cs typeface="+mn-cs"/>
                        </a:rPr>
                        <a:t>1</a:t>
                      </a:r>
                      <a:r>
                        <a:rPr kumimoji="0" lang="en-US" altLang="ja-JP" sz="900" b="0" i="0" u="none" strike="noStrike" kern="0" cap="none" spc="0" normalizeH="0" baseline="30000" noProof="0">
                          <a:ln>
                            <a:noFill/>
                          </a:ln>
                          <a:solidFill>
                            <a:srgbClr val="000000"/>
                          </a:solidFill>
                          <a:effectLst/>
                          <a:uLnTx/>
                          <a:uFillTx/>
                          <a:latin typeface="+mn-ea"/>
                          <a:ea typeface="+mn-ea"/>
                          <a:cs typeface="+mn-cs"/>
                        </a:rPr>
                        <a:t>※</a:t>
                      </a:r>
                      <a:r>
                        <a:rPr kumimoji="0" lang="ja-JP" altLang="en-US" sz="900" b="0" i="0" u="none" strike="noStrike" kern="0" cap="none" spc="0" normalizeH="0" baseline="0" noProof="0">
                          <a:ln>
                            <a:noFill/>
                          </a:ln>
                          <a:solidFill>
                            <a:srgbClr val="000000"/>
                          </a:solidFill>
                          <a:effectLst/>
                          <a:uLnTx/>
                          <a:uFillTx/>
                          <a:latin typeface="+mn-ea"/>
                          <a:ea typeface="+mn-ea"/>
                          <a:cs typeface="+mn-cs"/>
                        </a:rPr>
                        <a:t>の構成とする。</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p>
                      <a:pPr marL="180975" marR="0" lvl="1" indent="0" algn="l" defTabSz="843930" rtl="0" eaLnBrk="1" fontAlgn="base" latinLnBrk="0" hangingPunct="1">
                        <a:lnSpc>
                          <a:spcPct val="100000"/>
                        </a:lnSpc>
                        <a:spcBef>
                          <a:spcPts val="0"/>
                        </a:spcBef>
                        <a:spcAft>
                          <a:spcPts val="0"/>
                        </a:spcAft>
                        <a:buClrTx/>
                        <a:buSzTx/>
                        <a:buFont typeface="Wingdings" panose="05000000000000000000" pitchFamily="2" charset="2"/>
                        <a:buNone/>
                        <a:tabLst/>
                        <a:defRPr/>
                      </a:pPr>
                      <a:r>
                        <a:rPr kumimoji="0" lang="en-US" altLang="ja-JP" sz="900" b="0" i="0" u="none" strike="noStrike" kern="0" cap="none" spc="0" normalizeH="0" baseline="0" noProof="0">
                          <a:ln>
                            <a:noFill/>
                          </a:ln>
                          <a:solidFill>
                            <a:srgbClr val="000000"/>
                          </a:solidFill>
                          <a:effectLst/>
                          <a:uLnTx/>
                          <a:uFillTx/>
                          <a:latin typeface="+mn-ea"/>
                          <a:ea typeface="+mn-ea"/>
                          <a:cs typeface="+mn-cs"/>
                        </a:rPr>
                        <a:t>※</a:t>
                      </a:r>
                      <a:r>
                        <a:rPr kumimoji="0" lang="ja-JP" altLang="en-US" sz="900" b="0" i="0" u="none" strike="noStrike" kern="0" cap="none" spc="0" normalizeH="0" baseline="0" noProof="0">
                          <a:ln>
                            <a:noFill/>
                          </a:ln>
                          <a:solidFill>
                            <a:srgbClr val="000000"/>
                          </a:solidFill>
                          <a:effectLst/>
                          <a:uLnTx/>
                          <a:uFillTx/>
                          <a:latin typeface="+mn-ea"/>
                          <a:ea typeface="+mn-ea"/>
                          <a:cs typeface="+mn-cs"/>
                        </a:rPr>
                        <a:t>別紙</a:t>
                      </a:r>
                      <a:r>
                        <a:rPr kumimoji="0" lang="en-US" altLang="ja-JP" sz="900" b="0" i="0" u="none" strike="noStrike" kern="0" cap="none" spc="0" normalizeH="0" baseline="0" noProof="0">
                          <a:ln>
                            <a:noFill/>
                          </a:ln>
                          <a:solidFill>
                            <a:srgbClr val="000000"/>
                          </a:solidFill>
                          <a:effectLst/>
                          <a:uLnTx/>
                          <a:uFillTx/>
                          <a:latin typeface="+mn-ea"/>
                          <a:ea typeface="+mn-ea"/>
                          <a:cs typeface="+mn-cs"/>
                        </a:rPr>
                        <a:t>_</a:t>
                      </a:r>
                      <a:r>
                        <a:rPr kumimoji="0" lang="ja-JP" altLang="en-US" sz="900" b="0" i="0" u="none" strike="noStrike" kern="0" cap="none" spc="0" normalizeH="0" baseline="0" noProof="0">
                          <a:ln>
                            <a:noFill/>
                          </a:ln>
                          <a:solidFill>
                            <a:srgbClr val="000000"/>
                          </a:solidFill>
                          <a:effectLst/>
                          <a:uLnTx/>
                          <a:uFillTx/>
                          <a:latin typeface="+mn-ea"/>
                          <a:ea typeface="+mn-ea"/>
                          <a:cs typeface="+mn-cs"/>
                        </a:rPr>
                        <a:t>受入テスト</a:t>
                      </a:r>
                      <a:r>
                        <a:rPr kumimoji="0" lang="en-US" altLang="ja-JP" sz="900" b="0" i="0" u="none" strike="noStrike" kern="0" cap="none" spc="0" normalizeH="0" baseline="0" noProof="0">
                          <a:ln>
                            <a:noFill/>
                          </a:ln>
                          <a:solidFill>
                            <a:srgbClr val="000000"/>
                          </a:solidFill>
                          <a:effectLst/>
                          <a:uLnTx/>
                          <a:uFillTx/>
                          <a:latin typeface="+mn-ea"/>
                          <a:ea typeface="+mn-ea"/>
                          <a:cs typeface="+mn-cs"/>
                        </a:rPr>
                        <a:t>_</a:t>
                      </a:r>
                      <a:r>
                        <a:rPr kumimoji="0" lang="ja-JP" altLang="en-US" sz="900" b="0" i="0" u="none" strike="noStrike" kern="0" cap="none" spc="0" normalizeH="0" baseline="0" noProof="0">
                          <a:ln>
                            <a:noFill/>
                          </a:ln>
                          <a:solidFill>
                            <a:srgbClr val="000000"/>
                          </a:solidFill>
                          <a:effectLst/>
                          <a:uLnTx/>
                          <a:uFillTx/>
                          <a:latin typeface="+mn-ea"/>
                          <a:ea typeface="+mn-ea"/>
                          <a:cs typeface="+mn-cs"/>
                        </a:rPr>
                        <a:t>案件別シナリオ作成方針（厚労省説明用）</a:t>
                      </a:r>
                      <a:r>
                        <a:rPr kumimoji="0" lang="en-US" altLang="ja-JP" sz="900" b="0" i="0" u="none" strike="noStrike" kern="0" cap="none" spc="0" normalizeH="0" baseline="0" noProof="0">
                          <a:ln>
                            <a:noFill/>
                          </a:ln>
                          <a:solidFill>
                            <a:srgbClr val="000000"/>
                          </a:solidFill>
                          <a:effectLst/>
                          <a:uLnTx/>
                          <a:uFillTx/>
                          <a:latin typeface="+mn-ea"/>
                          <a:ea typeface="+mn-ea"/>
                          <a:cs typeface="+mn-cs"/>
                        </a:rPr>
                        <a:t>_20261009.xlsx</a:t>
                      </a: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受入テストシナリオの厚労省レビューに向けた事前説明は、</a:t>
                      </a:r>
                      <a:r>
                        <a:rPr kumimoji="0" lang="en-US" altLang="ja-JP" sz="900" b="0" i="0" u="none" strike="noStrike" kern="0" cap="none" spc="0" normalizeH="0" baseline="0" noProof="0">
                          <a:ln>
                            <a:noFill/>
                          </a:ln>
                          <a:solidFill>
                            <a:srgbClr val="000000"/>
                          </a:solidFill>
                          <a:effectLst/>
                          <a:uLnTx/>
                          <a:uFillTx/>
                          <a:latin typeface="+mn-ea"/>
                          <a:ea typeface="+mn-ea"/>
                          <a:cs typeface="+mn-cs"/>
                        </a:rPr>
                        <a:t>10/19</a:t>
                      </a:r>
                      <a:r>
                        <a:rPr kumimoji="0" lang="ja-JP" altLang="en-US" sz="900" b="0" i="0" u="none" strike="noStrike" kern="0" cap="none" spc="0" normalizeH="0" baseline="0" noProof="0">
                          <a:ln>
                            <a:noFill/>
                          </a:ln>
                          <a:solidFill>
                            <a:srgbClr val="000000"/>
                          </a:solidFill>
                          <a:effectLst/>
                          <a:uLnTx/>
                          <a:uFillTx/>
                          <a:latin typeface="+mn-ea"/>
                          <a:ea typeface="+mn-ea"/>
                          <a:cs typeface="+mn-cs"/>
                        </a:rPr>
                        <a:t>の開発課題検討会内で実施する。</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dirty="0">
                          <a:ln>
                            <a:noFill/>
                          </a:ln>
                          <a:solidFill>
                            <a:srgbClr val="000000"/>
                          </a:solidFill>
                          <a:effectLst/>
                          <a:uLnTx/>
                          <a:uFillTx/>
                          <a:latin typeface="+mn-ea"/>
                          <a:ea typeface="+mn-ea"/>
                          <a:cs typeface="+mn-cs"/>
                        </a:rPr>
                        <a:t>特になし</a:t>
                      </a: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85519564"/>
                  </a:ext>
                </a:extLst>
              </a:tr>
            </a:tbl>
          </a:graphicData>
        </a:graphic>
      </p:graphicFrame>
      <p:sp>
        <p:nvSpPr>
          <p:cNvPr id="4" name="タイトル 1">
            <a:extLst>
              <a:ext uri="{FF2B5EF4-FFF2-40B4-BE49-F238E27FC236}">
                <a16:creationId xmlns:a16="http://schemas.microsoft.com/office/drawing/2014/main" id="{0F9D5437-F140-15AC-1609-48303C937A97}"/>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)(5/8)</a:t>
            </a:r>
            <a:endParaRPr lang="ja-JP" altLang="en-US" sz="2000">
              <a:solidFill>
                <a:schemeClr val="tx2">
                  <a:lumMod val="75000"/>
                </a:schemeClr>
              </a:solidFill>
            </a:endParaRPr>
          </a:p>
        </p:txBody>
      </p:sp>
    </p:spTree>
    <p:extLst>
      <p:ext uri="{BB962C8B-B14F-4D97-AF65-F5344CB8AC3E}">
        <p14:creationId xmlns:p14="http://schemas.microsoft.com/office/powerpoint/2010/main" val="3525237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B44FA-1039-2EC0-4FA0-3C879E9DF9DA}"/>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2EDC25F3-A412-E392-7392-DC8883C05272}"/>
              </a:ext>
            </a:extLst>
          </p:cNvPr>
          <p:cNvGraphicFramePr>
            <a:graphicFrameLocks noGrp="1"/>
          </p:cNvGraphicFramePr>
          <p:nvPr>
            <p:extLst>
              <p:ext uri="{D42A27DB-BD31-4B8C-83A1-F6EECF244321}">
                <p14:modId xmlns:p14="http://schemas.microsoft.com/office/powerpoint/2010/main" val="348662805"/>
              </p:ext>
            </p:extLst>
          </p:nvPr>
        </p:nvGraphicFramePr>
        <p:xfrm>
          <a:off x="453000" y="829318"/>
          <a:ext cx="9000000" cy="4956708"/>
        </p:xfrm>
        <a:graphic>
          <a:graphicData uri="http://schemas.openxmlformats.org/drawingml/2006/table">
            <a:tbl>
              <a:tblPr/>
              <a:tblGrid>
                <a:gridCol w="405741">
                  <a:extLst>
                    <a:ext uri="{9D8B030D-6E8A-4147-A177-3AD203B41FA5}">
                      <a16:colId xmlns:a16="http://schemas.microsoft.com/office/drawing/2014/main" val="3484704196"/>
                    </a:ext>
                  </a:extLst>
                </a:gridCol>
                <a:gridCol w="1717482">
                  <a:extLst>
                    <a:ext uri="{9D8B030D-6E8A-4147-A177-3AD203B41FA5}">
                      <a16:colId xmlns:a16="http://schemas.microsoft.com/office/drawing/2014/main" val="3863879091"/>
                    </a:ext>
                  </a:extLst>
                </a:gridCol>
                <a:gridCol w="2910177">
                  <a:extLst>
                    <a:ext uri="{9D8B030D-6E8A-4147-A177-3AD203B41FA5}">
                      <a16:colId xmlns:a16="http://schemas.microsoft.com/office/drawing/2014/main" val="99914978"/>
                    </a:ext>
                  </a:extLst>
                </a:gridCol>
                <a:gridCol w="3966600">
                  <a:extLst>
                    <a:ext uri="{9D8B030D-6E8A-4147-A177-3AD203B41FA5}">
                      <a16:colId xmlns:a16="http://schemas.microsoft.com/office/drawing/2014/main" val="2028788276"/>
                    </a:ext>
                  </a:extLst>
                </a:gridCol>
              </a:tblGrid>
              <a:tr h="196023">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err="1">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574428">
                <a:tc>
                  <a:txBody>
                    <a:bodyPr/>
                    <a:lstStyle/>
                    <a:p>
                      <a:pPr lvl="0" algn="ctr">
                        <a:lnSpc>
                          <a:spcPts val="1200"/>
                        </a:lnSpc>
                        <a:buNone/>
                      </a:pPr>
                      <a:r>
                        <a:rPr lang="en-US" altLang="ja-JP" sz="900" b="0" i="0">
                          <a:solidFill>
                            <a:srgbClr val="000000"/>
                          </a:solidFill>
                          <a:effectLst/>
                          <a:latin typeface="+mn-ea"/>
                          <a:ea typeface="+mn-ea"/>
                        </a:rPr>
                        <a:t>7</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医介連携におけるランニングコスト按分のための統計ログ出力機能の集計期間</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特になし</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lang="ja-JP" altLang="ja-JP" sz="900">
                          <a:effectLst/>
                        </a:rPr>
                        <a:t>医療機関間連携にて用いている既存の統計ログファイルを</a:t>
                      </a:r>
                      <a:r>
                        <a:rPr lang="ja-JP" altLang="en-US" sz="900">
                          <a:effectLst/>
                        </a:rPr>
                        <a:t>ベースに、</a:t>
                      </a:r>
                      <a:r>
                        <a:rPr lang="ja-JP" altLang="ja-JP" sz="900">
                          <a:effectLst/>
                        </a:rPr>
                        <a:t>医療介護連携</a:t>
                      </a:r>
                      <a:r>
                        <a:rPr lang="ja-JP" altLang="en-US" sz="900">
                          <a:effectLst/>
                        </a:rPr>
                        <a:t>向けの</a:t>
                      </a:r>
                      <a:r>
                        <a:rPr lang="ja-JP" altLang="ja-JP" sz="900">
                          <a:effectLst/>
                        </a:rPr>
                        <a:t>追加・変更等を反映した統計ログファイル一覧を</a:t>
                      </a:r>
                      <a:r>
                        <a:rPr lang="ja-JP" altLang="en-US" sz="900">
                          <a:effectLst/>
                        </a:rPr>
                        <a:t>作成し、</a:t>
                      </a:r>
                      <a:r>
                        <a:rPr lang="ja-JP" altLang="ja-JP" sz="900">
                          <a:effectLst/>
                        </a:rPr>
                        <a:t>厚労省に連携する</a:t>
                      </a:r>
                      <a:r>
                        <a:rPr lang="ja-JP" altLang="en-US" sz="900">
                          <a:effectLst/>
                        </a:rPr>
                        <a:t>。</a:t>
                      </a:r>
                      <a:r>
                        <a:rPr kumimoji="1" lang="en-US" altLang="ja-JP" sz="900" b="0" u="none" kern="1200">
                          <a:solidFill>
                            <a:schemeClr val="tx1"/>
                          </a:solidFill>
                          <a:latin typeface="+mn-ea"/>
                          <a:ea typeface="+mn-ea"/>
                          <a:cs typeface="+mn-cs"/>
                        </a:rPr>
                        <a:t>【DX機構 10/14】</a:t>
                      </a:r>
                      <a:br>
                        <a:rPr kumimoji="1" lang="en-US" altLang="ja-JP" sz="900" b="0" u="none" kern="1200">
                          <a:solidFill>
                            <a:srgbClr val="000000"/>
                          </a:solidFill>
                          <a:latin typeface="+mn-ea"/>
                          <a:ea typeface="+mn-ea"/>
                          <a:cs typeface="+mn-cs"/>
                        </a:rPr>
                      </a:br>
                      <a:endParaRPr kumimoji="1" lang="en-US" altLang="ja-JP" sz="900" b="0" u="none" kern="1200">
                        <a:solidFill>
                          <a:srgbClr val="000000"/>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介護事業所宛て診療情報提供書の電子的連携における電子カルテ情報共有サービスのランニングコストの按分算出に向け、</a:t>
                      </a:r>
                      <a:r>
                        <a:rPr kumimoji="1" lang="en-US" altLang="ja-JP" sz="900" b="0" u="none" kern="1200">
                          <a:solidFill>
                            <a:schemeClr val="tx1"/>
                          </a:solidFill>
                          <a:latin typeface="+mn-ea"/>
                          <a:ea typeface="+mn-ea"/>
                          <a:cs typeface="+mn-cs"/>
                        </a:rPr>
                        <a:t>DX</a:t>
                      </a:r>
                      <a:r>
                        <a:rPr kumimoji="1" lang="ja-JP" altLang="en-US" sz="900" b="0" u="none" kern="1200">
                          <a:solidFill>
                            <a:schemeClr val="tx1"/>
                          </a:solidFill>
                          <a:latin typeface="+mn-ea"/>
                          <a:ea typeface="+mn-ea"/>
                          <a:cs typeface="+mn-cs"/>
                        </a:rPr>
                        <a:t>機構から厚労省に連携する医療介護連携向けの統計ログファイル一覧に対する追加ファイルの要否を確認する。</a:t>
                      </a:r>
                      <a:r>
                        <a:rPr kumimoji="1" lang="en-US" altLang="ja-JP" sz="900" b="0" u="none" kern="1200">
                          <a:solidFill>
                            <a:schemeClr val="tx1"/>
                          </a:solidFill>
                          <a:latin typeface="+mn-ea"/>
                          <a:ea typeface="+mn-ea"/>
                          <a:cs typeface="+mn-cs"/>
                        </a:rPr>
                        <a:t>【</a:t>
                      </a:r>
                      <a:r>
                        <a:rPr kumimoji="1" lang="ja-JP" altLang="en-US" sz="900" b="0" u="none" kern="1200">
                          <a:solidFill>
                            <a:schemeClr val="tx1"/>
                          </a:solidFill>
                          <a:latin typeface="+mn-ea"/>
                          <a:ea typeface="+mn-ea"/>
                          <a:cs typeface="+mn-cs"/>
                        </a:rPr>
                        <a:t>厚労省 </a:t>
                      </a:r>
                      <a:r>
                        <a:rPr kumimoji="1" lang="en-US" altLang="ja-JP" sz="900" b="0" u="none" kern="1200">
                          <a:solidFill>
                            <a:schemeClr val="tx1"/>
                          </a:solidFill>
                          <a:latin typeface="+mn-ea"/>
                          <a:ea typeface="+mn-ea"/>
                          <a:cs typeface="+mn-cs"/>
                        </a:rPr>
                        <a:t>10/19】</a:t>
                      </a: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endParaRPr kumimoji="1" lang="en-US" altLang="ja-JP" sz="900" b="0" u="none"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介護事業所宛て診療情報提供書の電子的連携における電子カルテ情報共有サービスのランニングコストの按分算出に向け、電子カルテ情報共有サービスにおける</a:t>
                      </a:r>
                      <a:r>
                        <a:rPr kumimoji="1" lang="en-US" altLang="ja-JP" sz="900" b="0" u="none" kern="1200">
                          <a:solidFill>
                            <a:schemeClr val="tx1"/>
                          </a:solidFill>
                          <a:latin typeface="+mn-ea"/>
                          <a:ea typeface="+mn-ea"/>
                          <a:cs typeface="+mn-cs"/>
                        </a:rPr>
                        <a:t>IF</a:t>
                      </a:r>
                      <a:r>
                        <a:rPr kumimoji="1" lang="ja-JP" altLang="en-US" sz="900" b="0" u="none" kern="1200">
                          <a:solidFill>
                            <a:schemeClr val="tx1"/>
                          </a:solidFill>
                          <a:latin typeface="+mn-ea"/>
                          <a:ea typeface="+mn-ea"/>
                          <a:cs typeface="+mn-cs"/>
                        </a:rPr>
                        <a:t>処理件数の集計算出をいつまでに開始すべきか検討し、その結果を</a:t>
                      </a:r>
                      <a:r>
                        <a:rPr kumimoji="1" lang="en-US" altLang="ja-JP" sz="900" b="0" u="none" kern="1200">
                          <a:solidFill>
                            <a:schemeClr val="tx1"/>
                          </a:solidFill>
                          <a:latin typeface="+mn-ea"/>
                          <a:ea typeface="+mn-ea"/>
                          <a:cs typeface="+mn-cs"/>
                        </a:rPr>
                        <a:t>DX機構に連携する</a:t>
                      </a:r>
                      <a:r>
                        <a:rPr kumimoji="1" lang="ja-JP" altLang="en-US" sz="900" b="0" u="none" kern="1200">
                          <a:solidFill>
                            <a:schemeClr val="tx1"/>
                          </a:solidFill>
                          <a:latin typeface="+mn-ea"/>
                          <a:ea typeface="+mn-ea"/>
                          <a:cs typeface="+mn-cs"/>
                        </a:rPr>
                        <a:t>。</a:t>
                      </a:r>
                      <a:r>
                        <a:rPr kumimoji="1" lang="en-US" altLang="ja-JP" sz="900" b="0" u="none" kern="1200">
                          <a:solidFill>
                            <a:schemeClr val="tx1"/>
                          </a:solidFill>
                          <a:latin typeface="+mn-ea"/>
                          <a:ea typeface="+mn-ea"/>
                          <a:cs typeface="+mn-cs"/>
                        </a:rPr>
                        <a:t>【</a:t>
                      </a:r>
                      <a:r>
                        <a:rPr kumimoji="1" lang="ja-JP" altLang="en-US" sz="900" b="0" u="none" kern="1200">
                          <a:solidFill>
                            <a:schemeClr val="tx1"/>
                          </a:solidFill>
                          <a:latin typeface="+mn-ea"/>
                          <a:ea typeface="+mn-ea"/>
                          <a:cs typeface="+mn-cs"/>
                        </a:rPr>
                        <a:t>厚労省 </a:t>
                      </a:r>
                      <a:r>
                        <a:rPr kumimoji="1" lang="en-US" altLang="ja-JP" sz="900" b="0" u="none" kern="1200">
                          <a:solidFill>
                            <a:schemeClr val="tx1"/>
                          </a:solidFill>
                          <a:latin typeface="+mn-ea"/>
                          <a:ea typeface="+mn-ea"/>
                          <a:cs typeface="+mn-cs"/>
                        </a:rPr>
                        <a:t>10/19】</a:t>
                      </a:r>
                    </a:p>
                    <a:p>
                      <a:pPr marL="0" marR="0" lvl="1" indent="0" algn="l" defTabSz="843930" rtl="0" eaLnBrk="1" fontAlgn="base" latinLnBrk="0" hangingPunct="1">
                        <a:lnSpc>
                          <a:spcPct val="100000"/>
                        </a:lnSpc>
                        <a:spcBef>
                          <a:spcPts val="0"/>
                        </a:spcBef>
                        <a:spcAft>
                          <a:spcPts val="0"/>
                        </a:spcAft>
                        <a:buClrTx/>
                        <a:buSzTx/>
                        <a:buFont typeface="Wingdings" panose="05000000000000000000" pitchFamily="2" charset="2"/>
                        <a:buNone/>
                        <a:tabLst/>
                        <a:defRPr/>
                      </a:pPr>
                      <a:endParaRPr kumimoji="1" lang="en-US" altLang="ja-JP" sz="900" b="0" u="none"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介護事業所宛て診療情報提供書の電子的連携における電子カルテ情報共有サービスのランニングコストの按分算出に向け、電子カルテ情報共有サービスでの</a:t>
                      </a:r>
                      <a:r>
                        <a:rPr kumimoji="1" lang="en-US" altLang="ja-JP" sz="900" b="0" u="none" kern="1200">
                          <a:solidFill>
                            <a:schemeClr val="tx1"/>
                          </a:solidFill>
                          <a:latin typeface="+mn-ea"/>
                          <a:ea typeface="+mn-ea"/>
                          <a:cs typeface="+mn-cs"/>
                        </a:rPr>
                        <a:t>IF処理件数</a:t>
                      </a:r>
                      <a:r>
                        <a:rPr kumimoji="1" lang="ja-JP" altLang="en-US" sz="900" b="0" u="none" kern="1200">
                          <a:solidFill>
                            <a:schemeClr val="tx1"/>
                          </a:solidFill>
                          <a:latin typeface="+mn-ea"/>
                          <a:ea typeface="+mn-ea"/>
                          <a:cs typeface="+mn-cs"/>
                        </a:rPr>
                        <a:t>の集計期間をどの程度とするか検討し、検討結果を</a:t>
                      </a:r>
                      <a:r>
                        <a:rPr kumimoji="1" lang="en-US" altLang="ja-JP" sz="900" b="0" u="none" kern="1200">
                          <a:solidFill>
                            <a:schemeClr val="tx1"/>
                          </a:solidFill>
                          <a:latin typeface="+mn-ea"/>
                          <a:ea typeface="+mn-ea"/>
                          <a:cs typeface="+mn-cs"/>
                        </a:rPr>
                        <a:t>DX</a:t>
                      </a:r>
                      <a:r>
                        <a:rPr kumimoji="1" lang="ja-JP" altLang="en-US" sz="900" b="0" u="none" kern="1200">
                          <a:solidFill>
                            <a:schemeClr val="tx1"/>
                          </a:solidFill>
                          <a:latin typeface="+mn-ea"/>
                          <a:ea typeface="+mn-ea"/>
                          <a:cs typeface="+mn-cs"/>
                        </a:rPr>
                        <a:t>機構に連携する。</a:t>
                      </a:r>
                      <a:r>
                        <a:rPr kumimoji="1" lang="en-US" altLang="ja-JP" sz="900" b="0" u="none" kern="1200">
                          <a:solidFill>
                            <a:schemeClr val="tx1"/>
                          </a:solidFill>
                          <a:latin typeface="+mn-ea"/>
                          <a:ea typeface="+mn-ea"/>
                          <a:cs typeface="+mn-cs"/>
                        </a:rPr>
                        <a:t>【</a:t>
                      </a:r>
                      <a:r>
                        <a:rPr kumimoji="1" lang="ja-JP" altLang="en-US" sz="900" b="0" u="none" kern="1200">
                          <a:solidFill>
                            <a:schemeClr val="tx1"/>
                          </a:solidFill>
                          <a:latin typeface="+mn-ea"/>
                          <a:ea typeface="+mn-ea"/>
                          <a:cs typeface="+mn-cs"/>
                        </a:rPr>
                        <a:t>厚労省 </a:t>
                      </a:r>
                      <a:r>
                        <a:rPr kumimoji="1" lang="en-US" altLang="ja-JP" sz="900" b="0" u="none" kern="1200">
                          <a:solidFill>
                            <a:schemeClr val="tx1"/>
                          </a:solidFill>
                          <a:latin typeface="+mn-ea"/>
                          <a:ea typeface="+mn-ea"/>
                          <a:cs typeface="+mn-cs"/>
                        </a:rPr>
                        <a:t>10/19】</a:t>
                      </a: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endParaRPr kumimoji="1" lang="en-US" altLang="ja-JP" sz="900" b="0" u="none" kern="1200">
                        <a:solidFill>
                          <a:schemeClr val="tx1"/>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4419682"/>
                  </a:ext>
                </a:extLst>
              </a:tr>
              <a:tr h="574428">
                <a:tc>
                  <a:txBody>
                    <a:bodyPr/>
                    <a:lstStyle/>
                    <a:p>
                      <a:pPr lvl="0" algn="ctr">
                        <a:lnSpc>
                          <a:spcPts val="1200"/>
                        </a:lnSpc>
                        <a:buNone/>
                      </a:pPr>
                      <a:r>
                        <a:rPr lang="en-US" altLang="ja-JP" sz="900" b="0" i="0">
                          <a:solidFill>
                            <a:srgbClr val="000000"/>
                          </a:solidFill>
                          <a:effectLst/>
                          <a:latin typeface="+mn-ea"/>
                          <a:ea typeface="+mn-ea"/>
                        </a:rPr>
                        <a:t>8</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ct val="100000"/>
                        </a:lnSpc>
                        <a:spcBef>
                          <a:spcPts val="0"/>
                        </a:spcBef>
                        <a:spcAft>
                          <a:spcPts val="0"/>
                        </a:spcAft>
                        <a:buClrTx/>
                        <a:buSzTx/>
                        <a:buFontTx/>
                        <a:buNone/>
                        <a:tabLst/>
                        <a:defRPr/>
                      </a:pPr>
                      <a:r>
                        <a:rPr kumimoji="1" lang="ja-JP" altLang="en-US" sz="900" b="0">
                          <a:latin typeface="+mn-ea"/>
                          <a:ea typeface="+mn-ea"/>
                        </a:rPr>
                        <a:t>厚労省アジェンダ</a:t>
                      </a:r>
                      <a:r>
                        <a:rPr kumimoji="1" lang="en-US" altLang="ja-JP" sz="900" b="0">
                          <a:latin typeface="+mn-ea"/>
                          <a:ea typeface="+mn-ea"/>
                        </a:rPr>
                        <a:t>_</a:t>
                      </a:r>
                      <a:r>
                        <a:rPr kumimoji="1" lang="ja-JP" altLang="en-US" sz="900" b="0">
                          <a:latin typeface="+mn-ea"/>
                          <a:ea typeface="+mn-ea"/>
                        </a:rPr>
                        <a:t>口頭同意に係る体制整備状況に係る医療機関の自己申告について</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lang="en-US" altLang="ja-JP" sz="900" b="0" i="0" u="none" strike="noStrike" kern="0" cap="none" spc="0" normalizeH="0" baseline="0" noProof="0">
                          <a:ln>
                            <a:noFill/>
                          </a:ln>
                          <a:solidFill>
                            <a:srgbClr val="000000"/>
                          </a:solidFill>
                          <a:effectLst/>
                          <a:uLnTx/>
                          <a:uFillTx/>
                          <a:latin typeface="+mn-ea"/>
                          <a:ea typeface="+mn-ea"/>
                          <a:cs typeface="+mn-cs"/>
                        </a:rPr>
                        <a:t>特になし</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kern="1200" noProof="0" dirty="0">
                          <a:solidFill>
                            <a:schemeClr val="tx1"/>
                          </a:solidFill>
                          <a:latin typeface="+mn-ea"/>
                          <a:ea typeface="+mn-ea"/>
                          <a:cs typeface="+mn-cs"/>
                        </a:rPr>
                        <a:t>医療機関が口頭同意の体制整備状況を自己申告する媒体としてポータルサイトを用いる場合の開発フィージビリティについて、以下を開発事業者に確認し、確認結果を厚労省に連携する。</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【DX</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機構 </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10/19】</a:t>
                      </a:r>
                      <a:endParaRPr kumimoji="1" lang="en-US" altLang="ja-JP" sz="900" b="0" kern="1200" noProof="0" dirty="0">
                        <a:solidFill>
                          <a:schemeClr val="tx1"/>
                        </a:solidFill>
                        <a:latin typeface="+mn-ea"/>
                        <a:ea typeface="+mn-ea"/>
                        <a:cs typeface="+mn-cs"/>
                      </a:endParaRPr>
                    </a:p>
                    <a:p>
                      <a:pPr marL="269875" marR="0" lvl="1" indent="-87313"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b="0" i="0" u="none" strike="noStrike" kern="0" cap="none" spc="0" normalizeH="0" baseline="0" noProof="0" dirty="0">
                          <a:ln>
                            <a:noFill/>
                          </a:ln>
                          <a:solidFill>
                            <a:srgbClr val="000000"/>
                          </a:solidFill>
                          <a:effectLst/>
                          <a:uLnTx/>
                          <a:uFillTx/>
                          <a:latin typeface="+mn-ea"/>
                          <a:ea typeface="+mn-ea"/>
                          <a:cs typeface="+mn-cs"/>
                        </a:rPr>
                        <a:t>運用開始日登録画面へのチェックボックスの追加可否及び令和</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8</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年度</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3</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月リリースでの対応可否を確認する。難しい場合は令和</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9</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年度</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12</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月リリース以前での対応可否を確認する。</a:t>
                      </a: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p>
                      <a:pPr marL="269875" marR="0" lvl="1" indent="-87313"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b="0" i="0" u="none" strike="noStrike" kern="0" cap="none" spc="0" normalizeH="0" baseline="0" noProof="0" dirty="0">
                          <a:ln>
                            <a:noFill/>
                          </a:ln>
                          <a:solidFill>
                            <a:srgbClr val="000000"/>
                          </a:solidFill>
                          <a:effectLst/>
                          <a:uLnTx/>
                          <a:uFillTx/>
                          <a:latin typeface="+mn-ea"/>
                          <a:ea typeface="+mn-ea"/>
                          <a:cs typeface="+mn-cs"/>
                        </a:rPr>
                        <a:t>一括申請画面へのチェックボックスの追加※可否及び令和</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8</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年度</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3</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月リリースでの対応可否を確認する。</a:t>
                      </a: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p>
                      <a:pPr marL="266700" marR="0" lvl="1"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当該チェックボックスにチェックが入っていない場合は、運用開始日を登録できないよう制御する。</a:t>
                      </a: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p>
                      <a:pPr marL="266700" marR="0" lvl="1"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p>
                      <a:pPr marL="182563"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kern="1200" noProof="0" dirty="0">
                          <a:solidFill>
                            <a:schemeClr val="tx1"/>
                          </a:solidFill>
                          <a:latin typeface="+mn-ea"/>
                          <a:ea typeface="+mn-ea"/>
                          <a:cs typeface="+mn-cs"/>
                        </a:rPr>
                        <a:t>口頭同意の体制整備状況の担保方法として、利用規約への記載で足りるか、ポータルサイト上のチェックボックスにチェックを入れてもらうような明示的な確認が必要かを確認し、確認結果を</a:t>
                      </a:r>
                      <a:r>
                        <a:rPr kumimoji="1" lang="en-US" altLang="ja-JP" sz="900" b="0" kern="1200" noProof="0" dirty="0">
                          <a:solidFill>
                            <a:schemeClr val="tx1"/>
                          </a:solidFill>
                          <a:latin typeface="+mn-ea"/>
                          <a:ea typeface="+mn-ea"/>
                          <a:cs typeface="+mn-cs"/>
                        </a:rPr>
                        <a:t>DX</a:t>
                      </a:r>
                      <a:r>
                        <a:rPr kumimoji="1" lang="ja-JP" altLang="en-US" sz="900" b="0" kern="1200" noProof="0" dirty="0">
                          <a:solidFill>
                            <a:schemeClr val="tx1"/>
                          </a:solidFill>
                          <a:latin typeface="+mn-ea"/>
                          <a:ea typeface="+mn-ea"/>
                          <a:cs typeface="+mn-cs"/>
                        </a:rPr>
                        <a:t>機構に連携する。</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厚労省 </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10/19】</a:t>
                      </a: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1572021"/>
                  </a:ext>
                </a:extLst>
              </a:tr>
            </a:tbl>
          </a:graphicData>
        </a:graphic>
      </p:graphicFrame>
      <p:sp>
        <p:nvSpPr>
          <p:cNvPr id="4" name="タイトル 1">
            <a:extLst>
              <a:ext uri="{FF2B5EF4-FFF2-40B4-BE49-F238E27FC236}">
                <a16:creationId xmlns:a16="http://schemas.microsoft.com/office/drawing/2014/main" id="{220951DB-754E-1B07-3928-C43AF6A2B032}"/>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)(6/8)</a:t>
            </a:r>
            <a:endParaRPr lang="ja-JP" altLang="en-US" sz="2000">
              <a:solidFill>
                <a:schemeClr val="tx2">
                  <a:lumMod val="75000"/>
                </a:schemeClr>
              </a:solidFill>
            </a:endParaRPr>
          </a:p>
        </p:txBody>
      </p:sp>
    </p:spTree>
    <p:extLst>
      <p:ext uri="{BB962C8B-B14F-4D97-AF65-F5344CB8AC3E}">
        <p14:creationId xmlns:p14="http://schemas.microsoft.com/office/powerpoint/2010/main" val="385975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CB7EA-03D4-204C-E101-19B2F72CE864}"/>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13FEB492-530C-4600-57BF-00DD03D53FFB}"/>
              </a:ext>
            </a:extLst>
          </p:cNvPr>
          <p:cNvGraphicFramePr>
            <a:graphicFrameLocks noGrp="1"/>
          </p:cNvGraphicFramePr>
          <p:nvPr>
            <p:extLst>
              <p:ext uri="{D42A27DB-BD31-4B8C-83A1-F6EECF244321}">
                <p14:modId xmlns:p14="http://schemas.microsoft.com/office/powerpoint/2010/main" val="135027167"/>
              </p:ext>
            </p:extLst>
          </p:nvPr>
        </p:nvGraphicFramePr>
        <p:xfrm>
          <a:off x="453000" y="829319"/>
          <a:ext cx="9000000" cy="5976475"/>
        </p:xfrm>
        <a:graphic>
          <a:graphicData uri="http://schemas.openxmlformats.org/drawingml/2006/table">
            <a:tbl>
              <a:tblPr/>
              <a:tblGrid>
                <a:gridCol w="405741">
                  <a:extLst>
                    <a:ext uri="{9D8B030D-6E8A-4147-A177-3AD203B41FA5}">
                      <a16:colId xmlns:a16="http://schemas.microsoft.com/office/drawing/2014/main" val="3484704196"/>
                    </a:ext>
                  </a:extLst>
                </a:gridCol>
                <a:gridCol w="1717482">
                  <a:extLst>
                    <a:ext uri="{9D8B030D-6E8A-4147-A177-3AD203B41FA5}">
                      <a16:colId xmlns:a16="http://schemas.microsoft.com/office/drawing/2014/main" val="3863879091"/>
                    </a:ext>
                  </a:extLst>
                </a:gridCol>
                <a:gridCol w="4190337">
                  <a:extLst>
                    <a:ext uri="{9D8B030D-6E8A-4147-A177-3AD203B41FA5}">
                      <a16:colId xmlns:a16="http://schemas.microsoft.com/office/drawing/2014/main" val="99914978"/>
                    </a:ext>
                  </a:extLst>
                </a:gridCol>
                <a:gridCol w="2686440">
                  <a:extLst>
                    <a:ext uri="{9D8B030D-6E8A-4147-A177-3AD203B41FA5}">
                      <a16:colId xmlns:a16="http://schemas.microsoft.com/office/drawing/2014/main" val="2028788276"/>
                    </a:ext>
                  </a:extLst>
                </a:gridCol>
              </a:tblGrid>
              <a:tr h="216507">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err="1">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1645728">
                <a:tc>
                  <a:txBody>
                    <a:bodyPr/>
                    <a:lstStyle/>
                    <a:p>
                      <a:pPr lvl="0" algn="ctr">
                        <a:lnSpc>
                          <a:spcPts val="1200"/>
                        </a:lnSpc>
                        <a:buNone/>
                      </a:pPr>
                      <a:r>
                        <a:rPr lang="en-US" altLang="ja-JP" sz="900" b="0" i="0">
                          <a:solidFill>
                            <a:srgbClr val="000000"/>
                          </a:solidFill>
                          <a:effectLst/>
                          <a:latin typeface="+mn-ea"/>
                          <a:ea typeface="+mn-ea"/>
                        </a:rPr>
                        <a:t>9</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ct val="100000"/>
                        </a:lnSpc>
                        <a:spcBef>
                          <a:spcPts val="0"/>
                        </a:spcBef>
                        <a:spcAft>
                          <a:spcPts val="0"/>
                        </a:spcAft>
                        <a:buClrTx/>
                        <a:buSzTx/>
                        <a:buFontTx/>
                        <a:buNone/>
                        <a:tabLst/>
                        <a:defRPr/>
                      </a:pPr>
                      <a:r>
                        <a:rPr kumimoji="1" lang="ja-JP" altLang="en-US" sz="900" b="0">
                          <a:latin typeface="+mn-ea"/>
                          <a:ea typeface="+mn-ea"/>
                        </a:rPr>
                        <a:t>厚労省アジェンダ</a:t>
                      </a:r>
                      <a:r>
                        <a:rPr kumimoji="1" lang="en-US" altLang="ja-JP" sz="900" b="0">
                          <a:latin typeface="+mn-ea"/>
                          <a:ea typeface="+mn-ea"/>
                        </a:rPr>
                        <a:t>_</a:t>
                      </a:r>
                      <a:r>
                        <a:rPr lang="ja-JP" altLang="ja-JP" sz="900"/>
                        <a:t>血液型の共有停止に向けたモデル期間データの論理削除・登録抑止に係る</a:t>
                      </a:r>
                      <a:r>
                        <a:rPr lang="ja-JP" altLang="en-US" sz="900"/>
                        <a:t>ご依頼</a:t>
                      </a:r>
                      <a:endParaRPr kumimoji="1" lang="ja-JP" altLang="en-US" sz="900" b="0">
                        <a:latin typeface="+mn-ea"/>
                        <a:ea typeface="+mn-ea"/>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モデル期間中に登録された血液型データを含む</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Bundle ID</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単位のデータについて、以下の対応を行う。</a:t>
                      </a:r>
                      <a:endParaRPr kumimoji="1" lang="en-US" altLang="ja-JP" sz="900" b="0" i="0" u="none" strike="noStrike" kern="1200" cap="none" spc="0" normalizeH="0" baseline="0" noProof="0" dirty="0">
                        <a:ln>
                          <a:noFill/>
                        </a:ln>
                        <a:solidFill>
                          <a:prstClr val="black"/>
                        </a:solidFill>
                        <a:effectLst/>
                        <a:uLnTx/>
                        <a:uFillTx/>
                        <a:latin typeface="Meiryo UI"/>
                        <a:ea typeface="+mn-ea"/>
                        <a:cs typeface="+mn-cs"/>
                      </a:endParaRPr>
                    </a:p>
                    <a:p>
                      <a:pPr marL="182563" marR="0" lvl="1" indent="0" algn="l" defTabSz="843930" rtl="0" eaLnBrk="1" fontAlgn="base"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①</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 </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全国的な運用開始</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a:t>
                      </a:r>
                      <a:r>
                        <a:rPr kumimoji="1" lang="ja-JP" altLang="ja-JP" sz="900" b="0" i="0" u="none" strike="noStrike" kern="1200" cap="none" spc="0" normalizeH="0" baseline="0" noProof="0" dirty="0">
                          <a:ln>
                            <a:noFill/>
                          </a:ln>
                          <a:solidFill>
                            <a:prstClr val="black"/>
                          </a:solidFill>
                          <a:effectLst/>
                          <a:uLnTx/>
                          <a:uFillTx/>
                          <a:latin typeface="Meiryo UI"/>
                          <a:ea typeface="+mn-ea"/>
                          <a:cs typeface="+mn-cs"/>
                        </a:rPr>
                        <a:t>1/</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25)</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時点：</a:t>
                      </a:r>
                      <a:r>
                        <a:rPr kumimoji="1" lang="ja-JP" altLang="ja-JP" sz="900" b="0" i="0" u="none" strike="noStrike" kern="1200" cap="none" spc="0" normalizeH="0" baseline="0" noProof="0" dirty="0">
                          <a:ln>
                            <a:noFill/>
                          </a:ln>
                          <a:solidFill>
                            <a:prstClr val="black"/>
                          </a:solidFill>
                          <a:effectLst/>
                          <a:uLnTx/>
                          <a:uFillTx/>
                          <a:latin typeface="Meiryo UI"/>
                          <a:ea typeface="+mn-ea"/>
                          <a:cs typeface="+mn-cs"/>
                        </a:rPr>
                        <a:t> </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Bundle ID</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単位で論理削除する。</a:t>
                      </a:r>
                      <a:endParaRPr kumimoji="1" lang="en-US" altLang="ja-JP" sz="900" b="0" i="0" u="none" strike="noStrike" kern="1200" cap="none" spc="0" normalizeH="0" baseline="0" noProof="0" dirty="0">
                        <a:ln>
                          <a:noFill/>
                        </a:ln>
                        <a:solidFill>
                          <a:prstClr val="black"/>
                        </a:solidFill>
                        <a:effectLst/>
                        <a:uLnTx/>
                        <a:uFillTx/>
                        <a:latin typeface="Meiryo UI"/>
                        <a:ea typeface="+mn-ea"/>
                        <a:cs typeface="+mn-cs"/>
                      </a:endParaRPr>
                    </a:p>
                    <a:p>
                      <a:pPr marL="182563" marR="0" lvl="1" indent="0" algn="l" defTabSz="843930" rtl="0" eaLnBrk="1" fontAlgn="base"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② </a:t>
                      </a:r>
                      <a:r>
                        <a:rPr kumimoji="1" lang="ja-JP" altLang="ja-JP" sz="900" b="0" i="0" u="none" strike="noStrike" kern="1200" cap="none" spc="0" normalizeH="0" baseline="0" noProof="0" dirty="0">
                          <a:ln>
                            <a:noFill/>
                          </a:ln>
                          <a:solidFill>
                            <a:prstClr val="black"/>
                          </a:solidFill>
                          <a:effectLst/>
                          <a:uLnTx/>
                          <a:uFillTx/>
                          <a:latin typeface="Meiryo UI"/>
                          <a:ea typeface="+mn-ea"/>
                          <a:cs typeface="+mn-cs"/>
                        </a:rPr>
                        <a:t>3月リリース</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時点：</a:t>
                      </a:r>
                      <a:r>
                        <a:rPr kumimoji="1" lang="ja-JP" altLang="ja-JP" sz="900" b="0" i="0" u="none" strike="noStrike" kern="1200" cap="none" spc="0" normalizeH="0" baseline="0" noProof="0" dirty="0">
                          <a:ln>
                            <a:noFill/>
                          </a:ln>
                          <a:solidFill>
                            <a:prstClr val="black"/>
                          </a:solidFill>
                          <a:effectLst/>
                          <a:uLnTx/>
                          <a:uFillTx/>
                          <a:latin typeface="Meiryo UI"/>
                          <a:ea typeface="+mn-ea"/>
                          <a:cs typeface="+mn-cs"/>
                        </a:rPr>
                        <a:t> 案件ID210</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血液型に関する情報を共有対象外とする改修</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の</a:t>
                      </a:r>
                      <a:r>
                        <a:rPr kumimoji="1" lang="ja-JP" altLang="ja-JP" sz="900" b="0" i="0" u="none" strike="noStrike" kern="1200" cap="none" spc="0" normalizeH="0" baseline="0" noProof="0" dirty="0">
                          <a:ln>
                            <a:noFill/>
                          </a:ln>
                          <a:solidFill>
                            <a:prstClr val="black"/>
                          </a:solidFill>
                          <a:effectLst/>
                          <a:uLnTx/>
                          <a:uFillTx/>
                          <a:latin typeface="Meiryo UI"/>
                          <a:ea typeface="+mn-ea"/>
                          <a:cs typeface="+mn-cs"/>
                        </a:rPr>
                        <a:t>実装後に、</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論理</a:t>
                      </a:r>
                      <a:r>
                        <a:rPr kumimoji="1" lang="ja-JP" altLang="ja-JP" sz="900" b="0" i="0" u="none" strike="noStrike" kern="1200" cap="none" spc="0" normalizeH="0" baseline="0" noProof="0" dirty="0">
                          <a:ln>
                            <a:noFill/>
                          </a:ln>
                          <a:solidFill>
                            <a:prstClr val="black"/>
                          </a:solidFill>
                          <a:effectLst/>
                          <a:uLnTx/>
                          <a:uFillTx/>
                          <a:latin typeface="Meiryo UI"/>
                          <a:ea typeface="+mn-ea"/>
                          <a:cs typeface="+mn-cs"/>
                        </a:rPr>
                        <a:t>削除した</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データ</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a:t>
                      </a:r>
                      <a:r>
                        <a:rPr kumimoji="1" lang="ja-JP" altLang="ja-JP" sz="900" b="0" i="0" u="none" strike="noStrike" kern="1200" cap="none" spc="0" normalizeH="0" baseline="0" noProof="0" dirty="0">
                          <a:ln>
                            <a:noFill/>
                          </a:ln>
                          <a:solidFill>
                            <a:prstClr val="black"/>
                          </a:solidFill>
                          <a:effectLst/>
                          <a:uLnTx/>
                          <a:uFillTx/>
                          <a:latin typeface="Meiryo UI"/>
                          <a:ea typeface="+mn-ea"/>
                          <a:cs typeface="+mn-cs"/>
                        </a:rPr>
                        <a:t>Bundle ID単位</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a:t>
                      </a:r>
                      <a:r>
                        <a:rPr kumimoji="1" lang="ja-JP" altLang="ja-JP" sz="900" b="0" i="0" u="none" strike="noStrike" kern="1200" cap="none" spc="0" normalizeH="0" baseline="0" noProof="0" dirty="0">
                          <a:ln>
                            <a:noFill/>
                          </a:ln>
                          <a:solidFill>
                            <a:prstClr val="black"/>
                          </a:solidFill>
                          <a:effectLst/>
                          <a:uLnTx/>
                          <a:uFillTx/>
                          <a:latin typeface="Meiryo UI"/>
                          <a:ea typeface="+mn-ea"/>
                          <a:cs typeface="+mn-cs"/>
                        </a:rPr>
                        <a:t>を復活させる。</a:t>
                      </a:r>
                      <a:endParaRPr kumimoji="1" lang="en-US" altLang="ja-JP" sz="900" b="0" i="0" u="none" strike="noStrike" kern="1200" cap="none" spc="0" normalizeH="0" baseline="0" noProof="0" dirty="0">
                        <a:ln>
                          <a:noFill/>
                        </a:ln>
                        <a:solidFill>
                          <a:prstClr val="black"/>
                        </a:solidFill>
                        <a:effectLst/>
                        <a:uLnTx/>
                        <a:uFillTx/>
                        <a:latin typeface="Meiryo UI"/>
                        <a:ea typeface="+mn-ea"/>
                        <a:cs typeface="+mn-cs"/>
                      </a:endParaRPr>
                    </a:p>
                    <a:p>
                      <a:pPr marL="182563" marR="0" lvl="1" indent="0" algn="l" defTabSz="843930" rtl="0" eaLnBrk="1" fontAlgn="base" latinLnBrk="0" hangingPunct="1">
                        <a:lnSpc>
                          <a:spcPct val="100000"/>
                        </a:lnSpc>
                        <a:spcBef>
                          <a:spcPts val="0"/>
                        </a:spcBef>
                        <a:spcAft>
                          <a:spcPts val="0"/>
                        </a:spcAft>
                        <a:buClrTx/>
                        <a:buSzTx/>
                        <a:buFontTx/>
                        <a:buNone/>
                        <a:tabLst/>
                        <a:defRPr/>
                      </a:pPr>
                      <a:endParaRPr kumimoji="1" lang="en-US" altLang="ja-JP" sz="900" b="0" i="0" u="none" strike="noStrike" kern="1200" cap="none" spc="0" normalizeH="0" baseline="0" noProof="0" dirty="0">
                        <a:ln>
                          <a:noFill/>
                        </a:ln>
                        <a:solidFill>
                          <a:prstClr val="black"/>
                        </a:solidFill>
                        <a:effectLst/>
                        <a:uLnTx/>
                        <a:uFillTx/>
                        <a:latin typeface="Meiryo UI"/>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Bundle ID</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単位で論理削除を実施するにあたり、</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JLAC</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コードマスタから血液型に係る項目(</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2</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項目：血液型</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-ABO</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、血液型</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-Rh</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)を削除する。本対応に伴い、</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3</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月リリースまでの挙動は以下のとおりとなる。</a:t>
                      </a:r>
                    </a:p>
                    <a:p>
                      <a:pPr marL="177800" marR="0" lvl="1" indent="0" algn="l" defTabSz="843930" rtl="0" eaLnBrk="1" fontAlgn="base" latinLnBrk="0" hangingPunct="1">
                        <a:lnSpc>
                          <a:spcPct val="100000"/>
                        </a:lnSpc>
                        <a:spcBef>
                          <a:spcPts val="0"/>
                        </a:spcBef>
                        <a:spcAft>
                          <a:spcPts val="0"/>
                        </a:spcAft>
                        <a:buClrTx/>
                        <a:buSzTx/>
                        <a:buFont typeface="Wingdings" panose="05000000000000000000" pitchFamily="2" charset="2"/>
                        <a:buNone/>
                        <a:tabLst/>
                        <a:defRPr/>
                      </a:pPr>
                      <a:r>
                        <a:rPr kumimoji="0" lang="ja-JP" altLang="en-US" sz="900" b="0" i="0" u="none" strike="noStrike" kern="0" cap="none" spc="0" normalizeH="0" baseline="0" noProof="0" dirty="0">
                          <a:ln>
                            <a:noFill/>
                          </a:ln>
                          <a:solidFill>
                            <a:srgbClr val="000000"/>
                          </a:solidFill>
                          <a:effectLst/>
                          <a:uLnTx/>
                          <a:uFillTx/>
                          <a:latin typeface="+mn-ea"/>
                          <a:ea typeface="+mn-ea"/>
                          <a:cs typeface="+mn-cs"/>
                        </a:rPr>
                        <a:t>・血液型に係る検査項目が登録された場合、エラーが返却される。</a:t>
                      </a:r>
                    </a:p>
                    <a:p>
                      <a:pPr marL="177800" marR="0" lvl="1" indent="0" algn="l" defTabSz="843930" rtl="0" eaLnBrk="1" fontAlgn="base" latinLnBrk="0" hangingPunct="1">
                        <a:lnSpc>
                          <a:spcPct val="100000"/>
                        </a:lnSpc>
                        <a:spcBef>
                          <a:spcPts val="0"/>
                        </a:spcBef>
                        <a:spcAft>
                          <a:spcPts val="0"/>
                        </a:spcAft>
                        <a:buClrTx/>
                        <a:buSzTx/>
                        <a:buFont typeface="Wingdings" panose="05000000000000000000" pitchFamily="2" charset="2"/>
                        <a:buNone/>
                        <a:tabLst/>
                        <a:defRPr/>
                      </a:pPr>
                      <a:r>
                        <a:rPr kumimoji="0" lang="ja-JP" altLang="en-US" sz="900" b="0" i="0" u="none" strike="noStrike" kern="0" cap="none" spc="0" normalizeH="0" baseline="0" noProof="0" dirty="0">
                          <a:ln>
                            <a:noFill/>
                          </a:ln>
                          <a:solidFill>
                            <a:srgbClr val="000000"/>
                          </a:solidFill>
                          <a:effectLst/>
                          <a:uLnTx/>
                          <a:uFillTx/>
                          <a:latin typeface="+mn-ea"/>
                          <a:ea typeface="+mn-ea"/>
                          <a:cs typeface="+mn-cs"/>
                        </a:rPr>
                        <a:t>・エラー返却により、血液型データは登録できない状態となる。</a:t>
                      </a: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p>
                      <a:pPr marL="177800" marR="0" lvl="1" indent="0" algn="l" defTabSz="843930" rtl="0" eaLnBrk="1" fontAlgn="base" latinLnBrk="0" hangingPunct="1">
                        <a:lnSpc>
                          <a:spcPct val="100000"/>
                        </a:lnSpc>
                        <a:spcBef>
                          <a:spcPts val="0"/>
                        </a:spcBef>
                        <a:spcAft>
                          <a:spcPts val="0"/>
                        </a:spcAft>
                        <a:buClrTx/>
                        <a:buSzTx/>
                        <a:buFont typeface="Wingdings" panose="05000000000000000000" pitchFamily="2" charset="2"/>
                        <a:buNone/>
                        <a:tabLst/>
                        <a:defRPr/>
                      </a:pP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3</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月リリースで案件</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ID210(</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血液型に関する情報を共有対象外とする改修</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を実装した後は、</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JLAC</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コードマスタに血液型に係る項目(</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2</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項目：血液型</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-ABO</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、血液型</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-Rh</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)を再登録し、血液型データを登録できる状態に戻す。</a:t>
                      </a: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cap="none" spc="0" normalizeH="0" baseline="0" noProof="0">
                          <a:ln>
                            <a:noFill/>
                          </a:ln>
                          <a:solidFill>
                            <a:prstClr val="black"/>
                          </a:solidFill>
                          <a:effectLst/>
                          <a:uLnTx/>
                          <a:uFillTx/>
                          <a:latin typeface="Meiryo UI"/>
                          <a:ea typeface="+mn-ea"/>
                          <a:cs typeface="+mn-cs"/>
                        </a:rPr>
                        <a:t>血液型の共有停止に向けて、モデル期間中に登録された血液型データを含むデータを、全国的な運用開始(</a:t>
                      </a:r>
                      <a:r>
                        <a:rPr kumimoji="1" lang="en-US" altLang="ja-JP" sz="900" b="0" i="0" u="none" strike="noStrike" kern="1200" cap="none" spc="0" normalizeH="0" baseline="0" noProof="0">
                          <a:ln>
                            <a:noFill/>
                          </a:ln>
                          <a:solidFill>
                            <a:prstClr val="black"/>
                          </a:solidFill>
                          <a:effectLst/>
                          <a:uLnTx/>
                          <a:uFillTx/>
                          <a:latin typeface="Meiryo UI"/>
                          <a:ea typeface="+mn-ea"/>
                          <a:cs typeface="+mn-cs"/>
                        </a:rPr>
                        <a:t>1/25</a:t>
                      </a:r>
                      <a:r>
                        <a:rPr kumimoji="1" lang="ja-JP" altLang="en-US" sz="900" b="0" i="0" u="none" strike="noStrike" kern="1200" cap="none" spc="0" normalizeH="0" baseline="0" noProof="0">
                          <a:ln>
                            <a:noFill/>
                          </a:ln>
                          <a:solidFill>
                            <a:prstClr val="black"/>
                          </a:solidFill>
                          <a:effectLst/>
                          <a:uLnTx/>
                          <a:uFillTx/>
                          <a:latin typeface="Meiryo UI"/>
                          <a:ea typeface="+mn-ea"/>
                          <a:cs typeface="+mn-cs"/>
                        </a:rPr>
                        <a:t>)時点で</a:t>
                      </a:r>
                      <a:r>
                        <a:rPr kumimoji="1" lang="en-US" altLang="ja-JP" sz="900" b="0" i="0" u="none" strike="noStrike" kern="1200" cap="none" spc="0" normalizeH="0" baseline="0" noProof="0">
                          <a:ln>
                            <a:noFill/>
                          </a:ln>
                          <a:solidFill>
                            <a:prstClr val="black"/>
                          </a:solidFill>
                          <a:effectLst/>
                          <a:uLnTx/>
                          <a:uFillTx/>
                          <a:latin typeface="Meiryo UI"/>
                          <a:ea typeface="+mn-ea"/>
                          <a:cs typeface="+mn-cs"/>
                        </a:rPr>
                        <a:t>Bundle ID</a:t>
                      </a:r>
                      <a:r>
                        <a:rPr kumimoji="1" lang="ja-JP" altLang="en-US" sz="900" b="0" i="0" u="none" strike="noStrike" kern="1200" cap="none" spc="0" normalizeH="0" baseline="0" noProof="0">
                          <a:ln>
                            <a:noFill/>
                          </a:ln>
                          <a:solidFill>
                            <a:prstClr val="black"/>
                          </a:solidFill>
                          <a:effectLst/>
                          <a:uLnTx/>
                          <a:uFillTx/>
                          <a:latin typeface="Meiryo UI"/>
                          <a:ea typeface="+mn-ea"/>
                          <a:cs typeface="+mn-cs"/>
                        </a:rPr>
                        <a:t>単位で論理削除する作業について、必要な対応期間を開発事業者に確認し、確認結果を厚労省に連携する。</a:t>
                      </a:r>
                      <a:r>
                        <a:rPr kumimoji="1" lang="en-US" altLang="ja-JP" sz="900" b="0" i="0" u="none" strike="noStrike" kern="1200" cap="none" spc="0" normalizeH="0" baseline="0" noProof="0">
                          <a:ln>
                            <a:noFill/>
                          </a:ln>
                          <a:solidFill>
                            <a:prstClr val="black"/>
                          </a:solidFill>
                          <a:effectLst/>
                          <a:uLnTx/>
                          <a:uFillTx/>
                          <a:latin typeface="Meiryo UI"/>
                          <a:ea typeface="+mn-ea"/>
                          <a:cs typeface="+mn-cs"/>
                        </a:rPr>
                        <a:t>【DX</a:t>
                      </a:r>
                      <a:r>
                        <a:rPr kumimoji="1" lang="ja-JP" altLang="en-US" sz="900" b="0" i="0" u="none" strike="noStrike" kern="1200" cap="none" spc="0" normalizeH="0" baseline="0" noProof="0">
                          <a:ln>
                            <a:noFill/>
                          </a:ln>
                          <a:solidFill>
                            <a:prstClr val="black"/>
                          </a:solidFill>
                          <a:effectLst/>
                          <a:uLnTx/>
                          <a:uFillTx/>
                          <a:latin typeface="Meiryo UI"/>
                          <a:ea typeface="+mn-ea"/>
                          <a:cs typeface="+mn-cs"/>
                        </a:rPr>
                        <a:t>機構 </a:t>
                      </a:r>
                      <a:r>
                        <a:rPr kumimoji="1" lang="en-US" altLang="ja-JP" sz="900" b="0" i="0" u="none" strike="noStrike" kern="1200" cap="none" spc="0" normalizeH="0" baseline="0" noProof="0">
                          <a:ln>
                            <a:noFill/>
                          </a:ln>
                          <a:solidFill>
                            <a:prstClr val="black"/>
                          </a:solidFill>
                          <a:effectLst/>
                          <a:uLnTx/>
                          <a:uFillTx/>
                          <a:latin typeface="Meiryo UI"/>
                          <a:ea typeface="+mn-ea"/>
                          <a:cs typeface="+mn-cs"/>
                        </a:rPr>
                        <a:t>10/26】</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54454011"/>
                  </a:ext>
                </a:extLst>
              </a:tr>
              <a:tr h="3524647">
                <a:tc>
                  <a:txBody>
                    <a:bodyPr/>
                    <a:lstStyle/>
                    <a:p>
                      <a:pPr lvl="0" algn="ctr">
                        <a:lnSpc>
                          <a:spcPts val="1200"/>
                        </a:lnSpc>
                        <a:buNone/>
                      </a:pPr>
                      <a:r>
                        <a:rPr lang="en-US" altLang="ja-JP" sz="900" b="0" i="0">
                          <a:solidFill>
                            <a:srgbClr val="000000"/>
                          </a:solidFill>
                          <a:effectLst/>
                          <a:latin typeface="+mn-ea"/>
                          <a:ea typeface="+mn-ea"/>
                        </a:rPr>
                        <a:t>10</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ct val="100000"/>
                        </a:lnSpc>
                        <a:spcBef>
                          <a:spcPts val="0"/>
                        </a:spcBef>
                        <a:spcAft>
                          <a:spcPts val="0"/>
                        </a:spcAft>
                        <a:buClrTx/>
                        <a:buSzTx/>
                        <a:buFontTx/>
                        <a:buNone/>
                        <a:tabLst/>
                        <a:defRPr/>
                      </a:pPr>
                      <a:r>
                        <a:rPr kumimoji="1" lang="ja-JP" altLang="en-US" sz="900" b="0">
                          <a:latin typeface="+mn-ea"/>
                          <a:ea typeface="+mn-ea"/>
                        </a:rPr>
                        <a:t>厚労省アジェンダ</a:t>
                      </a:r>
                      <a:r>
                        <a:rPr kumimoji="1" lang="en-US" altLang="ja-JP" sz="900" b="0">
                          <a:latin typeface="+mn-ea"/>
                          <a:ea typeface="+mn-ea"/>
                        </a:rPr>
                        <a:t>_</a:t>
                      </a:r>
                      <a:r>
                        <a:rPr lang="ja-JP" altLang="en-US" sz="900">
                          <a:latin typeface="Meiryo UI" panose="020B0604030504040204" pitchFamily="50" charset="-128"/>
                          <a:ea typeface="Meiryo UI" panose="020B0604030504040204" pitchFamily="50" charset="-128"/>
                        </a:rPr>
                        <a:t>案件台帳の更新箇所の報告(</a:t>
                      </a:r>
                      <a:r>
                        <a:rPr lang="en-US" altLang="ja-JP" sz="900">
                          <a:latin typeface="Meiryo UI" panose="020B0604030504040204" pitchFamily="50" charset="-128"/>
                          <a:ea typeface="Meiryo UI" panose="020B0604030504040204" pitchFamily="50" charset="-128"/>
                        </a:rPr>
                        <a:t>1005</a:t>
                      </a:r>
                      <a:r>
                        <a:rPr lang="ja-JP" altLang="en-US" sz="900">
                          <a:latin typeface="Meiryo UI" panose="020B0604030504040204" pitchFamily="50" charset="-128"/>
                          <a:ea typeface="Meiryo UI" panose="020B0604030504040204" pitchFamily="50" charset="-128"/>
                        </a:rPr>
                        <a:t>断面)</a:t>
                      </a:r>
                      <a:endParaRPr kumimoji="1" lang="ja-JP" altLang="en-US" sz="900" b="0">
                        <a:latin typeface="+mn-ea"/>
                        <a:ea typeface="+mn-ea"/>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以下の</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4</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案件について、背景等及びリリース希望時期</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令和</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9</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年度以降→「令和</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9</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年度」</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を更新。</a:t>
                      </a:r>
                      <a:endParaRPr kumimoji="1" lang="en-US" altLang="ja-JP" sz="900" b="0" i="0" u="none" strike="noStrike" kern="1200" cap="none" spc="0" normalizeH="0" baseline="0" noProof="0" dirty="0">
                        <a:ln>
                          <a:noFill/>
                        </a:ln>
                        <a:solidFill>
                          <a:prstClr val="black"/>
                        </a:solidFill>
                        <a:effectLst/>
                        <a:uLnTx/>
                        <a:uFillTx/>
                        <a:latin typeface="Meiryo UI"/>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ID011(</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健診</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PDF</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帳票の表示件数の拡張</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ID148(</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本サービス対象施設種別の追加(訪問看護ステーションによる健診文書・臨床情報閲覧)</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ID149(</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「職域診療所」へのサービス導入</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(3</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文書</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6</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情報</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文書</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6</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情報の登録・閲覧)</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ID159(</a:t>
                      </a:r>
                      <a:r>
                        <a:rPr lang="ja-JP" altLang="ja-JP" sz="900" b="0" i="0" u="none" strike="noStrike" dirty="0">
                          <a:solidFill>
                            <a:srgbClr val="000000"/>
                          </a:solidFill>
                          <a:effectLst/>
                          <a:latin typeface="Meiryo UI" panose="020B0604030504040204" pitchFamily="50" charset="-128"/>
                          <a:ea typeface="Meiryo UI" panose="020B0604030504040204" pitchFamily="50" charset="-128"/>
                        </a:rPr>
                        <a:t>「健診実施機関(単独)」へのサービス導入</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endParaRPr kumimoji="1" lang="en-US" altLang="ja-JP" sz="900" b="0" i="0" u="none" strike="noStrike" kern="1200" cap="none" spc="0" normalizeH="0" baseline="0" noProof="0" dirty="0">
                        <a:ln>
                          <a:noFill/>
                        </a:ln>
                        <a:solidFill>
                          <a:prstClr val="black"/>
                        </a:solidFill>
                        <a:effectLst/>
                        <a:uLnTx/>
                        <a:uFillTx/>
                        <a:latin typeface="Meiryo UI"/>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以下の</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2</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案件について、リリース希望時期</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令和</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9</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年度以降→「令和</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9</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年度」</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を更新。</a:t>
                      </a:r>
                      <a:endParaRPr kumimoji="1" lang="en-US" altLang="ja-JP" sz="900" b="0" i="0" u="none" strike="noStrike" kern="1200" cap="none" spc="0" normalizeH="0" baseline="0" noProof="0" dirty="0">
                        <a:ln>
                          <a:noFill/>
                        </a:ln>
                        <a:solidFill>
                          <a:prstClr val="black"/>
                        </a:solidFill>
                        <a:effectLst/>
                        <a:uLnTx/>
                        <a:uFillTx/>
                        <a:latin typeface="Meiryo UI"/>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ID059(</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医療機関等検索の検索キーの追加</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ID178(</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文書・臨床情報・患者サマリーの保存期間の延長</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以下の</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10</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案件について、リリース希望時期</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令和</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9</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年度以降→「令和</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10</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年度以降」</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を更新。</a:t>
                      </a:r>
                      <a:endParaRPr kumimoji="1" lang="en-US" altLang="ja-JP" sz="900" b="0" i="0" u="none" strike="noStrike" kern="1200" cap="none" spc="0" normalizeH="0" baseline="0" noProof="0" dirty="0">
                        <a:ln>
                          <a:noFill/>
                        </a:ln>
                        <a:solidFill>
                          <a:prstClr val="black"/>
                        </a:solidFill>
                        <a:effectLst/>
                        <a:uLnTx/>
                        <a:uFillTx/>
                        <a:latin typeface="Meiryo UI"/>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ID015(</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健診結果報告書の医療扶助対応</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ID037(</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服薬状況等のフィードバック情報の連携機能の追加</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ID038(</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看護情報</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訪問看護指示書等</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の連携機能の追加</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ID040(</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蘇生処置</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(DNR/ACP)</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情報の連携機能の追加</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ID041(</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透析の連携機能の追加</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ID050(</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オプトアウト</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ID053(PHR</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事業者向けのマイナポ</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API(RESTful)</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を新規構築する</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ID094(</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死亡した患者の長期保存フラグのついた情報の削除</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ID152(</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栄養情報の連携機能の追加</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ID154(</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傷病名・修飾語マスタの</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UTF-8</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対応</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0" marR="0" lvl="1"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lang="en-US" altLang="ja-JP" sz="900" b="0" i="0" u="none" strike="noStrike" kern="0" cap="none" spc="0" normalizeH="0" baseline="0" noProof="0" dirty="0" err="1">
                          <a:ln>
                            <a:noFill/>
                          </a:ln>
                          <a:solidFill>
                            <a:srgbClr val="000000"/>
                          </a:solidFill>
                          <a:effectLst/>
                          <a:uLnTx/>
                          <a:uFillTx/>
                          <a:latin typeface="+mn-ea"/>
                          <a:ea typeface="+mn-ea"/>
                          <a:cs typeface="+mn-cs"/>
                        </a:rPr>
                        <a:t>特になし</a:t>
                      </a: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13010209"/>
                  </a:ext>
                </a:extLst>
              </a:tr>
            </a:tbl>
          </a:graphicData>
        </a:graphic>
      </p:graphicFrame>
      <p:sp>
        <p:nvSpPr>
          <p:cNvPr id="4" name="タイトル 1">
            <a:extLst>
              <a:ext uri="{FF2B5EF4-FFF2-40B4-BE49-F238E27FC236}">
                <a16:creationId xmlns:a16="http://schemas.microsoft.com/office/drawing/2014/main" id="{F0ED6D83-34B7-E442-A1E4-37388C2D86F1}"/>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)(7/8)</a:t>
            </a:r>
            <a:endParaRPr lang="ja-JP" altLang="en-US" sz="2000">
              <a:solidFill>
                <a:schemeClr val="tx2">
                  <a:lumMod val="75000"/>
                </a:schemeClr>
              </a:solidFill>
            </a:endParaRPr>
          </a:p>
        </p:txBody>
      </p:sp>
    </p:spTree>
    <p:extLst>
      <p:ext uri="{BB962C8B-B14F-4D97-AF65-F5344CB8AC3E}">
        <p14:creationId xmlns:p14="http://schemas.microsoft.com/office/powerpoint/2010/main" val="2747193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76EE7-FDDE-8C76-F8A7-8E25974D8433}"/>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15956D8D-5474-1909-018B-29DDED3105CB}"/>
              </a:ext>
            </a:extLst>
          </p:cNvPr>
          <p:cNvGraphicFramePr>
            <a:graphicFrameLocks noGrp="1"/>
          </p:cNvGraphicFramePr>
          <p:nvPr>
            <p:extLst>
              <p:ext uri="{D42A27DB-BD31-4B8C-83A1-F6EECF244321}">
                <p14:modId xmlns:p14="http://schemas.microsoft.com/office/powerpoint/2010/main" val="242313480"/>
              </p:ext>
            </p:extLst>
          </p:nvPr>
        </p:nvGraphicFramePr>
        <p:xfrm>
          <a:off x="453000" y="829319"/>
          <a:ext cx="9000000" cy="746372"/>
        </p:xfrm>
        <a:graphic>
          <a:graphicData uri="http://schemas.openxmlformats.org/drawingml/2006/table">
            <a:tbl>
              <a:tblPr/>
              <a:tblGrid>
                <a:gridCol w="405741">
                  <a:extLst>
                    <a:ext uri="{9D8B030D-6E8A-4147-A177-3AD203B41FA5}">
                      <a16:colId xmlns:a16="http://schemas.microsoft.com/office/drawing/2014/main" val="3484704196"/>
                    </a:ext>
                  </a:extLst>
                </a:gridCol>
                <a:gridCol w="1717482">
                  <a:extLst>
                    <a:ext uri="{9D8B030D-6E8A-4147-A177-3AD203B41FA5}">
                      <a16:colId xmlns:a16="http://schemas.microsoft.com/office/drawing/2014/main" val="3863879091"/>
                    </a:ext>
                  </a:extLst>
                </a:gridCol>
                <a:gridCol w="3490622">
                  <a:extLst>
                    <a:ext uri="{9D8B030D-6E8A-4147-A177-3AD203B41FA5}">
                      <a16:colId xmlns:a16="http://schemas.microsoft.com/office/drawing/2014/main" val="99914978"/>
                    </a:ext>
                  </a:extLst>
                </a:gridCol>
                <a:gridCol w="3386155">
                  <a:extLst>
                    <a:ext uri="{9D8B030D-6E8A-4147-A177-3AD203B41FA5}">
                      <a16:colId xmlns:a16="http://schemas.microsoft.com/office/drawing/2014/main" val="2028788276"/>
                    </a:ext>
                  </a:extLst>
                </a:gridCol>
              </a:tblGrid>
              <a:tr h="216507">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err="1">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525104">
                <a:tc>
                  <a:txBody>
                    <a:bodyPr/>
                    <a:lstStyle/>
                    <a:p>
                      <a:pPr lvl="0" algn="ctr">
                        <a:lnSpc>
                          <a:spcPts val="1200"/>
                        </a:lnSpc>
                        <a:buNone/>
                      </a:pPr>
                      <a:r>
                        <a:rPr lang="en-US" altLang="ja-JP" sz="900" b="0" i="0">
                          <a:solidFill>
                            <a:srgbClr val="000000"/>
                          </a:solidFill>
                          <a:effectLst/>
                          <a:latin typeface="+mn-ea"/>
                          <a:ea typeface="+mn-ea"/>
                        </a:rPr>
                        <a:t>-</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ラップアップ</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lang="en-US" altLang="ja-JP" sz="900" b="0" i="0" u="none" strike="noStrike" kern="0" cap="none" spc="0" normalizeH="0" baseline="0" noProof="0">
                          <a:ln>
                            <a:noFill/>
                          </a:ln>
                          <a:solidFill>
                            <a:srgbClr val="000000"/>
                          </a:solidFill>
                          <a:effectLst/>
                          <a:uLnTx/>
                          <a:uFillTx/>
                          <a:latin typeface="+mn-ea"/>
                          <a:ea typeface="+mn-ea"/>
                          <a:cs typeface="+mn-cs"/>
                        </a:rPr>
                        <a:t>特になし</a:t>
                      </a:r>
                      <a:endParaRPr kumimoji="0" lang="en-US" altLang="ja-JP" sz="900" b="0" i="0" u="none" strike="noStrike" kern="0" cap="none" spc="0" normalizeH="0" baseline="0" noProof="0">
                        <a:ln>
                          <a:noFill/>
                        </a:ln>
                        <a:solidFill>
                          <a:schemeClr val="bg1">
                            <a:lumMod val="85000"/>
                          </a:schemeClr>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altLang="ja-JP" sz="900" b="0" i="0" u="none" strike="noStrike" kern="0" cap="none" spc="0" normalizeH="0" baseline="0" noProof="0" dirty="0" err="1">
                          <a:ln>
                            <a:noFill/>
                          </a:ln>
                          <a:solidFill>
                            <a:srgbClr val="000000"/>
                          </a:solidFill>
                          <a:effectLst/>
                          <a:uLnTx/>
                          <a:uFillTx/>
                          <a:latin typeface="+mn-ea"/>
                          <a:ea typeface="+mn-ea"/>
                          <a:cs typeface="+mn-cs"/>
                        </a:rPr>
                        <a:t>特になし</a:t>
                      </a: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23372043"/>
                  </a:ext>
                </a:extLst>
              </a:tr>
            </a:tbl>
          </a:graphicData>
        </a:graphic>
      </p:graphicFrame>
      <p:sp>
        <p:nvSpPr>
          <p:cNvPr id="4" name="タイトル 1">
            <a:extLst>
              <a:ext uri="{FF2B5EF4-FFF2-40B4-BE49-F238E27FC236}">
                <a16:creationId xmlns:a16="http://schemas.microsoft.com/office/drawing/2014/main" id="{DB2F3015-E59A-E9D4-D9BB-716776BAB634}"/>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)(8/8)</a:t>
            </a:r>
            <a:endParaRPr lang="ja-JP" altLang="en-US" sz="2000">
              <a:solidFill>
                <a:schemeClr val="tx2">
                  <a:lumMod val="75000"/>
                </a:schemeClr>
              </a:solidFill>
            </a:endParaRPr>
          </a:p>
        </p:txBody>
      </p:sp>
    </p:spTree>
    <p:extLst>
      <p:ext uri="{BB962C8B-B14F-4D97-AF65-F5344CB8AC3E}">
        <p14:creationId xmlns:p14="http://schemas.microsoft.com/office/powerpoint/2010/main" val="23138634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DATE" val="2025/09/10 16:00:42"/>
  <p:tag name="STYLE" val="AcnSubjectTitle"/>
</p:tagLst>
</file>

<file path=ppt/tags/tag5.xml><?xml version="1.0" encoding="utf-8"?>
<p:tagLst xmlns:a="http://schemas.openxmlformats.org/drawingml/2006/main" xmlns:r="http://schemas.openxmlformats.org/officeDocument/2006/relationships" xmlns:p="http://schemas.openxmlformats.org/presentationml/2006/main">
  <p:tag name="DATE" val="2025/09/10 16:00:42"/>
  <p:tag name="STYLE" val="AcnFootnote"/>
</p:tagLst>
</file>

<file path=ppt/theme/theme1.xml><?xml version="1.0" encoding="utf-8"?>
<a:theme xmlns:a="http://schemas.openxmlformats.org/drawingml/2006/main" name="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9933FF">
            <a:alpha val="34118"/>
          </a:srgbClr>
        </a:solidFill>
        <a:ln w="9525" cap="flat" cmpd="sng" algn="ctr">
          <a:solidFill>
            <a:srgbClr val="9933FF"/>
          </a:solidFill>
          <a:prstDash val="solid"/>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l" eaLnBrk="0" hangingPunct="0">
          <a:lnSpc>
            <a:spcPct val="100000"/>
          </a:lnSpc>
          <a:defRPr kumimoji="0" sz="1200" kern="0" dirty="0" smtClea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2.xml><?xml version="1.0" encoding="utf-8"?>
<a:theme xmlns:a="http://schemas.openxmlformats.org/drawingml/2006/main" name="1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FF0000"/>
          </a:solidFill>
          <a:prstDash val="solid"/>
        </a:ln>
        <a:effectLst/>
      </a:spPr>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defPPr algn="ctr" eaLnBrk="0" hangingPunct="0">
          <a:lnSpc>
            <a:spcPct val="100000"/>
          </a:lnSpc>
          <a:defRPr kumimoji="0" sz="800" i="0" ker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3.xml><?xml version="1.0" encoding="utf-8"?>
<a:theme xmlns:a="http://schemas.openxmlformats.org/drawingml/2006/main" name="3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a:noFill/>
        </a:ln>
      </a:spPr>
      <a:bodyPr rtlCol="0" anchor="ctr"/>
      <a:lstStyle>
        <a:defPPr algn="l" fontAlgn="base">
          <a:spcBef>
            <a:spcPct val="20000"/>
          </a:spcBef>
          <a:spcAft>
            <a:spcPct val="0"/>
          </a:spcAft>
          <a:defRPr kumimoji="1" sz="1400" dirty="0" err="1">
            <a:latin typeface="+mj-ea"/>
            <a:ea typeface="+mj-ea"/>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AD26169CDAAF6B41B8B557D8EAD22A36" ma:contentTypeVersion="11" ma:contentTypeDescription="新しいドキュメントを作成します。" ma:contentTypeScope="" ma:versionID="a52047099d1dd8de6e74bf87a4a73917">
  <xsd:schema xmlns:xsd="http://www.w3.org/2001/XMLSchema" xmlns:xs="http://www.w3.org/2001/XMLSchema" xmlns:p="http://schemas.microsoft.com/office/2006/metadata/properties" xmlns:ns2="e356ba7c-6f75-4160-892e-139003efe231" targetNamespace="http://schemas.microsoft.com/office/2006/metadata/properties" ma:root="true" ma:fieldsID="429bb204e7b0455599c34819c2da32be" ns2:_="">
    <xsd:import namespace="e356ba7c-6f75-4160-892e-139003efe23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56ba7c-6f75-4160-892e-139003efe2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element name="lcf76f155ced4ddcb4097134ff3c332f" ma:index="17" nillable="true" ma:taxonomy="true" ma:internalName="lcf76f155ced4ddcb4097134ff3c332f" ma:taxonomyFieldName="MediaServiceImageTags" ma:displayName="画像タグ" ma:readOnly="false" ma:fieldId="{5cf76f15-5ced-4ddc-b409-7134ff3c332f}" ma:taxonomyMulti="true" ma:sspId="0347f584-7be2-4218-8e94-402d99aedf0b"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356ba7c-6f75-4160-892e-139003efe23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DB2A77A-2111-4C72-B531-0B85A633FB10}"/>
</file>

<file path=customXml/itemProps2.xml><?xml version="1.0" encoding="utf-8"?>
<ds:datastoreItem xmlns:ds="http://schemas.openxmlformats.org/officeDocument/2006/customXml" ds:itemID="{7DFC45B0-ED2F-41BA-ACFD-1CA1156CEE17}"/>
</file>

<file path=customXml/itemProps3.xml><?xml version="1.0" encoding="utf-8"?>
<ds:datastoreItem xmlns:ds="http://schemas.openxmlformats.org/officeDocument/2006/customXml" ds:itemID="{762E4C16-8D72-4A95-A947-EE63743A5B76}"/>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
  <TotalTime>0</TotalTime>
  <Words>3156</Words>
  <Application>Microsoft Office PowerPoint</Application>
  <PresentationFormat>A4 210 x 297 mm</PresentationFormat>
  <Paragraphs>207</Paragraphs>
  <Slides>9</Slides>
  <Notes>9</Notes>
  <HiddenSlides>0</HiddenSlides>
  <MMClips>0</MMClips>
  <ScaleCrop>false</ScaleCrop>
  <HeadingPairs>
    <vt:vector size="8" baseType="variant">
      <vt:variant>
        <vt:lpstr>使用されているフォント</vt:lpstr>
      </vt:variant>
      <vt:variant>
        <vt:i4>7</vt:i4>
      </vt:variant>
      <vt:variant>
        <vt:lpstr>テーマ</vt:lpstr>
      </vt:variant>
      <vt:variant>
        <vt:i4>3</vt:i4>
      </vt:variant>
      <vt:variant>
        <vt:lpstr>埋め込まれた OLE サーバー</vt:lpstr>
      </vt:variant>
      <vt:variant>
        <vt:i4>1</vt:i4>
      </vt:variant>
      <vt:variant>
        <vt:lpstr>スライド タイトル</vt:lpstr>
      </vt:variant>
      <vt:variant>
        <vt:i4>9</vt:i4>
      </vt:variant>
    </vt:vector>
  </HeadingPairs>
  <TitlesOfParts>
    <vt:vector size="20" baseType="lpstr">
      <vt:lpstr>Meiryo UI</vt:lpstr>
      <vt:lpstr>ＭＳ Ｐゴシック</vt:lpstr>
      <vt:lpstr>游ゴシック</vt:lpstr>
      <vt:lpstr>Arial</vt:lpstr>
      <vt:lpstr>Calibri</vt:lpstr>
      <vt:lpstr>Times New Roman</vt:lpstr>
      <vt:lpstr>Wingdings</vt:lpstr>
      <vt:lpstr>テーマ２（ACN用）</vt:lpstr>
      <vt:lpstr>1_テーマ２（ACN用）</vt:lpstr>
      <vt:lpstr>3_テーマ２（ACN用）</vt:lpstr>
      <vt:lpstr>think-cellスライド</vt:lpstr>
      <vt:lpstr>PowerPoint プレゼンテーション</vt:lpstr>
      <vt:lpstr>開発課題検討会の共有 議事要旨(案)(1/8)</vt:lpstr>
      <vt:lpstr>開発課題検討会の共有 議事要旨(案)(2/8)</vt:lpstr>
      <vt:lpstr>開発課題検討会の共有 議事要旨(案)(3/8)</vt:lpstr>
      <vt:lpstr>開発課題検討会の共有 議事要旨(案)(4/8)</vt:lpstr>
      <vt:lpstr>開発課題検討会の共有 議事要旨(案)(5/8)</vt:lpstr>
      <vt:lpstr>開発課題検討会の共有 議事要旨(案)(6/8)</vt:lpstr>
      <vt:lpstr>開発課題検討会の共有 議事要旨(案)(7/8)</vt:lpstr>
      <vt:lpstr>開発課題検討会の共有 議事要旨(案)(8/8)</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2026-10-14T01:50:22Z</dcterms:created>
  <dcterms:modified xsi:type="dcterms:W3CDTF">2026-10-14T01:50:26Z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0x010100AD26169CDAAF6B41B8B557D8EAD22A36</vt:lpwstr>
  </property>
</Properties>
</file>