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 id="2147483782" r:id="rId2"/>
    <p:sldMasterId id="2147483811" r:id="rId3"/>
  </p:sldMasterIdLst>
  <p:notesMasterIdLst>
    <p:notesMasterId r:id="rId11"/>
  </p:notesMasterIdLst>
  <p:sldIdLst>
    <p:sldId id="2147483633" r:id="rId4"/>
    <p:sldId id="2147483646" r:id="rId5"/>
    <p:sldId id="256" r:id="rId6"/>
    <p:sldId id="257" r:id="rId7"/>
    <p:sldId id="258" r:id="rId8"/>
    <p:sldId id="260" r:id="rId9"/>
    <p:sldId id="2147483647" r:id="rId1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6"/>
            <p14:sldId id="257"/>
            <p14:sldId id="258"/>
            <p14:sldId id="260"/>
            <p14:sldId id="2147483647"/>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819"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00"/>
    <a:srgbClr val="FFFFFF"/>
    <a:srgbClr val="DCAFFF"/>
    <a:srgbClr val="FFFF99"/>
    <a:srgbClr val="FFFFCC"/>
    <a:srgbClr val="7F7F7F"/>
    <a:srgbClr val="0070C0"/>
    <a:srgbClr val="65A9D9"/>
    <a:srgbClr val="D3EB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E45C7-80A1-43B6-A0E5-46742551B535}" v="2302" dt="2026-10-06T07:35:24.271"/>
    <p1510:client id="{0F765051-D1BD-4BE4-B207-8E7EF973770E}" v="3432" dt="2026-10-06T10:19:33.693"/>
    <p1510:client id="{6731EA5E-5F6B-412B-9D3D-22728B3264F6}" v="881" dt="2026-10-06T03:31:25.833"/>
    <p1510:client id="{804354A5-AAEE-EE24-B3BE-84AA9209F96B}" v="38" dt="2026-10-06T03:03:18.033"/>
    <p1510:client id="{850DED10-04A3-BA6B-7DEB-9E624A92268B}" v="11" dt="2026-10-06T07:25:03.727"/>
    <p1510:client id="{A297DA03-00BD-2BC6-0197-71FE9CACEAD3}" v="15" dt="2026-10-06T08:52:05.839"/>
    <p1510:client id="{BEF18306-6EB2-4124-B868-E1C930F639ED}" v="5" dt="2026-10-07T02:50:44.096"/>
    <p1510:client id="{C07EE078-7908-47F8-A37D-023595E6490F}" v="3227" dt="2026-10-06T07:31:17.225"/>
    <p1510:client id="{C3A9E87C-F3F1-4BA1-B9EE-5A316040982C}" v="3440" dt="2026-10-06T07:42:46.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748" y="48"/>
      </p:cViewPr>
      <p:guideLst>
        <p:guide orient="horz" pos="2160"/>
        <p:guide pos="2850"/>
        <p:guide pos="1548"/>
        <p:guide pos="5819"/>
        <p:guide pos="2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microsoft.com/office/2018/10/relationships/authors" Target="authors.xml"/><Relationship Id="rId19" Type="http://schemas.openxmlformats.org/officeDocument/2006/relationships/customXml" Target="../customXml/item1.xml"/><Relationship Id="rId20" Type="http://schemas.openxmlformats.org/officeDocument/2006/relationships/customXml" Target="../customXml/item2.xml"/><Relationship Id="rId21"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oleObject" Target="../embeddings/oleObject1.bin"/><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theme" Target="../theme/theme2.xml"/><Relationship Id="rId12" Type="http://schemas.openxmlformats.org/officeDocument/2006/relationships/tags" Target="../tags/tag2.xml"/><Relationship Id="rId13" Type="http://schemas.openxmlformats.org/officeDocument/2006/relationships/oleObject" Target="../embeddings/oleObject2.bin"/><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 Id="rId8" Type="http://schemas.openxmlformats.org/officeDocument/2006/relationships/tags" Target="../tags/tag3.xml"/><Relationship Id="rId9" Type="http://schemas.openxmlformats.org/officeDocument/2006/relationships/tags" Target="../tags/tag4.xml"/><Relationship Id="rId10" Type="http://schemas.openxmlformats.org/officeDocument/2006/relationships/tags" Target="../tags/tag5.xml"/><Relationship Id="rId11" Type="http://schemas.openxmlformats.org/officeDocument/2006/relationships/oleObject" Target="../embeddings/oleObject3.bin"/><Relationship Id="rId1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2026/10/5</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1800" b="0" i="0" u="none" strike="noStrike" kern="0" cap="none" spc="0" normalizeH="0" baseline="0" noProof="0">
                <a:ln>
                  <a:noFill/>
                </a:ln>
                <a:solidFill>
                  <a:prstClr val="black"/>
                </a:solidFill>
                <a:effectLst/>
                <a:uLnTx/>
                <a:uFillTx/>
                <a:latin typeface="Meiryo UI"/>
                <a:ea typeface="Meiryo UI"/>
                <a:cs typeface="+mn-cs"/>
              </a:rPr>
              <a:t>13:30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16:00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2541773489"/>
              </p:ext>
            </p:extLst>
          </p:nvPr>
        </p:nvGraphicFramePr>
        <p:xfrm>
          <a:off x="453000" y="843756"/>
          <a:ext cx="9000001" cy="5788152"/>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82252">
                  <a:extLst>
                    <a:ext uri="{9D8B030D-6E8A-4147-A177-3AD203B41FA5}">
                      <a16:colId xmlns:a16="http://schemas.microsoft.com/office/drawing/2014/main" val="99914978"/>
                    </a:ext>
                  </a:extLst>
                </a:gridCol>
                <a:gridCol w="1622412">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highlight>
                            <a:srgbClr val="FFFF00"/>
                          </a:highlight>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highlight>
                            <a:srgbClr val="FFFF00"/>
                          </a:highlight>
                          <a:latin typeface="+mn-ea"/>
                          <a:ea typeface="+mn-ea"/>
                          <a:cs typeface="+mn-cs"/>
                        </a:rPr>
                        <a:t>ID221</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ID225(BI</a:t>
                      </a:r>
                      <a:r>
                        <a:rPr kumimoji="1" lang="ja-JP" altLang="en-US" sz="900" kern="1200">
                          <a:solidFill>
                            <a:srgbClr val="000000"/>
                          </a:solidFill>
                          <a:latin typeface="+mn-ea"/>
                          <a:ea typeface="+mn-ea"/>
                          <a:cs typeface="+mn-cs"/>
                        </a:rPr>
                        <a:t>基盤活用による臨床情報の可視化</a:t>
                      </a:r>
                      <a:r>
                        <a:rPr kumimoji="1" lang="en-US" altLang="ja-JP" sz="900" kern="1200">
                          <a:solidFill>
                            <a:srgbClr val="000000"/>
                          </a:solidFill>
                          <a:latin typeface="+mn-ea"/>
                          <a:ea typeface="+mn-ea"/>
                          <a:cs typeface="+mn-cs"/>
                        </a:rPr>
                        <a:t>)</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br>
                        <a:rPr kumimoji="1" lang="en-US" altLang="ja-JP" sz="900" b="1" i="0" u="sng" strike="noStrike" kern="1200">
                          <a:solidFill>
                            <a:srgbClr val="000000"/>
                          </a:solidFill>
                          <a:latin typeface="+mn-ea"/>
                          <a:ea typeface="+mn-ea"/>
                          <a:cs typeface="+mn-cs"/>
                        </a:rPr>
                      </a:b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ID210(</a:t>
                      </a:r>
                      <a:r>
                        <a:rPr lang="ja-JP" altLang="en-US" sz="900" b="0" i="0" u="none" strike="noStrike" kern="1200" noProof="0" dirty="0">
                          <a:solidFill>
                            <a:srgbClr val="000000"/>
                          </a:solidFill>
                          <a:latin typeface="+mn-ea"/>
                          <a:ea typeface="+mn-ea"/>
                          <a:cs typeface="Arial"/>
                        </a:rPr>
                        <a:t>血液型に関する情報を共有対象外とする改修</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について、下記の内容を削除する。</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対応案</a:t>
                      </a:r>
                      <a:r>
                        <a:rPr lang="en-US" altLang="ja-JP" sz="900" b="0" i="0" u="none" strike="noStrike" kern="1200" noProof="0" dirty="0" err="1">
                          <a:solidFill>
                            <a:srgbClr val="000000"/>
                          </a:solidFill>
                          <a:latin typeface="+mn-ea"/>
                          <a:ea typeface="+mn-ea"/>
                          <a:cs typeface="Arial"/>
                        </a:rPr>
                        <a:t>Bに係る記載</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p>
                    <a:p>
                      <a:pPr marL="179070" marR="0" lvl="0" indent="0" algn="l" rtl="0" eaLnBrk="1" fontAlgn="auto" latinLnBrk="0" hangingPunct="1">
                        <a:lnSpc>
                          <a:spcPct val="100000"/>
                        </a:lnSpc>
                        <a:spcBef>
                          <a:spcPts val="0"/>
                        </a:spcBef>
                        <a:spcAft>
                          <a:spcPts val="0"/>
                        </a:spcAft>
                        <a:buClrTx/>
                        <a:buSzTx/>
                        <a:buFontTx/>
                        <a:buNone/>
                      </a:pPr>
                      <a:r>
                        <a:rPr lang="ja-JP" altLang="en-US" sz="900" b="0" i="0" u="none" strike="noStrike" kern="1200" noProof="0" dirty="0">
                          <a:solidFill>
                            <a:srgbClr val="000000"/>
                          </a:solidFill>
                          <a:latin typeface="+mn-ea"/>
                          <a:ea typeface="+mn-ea"/>
                          <a:cs typeface="Arial"/>
                        </a:rPr>
                        <a:t>・備考列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)(1/6)</a:t>
            </a:r>
            <a:endParaRPr lang="ja-JP" altLang="en-US" sz="2000">
              <a:solidFill>
                <a:schemeClr val="tx2">
                  <a:lumMod val="75000"/>
                </a:schemeClr>
              </a:solidFill>
            </a:endParaRPr>
          </a:p>
        </p:txBody>
      </p:sp>
      <p:sp>
        <p:nvSpPr>
          <p:cNvPr id="8" name="ACNコメント_No17"/>
          <p:cNvSpPr/>
          <p:nvPr/>
        </p:nvSpPr>
        <p:spPr>
          <a:xfrm>
            <a:off x="10056000" y="1074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【内部向けコメント】（No.17）</a:t>
            </a:r>
          </a:p>
          <a:p>
            <a:pPr algn="l"/>
            <a:r>
              <a:rPr sz="900" b="0">
                <a:solidFill>
                  <a:srgbClr val="000000"/>
                </a:solidFill>
              </a:rPr>
              <a:t>細かい点で恐れ入りますが、会議内で「モデル実施期間中の血液型を含むバンドルの扱い（削除・論理削除依頼・別対応）を〔聴…」の依頼があったと認識しておりますが、ToDoへの記載要否をご確認いただけますでしょうか。</a:t>
            </a:r>
          </a:p>
        </p:txBody>
      </p:sp>
      <p:cxnSp>
        <p:nvCxnSpPr>
          <p:cNvPr id="9" name="ACNコメント線_No17"/>
          <p:cNvCxnSpPr/>
          <p:nvPr/>
        </p:nvCxnSpPr>
        <p:spPr>
          <a:xfrm flipH="1">
            <a:off x="8230589" y="1274856"/>
            <a:ext cx="182541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0"/>
          <p:cNvSpPr/>
          <p:nvPr/>
        </p:nvSpPr>
        <p:spPr>
          <a:xfrm>
            <a:off x="10056000" y="2130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【内部向けコメント】（No.10）</a:t>
            </a:r>
          </a:p>
          <a:p>
            <a:pPr algn="l"/>
            <a:r>
              <a:rPr sz="900" b="0">
                <a:solidFill>
                  <a:srgbClr val="000000"/>
                </a:solidFill>
              </a:rPr>
              <a:t>細かい点で恐れ入りますが、ID217の案件名が資料内で「健診文書の登録について保険者へ連携する同意がなくて」「健診文書の閲覧同意の制御範囲の変更」と異なっているため、案件台帳上の正式名称をご確認いただけますでしょうか。</a:t>
            </a:r>
          </a:p>
        </p:txBody>
      </p:sp>
      <p:cxnSp>
        <p:nvCxnSpPr>
          <p:cNvPr id="11" name="ACNコメント線_No10"/>
          <p:cNvCxnSpPr/>
          <p:nvPr/>
        </p:nvCxnSpPr>
        <p:spPr>
          <a:xfrm flipH="1" flipV="1">
            <a:off x="2448337" y="2287856"/>
            <a:ext cx="7607663" cy="43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1"/>
          <p:cNvSpPr/>
          <p:nvPr/>
        </p:nvSpPr>
        <p:spPr>
          <a:xfrm>
            <a:off x="10056000" y="3186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【内部向けコメント】（No.11）</a:t>
            </a:r>
          </a:p>
          <a:p>
            <a:pPr algn="l"/>
            <a:r>
              <a:rPr sz="900" b="0">
                <a:solidFill>
                  <a:srgbClr val="000000"/>
                </a:solidFill>
              </a:rPr>
              <a:t>細かい点で恐れ入りますが、ID220の案件名が会議資料の名称（承継申請に基づく医療機関コードの変換処理における旧医療機関発行した患者サマリーの挙動の変更）と異なるため、案件台帳の正式名称に合わせていただけますでしょうか。</a:t>
            </a:r>
          </a:p>
        </p:txBody>
      </p:sp>
      <p:cxnSp>
        <p:nvCxnSpPr>
          <p:cNvPr id="13" name="ACNコメント線_No11"/>
          <p:cNvCxnSpPr/>
          <p:nvPr/>
        </p:nvCxnSpPr>
        <p:spPr>
          <a:xfrm flipH="1" flipV="1">
            <a:off x="2985597" y="2859856"/>
            <a:ext cx="7070403" cy="527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4" name="ACNコメント_No9"/>
          <p:cNvSpPr/>
          <p:nvPr/>
        </p:nvSpPr>
        <p:spPr>
          <a:xfrm>
            <a:off x="10056000" y="4242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【内部向けコメント】（No.9）</a:t>
            </a:r>
          </a:p>
          <a:p>
            <a:pPr algn="l"/>
            <a:r>
              <a:rPr sz="900" b="0">
                <a:solidFill>
                  <a:srgbClr val="000000"/>
                </a:solidFill>
              </a:rPr>
              <a:t>細かい点で恐れ入りますが、ID221が「検査感染症 43+5項目のデータ登録時にJLAC1」と「患者サマリへのPDFの添付機能」の両方に使われているように見受けられます。案件IDの採番をご確認いただけますでしょうか。</a:t>
            </a:r>
          </a:p>
        </p:txBody>
      </p:sp>
      <p:cxnSp>
        <p:nvCxnSpPr>
          <p:cNvPr id="15" name="ACNコメント線_No9"/>
          <p:cNvCxnSpPr/>
          <p:nvPr/>
        </p:nvCxnSpPr>
        <p:spPr>
          <a:xfrm flipH="1" flipV="1">
            <a:off x="2368377" y="3002856"/>
            <a:ext cx="7687623" cy="144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6" name="ACNコメント_No14"/>
          <p:cNvSpPr/>
          <p:nvPr/>
        </p:nvSpPr>
        <p:spPr>
          <a:xfrm>
            <a:off x="10056000" y="5298856"/>
            <a:ext cx="2700000" cy="1282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【内部向けコメント】（No.14）</a:t>
            </a:r>
          </a:p>
          <a:p>
            <a:pPr algn="l"/>
            <a:r>
              <a:rPr sz="900" b="0">
                <a:solidFill>
                  <a:srgbClr val="000000"/>
                </a:solidFill>
              </a:rPr>
              <a:t>細かい点で恐れ入りますが、会議資料で取り下げとなっている7件（ID35（感染症発生届の連携機能の追加）、ID39（歯科情報(歯科用診療情報提供書等)の連携）、ID44（マイナポータルから事前同意設定するための）、ID45（…）が議事要旨の取り下げに含まれていないため、記載要否をご確認いただけますでしょうか。</a:t>
            </a:r>
          </a:p>
        </p:txBody>
      </p:sp>
      <p:cxnSp>
        <p:nvCxnSpPr>
          <p:cNvPr id="17" name="ACNコメント線_No14"/>
          <p:cNvCxnSpPr/>
          <p:nvPr/>
        </p:nvCxnSpPr>
        <p:spPr>
          <a:xfrm flipH="1">
            <a:off x="2448337" y="5498856"/>
            <a:ext cx="7607663" cy="364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extLst>
              <p:ext uri="{D42A27DB-BD31-4B8C-83A1-F6EECF244321}">
                <p14:modId xmlns:p14="http://schemas.microsoft.com/office/powerpoint/2010/main" val="2761260582"/>
              </p:ext>
            </p:extLst>
          </p:nvPr>
        </p:nvGraphicFramePr>
        <p:xfrm>
          <a:off x="453000" y="843756"/>
          <a:ext cx="9000000" cy="5003004"/>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dirty="0">
                          <a:solidFill>
                            <a:srgbClr val="000000"/>
                          </a:solidFill>
                          <a:latin typeface="+mn-ea"/>
                          <a:ea typeface="+mn-ea"/>
                          <a:cs typeface="+mn-cs"/>
                        </a:rPr>
                        <a:t>4</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のクローズ</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をクローズとする</a:t>
                      </a:r>
                      <a:r>
                        <a:rPr kumimoji="1" lang="en-US" altLang="ja-JP" sz="900" b="0" i="0" u="none" strike="noStrike" kern="1200" dirty="0">
                          <a:solidFill>
                            <a:srgbClr val="000000"/>
                          </a:solidFill>
                          <a:latin typeface="+mn-ea"/>
                          <a:ea typeface="+mn-ea"/>
                          <a:cs typeface="+mn-cs"/>
                        </a:rPr>
                        <a:t>(12</a:t>
                      </a:r>
                      <a:r>
                        <a:rPr kumimoji="1" lang="ja-JP" altLang="en-US" sz="900" b="0" i="0" u="none" strike="noStrike" kern="1200" dirty="0">
                          <a:solidFill>
                            <a:srgbClr val="000000"/>
                          </a:solidFill>
                          <a:latin typeface="+mn-ea"/>
                          <a:ea typeface="+mn-ea"/>
                          <a:cs typeface="+mn-cs"/>
                        </a:rPr>
                        <a:t>件</a:t>
                      </a:r>
                      <a:r>
                        <a:rPr kumimoji="1" lang="en-US" altLang="ja-JP" sz="900" b="0" i="0" u="none" strike="noStrike"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#873(</a:t>
                      </a:r>
                      <a:r>
                        <a:rPr lang="ja-JP" altLang="en-US" sz="900" b="0" dirty="0">
                          <a:latin typeface="+mn-ea"/>
                          <a:ea typeface="+mn-ea"/>
                        </a:rPr>
                        <a:t>案件</a:t>
                      </a:r>
                      <a:r>
                        <a:rPr lang="en-US" altLang="ja-JP" sz="900" b="0" dirty="0">
                          <a:latin typeface="+mn-ea"/>
                          <a:ea typeface="+mn-ea"/>
                        </a:rPr>
                        <a:t>ID036(</a:t>
                      </a:r>
                      <a:r>
                        <a:rPr lang="ja-JP" altLang="en-US" sz="900" b="0" dirty="0">
                          <a:latin typeface="+mn-ea"/>
                          <a:ea typeface="+mn-ea"/>
                        </a:rPr>
                        <a:t>診療情報提供書の介護事業所送付機能の拡張</a:t>
                      </a:r>
                      <a:r>
                        <a:rPr lang="en-US" altLang="ja-JP" sz="900" b="0" dirty="0">
                          <a:latin typeface="+mn-ea"/>
                          <a:ea typeface="+mn-ea"/>
                        </a:rPr>
                        <a:t>)</a:t>
                      </a:r>
                      <a:r>
                        <a:rPr lang="ja-JP" altLang="en-US" sz="900" b="0" dirty="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i="0" u="none" strike="noStrike" kern="1200" noProof="0" dirty="0">
                          <a:solidFill>
                            <a:srgbClr val="000000"/>
                          </a:solidFill>
                          <a:latin typeface="+mn-lt"/>
                          <a:ea typeface="+mn-ea"/>
                          <a:cs typeface="Arial"/>
                        </a:rPr>
                        <a:t> #1108(JP CLINS 1.12.0</a:t>
                      </a:r>
                      <a:r>
                        <a:rPr lang="ja-JP" altLang="en-US" sz="900" b="0" i="0" u="none" strike="noStrike" kern="1200" noProof="0" dirty="0">
                          <a:solidFill>
                            <a:srgbClr val="000000"/>
                          </a:solidFill>
                          <a:latin typeface="+mn-lt"/>
                          <a:ea typeface="+mn-ea"/>
                          <a:cs typeface="Arial"/>
                        </a:rPr>
                        <a:t>版サポート終了に伴うモデル外ベンダへの周知を行う。 </a:t>
                      </a:r>
                      <a:r>
                        <a:rPr lang="en-US" altLang="ja-JP" sz="900" b="0" i="0" u="none" strike="noStrike" kern="1200" noProof="0" dirty="0">
                          <a:solidFill>
                            <a:srgbClr val="000000"/>
                          </a:solidFill>
                          <a:latin typeface="+mn-lt"/>
                          <a:ea typeface="+mn-ea"/>
                          <a:cs typeface="Arial"/>
                        </a:rPr>
                        <a:t>)</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#1158(</a:t>
                      </a:r>
                      <a:r>
                        <a:rPr lang="ja-JP" altLang="en-US" sz="900" b="0" dirty="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#1181(</a:t>
                      </a:r>
                      <a:r>
                        <a:rPr lang="ja-JP" altLang="en-US" sz="900" b="0" dirty="0">
                          <a:latin typeface="+mn-ea"/>
                          <a:ea typeface="+mn-ea"/>
                        </a:rPr>
                        <a:t>今後</a:t>
                      </a:r>
                      <a:r>
                        <a:rPr lang="en-US" altLang="ja-JP" sz="900" b="0" dirty="0">
                          <a:latin typeface="+mn-ea"/>
                          <a:ea typeface="+mn-ea"/>
                        </a:rPr>
                        <a:t>BI</a:t>
                      </a:r>
                      <a:r>
                        <a:rPr lang="ja-JP" altLang="en-US" sz="900" b="0" dirty="0">
                          <a:latin typeface="+mn-ea"/>
                          <a:ea typeface="+mn-ea"/>
                        </a:rPr>
                        <a:t>ツールを使用する際のアウトプットを検討した際に、再度インプット部分の改修に跳ねることにならないか確認し、確認結果を厚労省に連携する。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#1183(</a:t>
                      </a:r>
                      <a:r>
                        <a:rPr kumimoji="1" lang="ja-JP" altLang="en-US" sz="900" b="0" kern="1200" dirty="0">
                          <a:solidFill>
                            <a:srgbClr val="000000"/>
                          </a:solidFill>
                          <a:latin typeface="+mn-ea"/>
                          <a:ea typeface="+mn-ea"/>
                          <a:cs typeface="+mn-cs"/>
                        </a:rPr>
                        <a:t>「臨床情報詳細画面」と「</a:t>
                      </a:r>
                      <a:r>
                        <a:rPr kumimoji="1" lang="en-US" altLang="ja-JP" sz="900" b="0" kern="1200" dirty="0">
                          <a:solidFill>
                            <a:srgbClr val="000000"/>
                          </a:solidFill>
                          <a:latin typeface="+mn-ea"/>
                          <a:ea typeface="+mn-ea"/>
                          <a:cs typeface="+mn-cs"/>
                        </a:rPr>
                        <a:t>PDF</a:t>
                      </a:r>
                      <a:r>
                        <a:rPr kumimoji="1" lang="ja-JP" altLang="en-US" sz="900" b="0" kern="1200" dirty="0">
                          <a:solidFill>
                            <a:srgbClr val="000000"/>
                          </a:solidFill>
                          <a:latin typeface="+mn-ea"/>
                          <a:ea typeface="+mn-ea"/>
                          <a:cs typeface="+mn-cs"/>
                        </a:rPr>
                        <a:t>帳票」の間における項目名・各項目の</a:t>
                      </a:r>
                      <a:r>
                        <a:rPr kumimoji="1" lang="en-US" altLang="ja-JP" sz="900" b="0" kern="1200" dirty="0" err="1">
                          <a:solidFill>
                            <a:srgbClr val="000000"/>
                          </a:solidFill>
                          <a:latin typeface="+mn-ea"/>
                          <a:ea typeface="+mn-ea"/>
                          <a:cs typeface="+mn-cs"/>
                        </a:rPr>
                        <a:t>FHIRパス</a:t>
                      </a:r>
                      <a:r>
                        <a:rPr kumimoji="1" lang="ja-JP" altLang="en-US" sz="900" b="0" kern="1200" dirty="0">
                          <a:solidFill>
                            <a:srgbClr val="000000"/>
                          </a:solidFill>
                          <a:latin typeface="+mn-ea"/>
                          <a:ea typeface="+mn-ea"/>
                          <a:cs typeface="+mn-cs"/>
                        </a:rPr>
                        <a:t>の差分有無について、富士通へ確認のうえ結果を厚労省に連携する。</a:t>
                      </a:r>
                      <a:r>
                        <a:rPr kumimoji="1" lang="en-US" altLang="ja-JP" sz="900" b="0"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dirty="0">
                          <a:solidFill>
                            <a:srgbClr val="000000"/>
                          </a:solidFill>
                          <a:latin typeface="+mn-ea"/>
                          <a:ea typeface="+mn-ea"/>
                          <a:cs typeface="+mn-cs"/>
                        </a:rPr>
                        <a:t>#1209(10/20</a:t>
                      </a:r>
                      <a:r>
                        <a:rPr kumimoji="1" lang="ja-JP" altLang="en-US" sz="900" b="0" i="0" u="none" strike="noStrike" kern="1200" dirty="0">
                          <a:solidFill>
                            <a:srgbClr val="000000"/>
                          </a:solidFill>
                          <a:latin typeface="+mn-ea"/>
                          <a:ea typeface="+mn-ea"/>
                          <a:cs typeface="+mn-cs"/>
                        </a:rPr>
                        <a:t>の調達委員会時点で、令和</a:t>
                      </a:r>
                      <a:r>
                        <a:rPr kumimoji="1" lang="en-US" altLang="ja-JP" sz="900" b="0" i="0" u="none" strike="noStrike" kern="1200" dirty="0">
                          <a:solidFill>
                            <a:srgbClr val="000000"/>
                          </a:solidFill>
                          <a:latin typeface="+mn-ea"/>
                          <a:ea typeface="+mn-ea"/>
                          <a:cs typeface="+mn-cs"/>
                        </a:rPr>
                        <a:t>9</a:t>
                      </a:r>
                      <a:r>
                        <a:rPr kumimoji="1" lang="ja-JP" altLang="en-US" sz="900" b="0" i="0" u="none" strike="noStrike" kern="1200" dirty="0">
                          <a:solidFill>
                            <a:srgbClr val="000000"/>
                          </a:solidFill>
                          <a:latin typeface="+mn-ea"/>
                          <a:ea typeface="+mn-ea"/>
                          <a:cs typeface="+mn-cs"/>
                        </a:rPr>
                        <a:t>年度開発を希望する案件においては、</a:t>
                      </a:r>
                      <a:r>
                        <a:rPr kumimoji="1" lang="en-US" altLang="ja-JP" sz="900" b="0" i="0" u="none" strike="noStrike" kern="1200" dirty="0">
                          <a:solidFill>
                            <a:srgbClr val="000000"/>
                          </a:solidFill>
                          <a:latin typeface="+mn-ea"/>
                          <a:ea typeface="+mn-ea"/>
                          <a:cs typeface="+mn-cs"/>
                        </a:rPr>
                        <a:t>10/5</a:t>
                      </a:r>
                      <a:r>
                        <a:rPr kumimoji="1" lang="ja-JP" altLang="en-US" sz="900" b="0" i="0" u="none" strike="noStrike" kern="1200" dirty="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dirty="0">
                          <a:solidFill>
                            <a:srgbClr val="000000"/>
                          </a:solidFill>
                          <a:latin typeface="+mn-ea"/>
                          <a:ea typeface="+mn-ea"/>
                          <a:cs typeface="+mn-cs"/>
                        </a:rPr>
                        <a:t>)</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#1212(</a:t>
                      </a:r>
                      <a:r>
                        <a:rPr lang="ja-JP" altLang="en-US" sz="900" b="0" dirty="0">
                          <a:latin typeface="+mn-ea"/>
                          <a:ea typeface="+mn-ea"/>
                        </a:rPr>
                        <a:t>「②ステークホルダーへのデータ共有」について、厚労省職員の端末で</a:t>
                      </a:r>
                      <a:r>
                        <a:rPr lang="en-US" altLang="ja-JP" sz="900" b="0" dirty="0">
                          <a:latin typeface="+mn-ea"/>
                          <a:ea typeface="+mn-ea"/>
                        </a:rPr>
                        <a:t>BI</a:t>
                      </a:r>
                      <a:r>
                        <a:rPr lang="ja-JP" altLang="en-US" sz="900" b="0" dirty="0">
                          <a:latin typeface="+mn-ea"/>
                          <a:ea typeface="+mn-ea"/>
                        </a:rPr>
                        <a:t>ツールのデータ閲覧需要の有無を確認し、結果をDX機構に連携する。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#1214(</a:t>
                      </a:r>
                      <a:r>
                        <a:rPr lang="ja-JP" altLang="en-US" sz="900" b="0" dirty="0">
                          <a:latin typeface="+mn-ea"/>
                          <a:ea typeface="+mn-ea"/>
                        </a:rPr>
                        <a:t>マイナポータルにおける臨床情報検査結果の基準値表示について、技術解説書</a:t>
                      </a:r>
                      <a:r>
                        <a:rPr lang="en-US" altLang="ja-JP" sz="900" b="0" dirty="0">
                          <a:latin typeface="+mn-ea"/>
                          <a:ea typeface="+mn-ea"/>
                        </a:rPr>
                        <a:t>2.1.0</a:t>
                      </a:r>
                      <a:r>
                        <a:rPr lang="ja-JP" altLang="en-US" sz="900" b="0" dirty="0">
                          <a:latin typeface="+mn-ea"/>
                          <a:ea typeface="+mn-ea"/>
                        </a:rPr>
                        <a:t>版で「未満」「超過」の意図を含む基準値登録が可能となった一方、マイナポータルは</a:t>
                      </a:r>
                      <a:r>
                        <a:rPr lang="en-US" altLang="ja-JP" sz="900" b="0" dirty="0">
                          <a:latin typeface="+mn-ea"/>
                          <a:ea typeface="+mn-ea"/>
                        </a:rPr>
                        <a:t>2.0.0</a:t>
                      </a:r>
                      <a:r>
                        <a:rPr lang="ja-JP" altLang="en-US" sz="900" b="0" dirty="0">
                          <a:latin typeface="+mn-ea"/>
                          <a:ea typeface="+mn-ea"/>
                        </a:rPr>
                        <a:t>版相当の表示仕様のため当該意図を表現できていないことを踏まえ、改修要否を検討し、検討結果をDX機構へ共有する。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#1216(</a:t>
                      </a:r>
                      <a:r>
                        <a:rPr lang="ja-JP" altLang="en-US" sz="900" b="0" dirty="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dirty="0">
                          <a:latin typeface="+mn-ea"/>
                          <a:ea typeface="+mn-ea"/>
                        </a:rPr>
                        <a:t>API</a:t>
                      </a:r>
                      <a:r>
                        <a:rPr lang="ja-JP" altLang="en-US" sz="900" b="0" dirty="0">
                          <a:latin typeface="+mn-ea"/>
                          <a:ea typeface="+mn-ea"/>
                        </a:rPr>
                        <a:t>を用いる機能のうち、統計ログの出力が必要な機能を抽出するための判断軸を整理し、整理結果をDX機構へ共有する。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#1220(</a:t>
                      </a:r>
                      <a:r>
                        <a:rPr lang="ja-JP" altLang="en-US" sz="900" b="0" dirty="0">
                          <a:latin typeface="+mn-ea"/>
                          <a:ea typeface="+mn-ea"/>
                        </a:rPr>
                        <a:t>電子署名の危殆化対応について、確認事項に対する回答を厚労省に連携する。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#1221(</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年度のプロファイル更新の取り込みについて、令和</a:t>
                      </a:r>
                      <a:r>
                        <a:rPr lang="en-US" altLang="ja-JP" sz="900" b="0" dirty="0">
                          <a:latin typeface="+mn-ea"/>
                          <a:ea typeface="+mn-ea"/>
                        </a:rPr>
                        <a:t>9</a:t>
                      </a:r>
                      <a:r>
                        <a:rPr lang="ja-JP" altLang="en-US" sz="900" b="0" dirty="0">
                          <a:latin typeface="+mn-ea"/>
                          <a:ea typeface="+mn-ea"/>
                        </a:rPr>
                        <a:t>年度案件として新規起票が必要か確認する。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#1223(</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年度登録予定案件の要件および優先度を確認し、質問事項等があれば厚労省に連携する。</a:t>
                      </a:r>
                      <a:r>
                        <a:rPr lang="en-US" altLang="ja-JP" sz="900" b="0" dirty="0">
                          <a:latin typeface="+mn-ea"/>
                          <a:ea typeface="+mn-ea"/>
                        </a:rPr>
                        <a:t>)</a:t>
                      </a:r>
                      <a:endParaRPr kumimoji="1" lang="en-US" altLang="ja-JP" sz="900" b="0" i="0" u="sng" strike="noStrike"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月末案件において既存データをどこまで拡充可能か、富士通・</a:t>
                      </a:r>
                      <a:r>
                        <a:rPr lang="en-US" altLang="ja-JP" sz="900" b="0" i="0" u="none" strike="noStrike" kern="1200" noProof="0" dirty="0">
                          <a:solidFill>
                            <a:srgbClr val="000000"/>
                          </a:solidFill>
                          <a:latin typeface="+mn-ea"/>
                          <a:ea typeface="+mn-ea"/>
                          <a:cs typeface="Arial"/>
                        </a:rPr>
                        <a:t>NTTD</a:t>
                      </a:r>
                      <a:r>
                        <a:rPr lang="ja-JP" altLang="en-US" sz="900" b="0" i="0" u="none" strike="noStrike" kern="1200" noProof="0" dirty="0">
                          <a:solidFill>
                            <a:srgbClr val="000000"/>
                          </a:solidFill>
                          <a:latin typeface="+mn-ea"/>
                          <a:ea typeface="+mn-ea"/>
                          <a:cs typeface="Arial"/>
                        </a:rPr>
                        <a:t>に確認する。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年度末(</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a:t>
                      </a:r>
                      <a:r>
                        <a:rPr lang="en-US" altLang="ja-JP" sz="900" b="0" i="0" u="none" strike="noStrike" kern="1200" noProof="0" dirty="0">
                          <a:solidFill>
                            <a:srgbClr val="000000"/>
                          </a:solidFill>
                          <a:latin typeface="+mn-ea"/>
                          <a:ea typeface="+mn-ea"/>
                          <a:cs typeface="Arial"/>
                        </a:rPr>
                        <a:t>15</a:t>
                      </a:r>
                      <a:r>
                        <a:rPr lang="ja-JP" altLang="en-US" sz="900" b="0" i="0" u="none" strike="noStrike" kern="1200" noProof="0" dirty="0">
                          <a:solidFill>
                            <a:srgbClr val="000000"/>
                          </a:solidFill>
                          <a:latin typeface="+mn-ea"/>
                          <a:ea typeface="+mn-ea"/>
                          <a:cs typeface="Arial"/>
                        </a:rPr>
                        <a:t>種類のダッシュボード</a:t>
                      </a:r>
                      <a:r>
                        <a:rPr lang="en-US" altLang="ja-JP" sz="900" b="0" i="0" u="none" strike="noStrike" kern="1200" baseline="300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原本</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電カル共有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案件台帳</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.xlsx</a:t>
                      </a:r>
                      <a:r>
                        <a:rPr lang="ja-JP" altLang="en-US" sz="900" b="0" i="0" u="none" strike="noStrike" kern="1200" noProof="0" dirty="0">
                          <a:solidFill>
                            <a:srgbClr val="000000"/>
                          </a:solidFill>
                          <a:latin typeface="+mn-ea"/>
                          <a:ea typeface="+mn-ea"/>
                          <a:cs typeface="Arial"/>
                        </a:rPr>
                        <a:t>」の案件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の要求事項に記載</a:t>
                      </a:r>
                      <a:endParaRPr lang="en-US" altLang="ja-JP" sz="900" b="0" i="0" u="none" strike="noStrike" kern="1200" noProof="0" dirty="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臨床情報詳細画面と</a:t>
                      </a:r>
                      <a:r>
                        <a:rPr lang="en-US" altLang="ja-JP" sz="900" b="0" i="0" u="none" strike="noStrike" kern="1200" noProof="0" dirty="0">
                          <a:solidFill>
                            <a:srgbClr val="000000"/>
                          </a:solidFill>
                          <a:latin typeface="+mn-ea"/>
                          <a:ea typeface="+mn-ea"/>
                          <a:cs typeface="Arial"/>
                        </a:rPr>
                        <a:t>PDF</a:t>
                      </a:r>
                      <a:r>
                        <a:rPr lang="ja-JP" altLang="en-US" sz="900" b="0" i="0" u="none" strike="noStrike" kern="1200" noProof="0" dirty="0">
                          <a:solidFill>
                            <a:srgbClr val="000000"/>
                          </a:solidFill>
                          <a:latin typeface="+mn-ea"/>
                          <a:ea typeface="+mn-ea"/>
                          <a:cs typeface="Arial"/>
                        </a:rPr>
                        <a:t>帳票間における項目名および</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パスの差分について、富士通へ</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パスの追記を依頼し、</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パスを明記した</a:t>
                      </a:r>
                      <a:r>
                        <a:rPr lang="en-US" altLang="ja-JP" sz="900" b="0" i="0" u="none" strike="noStrike" kern="1200" noProof="0" dirty="0">
                          <a:solidFill>
                            <a:srgbClr val="000000"/>
                          </a:solidFill>
                          <a:latin typeface="+mn-ea"/>
                          <a:ea typeface="+mn-ea"/>
                          <a:cs typeface="Arial"/>
                        </a:rPr>
                        <a:t>Excel</a:t>
                      </a:r>
                      <a:r>
                        <a:rPr lang="ja-JP" altLang="en-US" sz="900" b="0" i="0" u="none" strike="noStrike" kern="1200" noProof="0" dirty="0">
                          <a:solidFill>
                            <a:srgbClr val="000000"/>
                          </a:solidFill>
                          <a:latin typeface="+mn-ea"/>
                          <a:ea typeface="+mn-ea"/>
                          <a:cs typeface="Arial"/>
                        </a:rPr>
                        <a:t>資料を厚労省へ共有する。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基盤活用による臨床情報の可視化）について、案件台帳の要求事項を確認し、照会事項等があれば</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機構へ連携する。</a:t>
                      </a:r>
                      <a:r>
                        <a:rPr lang="en-US" altLang="ja-JP" sz="900" b="0" i="0" u="none" strike="noStrike" kern="1200" noProof="0" dirty="0">
                          <a:solidFill>
                            <a:srgbClr val="000000"/>
                          </a:solidFill>
                          <a:latin typeface="+mn-lt"/>
                          <a:ea typeface="+mn-ea"/>
                          <a:cs typeface="Arial"/>
                        </a:rPr>
                        <a:t>【</a:t>
                      </a:r>
                      <a:r>
                        <a:rPr lang="ja-JP" altLang="en-US" sz="900" b="0" i="0" u="none" strike="noStrike" kern="1200" noProof="0" dirty="0">
                          <a:solidFill>
                            <a:srgbClr val="000000"/>
                          </a:solidFill>
                          <a:latin typeface="+mn-lt"/>
                          <a:ea typeface="+mn-ea"/>
                          <a:cs typeface="Arial"/>
                        </a:rPr>
                        <a:t>厚労省 </a:t>
                      </a:r>
                      <a:r>
                        <a:rPr lang="en-US" altLang="ja-JP" sz="900" b="0" i="0" u="none" strike="noStrike" kern="1200" noProof="0" dirty="0">
                          <a:solidFill>
                            <a:srgbClr val="000000"/>
                          </a:solidFill>
                          <a:latin typeface="+mn-lt"/>
                          <a:ea typeface="+mn-ea"/>
                          <a:cs typeface="Arial"/>
                        </a:rPr>
                        <a:t>10/13】​</a:t>
                      </a:r>
                    </a:p>
                    <a:p>
                      <a:pPr marL="0" marR="0" lvl="0" indent="0" algn="l">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マイナポータルにおける臨床情報検査結果の基準値表示について、技術解説書</a:t>
                      </a:r>
                      <a:r>
                        <a:rPr lang="en-US" altLang="ja-JP" sz="900" b="0" i="0" u="none" strike="noStrike" kern="1200" noProof="0" dirty="0">
                          <a:solidFill>
                            <a:srgbClr val="000000"/>
                          </a:solidFill>
                          <a:latin typeface="+mn-ea"/>
                          <a:ea typeface="+mn-ea"/>
                          <a:cs typeface="Arial"/>
                        </a:rPr>
                        <a:t>2.1.0</a:t>
                      </a:r>
                      <a:r>
                        <a:rPr lang="ja-JP" altLang="en-US" sz="900" b="0" i="0" u="none" strike="noStrike" kern="1200" noProof="0" dirty="0">
                          <a:solidFill>
                            <a:srgbClr val="000000"/>
                          </a:solidFill>
                          <a:latin typeface="+mn-ea"/>
                          <a:ea typeface="+mn-ea"/>
                          <a:cs typeface="Arial"/>
                        </a:rPr>
                        <a:t>版の内容(「未満」「超過」の意図を含む基準値登録を可能とする)を反映した仕様に改修するため、デジタル庁にマイナポータルの改修可能時期を確認する。</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)(2/6)</a:t>
            </a:r>
            <a:endParaRPr lang="ja-JP" altLang="en-US" sz="2000">
              <a:solidFill>
                <a:schemeClr val="tx2">
                  <a:lumMod val="75000"/>
                </a:schemeClr>
              </a:solidFill>
            </a:endParaRPr>
          </a:p>
        </p:txBody>
      </p:sp>
      <p:sp>
        <p:nvSpPr>
          <p:cNvPr id="8" name="ACNコメント_No15"/>
          <p:cNvSpPr/>
          <p:nvPr/>
        </p:nvSpPr>
        <p:spPr>
          <a:xfrm>
            <a:off x="10056000" y="768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【内部向けコメント】（No.15）</a:t>
            </a:r>
          </a:p>
          <a:p>
            <a:pPr algn="l"/>
            <a:r>
              <a:rPr sz="900" b="0">
                <a:solidFill>
                  <a:srgbClr val="000000"/>
                </a:solidFill>
              </a:rPr>
              <a:t>細かい点で恐れ入りますが、会議内で「3月以降のスケジュールを提示する。…」の依頼があったと認識しておりますが、ToDoへの記載要否をご確認いただけますでしょうか。</a:t>
            </a:r>
          </a:p>
        </p:txBody>
      </p:sp>
      <p:cxnSp>
        <p:nvCxnSpPr>
          <p:cNvPr id="9" name="ACNコメント線_No15"/>
          <p:cNvCxnSpPr/>
          <p:nvPr/>
        </p:nvCxnSpPr>
        <p:spPr>
          <a:xfrm flipH="1">
            <a:off x="7164784" y="968916"/>
            <a:ext cx="2891216"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6"/>
          <p:cNvSpPr/>
          <p:nvPr/>
        </p:nvSpPr>
        <p:spPr>
          <a:xfrm>
            <a:off x="10056000" y="168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【内部向けコメント】（No.16）</a:t>
            </a:r>
          </a:p>
          <a:p>
            <a:pPr algn="l"/>
            <a:r>
              <a:rPr sz="900" b="0">
                <a:solidFill>
                  <a:srgbClr val="000000"/>
                </a:solidFill>
              </a:rPr>
              <a:t>細かい点で恐れ入りますが、会議内で「共有された資料をもとにリスクの有無を検討する。…」の依頼があったと認識しておりますが、ToDoへの記載要否をご確認いただけますでしょうか。</a:t>
            </a:r>
          </a:p>
        </p:txBody>
      </p:sp>
      <p:cxnSp>
        <p:nvCxnSpPr>
          <p:cNvPr id="11" name="ACNコメント線_No16"/>
          <p:cNvCxnSpPr/>
          <p:nvPr/>
        </p:nvCxnSpPr>
        <p:spPr>
          <a:xfrm flipH="1" flipV="1">
            <a:off x="7164784" y="1195416"/>
            <a:ext cx="2891216" cy="68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9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extLst>
              <p:ext uri="{D42A27DB-BD31-4B8C-83A1-F6EECF244321}">
                <p14:modId xmlns:p14="http://schemas.microsoft.com/office/powerpoint/2010/main" val="3096265142"/>
              </p:ext>
            </p:extLst>
          </p:nvPr>
        </p:nvGraphicFramePr>
        <p:xfrm>
          <a:off x="452999" y="843756"/>
          <a:ext cx="9134882" cy="511273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の対応期限を延伸する。</a:t>
                      </a:r>
                      <a:r>
                        <a:rPr kumimoji="1" lang="en-US" altLang="ja-JP" sz="900" b="0" i="0" u="none" strike="noStrike" kern="1200" dirty="0">
                          <a:solidFill>
                            <a:srgbClr val="000000"/>
                          </a:solidFill>
                          <a:latin typeface="+mn-ea"/>
                          <a:ea typeface="+mn-ea"/>
                          <a:cs typeface="+mn-cs"/>
                        </a:rPr>
                        <a:t>(</a:t>
                      </a:r>
                      <a:r>
                        <a:rPr kumimoji="1" lang="en-US" altLang="ja-JP" sz="900" b="0" i="0" u="none" strike="noStrike" kern="1200" dirty="0">
                          <a:solidFill>
                            <a:srgbClr val="000000"/>
                          </a:solidFill>
                          <a:highlight>
                            <a:srgbClr val="FFFF00"/>
                          </a:highlight>
                          <a:latin typeface="+mn-ea"/>
                          <a:ea typeface="+mn-ea"/>
                          <a:cs typeface="+mn-cs"/>
                        </a:rPr>
                        <a:t>13</a:t>
                      </a:r>
                      <a:r>
                        <a:rPr kumimoji="1" lang="ja-JP" altLang="en-US" sz="900" b="0" i="0" u="none" strike="noStrike" kern="1200" dirty="0">
                          <a:solidFill>
                            <a:srgbClr val="000000"/>
                          </a:solidFill>
                          <a:highlight>
                            <a:srgbClr val="FFFF00"/>
                          </a:highlight>
                          <a:latin typeface="+mn-ea"/>
                          <a:ea typeface="+mn-ea"/>
                          <a:cs typeface="+mn-cs"/>
                        </a:rPr>
                        <a:t>件</a:t>
                      </a:r>
                      <a:r>
                        <a:rPr kumimoji="1" lang="en-US" altLang="ja-JP" sz="900" b="0" i="0" u="none" strike="noStrike" kern="1200" dirty="0">
                          <a:solidFill>
                            <a:srgbClr val="000000"/>
                          </a:solidFill>
                          <a:latin typeface="+mn-ea"/>
                          <a:ea typeface="+mn-ea"/>
                          <a:cs typeface="+mn-cs"/>
                        </a:rPr>
                        <a:t>)</a:t>
                      </a:r>
                      <a:endParaRPr kumimoji="1" lang="en-US" altLang="ja-JP" sz="900" kern="1200" dirty="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#1056(</a:t>
                      </a:r>
                      <a:r>
                        <a:rPr kumimoji="1" lang="ja-JP" altLang="en-US" sz="900" b="0" kern="1200" dirty="0">
                          <a:solidFill>
                            <a:srgbClr val="000000"/>
                          </a:solidFill>
                          <a:latin typeface="+mn-ea"/>
                          <a:ea typeface="+mn-ea"/>
                          <a:cs typeface="+mn-cs"/>
                        </a:rPr>
                        <a:t>電子カルテ情報共有サービスの利用を健診実施機関</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単独</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dirty="0">
                          <a:solidFill>
                            <a:srgbClr val="000000"/>
                          </a:solidFill>
                          <a:latin typeface="+mn-ea"/>
                          <a:ea typeface="+mn-ea"/>
                          <a:cs typeface="+mn-cs"/>
                        </a:rPr>
                        <a:t>IF</a:t>
                      </a:r>
                      <a:r>
                        <a:rPr kumimoji="1" lang="ja-JP" altLang="en-US" sz="900" b="0" kern="1200" dirty="0">
                          <a:solidFill>
                            <a:srgbClr val="000000"/>
                          </a:solidFill>
                          <a:latin typeface="+mn-ea"/>
                          <a:ea typeface="+mn-ea"/>
                          <a:cs typeface="+mn-cs"/>
                        </a:rPr>
                        <a:t>一覧、システムフロー図を用いて整理し、整理結果をDX機構に連携する。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10/13令和9</a:t>
                      </a:r>
                      <a:r>
                        <a:rPr kumimoji="1" lang="ja-JP" altLang="en-US" sz="900" b="0" kern="1200" dirty="0">
                          <a:solidFill>
                            <a:srgbClr val="000000"/>
                          </a:solidFill>
                          <a:latin typeface="+mn-ea"/>
                          <a:ea typeface="+mn-ea"/>
                          <a:cs typeface="+mn-cs"/>
                        </a:rPr>
                        <a:t>年度開発状況確認会にて、厚労省より連携予定のため。</a:t>
                      </a:r>
                      <a:endParaRPr kumimoji="1" lang="en-US" altLang="ja-JP" sz="900" b="1" i="0" u="sng" strike="noStrike" kern="1200" dirty="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#1166(</a:t>
                      </a:r>
                      <a:r>
                        <a:rPr kumimoji="1" lang="ja-JP" altLang="en-US" sz="900" b="0" kern="1200" dirty="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2026/9/30→2026/12/21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dirty="0"/>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#1167(</a:t>
                      </a:r>
                      <a:r>
                        <a:rPr kumimoji="1" lang="ja-JP" altLang="en-US" sz="900" b="0" kern="1200" dirty="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dirty="0">
                          <a:solidFill>
                            <a:srgbClr val="000000"/>
                          </a:solidFill>
                          <a:latin typeface="+mn-ea"/>
                          <a:ea typeface="+mn-ea"/>
                          <a:cs typeface="+mn-cs"/>
                        </a:rPr>
                        <a:t>FIX</a:t>
                      </a:r>
                      <a:r>
                        <a:rPr kumimoji="1" lang="ja-JP" altLang="en-US" sz="900" b="0" kern="1200" dirty="0">
                          <a:solidFill>
                            <a:srgbClr val="000000"/>
                          </a:solidFill>
                          <a:latin typeface="+mn-ea"/>
                          <a:ea typeface="+mn-ea"/>
                          <a:cs typeface="+mn-cs"/>
                        </a:rPr>
                        <a:t>していないため。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#1194(</a:t>
                      </a:r>
                      <a:r>
                        <a:rPr kumimoji="1" lang="ja-JP" altLang="en-US" sz="900" b="0" kern="1200" dirty="0">
                          <a:solidFill>
                            <a:srgbClr val="000000"/>
                          </a:solidFill>
                          <a:latin typeface="+mn-ea"/>
                          <a:ea typeface="+mn-ea"/>
                          <a:cs typeface="+mn-cs"/>
                        </a:rPr>
                        <a:t>令和</a:t>
                      </a:r>
                      <a:r>
                        <a:rPr kumimoji="1" lang="en-US" altLang="ja-JP" sz="900" b="0" kern="1200" dirty="0">
                          <a:solidFill>
                            <a:srgbClr val="000000"/>
                          </a:solidFill>
                          <a:latin typeface="+mn-ea"/>
                          <a:ea typeface="+mn-ea"/>
                          <a:cs typeface="+mn-cs"/>
                        </a:rPr>
                        <a:t>9</a:t>
                      </a:r>
                      <a:r>
                        <a:rPr kumimoji="1" lang="ja-JP" altLang="en-US" sz="900" b="0" kern="1200" dirty="0">
                          <a:solidFill>
                            <a:srgbClr val="000000"/>
                          </a:solidFill>
                          <a:latin typeface="+mn-ea"/>
                          <a:ea typeface="+mn-ea"/>
                          <a:cs typeface="+mn-cs"/>
                        </a:rPr>
                        <a:t>年度の</a:t>
                      </a:r>
                      <a:r>
                        <a:rPr kumimoji="1" lang="en-US" altLang="ja-JP" sz="900" b="0" kern="1200" dirty="0">
                          <a:solidFill>
                            <a:srgbClr val="000000"/>
                          </a:solidFill>
                          <a:latin typeface="+mn-ea"/>
                          <a:ea typeface="+mn-ea"/>
                          <a:cs typeface="+mn-cs"/>
                        </a:rPr>
                        <a:t>JLAC</a:t>
                      </a:r>
                      <a:r>
                        <a:rPr kumimoji="1" lang="ja-JP" altLang="en-US" sz="900" b="0" kern="1200" dirty="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2026/9/30→2026/10/19</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#1196(</a:t>
                      </a:r>
                      <a:r>
                        <a:rPr kumimoji="1" lang="ja-JP" altLang="en-US" sz="900" b="0" kern="1200" dirty="0">
                          <a:solidFill>
                            <a:srgbClr val="000000"/>
                          </a:solidFill>
                          <a:latin typeface="+mn-ea"/>
                          <a:ea typeface="+mn-ea"/>
                          <a:cs typeface="+mn-cs"/>
                        </a:rPr>
                        <a:t>ポータルサイト一括申請に係る前提条件について、厚労省からの確認結果</a:t>
                      </a:r>
                      <a:r>
                        <a:rPr kumimoji="1" lang="en-US" altLang="ja-JP" sz="900" b="0" kern="1200" dirty="0">
                          <a:solidFill>
                            <a:srgbClr val="000000"/>
                          </a:solidFill>
                          <a:latin typeface="+mn-ea"/>
                          <a:ea typeface="+mn-ea"/>
                          <a:cs typeface="+mn-cs"/>
                        </a:rPr>
                        <a:t>(ToDo#1175)</a:t>
                      </a:r>
                      <a:r>
                        <a:rPr kumimoji="1" lang="ja-JP" altLang="en-US" sz="900" b="0" kern="1200" dirty="0">
                          <a:solidFill>
                            <a:srgbClr val="000000"/>
                          </a:solidFill>
                          <a:latin typeface="+mn-ea"/>
                          <a:ea typeface="+mn-ea"/>
                          <a:cs typeface="+mn-cs"/>
                        </a:rPr>
                        <a:t>を確認し、厚労省からの追加照会事項に回答する。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dirty="0">
                          <a:solidFill>
                            <a:srgbClr val="000000"/>
                          </a:solidFill>
                          <a:latin typeface="+mn-ea"/>
                          <a:ea typeface="+mn-ea"/>
                          <a:cs typeface="+mn-cs"/>
                        </a:rPr>
                        <a:t>NTTD</a:t>
                      </a:r>
                      <a:r>
                        <a:rPr kumimoji="1" lang="ja-JP" altLang="en-US" sz="900" b="0" kern="1200" dirty="0">
                          <a:solidFill>
                            <a:srgbClr val="000000"/>
                          </a:solidFill>
                          <a:latin typeface="+mn-ea"/>
                          <a:ea typeface="+mn-ea"/>
                          <a:cs typeface="+mn-cs"/>
                        </a:rPr>
                        <a:t>で作成中のため。</a:t>
                      </a:r>
                      <a:endParaRPr kumimoji="1" lang="en-US" altLang="ja-JP" sz="900" b="0" kern="1200" dirty="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dirty="0">
                          <a:solidFill>
                            <a:srgbClr val="000000"/>
                          </a:solidFill>
                          <a:latin typeface="+mn-ea"/>
                          <a:ea typeface="+mn-ea"/>
                          <a:cs typeface="+mn-cs"/>
                        </a:rPr>
                      </a:br>
                      <a:r>
                        <a:rPr kumimoji="1" lang="en-US" altLang="ja-JP" sz="900" b="0" i="0" u="none" strike="noStrike" kern="1200" dirty="0">
                          <a:solidFill>
                            <a:srgbClr val="000000"/>
                          </a:solidFill>
                          <a:latin typeface="+mn-ea"/>
                          <a:ea typeface="+mn-ea"/>
                          <a:cs typeface="+mn-cs"/>
                        </a:rPr>
                        <a:t>(</a:t>
                      </a:r>
                      <a:r>
                        <a:rPr kumimoji="1" lang="ja-JP" altLang="en-US" sz="900" b="0" i="0" u="none" strike="noStrike" kern="1200" dirty="0">
                          <a:solidFill>
                            <a:srgbClr val="000000"/>
                          </a:solidFill>
                          <a:latin typeface="+mn-ea"/>
                          <a:ea typeface="+mn-ea"/>
                          <a:cs typeface="+mn-cs"/>
                        </a:rPr>
                        <a:t>続</a:t>
                      </a:r>
                      <a:r>
                        <a:rPr kumimoji="1" lang="en-US" altLang="ja-JP" sz="900" b="0" i="0" u="none" strike="noStrike" kern="1200" dirty="0">
                          <a:solidFill>
                            <a:srgbClr val="000000"/>
                          </a:solidFill>
                          <a:latin typeface="+mn-ea"/>
                          <a:ea typeface="+mn-ea"/>
                          <a:cs typeface="+mn-cs"/>
                        </a:rPr>
                        <a:t>)</a:t>
                      </a: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)(3/6)</a:t>
            </a:r>
            <a:endParaRPr lang="ja-JP" altLang="en-US" sz="2000">
              <a:solidFill>
                <a:schemeClr val="tx2">
                  <a:lumMod val="75000"/>
                </a:schemeClr>
              </a:solidFill>
            </a:endParaRPr>
          </a:p>
        </p:txBody>
      </p:sp>
      <p:sp>
        <p:nvSpPr>
          <p:cNvPr id="8" name="ACNコメント_No1"/>
          <p:cNvSpPr/>
          <p:nvPr/>
        </p:nvSpPr>
        <p:spPr>
          <a:xfrm>
            <a:off x="10056000" y="91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a:t>
            </a:r>
          </a:p>
          <a:p>
            <a:pPr algn="l"/>
            <a:r>
              <a:rPr sz="900" b="0">
                <a:solidFill>
                  <a:srgbClr val="000000"/>
                </a:solidFill>
              </a:rPr>
              <a:t>細かい点で恐れ入りますが、ToDoの期限延伸の件数が列挙と一致していないため（記載13件／列挙12件）、ご確認いただけますでしょうか。</a:t>
            </a:r>
          </a:p>
        </p:txBody>
      </p:sp>
      <p:cxnSp>
        <p:nvCxnSpPr>
          <p:cNvPr id="9" name="ACNコメント線_No1"/>
          <p:cNvCxnSpPr/>
          <p:nvPr/>
        </p:nvCxnSpPr>
        <p:spPr>
          <a:xfrm flipH="1">
            <a:off x="4243945" y="1111916"/>
            <a:ext cx="5812055"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245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extLst>
              <p:ext uri="{D42A27DB-BD31-4B8C-83A1-F6EECF244321}">
                <p14:modId xmlns:p14="http://schemas.microsoft.com/office/powerpoint/2010/main" val="139460721"/>
              </p:ext>
            </p:extLst>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#1210(BI</a:t>
                      </a:r>
                      <a:r>
                        <a:rPr lang="ja-JP" altLang="en-US" sz="900" b="0" dirty="0">
                          <a:latin typeface="+mn-ea"/>
                          <a:ea typeface="+mn-ea"/>
                        </a:rPr>
                        <a:t>ツール活用に係る案件を起票し、厚労省へ説明する。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lang="en-US" altLang="ja-JP" sz="900" b="0" dirty="0">
                        <a:highlight>
                          <a:srgbClr val="FFFF00"/>
                        </a:highlight>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#1211(BI</a:t>
                      </a:r>
                      <a:r>
                        <a:rPr lang="ja-JP" altLang="en-US" sz="900" b="0" dirty="0">
                          <a:latin typeface="+mn-ea"/>
                          <a:ea typeface="+mn-ea"/>
                        </a:rPr>
                        <a:t>ツール活用に係る案件を起票するにあたり、開発事業者とDX機構にて調整したデータ連携スコープについて厚労省へ説明する。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#1213(</a:t>
                      </a:r>
                      <a:r>
                        <a:rPr kumimoji="1" lang="ja-JP" altLang="en-US" sz="900" b="0" kern="1200" dirty="0">
                          <a:solidFill>
                            <a:srgbClr val="000000"/>
                          </a:solidFill>
                          <a:latin typeface="+mn-ea"/>
                          <a:ea typeface="+mn-ea"/>
                          <a:cs typeface="+mn-cs"/>
                        </a:rPr>
                        <a:t>「②ステークホルダーへのデータ共有」について、厚労省職員の端末で</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ツールへアクセスする際のネットワーク形式を確認し、結果をDX機構に連携する。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厚労省内での確認作業(</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機構への更問含む)に時間を要しているため。</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#1215(</a:t>
                      </a:r>
                      <a:r>
                        <a:rPr lang="ja-JP" altLang="en-US" sz="900" b="0" dirty="0">
                          <a:latin typeface="+mn-ea"/>
                          <a:ea typeface="+mn-ea"/>
                        </a:rPr>
                        <a:t>受入テストシナリオの厚労省レビュー時に、DX機構より厚労省に対して当該シナリオに関する説明の可否を確認し、結果を厚労省へ連携する。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各シナリオ担当者が背景説明を行うためのスケジュールを調整できるか、</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機構内で確認・調整するため。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#1217(</a:t>
                      </a:r>
                      <a:r>
                        <a:rPr kumimoji="1" lang="ja-JP" altLang="en-US" sz="900" b="0" kern="1200" dirty="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#1218(</a:t>
                      </a:r>
                      <a:r>
                        <a:rPr kumimoji="1" lang="ja-JP" altLang="en-US" sz="900" b="0" kern="1200" dirty="0">
                          <a:solidFill>
                            <a:srgbClr val="000000"/>
                          </a:solidFill>
                          <a:latin typeface="+mn-ea"/>
                          <a:ea typeface="+mn-ea"/>
                          <a:cs typeface="+mn-cs"/>
                        </a:rPr>
                        <a:t>標準マスタにおいて </a:t>
                      </a:r>
                      <a:r>
                        <a:rPr kumimoji="1" lang="en-US" altLang="ja-JP" sz="900" b="0" kern="1200" dirty="0">
                          <a:solidFill>
                            <a:srgbClr val="000000"/>
                          </a:solidFill>
                          <a:latin typeface="+mn-ea"/>
                          <a:ea typeface="+mn-ea"/>
                          <a:cs typeface="+mn-cs"/>
                        </a:rPr>
                        <a:t>1</a:t>
                      </a:r>
                      <a:r>
                        <a:rPr kumimoji="1" lang="ja-JP" altLang="en-US" sz="900" b="0" kern="1200" dirty="0">
                          <a:solidFill>
                            <a:srgbClr val="000000"/>
                          </a:solidFill>
                          <a:latin typeface="+mn-ea"/>
                          <a:ea typeface="+mn-ea"/>
                          <a:cs typeface="+mn-cs"/>
                        </a:rPr>
                        <a:t>つの</a:t>
                      </a:r>
                      <a:r>
                        <a:rPr kumimoji="1" lang="en-US" altLang="ja-JP" sz="900" b="0" kern="1200" dirty="0">
                          <a:solidFill>
                            <a:srgbClr val="000000"/>
                          </a:solidFill>
                          <a:latin typeface="+mn-ea"/>
                          <a:ea typeface="+mn-ea"/>
                          <a:cs typeface="+mn-cs"/>
                        </a:rPr>
                        <a:t>code</a:t>
                      </a:r>
                      <a:r>
                        <a:rPr kumimoji="1" lang="ja-JP" altLang="en-US" sz="900" b="0" kern="1200" dirty="0">
                          <a:solidFill>
                            <a:srgbClr val="000000"/>
                          </a:solidFill>
                          <a:latin typeface="+mn-ea"/>
                          <a:ea typeface="+mn-ea"/>
                          <a:cs typeface="+mn-cs"/>
                        </a:rPr>
                        <a:t>に対する</a:t>
                      </a:r>
                      <a:r>
                        <a:rPr kumimoji="1" lang="en-US" altLang="ja-JP" sz="900" b="0" kern="1200" dirty="0">
                          <a:solidFill>
                            <a:srgbClr val="000000"/>
                          </a:solidFill>
                          <a:latin typeface="+mn-ea"/>
                          <a:ea typeface="+mn-ea"/>
                          <a:cs typeface="+mn-cs"/>
                        </a:rPr>
                        <a:t>display</a:t>
                      </a:r>
                      <a:r>
                        <a:rPr kumimoji="1" lang="ja-JP" altLang="en-US" sz="900" b="0" kern="1200" dirty="0">
                          <a:solidFill>
                            <a:srgbClr val="000000"/>
                          </a:solidFill>
                          <a:latin typeface="+mn-ea"/>
                          <a:ea typeface="+mn-ea"/>
                          <a:cs typeface="+mn-cs"/>
                        </a:rPr>
                        <a:t>値の変更によるエラーの恒久対応の</a:t>
                      </a:r>
                      <a:r>
                        <a:rPr kumimoji="1" lang="ja-JP" altLang="en-US" sz="900" b="0" kern="1200" dirty="0">
                          <a:solidFill>
                            <a:srgbClr val="000000"/>
                          </a:solidFill>
                          <a:highlight>
                            <a:srgbClr val="FFFF00"/>
                          </a:highlight>
                          <a:latin typeface="+mn-ea"/>
                          <a:ea typeface="+mn-ea"/>
                          <a:cs typeface="+mn-cs"/>
                        </a:rPr>
                        <a:t>運用フローの運用フロー</a:t>
                      </a:r>
                      <a:r>
                        <a:rPr kumimoji="1" lang="ja-JP" altLang="en-US" sz="900" b="0" kern="1200" dirty="0">
                          <a:solidFill>
                            <a:srgbClr val="000000"/>
                          </a:solidFill>
                          <a:latin typeface="+mn-ea"/>
                          <a:ea typeface="+mn-ea"/>
                          <a:cs typeface="+mn-cs"/>
                        </a:rPr>
                        <a:t>案について、DX機構として担当できる運用範囲や、厚労省から管理団体への調整が必要な事項を確認し、確認結果を厚労省へ連携する。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続</a:t>
                      </a:r>
                      <a:r>
                        <a:rPr kumimoji="1" lang="en-US" altLang="ja-JP" sz="900" b="0" kern="1200" dirty="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)(4/6)</a:t>
            </a:r>
            <a:endParaRPr lang="ja-JP" altLang="en-US" sz="2000">
              <a:solidFill>
                <a:schemeClr val="tx2">
                  <a:lumMod val="75000"/>
                </a:schemeClr>
              </a:solidFill>
            </a:endParaRPr>
          </a:p>
        </p:txBody>
      </p:sp>
      <p:sp>
        <p:nvSpPr>
          <p:cNvPr id="8" name="ACNコメント_No7"/>
          <p:cNvSpPr/>
          <p:nvPr/>
        </p:nvSpPr>
        <p:spPr>
          <a:xfrm>
            <a:off x="10056000" y="1483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【内部向けコメント】（No.7）</a:t>
            </a:r>
          </a:p>
          <a:p>
            <a:pPr algn="l"/>
            <a:r>
              <a:rPr sz="900" b="0">
                <a:solidFill>
                  <a:srgbClr val="000000"/>
                </a:solidFill>
              </a:rPr>
              <a:t>細かい点で恐れ入りますが、#1210の延伸前の期限は2026/10/5と認識しております。延伸期限を「2026/10/5→2026/10/13」に修正いただけますでしょうか。</a:t>
            </a:r>
          </a:p>
        </p:txBody>
      </p:sp>
      <p:cxnSp>
        <p:nvCxnSpPr>
          <p:cNvPr id="9" name="ACNコメント線_No7"/>
          <p:cNvCxnSpPr/>
          <p:nvPr/>
        </p:nvCxnSpPr>
        <p:spPr>
          <a:xfrm flipH="1">
            <a:off x="2275587" y="1683916"/>
            <a:ext cx="7780413"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8"/>
          <p:cNvSpPr/>
          <p:nvPr/>
        </p:nvSpPr>
        <p:spPr>
          <a:xfrm>
            <a:off x="10056000" y="2396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【内部向けコメント】（No.8）</a:t>
            </a:r>
          </a:p>
          <a:p>
            <a:pPr algn="l"/>
            <a:r>
              <a:rPr sz="900" b="0">
                <a:solidFill>
                  <a:srgbClr val="000000"/>
                </a:solidFill>
              </a:rPr>
              <a:t>細かい点で恐れ入りますが、#1211の延伸前の期限は2026/10/5と認識しております。延伸期限を「2026/10/5→2026/10/13」に修正いただけますでしょうか。</a:t>
            </a:r>
          </a:p>
        </p:txBody>
      </p:sp>
      <p:cxnSp>
        <p:nvCxnSpPr>
          <p:cNvPr id="11" name="ACNコメント線_No8"/>
          <p:cNvCxnSpPr/>
          <p:nvPr/>
        </p:nvCxnSpPr>
        <p:spPr>
          <a:xfrm flipH="1">
            <a:off x="2275587" y="2596916"/>
            <a:ext cx="7780413" cy="171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2"/>
          <p:cNvSpPr/>
          <p:nvPr/>
        </p:nvSpPr>
        <p:spPr>
          <a:xfrm>
            <a:off x="10056000" y="5273416"/>
            <a:ext cx="2700000" cy="710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【内部向けコメント】（No.12）</a:t>
            </a:r>
          </a:p>
          <a:p>
            <a:pPr algn="l"/>
            <a:r>
              <a:rPr sz="900" b="0">
                <a:solidFill>
                  <a:srgbClr val="000000"/>
                </a:solidFill>
              </a:rPr>
              <a:t>細かい点で恐れ入りますが、「運用フローの運用フロー」の箇所をご確認いただけますでしょうか。</a:t>
            </a:r>
          </a:p>
        </p:txBody>
      </p:sp>
      <p:cxnSp>
        <p:nvCxnSpPr>
          <p:cNvPr id="13" name="ACNコメント線_No12"/>
          <p:cNvCxnSpPr/>
          <p:nvPr/>
        </p:nvCxnSpPr>
        <p:spPr>
          <a:xfrm flipH="1">
            <a:off x="5773167" y="5473416"/>
            <a:ext cx="4282833" cy="155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662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extLst>
              <p:ext uri="{D42A27DB-BD31-4B8C-83A1-F6EECF244321}">
                <p14:modId xmlns:p14="http://schemas.microsoft.com/office/powerpoint/2010/main" val="2322261319"/>
              </p:ext>
            </p:extLst>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highlight>
                            <a:srgbClr val="FFFF00"/>
                          </a:highlight>
                          <a:uLnTx/>
                          <a:uFillTx/>
                          <a:latin typeface="Meiryo UI"/>
                          <a:ea typeface="+mn-ea"/>
                          <a:cs typeface="+mn-cs"/>
                        </a:rPr>
                        <a:t>2026/9/30→</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2026/10/13</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a:solidFill>
                            <a:srgbClr val="000000"/>
                          </a:solidFill>
                          <a:latin typeface="+mn-ea"/>
                          <a:ea typeface="+mn-ea"/>
                          <a:cs typeface="+mn-cs"/>
                        </a:rPr>
                        <a:t>6．</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a:solidFill>
                            <a:srgbClr val="000000"/>
                          </a:solidFill>
                          <a:latin typeface="+mn-ea"/>
                          <a:ea typeface="+mn-ea"/>
                          <a:cs typeface="+mn-cs"/>
                        </a:rPr>
                        <a:t>下記</a:t>
                      </a:r>
                      <a:r>
                        <a:rPr kumimoji="1" lang="en-US" altLang="ja-JP" sz="900" b="0" kern="1200">
                          <a:solidFill>
                            <a:srgbClr val="000000"/>
                          </a:solidFill>
                          <a:latin typeface="+mn-ea"/>
                          <a:ea typeface="+mn-ea"/>
                          <a:cs typeface="+mn-cs"/>
                        </a:rPr>
                        <a:t>ToDo</a:t>
                      </a:r>
                      <a:r>
                        <a:rPr kumimoji="1" lang="ja-JP" altLang="en-US" sz="900" b="0" kern="1200">
                          <a:solidFill>
                            <a:srgbClr val="000000"/>
                          </a:solidFill>
                          <a:latin typeface="+mn-ea"/>
                          <a:ea typeface="+mn-ea"/>
                          <a:cs typeface="+mn-cs"/>
                        </a:rPr>
                        <a:t>を取り下げる。(</a:t>
                      </a:r>
                      <a:r>
                        <a:rPr kumimoji="1" lang="en-US" altLang="ja-JP" sz="900" b="0" kern="1200">
                          <a:solidFill>
                            <a:srgbClr val="000000"/>
                          </a:solidFill>
                          <a:latin typeface="+mn-ea"/>
                          <a:ea typeface="+mn-ea"/>
                          <a:cs typeface="+mn-cs"/>
                        </a:rPr>
                        <a:t>2</a:t>
                      </a:r>
                      <a:r>
                        <a:rPr kumimoji="1" lang="ja-JP" altLang="en-US" sz="900" b="0" kern="1200">
                          <a:solidFill>
                            <a:srgbClr val="000000"/>
                          </a:solidFill>
                          <a:latin typeface="+mn-ea"/>
                          <a:ea typeface="+mn-ea"/>
                          <a:cs typeface="+mn-cs"/>
                        </a:rPr>
                        <a:t>件)</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#1180(</a:t>
                      </a:r>
                      <a:r>
                        <a:rPr kumimoji="1" lang="ja-JP" altLang="en-US" sz="900" b="0" kern="1200">
                          <a:solidFill>
                            <a:srgbClr val="000000"/>
                          </a:solidFill>
                          <a:latin typeface="+mn-ea"/>
                          <a:ea typeface="+mn-ea"/>
                          <a:cs typeface="+mn-cs"/>
                        </a:rPr>
                        <a:t>厚労省において</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ツールを用いた統計ログ出力に関する案件を新規起票するにあたり、現行の</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ToDo#1210</a:t>
                      </a:r>
                      <a:r>
                        <a:rPr kumimoji="1" lang="ja-JP" altLang="en-US" sz="900" b="0" kern="1200">
                          <a:solidFill>
                            <a:srgbClr val="000000"/>
                          </a:solidFill>
                          <a:latin typeface="+mn-ea"/>
                          <a:ea typeface="+mn-ea"/>
                          <a:cs typeface="+mn-cs"/>
                        </a:rPr>
                        <a:t>、</a:t>
                      </a:r>
                      <a:r>
                        <a:rPr kumimoji="1" lang="en-US" altLang="ja-JP" sz="900" b="0" kern="1200">
                          <a:solidFill>
                            <a:srgbClr val="000000"/>
                          </a:solidFill>
                          <a:latin typeface="+mn-ea"/>
                          <a:ea typeface="+mn-ea"/>
                          <a:cs typeface="+mn-cs"/>
                        </a:rPr>
                        <a:t>#1211</a:t>
                      </a:r>
                      <a:r>
                        <a:rPr kumimoji="1" lang="ja-JP" altLang="en-US" sz="900" b="0" kern="1200">
                          <a:solidFill>
                            <a:srgbClr val="000000"/>
                          </a:solidFill>
                          <a:latin typeface="+mn-ea"/>
                          <a:ea typeface="+mn-ea"/>
                          <a:cs typeface="+mn-cs"/>
                        </a:rPr>
                        <a:t>で後続対応を行うため。</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#1198(</a:t>
                      </a:r>
                      <a:r>
                        <a:rPr kumimoji="1" lang="ja-JP" altLang="en-US" sz="900" b="0" kern="1200">
                          <a:solidFill>
                            <a:srgbClr val="000000"/>
                          </a:solidFill>
                          <a:latin typeface="+mn-ea"/>
                          <a:ea typeface="+mn-ea"/>
                          <a:cs typeface="+mn-cs"/>
                        </a:rPr>
                        <a:t>標準マスタにおいて</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ToDo#1219</a:t>
                      </a:r>
                      <a:r>
                        <a:rPr kumimoji="1" lang="ja-JP" altLang="en-US" sz="900" b="0" kern="1200">
                          <a:solidFill>
                            <a:srgbClr val="000000"/>
                          </a:solidFill>
                          <a:latin typeface="+mn-ea"/>
                          <a:ea typeface="+mn-ea"/>
                          <a:cs typeface="+mn-cs"/>
                        </a:rPr>
                        <a:t>で後続対応を行うため</a:t>
                      </a:r>
                      <a:r>
                        <a:rPr kumimoji="1" lang="ja-JP" altLang="en-US" sz="900" b="0" kern="1200">
                          <a:solidFill>
                            <a:srgbClr val="000000"/>
                          </a:solidFill>
                          <a:highlight>
                            <a:srgbClr val="FFFF00"/>
                          </a:highlight>
                          <a:latin typeface="+mn-ea"/>
                          <a:ea typeface="+mn-ea"/>
                          <a:cs typeface="+mn-cs"/>
                        </a:rPr>
                        <a:t>。</a:t>
                      </a:r>
                      <a:r>
                        <a:rPr kumimoji="1" lang="ja-JP" altLang="en-US" sz="900" b="0" i="0" u="none" strike="noStrike" kern="1200" noProof="0">
                          <a:solidFill>
                            <a:srgbClr val="000000"/>
                          </a:solidFill>
                          <a:highlight>
                            <a:srgbClr val="FFFF00"/>
                          </a:highlight>
                          <a:latin typeface="+mn-ea"/>
                          <a:ea typeface="+mn-ea"/>
                          <a:cs typeface="+mn-cs"/>
                        </a:rPr>
                        <a:t>。</a:t>
                      </a:r>
                      <a:endParaRPr kumimoji="1" lang="en-US" altLang="ja-JP" sz="900" b="0" i="0" u="none" strike="noStrike" kern="1200" noProof="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ID192(</a:t>
                      </a:r>
                      <a:r>
                        <a:rPr kumimoji="1" lang="ja-JP" altLang="en-US" sz="900" b="0" u="none" kern="1200">
                          <a:solidFill>
                            <a:schemeClr val="tx1"/>
                          </a:solidFill>
                          <a:latin typeface="+mn-ea"/>
                          <a:ea typeface="+mn-ea"/>
                          <a:cs typeface="+mn-cs"/>
                        </a:rPr>
                        <a:t>サポートするプロファイルバージョンの終了</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highlight>
                            <a:srgbClr val="FFFF00"/>
                          </a:highlight>
                          <a:latin typeface="+mn-ea"/>
                          <a:ea typeface="+mn-ea"/>
                          <a:cs typeface="+mn-cs"/>
                        </a:rPr>
                        <a:t>令和</a:t>
                      </a:r>
                      <a:r>
                        <a:rPr kumimoji="1" lang="en-US" altLang="ja-JP" sz="900" b="0" u="none" kern="1200">
                          <a:solidFill>
                            <a:schemeClr val="tx1"/>
                          </a:solidFill>
                          <a:highlight>
                            <a:srgbClr val="FFFF00"/>
                          </a:highlight>
                          <a:latin typeface="+mn-ea"/>
                          <a:ea typeface="+mn-ea"/>
                          <a:cs typeface="+mn-cs"/>
                        </a:rPr>
                        <a:t>8</a:t>
                      </a:r>
                      <a:r>
                        <a:rPr kumimoji="1" lang="ja-JP" altLang="en-US" sz="900" b="0" u="none" kern="1200">
                          <a:solidFill>
                            <a:schemeClr val="tx1"/>
                          </a:solidFill>
                          <a:highlight>
                            <a:srgbClr val="FFFF00"/>
                          </a:highlight>
                          <a:latin typeface="+mn-ea"/>
                          <a:ea typeface="+mn-ea"/>
                          <a:cs typeface="+mn-cs"/>
                        </a:rPr>
                        <a:t>年</a:t>
                      </a:r>
                      <a:r>
                        <a:rPr kumimoji="1" lang="en-US" altLang="ja-JP" sz="900" b="0" u="none" kern="1200">
                          <a:solidFill>
                            <a:schemeClr val="tx1"/>
                          </a:solidFill>
                          <a:highlight>
                            <a:srgbClr val="FFFF00"/>
                          </a:highlight>
                          <a:latin typeface="+mn-ea"/>
                          <a:ea typeface="+mn-ea"/>
                          <a:cs typeface="+mn-cs"/>
                        </a:rPr>
                        <a:t>9</a:t>
                      </a:r>
                      <a:r>
                        <a:rPr kumimoji="1" lang="ja-JP" altLang="en-US" sz="900" b="0" u="none" kern="1200">
                          <a:solidFill>
                            <a:schemeClr val="tx1"/>
                          </a:solidFill>
                          <a:highlight>
                            <a:srgbClr val="FFFF00"/>
                          </a:highlight>
                          <a:latin typeface="+mn-ea"/>
                          <a:ea typeface="+mn-ea"/>
                          <a:cs typeface="+mn-cs"/>
                        </a:rPr>
                        <a:t>末</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の案件名から「令和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末」の文言を削除する。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a:ln>
                            <a:noFill/>
                          </a:ln>
                          <a:solidFill>
                            <a:srgbClr val="000000"/>
                          </a:solidFill>
                          <a:effectLst/>
                          <a:uLnTx/>
                          <a:uFillTx/>
                          <a:latin typeface="+mn-ea"/>
                          <a:ea typeface="+mn-ea"/>
                          <a:cs typeface="+mn-cs"/>
                        </a:rPr>
                        <a:t>9</a:t>
                      </a:r>
                      <a:r>
                        <a:rPr kumimoji="0" lang="ja-JP" altLang="en-US" sz="900" b="0" i="0" u="none" strike="noStrike" kern="0" cap="none" spc="0" normalizeH="0" baseline="0" noProof="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a:ln>
                            <a:noFill/>
                          </a:ln>
                          <a:solidFill>
                            <a:srgbClr val="000000"/>
                          </a:solidFill>
                          <a:effectLst/>
                          <a:uLnTx/>
                          <a:uFillTx/>
                          <a:latin typeface="+mn-ea"/>
                          <a:ea typeface="+mn-ea"/>
                          <a:cs typeface="+mn-cs"/>
                        </a:rPr>
                      </a:b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a:t>
                      </a:r>
                      <a:r>
                        <a:rPr kumimoji="1" lang="ja-JP" altLang="en-US" sz="900" b="0" i="0" u="none" strike="noStrike" kern="1200">
                          <a:solidFill>
                            <a:schemeClr val="tx1"/>
                          </a:solidFill>
                          <a:latin typeface="+mn-ea"/>
                          <a:ea typeface="+mn-ea"/>
                          <a:cs typeface="+mn-cs"/>
                        </a:rPr>
                        <a:t>開発課題検討会</a:t>
                      </a:r>
                      <a:r>
                        <a:rPr kumimoji="1" lang="en-US" altLang="ja-JP" sz="900" b="0" i="0" u="none" strike="noStrike" kern="1200">
                          <a:solidFill>
                            <a:schemeClr val="tx1"/>
                          </a:solidFill>
                          <a:latin typeface="+mn-ea"/>
                          <a:ea typeface="+mn-ea"/>
                          <a:cs typeface="+mn-cs"/>
                        </a:rPr>
                        <a:t>_20261005.pptx</a:t>
                      </a:r>
                      <a:r>
                        <a:rPr kumimoji="0" lang="ja-JP" altLang="en-US" sz="900" b="0" i="0" u="none" strike="noStrike" kern="0" cap="none" spc="0" normalizeH="0" baseline="0" noProof="0">
                          <a:ln>
                            <a:noFill/>
                          </a:ln>
                          <a:solidFill>
                            <a:srgbClr val="000000"/>
                          </a:solidFill>
                          <a:effectLst/>
                          <a:uLnTx/>
                          <a:uFillTx/>
                          <a:latin typeface="+mn-ea"/>
                          <a:ea typeface="+mn-ea"/>
                          <a:cs typeface="+mn-cs"/>
                        </a:rPr>
                        <a:t>」​の</a:t>
                      </a:r>
                      <a:r>
                        <a:rPr kumimoji="0" lang="en-US" altLang="ja-JP" sz="900" b="0" i="0" u="none" strike="noStrike" kern="0" cap="none" spc="0" normalizeH="0" baseline="0" noProof="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なお、介護事業所</a:t>
                      </a:r>
                      <a:r>
                        <a:rPr lang="ja-JP" altLang="en-US" sz="900" b="0" u="none" kern="1200">
                          <a:solidFill>
                            <a:schemeClr val="tx1"/>
                          </a:solidFill>
                          <a:latin typeface="+mn-ea"/>
                          <a:ea typeface="+mn-ea"/>
                          <a:cs typeface="+mn-cs"/>
                        </a:rPr>
                        <a:t>コードに紐づく項目として、介護事業所</a:t>
                      </a:r>
                      <a:r>
                        <a:rPr kumimoji="1" lang="ja-JP" altLang="en-US" sz="900" b="0" u="none" kern="120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特になし。</a:t>
                      </a:r>
                      <a:endParaRPr kumimoji="1" lang="en-US" altLang="ja-JP" sz="900" b="0" u="none" kern="1200" dirty="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)(5/6)</a:t>
            </a:r>
            <a:endParaRPr lang="ja-JP" altLang="en-US" sz="2000">
              <a:solidFill>
                <a:schemeClr val="tx2">
                  <a:lumMod val="75000"/>
                </a:schemeClr>
              </a:solidFill>
            </a:endParaRPr>
          </a:p>
        </p:txBody>
      </p:sp>
      <p:sp>
        <p:nvSpPr>
          <p:cNvPr id="8" name="ACNコメント_No2"/>
          <p:cNvSpPr/>
          <p:nvPr/>
        </p:nvSpPr>
        <p:spPr>
          <a:xfrm>
            <a:off x="10056000" y="1769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a:t>
            </a:r>
          </a:p>
          <a:p>
            <a:pPr algn="l"/>
            <a:r>
              <a:rPr sz="900" b="0">
                <a:solidFill>
                  <a:srgbClr val="000000"/>
                </a:solidFill>
              </a:rPr>
              <a:t>細かい点で恐れ入りますが、#1222の延伸前の期限は2026/10/5と認識しております。延伸期限を「2026/10/5→2026/10/13」に修正いただけますでしょうか。</a:t>
            </a:r>
          </a:p>
        </p:txBody>
      </p:sp>
      <p:cxnSp>
        <p:nvCxnSpPr>
          <p:cNvPr id="9" name="ACNコメント線_No2"/>
          <p:cNvCxnSpPr/>
          <p:nvPr/>
        </p:nvCxnSpPr>
        <p:spPr>
          <a:xfrm flipH="1">
            <a:off x="2275588" y="1969916"/>
            <a:ext cx="7780412"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3"/>
          <p:cNvSpPr/>
          <p:nvPr/>
        </p:nvSpPr>
        <p:spPr>
          <a:xfrm>
            <a:off x="10056000" y="4200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【内部向けコメント】（No.3）</a:t>
            </a:r>
          </a:p>
          <a:p>
            <a:pPr algn="l"/>
            <a:r>
              <a:rPr sz="900" b="0">
                <a:solidFill>
                  <a:srgbClr val="000000"/>
                </a:solidFill>
              </a:rPr>
              <a:t>細かい点で恐れ入りますが、「。。」の箇所をご確認いただけますでしょうか。</a:t>
            </a:r>
          </a:p>
        </p:txBody>
      </p:sp>
      <p:cxnSp>
        <p:nvCxnSpPr>
          <p:cNvPr id="11" name="ACNコメント線_No3"/>
          <p:cNvCxnSpPr/>
          <p:nvPr/>
        </p:nvCxnSpPr>
        <p:spPr>
          <a:xfrm flipH="1">
            <a:off x="4230118" y="4400916"/>
            <a:ext cx="5825882" cy="83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3"/>
          <p:cNvSpPr/>
          <p:nvPr/>
        </p:nvSpPr>
        <p:spPr>
          <a:xfrm>
            <a:off x="10056000" y="4827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【内部向けコメント】（No.13）</a:t>
            </a:r>
          </a:p>
          <a:p>
            <a:pPr algn="l"/>
            <a:r>
              <a:rPr sz="900" b="0">
                <a:solidFill>
                  <a:srgbClr val="000000"/>
                </a:solidFill>
              </a:rPr>
              <a:t>細かい点で恐れ入りますが、「令和8年9末」の箇所をご確認いただけますでしょうか。</a:t>
            </a:r>
          </a:p>
        </p:txBody>
      </p:sp>
      <p:cxnSp>
        <p:nvCxnSpPr>
          <p:cNvPr id="13" name="ACNコメント線_No13"/>
          <p:cNvCxnSpPr/>
          <p:nvPr/>
        </p:nvCxnSpPr>
        <p:spPr>
          <a:xfrm flipH="1" flipV="1">
            <a:off x="7953291" y="5004856"/>
            <a:ext cx="2102709" cy="2306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43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2483973911"/>
              </p:ext>
            </p:extLst>
          </p:nvPr>
        </p:nvGraphicFramePr>
        <p:xfrm>
          <a:off x="461626" y="820692"/>
          <a:ext cx="9000000" cy="3731798"/>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a:t>
                      </a:r>
                      <a:r>
                        <a:rPr kumimoji="1" lang="ja-JP" altLang="en-US" sz="900" b="0" i="0" strike="noStrike" kern="1200" cap="none" spc="0" normalizeH="0" baseline="0" noProof="1">
                          <a:ln>
                            <a:noFill/>
                          </a:ln>
                          <a:solidFill>
                            <a:prstClr val="black"/>
                          </a:solidFill>
                          <a:effectLst/>
                          <a:uLnTx/>
                          <a:uFillTx/>
                          <a:latin typeface="Meiryo UI"/>
                          <a:ea typeface="+mn-ea"/>
                          <a:cs typeface="+mn-cs"/>
                        </a:rPr>
                        <a:t>における医療側と介護側のランニングコストの按分概算は、当初想定の診療情報提供書の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受付と連動した資格確認処理数ではなく、電子カルテ情報共有サービスの中央基盤の処理数全体の内の診療情報提供書の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自体の受付・処理のみの割合だけでも算出可能であるため、以下の算出方針とする。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電子カルテ情報共有サービス中央基盤の全処理数のうち、診療情報提供書の登録・変更・取消</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受付回数を集計し、医療向け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に区分して医療・介護の割合を算出する。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診療情報提供書の医療介護連携のランニングコストを按分して算出するため、電子カルテ情報共有サービス中央基盤の全処理数のうち、文書の登録・変更・取消に係る</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処理件数を集計できるか確認する。</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a:ln>
                            <a:noFill/>
                          </a:ln>
                          <a:solidFill>
                            <a:srgbClr val="000000"/>
                          </a:solidFill>
                          <a:effectLst/>
                          <a:highlight>
                            <a:srgbClr val="FFFF00"/>
                          </a:highligh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a:ln>
                            <a:noFill/>
                          </a:ln>
                          <a:solidFill>
                            <a:srgbClr val="000000"/>
                          </a:solidFill>
                          <a:effectLst/>
                          <a:uLnTx/>
                          <a:uFillTx/>
                          <a:latin typeface="Arial"/>
                          <a:ea typeface="+mn-ea"/>
                          <a:cs typeface="Arial"/>
                        </a:rPr>
                        <a:t>特になし</a:t>
                      </a:r>
                      <a:r>
                        <a:rPr lang="ja-JP" sz="900" b="0" i="0" u="none" strike="noStrike" kern="0" cap="none" spc="0" normalizeH="0" baseline="0" noProof="0">
                          <a:ln>
                            <a:noFill/>
                          </a:ln>
                          <a:solidFill>
                            <a:srgbClr val="000000"/>
                          </a:solidFill>
                          <a:effectLst/>
                          <a:uLnTx/>
                          <a:uFillTx/>
                          <a:latin typeface="Arial"/>
                          <a:ea typeface="+mn-ea"/>
                          <a:cs typeface="Arial"/>
                        </a:rPr>
                        <a:t>。</a:t>
                      </a:r>
                      <a:endParaRPr lang="en-US" altLang="ja-JP" sz="900" b="0" i="0" u="none" strike="noStrike" kern="0" cap="none" spc="0" normalizeH="0" baseline="0" noProof="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ID225</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BI</a:t>
                      </a:r>
                      <a:r>
                        <a:rPr kumimoji="1" lang="ja-JP" altLang="en-US" sz="900" b="0" u="none" kern="1200">
                          <a:solidFill>
                            <a:schemeClr val="tx1"/>
                          </a:solidFill>
                          <a:latin typeface="+mn-ea"/>
                          <a:ea typeface="+mn-ea"/>
                          <a:cs typeface="+mn-cs"/>
                        </a:rPr>
                        <a:t>基盤活用による臨床情報の可視化）の新規起票に併せて、要求事項に記載された</a:t>
                      </a:r>
                      <a:r>
                        <a:rPr kumimoji="1" lang="en-US" altLang="ja-JP" sz="900" b="0" u="none" kern="1200">
                          <a:solidFill>
                            <a:schemeClr val="tx1"/>
                          </a:solidFill>
                          <a:latin typeface="+mn-ea"/>
                          <a:ea typeface="+mn-ea"/>
                          <a:cs typeface="+mn-cs"/>
                        </a:rPr>
                        <a:t>15</a:t>
                      </a:r>
                      <a:r>
                        <a:rPr kumimoji="1" lang="ja-JP" altLang="en-US" sz="900" b="0" u="none" kern="120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機構が作成する想定であることから、本開発案件の対象外とすることを合意した。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)(6/6)</a:t>
            </a:r>
            <a:endParaRPr lang="ja-JP" altLang="en-US" sz="2000">
              <a:solidFill>
                <a:schemeClr val="tx2">
                  <a:lumMod val="75000"/>
                </a:schemeClr>
              </a:solidFill>
            </a:endParaRPr>
          </a:p>
        </p:txBody>
      </p:sp>
      <p:sp>
        <p:nvSpPr>
          <p:cNvPr id="8" name="ACNコメント_No18"/>
          <p:cNvSpPr/>
          <p:nvPr/>
        </p:nvSpPr>
        <p:spPr>
          <a:xfrm>
            <a:off x="10056000" y="124635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【内部向けコメント】（No.18）</a:t>
            </a:r>
          </a:p>
          <a:p>
            <a:pPr algn="l"/>
            <a:r>
              <a:rPr sz="900" b="0">
                <a:solidFill>
                  <a:srgbClr val="000000"/>
                </a:solidFill>
              </a:rPr>
              <a:t>細かい点で恐れ入りますが、会議内では期限を2026-10-19とする発言があったと認識しております。議題6のToDo（【DX機構 10/13】）の内容・期限が会議での合意と一致しているか、ご確認いただけますでしょうか。</a:t>
            </a:r>
          </a:p>
        </p:txBody>
      </p:sp>
      <p:cxnSp>
        <p:nvCxnSpPr>
          <p:cNvPr id="9" name="ACNコメント線_No18"/>
          <p:cNvCxnSpPr/>
          <p:nvPr/>
        </p:nvCxnSpPr>
        <p:spPr>
          <a:xfrm flipH="1">
            <a:off x="6889119" y="1446352"/>
            <a:ext cx="316688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9"/>
          <p:cNvSpPr/>
          <p:nvPr/>
        </p:nvSpPr>
        <p:spPr>
          <a:xfrm>
            <a:off x="10056000" y="233879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【内部向けコメント】（No.19）</a:t>
            </a:r>
          </a:p>
          <a:p>
            <a:pPr algn="l"/>
            <a:r>
              <a:rPr sz="900" b="0">
                <a:solidFill>
                  <a:srgbClr val="000000"/>
                </a:solidFill>
              </a:rPr>
              <a:t>細かい点で恐れ入りますが、会議内で「案件217の資料に、将来的に同意不要の方向も検討しつつ暫定対応として進める旨を記…」の依頼があったと認識しておりますが、ToDoへの記載要否をご確認いただけますでしょうか。</a:t>
            </a:r>
          </a:p>
        </p:txBody>
      </p:sp>
      <p:cxnSp>
        <p:nvCxnSpPr>
          <p:cNvPr id="11" name="ACNコメント線_No19"/>
          <p:cNvCxnSpPr/>
          <p:nvPr/>
        </p:nvCxnSpPr>
        <p:spPr>
          <a:xfrm flipH="1">
            <a:off x="2152367" y="2538792"/>
            <a:ext cx="790363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23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3DD5D2B-73A2-4CC4-83C1-25E9AD8773AB}"/>
</file>

<file path=customXml/itemProps2.xml><?xml version="1.0" encoding="utf-8"?>
<ds:datastoreItem xmlns:ds="http://schemas.openxmlformats.org/officeDocument/2006/customXml" ds:itemID="{3E0A28AC-CCEA-4057-BB6B-2EF5C4DCA335}"/>
</file>

<file path=customXml/itemProps3.xml><?xml version="1.0" encoding="utf-8"?>
<ds:datastoreItem xmlns:ds="http://schemas.openxmlformats.org/officeDocument/2006/customXml" ds:itemID="{A1EA3C11-427A-4A79-9D8A-EB6C4AB4C984}"/>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3574</Words>
  <Application>Microsoft Office PowerPoint</Application>
  <PresentationFormat>A4 210 x 297 mm</PresentationFormat>
  <Paragraphs>174</Paragraphs>
  <Slides>7</Slides>
  <Notes>7</Notes>
  <HiddenSlides>0</HiddenSlides>
  <MMClips>0</MMClips>
  <ScaleCrop>false</ScaleCrop>
  <HeadingPairs>
    <vt:vector size="8" baseType="variant">
      <vt:variant>
        <vt:lpstr>使用されているフォント</vt:lpstr>
      </vt:variant>
      <vt:variant>
        <vt:i4>8</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19" baseType="lpstr">
      <vt:lpstr>Meiryo UI</vt:lpstr>
      <vt:lpstr>ＭＳ Ｐゴシック</vt:lpstr>
      <vt:lpstr>Wingdings,sans-serif</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議事要旨(案)(1/6)</vt:lpstr>
      <vt:lpstr>開発課題検討会の共有 議事要旨(案)(2/6)</vt:lpstr>
      <vt:lpstr>開発課題検討会の共有 議事要旨(案)(3/6)</vt:lpstr>
      <vt:lpstr>開発課題検討会の共有 議事要旨(案)(4/6)</vt:lpstr>
      <vt:lpstr>開発課題検討会の共有 議事要旨(案)(5/6)</vt:lpstr>
      <vt:lpstr>開発課題検討会の共有 議事要旨(案)(6/6)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2026-10-07T02:50:44Z</dcterms:created>
  <dcterms:modified xsi:type="dcterms:W3CDTF">2026-10-07T02:50:53Z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